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d31fb9512c49a0" /><Relationship Type="http://schemas.openxmlformats.org/officeDocument/2006/relationships/extended-properties" Target="/docProps/app.xml" Id="R4526df188c7841c8" /><Relationship Type="http://schemas.openxmlformats.org/officeDocument/2006/relationships/officeDocument" Target="/ppt/presentation.xml" Id="Rf8ed92c35bb74a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ecdc7d6bb44a8c"/>
  </p:sldMasterIdLst>
  <p:notesMasterIdLst>
    <p:notesMasterId xmlns:r="http://schemas.openxmlformats.org/officeDocument/2006/relationships" r:id="R217d6f4269f74f75"/>
  </p:notesMasterIdLst>
  <p:sldIdLst>
    <p:sldId xmlns:r="http://schemas.openxmlformats.org/officeDocument/2006/relationships" id="256" r:id="R0c684fed68634c02"/>
    <p:sldId xmlns:r="http://schemas.openxmlformats.org/officeDocument/2006/relationships" id="257" r:id="Rcddaf8ef98d7418b"/>
    <p:sldId xmlns:r="http://schemas.openxmlformats.org/officeDocument/2006/relationships" id="258" r:id="R5d630c1bddee4fb3"/>
    <p:sldId xmlns:r="http://schemas.openxmlformats.org/officeDocument/2006/relationships" id="259" r:id="Rd175df485e674854"/>
    <p:sldId xmlns:r="http://schemas.openxmlformats.org/officeDocument/2006/relationships" id="260" r:id="Ra6485b847e554876"/>
    <p:sldId xmlns:r="http://schemas.openxmlformats.org/officeDocument/2006/relationships" id="261" r:id="Rcbaad27efab24333"/>
    <p:sldId xmlns:r="http://schemas.openxmlformats.org/officeDocument/2006/relationships" id="262" r:id="R7b33e213cabd4f70"/>
    <p:sldId xmlns:r="http://schemas.openxmlformats.org/officeDocument/2006/relationships" id="263" r:id="Rb3f0da160c7f462b"/>
    <p:sldId xmlns:r="http://schemas.openxmlformats.org/officeDocument/2006/relationships" id="264" r:id="Rd0ddf6bb417a41c4"/>
    <p:sldId xmlns:r="http://schemas.openxmlformats.org/officeDocument/2006/relationships" id="265" r:id="R2b0e1c3217e24ea8"/>
    <p:sldId xmlns:r="http://schemas.openxmlformats.org/officeDocument/2006/relationships" id="266" r:id="R6eb700a66f464921"/>
    <p:sldId xmlns:r="http://schemas.openxmlformats.org/officeDocument/2006/relationships" id="267" r:id="R06cbec21b22343e0"/>
    <p:sldId xmlns:r="http://schemas.openxmlformats.org/officeDocument/2006/relationships" id="268" r:id="Re16f21608ae34fb5"/>
    <p:sldId xmlns:r="http://schemas.openxmlformats.org/officeDocument/2006/relationships" id="269" r:id="Rfbce6e45b55042c9"/>
    <p:sldId xmlns:r="http://schemas.openxmlformats.org/officeDocument/2006/relationships" id="270" r:id="Rc3651e911c1c4b13"/>
    <p:sldId xmlns:r="http://schemas.openxmlformats.org/officeDocument/2006/relationships" id="271" r:id="R480436e85f7c4489"/>
    <p:sldId xmlns:r="http://schemas.openxmlformats.org/officeDocument/2006/relationships" id="272" r:id="R12e8bfc9b5ba4245"/>
    <p:sldId xmlns:r="http://schemas.openxmlformats.org/officeDocument/2006/relationships" id="273" r:id="Ra426f1f8291f472e"/>
    <p:sldId xmlns:r="http://schemas.openxmlformats.org/officeDocument/2006/relationships" id="274" r:id="R21b8300074cc4093"/>
    <p:sldId xmlns:r="http://schemas.openxmlformats.org/officeDocument/2006/relationships" id="275" r:id="R6ebee21b1be84523"/>
    <p:sldId xmlns:r="http://schemas.openxmlformats.org/officeDocument/2006/relationships" id="276" r:id="R4f5446fc86484e45"/>
    <p:sldId xmlns:r="http://schemas.openxmlformats.org/officeDocument/2006/relationships" id="277" r:id="R2d5e8de56b384c7f"/>
    <p:sldId xmlns:r="http://schemas.openxmlformats.org/officeDocument/2006/relationships" id="278" r:id="R707333c9f7c74032"/>
    <p:sldId xmlns:r="http://schemas.openxmlformats.org/officeDocument/2006/relationships" id="279" r:id="R16212c9c8f2e406f"/>
    <p:sldId xmlns:r="http://schemas.openxmlformats.org/officeDocument/2006/relationships" id="280" r:id="R571b885930a14134"/>
    <p:sldId xmlns:r="http://schemas.openxmlformats.org/officeDocument/2006/relationships" id="281" r:id="R8532b785ad8e4f4b"/>
    <p:sldId xmlns:r="http://schemas.openxmlformats.org/officeDocument/2006/relationships" id="282" r:id="R6cceabdc654e4379"/>
    <p:sldId xmlns:r="http://schemas.openxmlformats.org/officeDocument/2006/relationships" id="283" r:id="R02f8b8e1c5814929"/>
    <p:sldId xmlns:r="http://schemas.openxmlformats.org/officeDocument/2006/relationships" id="284" r:id="R945b5fa181f04ce5"/>
    <p:sldId xmlns:r="http://schemas.openxmlformats.org/officeDocument/2006/relationships" id="285" r:id="R8749e84925854de6"/>
    <p:sldId xmlns:r="http://schemas.openxmlformats.org/officeDocument/2006/relationships" id="286" r:id="R036071e275554212"/>
    <p:sldId xmlns:r="http://schemas.openxmlformats.org/officeDocument/2006/relationships" id="287" r:id="R899d7b22fb114ef5"/>
    <p:sldId xmlns:r="http://schemas.openxmlformats.org/officeDocument/2006/relationships" id="288" r:id="R43a41922f72d49bb"/>
    <p:sldId xmlns:r="http://schemas.openxmlformats.org/officeDocument/2006/relationships" id="289" r:id="R56ff4e41901740da"/>
    <p:sldId xmlns:r="http://schemas.openxmlformats.org/officeDocument/2006/relationships" id="290" r:id="R1d9d6e20c0764fbd"/>
    <p:sldId xmlns:r="http://schemas.openxmlformats.org/officeDocument/2006/relationships" id="291" r:id="Rf52f0458a78d4f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85083d59a444b1" /><Relationship Type="http://schemas.openxmlformats.org/officeDocument/2006/relationships/slideMaster" Target="/ppt/slideMasters/slideMaster1.xml" Id="R54ecdc7d6bb44a8c" /><Relationship Type="http://schemas.openxmlformats.org/officeDocument/2006/relationships/notesMaster" Target="/ppt/notesMasters/notesMaster1.xml" Id="R217d6f4269f74f75" /><Relationship Type="http://schemas.openxmlformats.org/officeDocument/2006/relationships/presProps" Target="/ppt/presProps.xml" Id="R86538d693dab4235" /><Relationship Type="http://schemas.openxmlformats.org/officeDocument/2006/relationships/tableStyles" Target="/ppt/tableStyles.xml" Id="R59192c3232374521" /><Relationship Type="http://schemas.openxmlformats.org/officeDocument/2006/relationships/slide" Target="/ppt/slides/slide1.xml" Id="R0c684fed68634c02" /><Relationship Type="http://schemas.openxmlformats.org/officeDocument/2006/relationships/slide" Target="/ppt/slides/slide2.xml" Id="Rcddaf8ef98d7418b" /><Relationship Type="http://schemas.openxmlformats.org/officeDocument/2006/relationships/slide" Target="/ppt/slides/slide3.xml" Id="R5d630c1bddee4fb3" /><Relationship Type="http://schemas.openxmlformats.org/officeDocument/2006/relationships/slide" Target="/ppt/slides/slide4.xml" Id="Rd175df485e674854" /><Relationship Type="http://schemas.openxmlformats.org/officeDocument/2006/relationships/slide" Target="/ppt/slides/slide5.xml" Id="Ra6485b847e554876" /><Relationship Type="http://schemas.openxmlformats.org/officeDocument/2006/relationships/slide" Target="/ppt/slides/slide6.xml" Id="Rcbaad27efab24333" /><Relationship Type="http://schemas.openxmlformats.org/officeDocument/2006/relationships/slide" Target="/ppt/slides/slide7.xml" Id="R7b33e213cabd4f70" /><Relationship Type="http://schemas.openxmlformats.org/officeDocument/2006/relationships/slide" Target="/ppt/slides/slide8.xml" Id="Rb3f0da160c7f462b" /><Relationship Type="http://schemas.openxmlformats.org/officeDocument/2006/relationships/slide" Target="/ppt/slides/slide9.xml" Id="Rd0ddf6bb417a41c4" /><Relationship Type="http://schemas.openxmlformats.org/officeDocument/2006/relationships/slide" Target="/ppt/slides/slide10.xml" Id="R2b0e1c3217e24ea8" /><Relationship Type="http://schemas.openxmlformats.org/officeDocument/2006/relationships/slide" Target="/ppt/slides/slide11.xml" Id="R6eb700a66f464921" /><Relationship Type="http://schemas.openxmlformats.org/officeDocument/2006/relationships/slide" Target="/ppt/slides/slide12.xml" Id="R06cbec21b22343e0" /><Relationship Type="http://schemas.openxmlformats.org/officeDocument/2006/relationships/slide" Target="/ppt/slides/slide13.xml" Id="Re16f21608ae34fb5" /><Relationship Type="http://schemas.openxmlformats.org/officeDocument/2006/relationships/slide" Target="/ppt/slides/slide14.xml" Id="Rfbce6e45b55042c9" /><Relationship Type="http://schemas.openxmlformats.org/officeDocument/2006/relationships/slide" Target="/ppt/slides/slide15.xml" Id="Rc3651e911c1c4b13" /><Relationship Type="http://schemas.openxmlformats.org/officeDocument/2006/relationships/slide" Target="/ppt/slides/slide16.xml" Id="R480436e85f7c4489" /><Relationship Type="http://schemas.openxmlformats.org/officeDocument/2006/relationships/slide" Target="/ppt/slides/slide17.xml" Id="R12e8bfc9b5ba4245" /><Relationship Type="http://schemas.openxmlformats.org/officeDocument/2006/relationships/slide" Target="/ppt/slides/slide18.xml" Id="Ra426f1f8291f472e" /><Relationship Type="http://schemas.openxmlformats.org/officeDocument/2006/relationships/slide" Target="/ppt/slides/slide19.xml" Id="R21b8300074cc4093" /><Relationship Type="http://schemas.openxmlformats.org/officeDocument/2006/relationships/slide" Target="/ppt/slides/slide20.xml" Id="R6ebee21b1be84523" /><Relationship Type="http://schemas.openxmlformats.org/officeDocument/2006/relationships/slide" Target="/ppt/slides/slide21.xml" Id="R4f5446fc86484e45" /><Relationship Type="http://schemas.openxmlformats.org/officeDocument/2006/relationships/slide" Target="/ppt/slides/slide22.xml" Id="R2d5e8de56b384c7f" /><Relationship Type="http://schemas.openxmlformats.org/officeDocument/2006/relationships/slide" Target="/ppt/slides/slide23.xml" Id="R707333c9f7c74032" /><Relationship Type="http://schemas.openxmlformats.org/officeDocument/2006/relationships/slide" Target="/ppt/slides/slide24.xml" Id="R16212c9c8f2e406f" /><Relationship Type="http://schemas.openxmlformats.org/officeDocument/2006/relationships/slide" Target="/ppt/slides/slide25.xml" Id="R571b885930a14134" /><Relationship Type="http://schemas.openxmlformats.org/officeDocument/2006/relationships/slide" Target="/ppt/slides/slide26.xml" Id="R8532b785ad8e4f4b" /><Relationship Type="http://schemas.openxmlformats.org/officeDocument/2006/relationships/slide" Target="/ppt/slides/slide27.xml" Id="R6cceabdc654e4379" /><Relationship Type="http://schemas.openxmlformats.org/officeDocument/2006/relationships/slide" Target="/ppt/slides/slide28.xml" Id="R02f8b8e1c5814929" /><Relationship Type="http://schemas.openxmlformats.org/officeDocument/2006/relationships/slide" Target="/ppt/slides/slide29.xml" Id="R945b5fa181f04ce5" /><Relationship Type="http://schemas.openxmlformats.org/officeDocument/2006/relationships/slide" Target="/ppt/slides/slide30.xml" Id="R8749e84925854de6" /><Relationship Type="http://schemas.openxmlformats.org/officeDocument/2006/relationships/slide" Target="/ppt/slides/slide31.xml" Id="R036071e275554212" /><Relationship Type="http://schemas.openxmlformats.org/officeDocument/2006/relationships/slide" Target="/ppt/slides/slide32.xml" Id="R899d7b22fb114ef5" /><Relationship Type="http://schemas.openxmlformats.org/officeDocument/2006/relationships/slide" Target="/ppt/slides/slide33.xml" Id="R43a41922f72d49bb" /><Relationship Type="http://schemas.openxmlformats.org/officeDocument/2006/relationships/slide" Target="/ppt/slides/slide34.xml" Id="R56ff4e41901740da" /><Relationship Type="http://schemas.openxmlformats.org/officeDocument/2006/relationships/slide" Target="/ppt/slides/slide35.xml" Id="R1d9d6e20c0764fbd" /><Relationship Type="http://schemas.openxmlformats.org/officeDocument/2006/relationships/slide" Target="/ppt/slides/slide36.xml" Id="Rf52f0458a78d4f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554e42104842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f3265e18884be3" /><Relationship Type="http://schemas.openxmlformats.org/officeDocument/2006/relationships/notesMaster" Target="/ppt/notesMasters/notesMaster1.xml" Id="Re7873e7bbf2742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4f2e9756df42bc" /><Relationship Type="http://schemas.openxmlformats.org/officeDocument/2006/relationships/notesMaster" Target="/ppt/notesMasters/notesMaster1.xml" Id="R87e2612f85c747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5a9e766b244624" /><Relationship Type="http://schemas.openxmlformats.org/officeDocument/2006/relationships/notesMaster" Target="/ppt/notesMasters/notesMaster1.xml" Id="Ra7beca442e8848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134b3dcc464f11" /><Relationship Type="http://schemas.openxmlformats.org/officeDocument/2006/relationships/notesMaster" Target="/ppt/notesMasters/notesMaster1.xml" Id="R1eee661750ad4d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4a780d27e04789" /><Relationship Type="http://schemas.openxmlformats.org/officeDocument/2006/relationships/notesMaster" Target="/ppt/notesMasters/notesMaster1.xml" Id="R63a4c0e3845f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7d87b7f4884395" /><Relationship Type="http://schemas.openxmlformats.org/officeDocument/2006/relationships/notesMaster" Target="/ppt/notesMasters/notesMaster1.xml" Id="Rfda898438e2647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3f9813cdac4d94" /><Relationship Type="http://schemas.openxmlformats.org/officeDocument/2006/relationships/notesMaster" Target="/ppt/notesMasters/notesMaster1.xml" Id="R9230f2e2cc7a46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4fc82656b34ea0" /><Relationship Type="http://schemas.openxmlformats.org/officeDocument/2006/relationships/notesMaster" Target="/ppt/notesMasters/notesMaster1.xml" Id="R0df19d637f1943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49e654fe2141db" /><Relationship Type="http://schemas.openxmlformats.org/officeDocument/2006/relationships/notesMaster" Target="/ppt/notesMasters/notesMaster1.xml" Id="Rf3ebd0bb71ec43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1202b5506d415b" /><Relationship Type="http://schemas.openxmlformats.org/officeDocument/2006/relationships/notesMaster" Target="/ppt/notesMasters/notesMaster1.xml" Id="R150c2ca56a7045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5e76978c5b47e9" /><Relationship Type="http://schemas.openxmlformats.org/officeDocument/2006/relationships/notesMaster" Target="/ppt/notesMasters/notesMaster1.xml" Id="R654ee81de3f74e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7882ed9b454f77" /><Relationship Type="http://schemas.openxmlformats.org/officeDocument/2006/relationships/notesMaster" Target="/ppt/notesMasters/notesMaster1.xml" Id="R069cfd1bee1443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02a556bd074e30" /><Relationship Type="http://schemas.openxmlformats.org/officeDocument/2006/relationships/notesMaster" Target="/ppt/notesMasters/notesMaster1.xml" Id="Rbaf7c6e8580347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797c24cde34689" /><Relationship Type="http://schemas.openxmlformats.org/officeDocument/2006/relationships/notesMaster" Target="/ppt/notesMasters/notesMaster1.xml" Id="R58885db5918740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038a333767344b1" /><Relationship Type="http://schemas.openxmlformats.org/officeDocument/2006/relationships/notesMaster" Target="/ppt/notesMasters/notesMaster1.xml" Id="Rbbb0b73cc5c24a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dce77634da4158" /><Relationship Type="http://schemas.openxmlformats.org/officeDocument/2006/relationships/notesMaster" Target="/ppt/notesMasters/notesMaster1.xml" Id="R4832d9913a7b4cf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5d1b386607475a" /><Relationship Type="http://schemas.openxmlformats.org/officeDocument/2006/relationships/notesMaster" Target="/ppt/notesMasters/notesMaster1.xml" Id="R304d19f717674a8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0900b13c4444e5" /><Relationship Type="http://schemas.openxmlformats.org/officeDocument/2006/relationships/notesMaster" Target="/ppt/notesMasters/notesMaster1.xml" Id="R0a90fba4c71d41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20ca313a6c4bcb" /><Relationship Type="http://schemas.openxmlformats.org/officeDocument/2006/relationships/notesMaster" Target="/ppt/notesMasters/notesMaster1.xml" Id="R12e0898eb83e4dd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44272d68c17463a" /><Relationship Type="http://schemas.openxmlformats.org/officeDocument/2006/relationships/notesMaster" Target="/ppt/notesMasters/notesMaster1.xml" Id="R56f00ca59200473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df6989336eb4656" /><Relationship Type="http://schemas.openxmlformats.org/officeDocument/2006/relationships/notesMaster" Target="/ppt/notesMasters/notesMaster1.xml" Id="R2c64888dd18a4e7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2d7feb624514c62" /><Relationship Type="http://schemas.openxmlformats.org/officeDocument/2006/relationships/notesMaster" Target="/ppt/notesMasters/notesMaster1.xml" Id="R68f7e2c417cc470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955aca4dea84f26" /><Relationship Type="http://schemas.openxmlformats.org/officeDocument/2006/relationships/notesMaster" Target="/ppt/notesMasters/notesMaster1.xml" Id="R062790d24b644fe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4637a288d244652" /><Relationship Type="http://schemas.openxmlformats.org/officeDocument/2006/relationships/notesMaster" Target="/ppt/notesMasters/notesMaster1.xml" Id="Rae01494d5dea48a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a5cd38cd8bb4c96" /><Relationship Type="http://schemas.openxmlformats.org/officeDocument/2006/relationships/notesMaster" Target="/ppt/notesMasters/notesMaster1.xml" Id="R0edba1a4e1a3487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088f39272364caf" /><Relationship Type="http://schemas.openxmlformats.org/officeDocument/2006/relationships/notesMaster" Target="/ppt/notesMasters/notesMaster1.xml" Id="R28bd0f42966e4b9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3b41fd39503414d" /><Relationship Type="http://schemas.openxmlformats.org/officeDocument/2006/relationships/notesMaster" Target="/ppt/notesMasters/notesMaster1.xml" Id="R5804dcbeab2442a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bd7ad5cdd704317" /><Relationship Type="http://schemas.openxmlformats.org/officeDocument/2006/relationships/notesMaster" Target="/ppt/notesMasters/notesMaster1.xml" Id="R9deb3f173bc74ab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bf6cdc8376d46a0" /><Relationship Type="http://schemas.openxmlformats.org/officeDocument/2006/relationships/notesMaster" Target="/ppt/notesMasters/notesMaster1.xml" Id="R45c1fbff86f64ae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2100321a608430e" /><Relationship Type="http://schemas.openxmlformats.org/officeDocument/2006/relationships/notesMaster" Target="/ppt/notesMasters/notesMaster1.xml" Id="R71f6374c95b4488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11d2726eca948c9" /><Relationship Type="http://schemas.openxmlformats.org/officeDocument/2006/relationships/notesMaster" Target="/ppt/notesMasters/notesMaster1.xml" Id="R1d706e67736d482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865e1731dc14496" /><Relationship Type="http://schemas.openxmlformats.org/officeDocument/2006/relationships/notesMaster" Target="/ppt/notesMasters/notesMaster1.xml" Id="Ra82eed34bb42418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8f64d8a62f14b2e" /><Relationship Type="http://schemas.openxmlformats.org/officeDocument/2006/relationships/notesMaster" Target="/ppt/notesMasters/notesMaster1.xml" Id="Rd520f292085c49b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2275de320324ff7" /><Relationship Type="http://schemas.openxmlformats.org/officeDocument/2006/relationships/notesMaster" Target="/ppt/notesMasters/notesMaster1.xml" Id="Rd5c0dbd62f34440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c97545ff46d41c3" /><Relationship Type="http://schemas.openxmlformats.org/officeDocument/2006/relationships/notesMaster" Target="/ppt/notesMasters/notesMaster1.xml" Id="Ra83b6f0b878b45b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a387dabd8644923" /><Relationship Type="http://schemas.openxmlformats.org/officeDocument/2006/relationships/notesMaster" Target="/ppt/notesMasters/notesMaster1.xml" Id="Ra3eff6d6d1cb4f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as historical 2012 reporting. Treat it as prediction and inference, not association. Omit the repeated individual anecdote, scores, business-performance claims, causal claims, and current-practice implications. Citation: Charles Duhigg, ‘How Companies Learn Your Secrets,’ The New York Times Magazine (2012).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CRISP-DM as an iterative process framework, not a guarantee. Citation: Chapman, Clinton, Kerber, Khabaza, Reinartz, Shearer, and Wirth, CRISP-DM 1.0 Step-by-step Data Mining Guide (2000).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33.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reinforce the slide's core distinction and transition to slide 36.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reinforcing Ask → Match → Interpret. No further slide transition.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c1d561eba44d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a2ab44105640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656b7075684d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419c0d83d44f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011e4d32dd49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9f05a82fc4b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8AB0CA-09AF-49F7-A65E-9CDA0C8142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E4EAAC-C71F-4543-8892-9E123F24C15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0016A64-393F-41C7-B0C3-86A8094096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7F07F4-9ED0-496E-8FDE-DF5C656BE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ABFE4A-F151-4400-A462-96075EA1BA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89FADD-BFDB-46C4-B705-7AE4DC240A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64C39F-6ED4-432F-8B3C-7700F94DFF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385A5A8-66C7-4027-87D7-1683CD7CD2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C9DF05-F0DA-4AF0-94DB-046D388FFD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669339-6E7D-4DB7-8E7D-7D5790BA44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c5856b72164ee1" /><Relationship Type="http://schemas.openxmlformats.org/officeDocument/2006/relationships/slideLayout" Target="/ppt/slideLayouts/slideLayout1.xml" Id="R0e6c96d7ba194d27" /><Relationship Type="http://schemas.openxmlformats.org/officeDocument/2006/relationships/slideLayout" Target="/ppt/slideLayouts/slideLayout2.xml" Id="Rc62fa5f8e3e1431a" /><Relationship Type="http://schemas.openxmlformats.org/officeDocument/2006/relationships/slideLayout" Target="/ppt/slideLayouts/slideLayout3.xml" Id="R794edc1d94f349fe" /><Relationship Type="http://schemas.openxmlformats.org/officeDocument/2006/relationships/slideLayout" Target="/ppt/slideLayouts/slideLayout4.xml" Id="Rf0a07066b00941cb" /><Relationship Type="http://schemas.openxmlformats.org/officeDocument/2006/relationships/slideLayout" Target="/ppt/slideLayouts/slideLayout5.xml" Id="R4e47dd566dc24e64" /><Relationship Type="http://schemas.openxmlformats.org/officeDocument/2006/relationships/slideLayout" Target="/ppt/slideLayouts/slideLayout6.xml" Id="Rdef27de8b27f4f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6c96d7ba194d27"/>
    <p:sldLayoutId xmlns:r="http://schemas.openxmlformats.org/officeDocument/2006/relationships" id="2147483650" r:id="Rc62fa5f8e3e1431a"/>
    <p:sldLayoutId xmlns:r="http://schemas.openxmlformats.org/officeDocument/2006/relationships" id="2147483651" r:id="R794edc1d94f349fe"/>
    <p:sldLayoutId xmlns:r="http://schemas.openxmlformats.org/officeDocument/2006/relationships" id="2147483652" r:id="Rf0a07066b00941cb"/>
    <p:sldLayoutId xmlns:r="http://schemas.openxmlformats.org/officeDocument/2006/relationships" id="2147483653" r:id="R4e47dd566dc24e64"/>
    <p:sldLayoutId xmlns:r="http://schemas.openxmlformats.org/officeDocument/2006/relationships" id="2147483654" r:id="Rdef27de8b27f4f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37f344d04e42ed" /><Relationship Type="http://schemas.openxmlformats.org/officeDocument/2006/relationships/notesSlide" Target="/ppt/notesSlides/notesSlide1.xml" Id="Ra0b7b3dea1aa4d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e8d5abb02d4eaa" /><Relationship Type="http://schemas.openxmlformats.org/officeDocument/2006/relationships/notesSlide" Target="/ppt/notesSlides/notesSlide2.xml" Id="Rba95c5b1cb9d40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509adb2df4ef1" /><Relationship Type="http://schemas.openxmlformats.org/officeDocument/2006/relationships/notesSlide" Target="/ppt/notesSlides/notesSlide3.xml" Id="Rc4ef0c57b0bd4e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cc7ffd4fed4fcf" /><Relationship Type="http://schemas.openxmlformats.org/officeDocument/2006/relationships/notesSlide" Target="/ppt/notesSlides/notesSlide4.xml" Id="R087dd8d195aa43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ea44ba8a5a47dd" /><Relationship Type="http://schemas.openxmlformats.org/officeDocument/2006/relationships/notesSlide" Target="/ppt/notesSlides/notesSlide5.xml" Id="R77aa788f7aa141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bafcd4b7954a07" /><Relationship Type="http://schemas.openxmlformats.org/officeDocument/2006/relationships/notesSlide" Target="/ppt/notesSlides/notesSlide6.xml" Id="Rd21d2abad62f40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080d851c6d4776" /><Relationship Type="http://schemas.openxmlformats.org/officeDocument/2006/relationships/notesSlide" Target="/ppt/notesSlides/notesSlide7.xml" Id="R495cb7adfd864f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46fb63509a4bbc" /><Relationship Type="http://schemas.openxmlformats.org/officeDocument/2006/relationships/notesSlide" Target="/ppt/notesSlides/notesSlide8.xml" Id="R8a8c8cefd15041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2e74f81f64c48" /><Relationship Type="http://schemas.openxmlformats.org/officeDocument/2006/relationships/notesSlide" Target="/ppt/notesSlides/notesSlide9.xml" Id="R55f9199dc59642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021f1a2df74ceb" /><Relationship Type="http://schemas.openxmlformats.org/officeDocument/2006/relationships/notesSlide" Target="/ppt/notesSlides/notesSlide10.xml" Id="R69833aea21f940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c420edb76341d3" /><Relationship Type="http://schemas.openxmlformats.org/officeDocument/2006/relationships/notesSlide" Target="/ppt/notesSlides/notesSlide11.xml" Id="R64c68ce6d0b14c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98005c4f8b4339" /><Relationship Type="http://schemas.openxmlformats.org/officeDocument/2006/relationships/notesSlide" Target="/ppt/notesSlides/notesSlide12.xml" Id="Rfcd3f20cd27b41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bd500c59ca445e" /><Relationship Type="http://schemas.openxmlformats.org/officeDocument/2006/relationships/notesSlide" Target="/ppt/notesSlides/notesSlide13.xml" Id="Rdcb7bc6aa8ff4c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68e2df78de4890" /><Relationship Type="http://schemas.openxmlformats.org/officeDocument/2006/relationships/notesSlide" Target="/ppt/notesSlides/notesSlide14.xml" Id="R1766b531932747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e4d188d9b74fd9" /><Relationship Type="http://schemas.openxmlformats.org/officeDocument/2006/relationships/notesSlide" Target="/ppt/notesSlides/notesSlide15.xml" Id="R8aa8cbd9734e4d8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d42b4398db4e42" /><Relationship Type="http://schemas.openxmlformats.org/officeDocument/2006/relationships/notesSlide" Target="/ppt/notesSlides/notesSlide16.xml" Id="Rcdf5f13a588a42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e16cdd2e7b43d0" /><Relationship Type="http://schemas.openxmlformats.org/officeDocument/2006/relationships/notesSlide" Target="/ppt/notesSlides/notesSlide17.xml" Id="R5bf57da27dd24a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fdb7fb70cf4530" /><Relationship Type="http://schemas.openxmlformats.org/officeDocument/2006/relationships/notesSlide" Target="/ppt/notesSlides/notesSlide18.xml" Id="R693751c6828b4a0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d3dd17cac8410d" /><Relationship Type="http://schemas.openxmlformats.org/officeDocument/2006/relationships/notesSlide" Target="/ppt/notesSlides/notesSlide19.xml" Id="R8e689e941d264a3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ace7da86fe403f" /><Relationship Type="http://schemas.openxmlformats.org/officeDocument/2006/relationships/notesSlide" Target="/ppt/notesSlides/notesSlide20.xml" Id="Rac743b5f6ffb477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f9c4711c8d434e" /><Relationship Type="http://schemas.openxmlformats.org/officeDocument/2006/relationships/notesSlide" Target="/ppt/notesSlides/notesSlide21.xml" Id="Rbb372bb1650140a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ac407d4f4147fe" /><Relationship Type="http://schemas.openxmlformats.org/officeDocument/2006/relationships/notesSlide" Target="/ppt/notesSlides/notesSlide22.xml" Id="Rd459d02d49aa433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52d949ab5e4c5a" /><Relationship Type="http://schemas.openxmlformats.org/officeDocument/2006/relationships/notesSlide" Target="/ppt/notesSlides/notesSlide23.xml" Id="Rcd5b1b8cb0ed48e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06ffc813494b1a" /><Relationship Type="http://schemas.openxmlformats.org/officeDocument/2006/relationships/notesSlide" Target="/ppt/notesSlides/notesSlide24.xml" Id="Rb0f46b4c07914fb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f0fdb6841343fe" /><Relationship Type="http://schemas.openxmlformats.org/officeDocument/2006/relationships/notesSlide" Target="/ppt/notesSlides/notesSlide25.xml" Id="R1451525c1ae0431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189470f2b84a58" /><Relationship Type="http://schemas.openxmlformats.org/officeDocument/2006/relationships/notesSlide" Target="/ppt/notesSlides/notesSlide26.xml" Id="R91f9fa322c07453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dd7f18e1b0414a" /><Relationship Type="http://schemas.openxmlformats.org/officeDocument/2006/relationships/notesSlide" Target="/ppt/notesSlides/notesSlide27.xml" Id="R8f9006fe41f94e9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5a20b6be749ad" /><Relationship Type="http://schemas.openxmlformats.org/officeDocument/2006/relationships/notesSlide" Target="/ppt/notesSlides/notesSlide28.xml" Id="Rf16e7958bc5d4cc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7134d2f44641f1" /><Relationship Type="http://schemas.openxmlformats.org/officeDocument/2006/relationships/notesSlide" Target="/ppt/notesSlides/notesSlide29.xml" Id="Rc0b840ea866d4d3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9531815f2c4624" /><Relationship Type="http://schemas.openxmlformats.org/officeDocument/2006/relationships/notesSlide" Target="/ppt/notesSlides/notesSlide30.xml" Id="Ra97252afccda4de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f471d59e194e63" /><Relationship Type="http://schemas.openxmlformats.org/officeDocument/2006/relationships/notesSlide" Target="/ppt/notesSlides/notesSlide31.xml" Id="Rd3ecfb57466a4cf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dc7aa532924ca1" /><Relationship Type="http://schemas.openxmlformats.org/officeDocument/2006/relationships/notesSlide" Target="/ppt/notesSlides/notesSlide32.xml" Id="Ref6ce3d9db08419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6f1701847f4448" /><Relationship Type="http://schemas.openxmlformats.org/officeDocument/2006/relationships/notesSlide" Target="/ppt/notesSlides/notesSlide33.xml" Id="R56e5e622555a48d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dc03def4d04226" /><Relationship Type="http://schemas.openxmlformats.org/officeDocument/2006/relationships/notesSlide" Target="/ppt/notesSlides/notesSlide34.xml" Id="Rebd8a63f9554468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fb86f490e54053" /><Relationship Type="http://schemas.openxmlformats.org/officeDocument/2006/relationships/notesSlide" Target="/ppt/notesSlides/notesSlide35.xml" Id="Recef519dc33e4d3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f2fec96d524c01" /><Relationship Type="http://schemas.openxmlformats.org/officeDocument/2006/relationships/notesSlide" Target="/ppt/notesSlides/notesSlide36.xml" Id="R61f87d6552934b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B6B9F-4C47-4727-9CE6-253F51B7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2BA7D-9BE9-4DC0-9805-985BBAFC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Overview of Data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9D400-5661-4F29-A543-D9DA9E24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FE2BA-7220-474A-AC29-2965B324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82312-2D8E-4546-9AD4-97EA263C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SEMINAR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8F732-B6BD-4C61-838B-98CA33C1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Overview of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Data 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093DD-5782-4445-AA24-71110E10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14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C3BB0-7CC2-4469-B0F5-7E503DBF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847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Which analytical technique fits which business question?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277A7-A53D-4781-9203-2BF85002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BUSS256 · Spring 2027</a:t>
            </a:r>
          </a:p>
        </p:txBody>
      </p:sp>
    </p:spTree>
    <p:extLst>
      <p:ext uri="{BB962C8B-B14F-4D97-AF65-F5344CB8AC3E}">
        <p14:creationId xmlns:p14="http://schemas.microsoft.com/office/powerpoint/2010/main" val="973972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45676-F9C6-4272-B194-D1F1FFB3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673D7-8740-453C-8C00-9B62B2EC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Business Question, Data, Analytics,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D7F8B-2F07-4264-8A1B-52167570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4281A-3CA9-43B6-9233-2618248E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0B451-B7D2-4DD0-92DF-C8305041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5146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EC616-A907-4141-BED9-FF2C8B67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171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Business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5C615-B072-49CC-8583-0DE8871E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19400"/>
            <a:ext cx="228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E92C9-A222-4348-A4B4-6F6418C8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00300"/>
            <a:ext cx="25146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6BCF5-89DF-4155-A41C-FCB5DE27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2171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Relevant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FF01A-C6D2-4576-9B54-8551A078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19400"/>
            <a:ext cx="228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92E95-12B6-4842-A4CF-28374EE0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5146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713BD-67D7-4B9B-89D6-56F565E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2171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Analytical method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068BC-39A5-4D97-92B5-1F604FBA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19400"/>
            <a:ext cx="228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806D8-858F-4FDC-8C4C-48A461E7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25146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EF698-BD7D-4AE5-BA97-EA669323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52700"/>
            <a:ext cx="2171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Insight for a decision</a:t>
            </a:r>
          </a:p>
        </p:txBody>
      </p:sp>
    </p:spTree>
    <p:extLst>
      <p:ext uri="{BB962C8B-B14F-4D97-AF65-F5344CB8AC3E}">
        <p14:creationId xmlns:p14="http://schemas.microsoft.com/office/powerpoint/2010/main" val="7108934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6C79D-1950-401B-B3E7-EABE4C64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7D641-D25D-494C-B2B7-4EB7C98D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Seminar 4 Learning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3C1E3-AE02-4E20-993C-468C2512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2355C-458E-4F9B-8B6C-B4D44D9B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6EA2D-5B79-46DA-9238-6B30FB26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8642E-E103-4EA0-B351-E0DDD4BD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716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Match six techniques to business questions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25D7C-E566-4AA8-BDDD-036A5B40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6F418-7F8D-4276-BCB1-11B50397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Distinguish target-based and pattern-discovery tasks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AF7A7-6234-4D53-98EF-2F24EF5B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51C1D-5C79-4BD4-9BBF-0125F5B6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95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Interpret outputs without claiming causality or certainty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EE05C-F2DB-4868-B175-F4F2E663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59581-DE93-4BFF-93A5-BEFBCF98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4352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Place technique choice in an analytics workflow</a:t>
            </a:r>
          </a:p>
        </p:txBody>
      </p:sp>
    </p:spTree>
    <p:extLst>
      <p:ext uri="{BB962C8B-B14F-4D97-AF65-F5344CB8AC3E}">
        <p14:creationId xmlns:p14="http://schemas.microsoft.com/office/powerpoint/2010/main" val="20694443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59E0B-959D-47F5-B587-2ACB984E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B1090-4081-4F45-ABE8-A42833AF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Churn: Business Concern and Retention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5D9F4-5146-463B-BE81-ECB62917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96E59-3B4F-4A14-8B3B-6825756D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3C79C-62B3-423F-B4A8-5B8539C7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5255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C61E2-5222-4558-B96F-0606AA72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9065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ILLUSTRATIVE 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E0C44-374F-4B1C-8141-6E968113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A9668-5835-4888-B160-C7477311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716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 telecommunications provider wants to identify customers nearing renewal whose observed behavior may warrant a retention conversation.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25293-25CF-4DE9-A3E7-159B8985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CF9D0-899D-4AD9-BF8B-C5B209C9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This is a teaching example, not a company result.</a:t>
            </a:r>
          </a:p>
        </p:txBody>
      </p:sp>
    </p:spTree>
    <p:extLst>
      <p:ext uri="{BB962C8B-B14F-4D97-AF65-F5344CB8AC3E}">
        <p14:creationId xmlns:p14="http://schemas.microsoft.com/office/powerpoint/2010/main" val="20342963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BF3F7-F819-40DB-82D6-C4AFBD75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C7239-9DBA-451E-B85A-7FAAD828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Decomposing the Retention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38DEC-4E66-43A7-82FB-E634B59A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F847D-76AD-42D9-B7F5-F361E5DF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E0695-2A37-4957-AF03-300D6AD4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3429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722F3-CC69-4BA6-B249-90C402C2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3086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Risk question: Who may leave?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5FC1E-4F63-448D-801A-2AD9DA0E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19400"/>
            <a:ext cx="228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E192D-7F70-4D08-A605-8718D881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3429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4F0C1-4EFE-4500-AB4A-BCFA7E56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3086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Evidence question: What information supports the assessment?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44573-1E25-423B-9466-2C4F218D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19400"/>
            <a:ext cx="228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D6229-0099-4E3C-BCB4-CE35A349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429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0E0BA-F018-4670-BC34-ED2289BE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3086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Action question: Which retention action deserves evaluation?</a:t>
            </a:r>
          </a:p>
        </p:txBody>
      </p:sp>
    </p:spTree>
    <p:extLst>
      <p:ext uri="{BB962C8B-B14F-4D97-AF65-F5344CB8AC3E}">
        <p14:creationId xmlns:p14="http://schemas.microsoft.com/office/powerpoint/2010/main" val="20394590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B28AB-3873-4B93-BB81-BF5D8F0F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7004D-D713-4716-8167-E3C64F19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Risk Prediction Is Not Intervention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D35D7-A941-4443-A617-D03B3C51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4EF88-3DE4-401D-91D9-CBF140A5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F5279-8087-479B-9BEC-B012EE8A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90E89-8CEA-4A91-9378-5A119CE7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461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Risk estimate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EB4F3-08AF-41BE-82CB-39AD65AF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461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Intervention 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116B8-3F34-42CA-849A-D9E39CC4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DD265-4219-4E16-9526-2E2137E8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461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 prediction alone does not show that an offer caused retention.</a:t>
            </a:r>
          </a:p>
        </p:txBody>
      </p:sp>
    </p:spTree>
    <p:extLst>
      <p:ext uri="{BB962C8B-B14F-4D97-AF65-F5344CB8AC3E}">
        <p14:creationId xmlns:p14="http://schemas.microsoft.com/office/powerpoint/2010/main" val="18007211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77FE2-56B8-420D-A0BF-1D8C0A57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09499-D0EF-4E37-8D7C-B44F2BF8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Data-Mining Techniques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5CD8C-FE5E-4669-A1C9-654CAC34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6627F-794D-4470-9CD9-CB6A45F3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8C937-2FC6-4996-A20C-97AB087C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33B09-48D4-4947-AF4E-379D9B6A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716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Different techniques answer different kinds of questions from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D47F2-F71F-4CDD-B9C0-D311536F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CFFBD-D9A0-4510-B692-DBC8180B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Technique choice follows the question and available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353281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FD4A02-9A15-422E-AEFF-595101395950}"/>
              </a:ext>
            </a:extLst>
          </p:cNvPr>
          <p:cNvCxnSpPr>
            <a:stCxn xmlns:a="http://schemas.openxmlformats.org/drawingml/2006/main" id="20" idx="4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6096000" y="3876675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2"/>
            </a:solidFill>
            <a:prstDash val="soli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137BAC-B5E6-4CD1-9DB8-91C2B0509132}"/>
              </a:ext>
            </a:extLst>
          </p:cNvPr>
          <p:cNvCxnSpPr>
            <a:stCxn xmlns:a="http://schemas.openxmlformats.org/drawingml/2006/main" id="20" idx="0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V="1">
            <a:off x="6096000" y="2257425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2"/>
            </a:solidFill>
            <a:prstDash val="soli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162A85-DFC1-43A1-BA69-6BE07C80C26D}"/>
              </a:ext>
            </a:extLst>
          </p:cNvPr>
          <p:cNvCxnSpPr>
            <a:stCxn xmlns:a="http://schemas.openxmlformats.org/drawingml/2006/main" id="20" idx="6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429500" y="3438525"/>
            <a:ext cx="1285875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2"/>
            </a:solidFill>
            <a:prstDash val="soli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20FC8B-9F46-41A8-A78C-0C98978C218F}"/>
              </a:ext>
            </a:extLst>
          </p:cNvPr>
          <p:cNvCxnSpPr>
            <a:stCxn xmlns:a="http://schemas.openxmlformats.org/drawingml/2006/main" id="20" idx="6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7429500" y="2152650"/>
            <a:ext cx="1285875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2"/>
            </a:solidFill>
            <a:prstDash val="soli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E77100-4B97-428B-97B1-6AC779C521BD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3476625" y="3438525"/>
            <a:ext cx="1285875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2"/>
            </a:solidFill>
            <a:prstDash val="soli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DE1084-A776-4F87-B858-2F639EE34C97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 flipV="1">
            <a:off x="3476625" y="2152650"/>
            <a:ext cx="1285875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2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84DCD0-04F6-451D-B647-364DDD84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A2B0D-3DB1-4B5B-80A9-10641714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Six Technique Families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BBEFA-519E-4E2D-8A3D-1C605833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B27CC-4260-4CF3-AEE4-5A4AA556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1B91D4-B923-4B95-8A63-D308870E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2667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B173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C33FC-7B4E-48BE-A548-B6F4E7DB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C724B3-73B3-4C4E-8B30-C5B1A3EA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838325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  Clustering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groups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7AE79E-0216-4A7F-AEA3-C20A06E8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4BDEE3-F239-4FB6-8952-4719C015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410075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2  Association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co-occurrence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B7738-2C14-4FB9-879E-8CC7921B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62125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754359-B5E3-4B2F-99B5-B60FB8E5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38325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3  Classification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class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50238C-CC48-4BC6-AEE0-5E5594C6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33875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0DAE91-3C96-4BEA-A5D6-9E84263E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410075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4  Prediction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number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D2CD72-35E5-402C-8720-B1E49515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76375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38DB19-1C9E-45FD-A220-55B16F7A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52575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5  Data Visualization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visible patterns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E89603-C9D5-4C88-85AD-22FBD022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F65D1E-EBEF-48A7-B164-B252FD48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86325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6  Text Mining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textual patterns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42869C-03BF-4B10-B4E7-968505CD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432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80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BUSINESS</a:t>
            </a:r>
          </a:p>
          <a:p xmlns:a="http://schemas.openxmlformats.org/drawingml/2006/main">
            <a:pPr algn="ctr">
              <a:defRPr sz="180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</p:spTree>
    <p:extLst>
      <p:ext uri="{BB962C8B-B14F-4D97-AF65-F5344CB8AC3E}">
        <p14:creationId xmlns:p14="http://schemas.microsoft.com/office/powerpoint/2010/main" val="18863901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7D0FC-4027-4F8E-86D2-6FF785D5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AAE6B-6AE7-463B-9D7C-31DBED21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82FE9-4FDF-42E7-B086-8C6865C4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4C0F5-3756-47B9-BABC-B89F1BA5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52E50-6604-459A-9E98-48BBF6CC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0AA8D-8100-40D7-8D90-3E4EF481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716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Business question: Which customers or objects form useful groups?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53D26-6BEE-4FA7-9EE0-78A9BCBC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3E71E-FDEA-486F-84E0-93FD85B9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Output: group labels based on similarity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AF899-BB55-4EE5-A6F0-E127A294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222D3-A299-4B24-A247-3C2AA603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95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Limit: a group is not automatically a business category</a:t>
            </a:r>
          </a:p>
        </p:txBody>
      </p:sp>
    </p:spTree>
    <p:extLst>
      <p:ext uri="{BB962C8B-B14F-4D97-AF65-F5344CB8AC3E}">
        <p14:creationId xmlns:p14="http://schemas.microsoft.com/office/powerpoint/2010/main" val="4847724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BC61A-2D6A-4D8F-840B-004B962C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67F59-F7E5-4499-826E-62607FCA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Similarity as a Sorting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04042-4122-40E1-972C-50CC38AC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5E5A0-1A6D-4DAF-8625-6889C68E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34CF4-BD60-4212-B889-8B967E75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5255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72093-192E-48CC-9A9D-8177F945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9065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9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ILLUSTRATIVE ACTIVITY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F1ADB-F0FD-439D-B265-3A6510F7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How would you group these products?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C6DC7-F991-4664-B4AD-2D39A5A0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57450"/>
            <a:ext cx="6477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56843A-0C99-4E3B-AE27-05F76D6B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590800"/>
            <a:ext cx="34290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3BAE8-C83E-4BDE-AFFF-B7911A64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737"/>
          </a:solidFill>
          <a:ln xmlns:a="http://schemas.openxmlformats.org/drawingml/2006/main" w="0">
            <a:solidFill>
              <a:srgbClr val="8B173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EB838-0216-41AF-A74F-F7162E3E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2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Coffee cup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32B40-412C-4128-BC8F-3250A8B8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71875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Beverage</a:t>
            </a:r>
          </a:p>
          <a:p xmlns:a="http://schemas.openxmlformats.org/drawingml/2006/main">
            <a: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Price: low</a:t>
            </a:r>
          </a:p>
          <a:p xmlns:a="http://schemas.openxmlformats.org/drawingml/2006/main">
            <a: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Buy: daily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5CBBC1-8166-4DDA-BD4E-B735079F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62200"/>
            <a:ext cx="590550" cy="8382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80805C-AD7A-4752-97BA-A566F51A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05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D90F4-AD52-4196-B2DB-88B83812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838450"/>
            <a:ext cx="361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83C4F8-737F-48F8-9451-4E603380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861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2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Smart speaker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72E52C-5D75-413C-8834-6051B9C5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571875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Electronics</a:t>
            </a:r>
          </a:p>
          <a:p xmlns:a="http://schemas.openxmlformats.org/drawingml/2006/main">
            <a: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Price: high</a:t>
            </a:r>
          </a:p>
          <a:p xmlns:a="http://schemas.openxmlformats.org/drawingml/2006/main">
            <a: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Buy: occasional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79CE18-7B0B-4C69-A4C9-5F4BCE75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705100"/>
            <a:ext cx="100012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CCB35F-1FBF-41F6-A35D-43A139BC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552700"/>
            <a:ext cx="685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58654E-0378-48CC-8799-F33C01D2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38475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737"/>
          </a:solidFill>
          <a:ln xmlns:a="http://schemas.openxmlformats.org/drawingml/2006/main" w="0">
            <a:solidFill>
              <a:srgbClr val="8B173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30230A-931D-4BC8-A378-9F9294D9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861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2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Running shoes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F42F7C-99CB-4440-8226-EC4F16F6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571875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Apparel</a:t>
            </a:r>
          </a:p>
          <a:p xmlns:a="http://schemas.openxmlformats.org/drawingml/2006/main">
            <a: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Price: mid</a:t>
            </a:r>
          </a:p>
          <a:p xmlns:a="http://schemas.openxmlformats.org/drawingml/2006/main">
            <a: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Buy: seasonal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0FDBE3-89A6-4C4C-82D0-7A8E5476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23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2FC7C9-36B1-4BA1-97C3-69985CEC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3362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737"/>
          </a:solidFill>
          <a:ln xmlns:a="http://schemas.openxmlformats.org/drawingml/2006/main" w="0">
            <a:solidFill>
              <a:srgbClr val="8B173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7FA703-6897-4B1F-871C-9084C266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527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8"/>
          </a:solidFill>
          <a:ln xmlns:a="http://schemas.openxmlformats.org/drawingml/2006/main" w="0">
            <a:solidFill>
              <a:srgbClr val="1F3B6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1B6A2F-FA59-48D6-840C-A0D436B5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146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8"/>
          </a:solidFill>
          <a:ln xmlns:a="http://schemas.openxmlformats.org/drawingml/2006/main" w="0">
            <a:solidFill>
              <a:srgbClr val="1F3B6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F7FAE1-17C1-4272-8587-6A640F19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2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Notebook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CFE744-31BC-41F1-89ED-10631850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71875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Stationery</a:t>
            </a:r>
          </a:p>
          <a:p xmlns:a="http://schemas.openxmlformats.org/drawingml/2006/main">
            <a: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Price: low</a:t>
            </a:r>
          </a:p>
          <a:p xmlns:a="http://schemas.openxmlformats.org/drawingml/2006/main">
            <a: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Buy: monthly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FCB867-DDD7-4649-8BEE-024B1ED9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95550"/>
            <a:ext cx="552450" cy="7048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8B6B79-E2E6-4A36-8A52-15814C2D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62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AFF558-32CB-494E-AE31-DC985F05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43200"/>
            <a:ext cx="34290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B173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1F64D7-0958-44A2-B8AD-EBB7E0F8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861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2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Shampoo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7BABD6-A7FF-47E2-A97D-3E1D0D97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571875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Personal care</a:t>
            </a:r>
          </a:p>
          <a:p xmlns:a="http://schemas.openxmlformats.org/drawingml/2006/main">
            <a: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Price: mid</a:t>
            </a:r>
          </a:p>
          <a:p xmlns:a="http://schemas.openxmlformats.org/drawingml/2006/main">
            <a:pPr algn="ctr">
              <a:defRPr sz="10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Buy: monthly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6C8B68-1DB6-4A13-B870-FA25CBA2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066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A15737-8ED9-4E06-95F5-09656EF2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720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l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State the attribute you used.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FDB60A-1215-4712-A115-B93BB7A6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720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r">
              <a:defRPr sz="14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More than one grouping can be reasonable.</a:t>
            </a:r>
          </a:p>
        </p:txBody>
      </p:sp>
    </p:spTree>
    <p:extLst>
      <p:ext uri="{BB962C8B-B14F-4D97-AF65-F5344CB8AC3E}">
        <p14:creationId xmlns:p14="http://schemas.microsoft.com/office/powerpoint/2010/main" val="11934697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16EED-1167-4420-BBBA-DEE0107D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475F1-A749-4F0B-B530-39A8BAEE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Attributes for Grouping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FDB0B-E6E1-411B-AB1E-29EAAA1D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C0D00-54E4-4A86-8F68-37BFD37B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1E92A-6C6D-415C-9FC9-BC5C3F48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304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5C7FD-8091-4AC7-90C1-A7ECDA5B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PRICE RANGE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51C98-2CB9-4DB5-A07A-ECC4242E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241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Low  •  Mid  •  High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12AB6-1C0E-4C15-BF51-0FD4E294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57375"/>
            <a:ext cx="304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E48F8-3E8E-4E84-B7B3-05A15746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PURCHASE FREQUENCY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E6482-1F43-45C9-A7F2-069CCDE1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241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Daily  •  Monthly  •  Occasional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80EE70-660F-4D48-89E5-069D38CB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57375"/>
            <a:ext cx="304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786A3A-C2FF-4DD9-A736-BA30A4BB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478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PRODUCT CATEGORY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86BE47-61A4-425F-AB05-5445EC48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Beverage  •  Apparel  •  Electronics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C6FEC-5899-4CED-886C-A9AD7416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3380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72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Selected attributes shape the groups.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F2FCE2-B5A2-484F-822C-80D9E287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B173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95AF0D-A3D7-4096-9D2F-BA9AD2CC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6958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50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Category codes need interpretation: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F6A644-7555-48EF-AA3A-395A9A39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482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4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numbers do not make categories naturally close.</a:t>
            </a:r>
          </a:p>
        </p:txBody>
      </p:sp>
    </p:spTree>
    <p:extLst>
      <p:ext uri="{BB962C8B-B14F-4D97-AF65-F5344CB8AC3E}">
        <p14:creationId xmlns:p14="http://schemas.microsoft.com/office/powerpoint/2010/main" val="2786487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91A181-717F-40C4-BBBA-5F48D79510A4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667250" y="333375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1737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9A250-2778-439F-BA40-04AC038C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543AA-FDAE-4A8A-9F99-3AA43BED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Distance Depends on Representation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A4177-169B-457A-BBD4-DC3C84F6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96A12-B6D0-43CB-BC3F-656F4D64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8155B-B8C4-4CC9-82DE-E2820E00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240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Different attributes or scales can change the comparison.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E6F07-6DD3-460C-9A54-1CD2C6CF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3810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3BC1F-F6D4-4E87-B6B2-59313914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810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4F152C-60A0-46A1-A090-3CAD343C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5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CASE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12716-0D09-497E-8AA2-FF7C0D71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275" b="1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772"/>
                </a:solidFill>
                <a:latin typeface="Arial"/>
                <a:ea typeface="Arial"/>
                <a:cs typeface="Arial"/>
              </a:rPr>
              <a:t>Selected attributes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5ACF7-A602-45EC-9D8B-CBA4D68F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8612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Price in dollars</a:t>
            </a:r>
          </a:p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Purchases per month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FE3717-C9AF-46B2-BC89-910388FE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5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CASE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6225D-6CE1-4DE8-8935-09C045C3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275" b="1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772"/>
                </a:solidFill>
                <a:latin typeface="Arial"/>
                <a:ea typeface="Arial"/>
                <a:cs typeface="Arial"/>
              </a:rPr>
              <a:t>Selected attributes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3FA31D-44BC-4388-A7BE-6DB75F31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8612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Price tier: low / mid / high</a:t>
            </a:r>
          </a:p>
          <a:p xmlns:a="http://schemas.openxmlformats.org/drawingml/2006/main">
            <a:pPr algn="ctr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Product category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BB8B23-B310-41B2-86D4-3E093A66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5275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B173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FA6534-7505-41BC-A33D-BBA2AB9A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956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2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COMPARISON / DISTANCE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CBEDEA-AD4E-4843-8CED-3931194B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7024C8-AD49-4F9A-9643-4E9CDC26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387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6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Distance is a modeling choice, not objective truth.</a:t>
            </a:r>
          </a:p>
        </p:txBody>
      </p:sp>
    </p:spTree>
    <p:extLst>
      <p:ext uri="{BB962C8B-B14F-4D97-AF65-F5344CB8AC3E}">
        <p14:creationId xmlns:p14="http://schemas.microsoft.com/office/powerpoint/2010/main" val="13060454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C79866-291F-4F5B-8516-3C99B302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F15CE-03CF-47B0-A4EA-4FEF4083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More Than One Grouping Can Be Useful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B3F83-B7B2-4BF7-9693-EBDAAFA3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7ECF8-9A3C-4C81-A279-C0DEB06C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1228A-0F76-4996-97AE-F99CFDB6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573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Two broad groups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CB803-43A9-4766-8134-AEBC105A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50482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6E1C5-40C7-49E8-BA2D-EBF043E5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575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50EAA-6BD1-42C7-B99D-204EF4B2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86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BAAF0-EFD4-4E18-A02A-8430222E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9575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C5C11-E660-4BBB-9247-0A64775D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DEDC6-0F19-4178-8822-C4E70C6D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290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4AD4F-757B-4DD4-B95D-CF78EA5C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33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D8288-F497-44AA-B496-AA9C5CB0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7675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715F7-8DD0-4387-97FB-782A956E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1666875" cy="22383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B173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756F9-252C-4F45-8764-1882721D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81250"/>
            <a:ext cx="2143125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16DE5-51A6-480D-897E-619647C2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Three specific groups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45F702-78AD-4B46-B420-6ADDCF0B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0482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755F51-D85B-4106-9519-47FCDE3B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BB330-3AE6-4D38-89B8-548DD505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86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E09C9-1CA7-49F2-B339-57B9A27E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9F58F6-DEEC-4689-B218-02A03672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781406-411A-4765-BD6B-6568462D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A7EB75-A50A-4361-ABFE-4646E31C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33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27DA0D-50C9-4DDD-AD91-FBFD1C27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7675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4CDB50-6384-488E-864B-F6CBF1DC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76500"/>
            <a:ext cx="14287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B173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E8DA09-2C4D-4614-8AE9-43AFECB1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2476500"/>
            <a:ext cx="1460500" cy="146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1BA4DE-CCDF-4825-B8B0-A3E893B0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38600"/>
            <a:ext cx="1066800" cy="1066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725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631240-0C8F-4B6A-873C-D5CE539C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626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Different groupings can support different decisions.</a:t>
            </a:r>
          </a:p>
        </p:txBody>
      </p:sp>
    </p:spTree>
    <p:extLst>
      <p:ext uri="{BB962C8B-B14F-4D97-AF65-F5344CB8AC3E}">
        <p14:creationId xmlns:p14="http://schemas.microsoft.com/office/powerpoint/2010/main" val="7803302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CA170-1FD4-4866-99EC-D903E82C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E94CF-DD02-472A-8A91-94A2FB5D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Customer Segments as Decision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99208-0A12-4FF2-A477-5BBFA967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DBC7D-A9E5-4748-8FD9-D1FE1982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165E6-5A47-4755-A96E-1E99C06C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3429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50C5A-0B30-4E95-BEC8-238E80DA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3086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Possible use: tailor a retention message by observed segment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4581F-21B2-4FEB-9D60-132EB1DD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19400"/>
            <a:ext cx="228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06469-9CC3-4374-A5EC-531C3D51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3429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1BC58-801C-46E8-A2E8-B635A4B7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3086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Check whether the segment is stable, understandable, and useful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63087-2115-4C61-A47C-315AFC58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19400"/>
            <a:ext cx="228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0D1A3-4367-4B50-99F6-58701C8B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429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A3DD0-EA88-428C-9A91-9AAFCCDA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3086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 segment does not explain why customers behave that way</a:t>
            </a:r>
          </a:p>
        </p:txBody>
      </p:sp>
    </p:spTree>
    <p:extLst>
      <p:ext uri="{BB962C8B-B14F-4D97-AF65-F5344CB8AC3E}">
        <p14:creationId xmlns:p14="http://schemas.microsoft.com/office/powerpoint/2010/main" val="10905267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FE217-4851-4826-924F-172C0B30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E527F-01C3-4F09-8766-B7554705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34EE2-767E-430F-84F9-81C69C32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3A3AF-858A-4D94-AC13-B35D04C2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30380-0651-4FB0-8836-221E6FD1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55D73-C689-41EC-AAD6-A3ADF416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716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Business question: What tends to occur together?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3920B-F757-4E2A-8D9A-32FFC665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1633C-5303-49D2-9EC7-B380A4EA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Output: a co-occurrence pattern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443C5-EE53-4849-BC2A-28191DC4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83901-44D0-44BB-91A4-D42271F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95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Limit: co-occurrence does not establish cause</a:t>
            </a:r>
          </a:p>
        </p:txBody>
      </p:sp>
    </p:spTree>
    <p:extLst>
      <p:ext uri="{BB962C8B-B14F-4D97-AF65-F5344CB8AC3E}">
        <p14:creationId xmlns:p14="http://schemas.microsoft.com/office/powerpoint/2010/main" val="3316953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6580D-322F-4986-993C-DD688C2F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4D146-C3CE-4B1A-ACED-345A9AA4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Items Purchased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B4205-8AB5-4D42-9491-FB88929E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CA809-94C5-476D-9F31-19088D4E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A483C-E566-472C-880E-3A10E79B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5255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C2FC1-525D-4759-A964-0A2C77BA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9065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ILLUSTRATIVE 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B8E1C-13CB-451B-AA4D-600C50DF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4CC4D-1AC7-40E5-AAC7-787EC79C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716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 retailer examines which items tend to occur together in transaction records.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38885-6A82-422C-8264-95FC8466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9F3C2-74F1-4992-8FCB-3B242938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Use the pattern to ask a merchandising question, not to claim causality.</a:t>
            </a:r>
          </a:p>
        </p:txBody>
      </p:sp>
    </p:spTree>
    <p:extLst>
      <p:ext uri="{BB962C8B-B14F-4D97-AF65-F5344CB8AC3E}">
        <p14:creationId xmlns:p14="http://schemas.microsoft.com/office/powerpoint/2010/main" val="20418964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9EA52-2802-40D7-9B49-BE2D800B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A2699-C7F9-452E-AFE2-6A2170B3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52EB2-3B7F-4E5F-9C4F-3E0239EB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79B04-0DE3-49CA-B810-5CDA52DE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BD439-E620-48FC-AC9B-6DB89271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342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33F7A-6832-4A4A-8FCF-B72F4BEB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71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Past labeled 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DD44C-BC75-47E1-B5BA-3081362B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432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class A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class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E01F2-76E8-402B-9A12-050BEC13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037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1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151B7-A501-42E9-BAAF-97E37BCB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81250"/>
            <a:ext cx="5238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8B17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5FEB0-0AB2-4C3C-81D2-0C9D40E2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622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New case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CLASS LABEL</a:t>
            </a:r>
          </a:p>
        </p:txBody>
      </p:sp>
    </p:spTree>
    <p:extLst>
      <p:ext uri="{BB962C8B-B14F-4D97-AF65-F5344CB8AC3E}">
        <p14:creationId xmlns:p14="http://schemas.microsoft.com/office/powerpoint/2010/main" val="7154424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F177E-275B-4AF4-9908-64827FDE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0F86B-8CD0-452F-A280-1C8530DE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Classification: A Discrete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4907B-5637-459D-B2DB-EFDCAB5E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9E416-4ACC-4647-9CB0-D33EBDB0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BBD0F-3F1D-45C0-9432-206826AF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5255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63FD7-DC72-49F8-9774-51D82E8A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9065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ILLUSTRATIVE 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70A34-5F32-4844-86E2-B5F72006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342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A4095-A5BD-44A7-AC0B-27958E1D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71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Customer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38480-BFFE-4CA1-AF72-2B02A4EC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432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renew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not renew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A37BC-02D4-4B70-BF66-4903B4B6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037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1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37257-059F-4D4F-8720-CD565E44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81250"/>
            <a:ext cx="5238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8B173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714FA-B4F2-4458-91CE-0ED239E9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622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Likely class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RENEW / NOT RENEW</a:t>
            </a:r>
          </a:p>
        </p:txBody>
      </p:sp>
    </p:spTree>
    <p:extLst>
      <p:ext uri="{BB962C8B-B14F-4D97-AF65-F5344CB8AC3E}">
        <p14:creationId xmlns:p14="http://schemas.microsoft.com/office/powerpoint/2010/main" val="915373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3189B-56A1-40FA-9B89-271E3B05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2BB99-8935-422B-817F-2839A38B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8A202-6F69-45C0-A3D8-4274F06B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BA922-CFAB-492A-A95D-F9A9C2D2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7E835-2A5D-4FAF-9C91-F8DEC8B7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342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EB637-6A09-4AE4-A6AF-BEBC853C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Past numeric 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BE997-A901-4851-B26E-CEE5062A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2AB39-B8DB-4DBA-B281-A315C9EE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037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1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C4727-2F36-4E4B-B7CA-2CE2F6F8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81250"/>
            <a:ext cx="5238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8B17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4C25A-1485-485D-9A70-6A3795A3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622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New case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ESTIMATED NUMBER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4964D-B62D-4589-BBE3-E026008A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7625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Estimate, not certainty</a:t>
            </a:r>
          </a:p>
        </p:txBody>
      </p:sp>
    </p:spTree>
    <p:extLst>
      <p:ext uri="{BB962C8B-B14F-4D97-AF65-F5344CB8AC3E}">
        <p14:creationId xmlns:p14="http://schemas.microsoft.com/office/powerpoint/2010/main" val="4754548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FE9EF-17FB-490E-9FC9-294E06D3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28BAD-E479-4746-803D-500150D7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Prediction: A Numeric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6F680-BE58-404A-A731-3F7ED3FC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D8A96-D4E5-4A3E-9F70-65FE6D34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21BCB-3050-4F8C-8BEA-65E416FD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5255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2793D-6FCF-4155-8BE1-5D088B16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9065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ILLUSTRATIVE 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60D19-F12D-4B25-A4C6-D64EC29B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342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440BC-8862-4702-866B-D655BF59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Past demand patterns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62468-E8E2-4593-AE74-2E3E6E83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history +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3658C-95FB-4723-8A80-B332B891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037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1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96AFC-34C4-4D23-96F2-897AE956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81250"/>
            <a:ext cx="5238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8B173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86B62-074A-484E-A109-87FA10A4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622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Next-month demand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NUMERIC ESTIMATE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A5ABE-22D3-4EBB-AE0C-325152C3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7625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Estimate, not certainty</a:t>
            </a:r>
          </a:p>
        </p:txBody>
      </p:sp>
    </p:spTree>
    <p:extLst>
      <p:ext uri="{BB962C8B-B14F-4D97-AF65-F5344CB8AC3E}">
        <p14:creationId xmlns:p14="http://schemas.microsoft.com/office/powerpoint/2010/main" val="15088761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F39F9-E320-4BAE-9974-35F1F873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CB2B7-7AFE-46F8-AE73-00F497B3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Historical Example: Behavioral Inference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126EC-A9A7-450C-B01A-31FBADB9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9085B-3390-4A35-B27C-8CF60394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D112C-EB3D-4734-8192-7E4847C2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352550"/>
            <a:ext cx="385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B173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2719E-719B-4934-9524-A26C6A56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90650"/>
            <a:ext cx="3705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HISTORICAL EXAMPLE — 2012 REPORTING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62A9A-06D9-437F-AC7D-1BED9C8F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0957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8B173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9D117-4EC9-4B12-9935-1C39BCB1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PURCHASE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0F30E-EE8F-4A1D-85E0-B894D8E4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behavioral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448F4-3E63-44BB-B3AB-F4E21CCA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40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5C867-E838-4C76-BE2A-10E3C60C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sensitive inference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26E99-4B03-4CC5-B748-9EE71DBF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Reporting described Target's use of purchase-history analytics to estimate pregnancy likelihood.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EF295-F547-425E-838C-363D4EC3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95625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Teaching use: prediction, privacy, and limits of inference.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8BDCB-2B3A-4682-A285-AF7C2423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9575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Do not treat a prediction as a fact about a person.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9D4E8-4633-4798-95BA-CB4F85E7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197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Source: Duhigg, The New York Times Magazine (2012)</a:t>
            </a:r>
          </a:p>
        </p:txBody>
      </p:sp>
    </p:spTree>
    <p:extLst>
      <p:ext uri="{BB962C8B-B14F-4D97-AF65-F5344CB8AC3E}">
        <p14:creationId xmlns:p14="http://schemas.microsoft.com/office/powerpoint/2010/main" val="5646962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BF4BC-743C-4CA6-8CC2-FCA1EB9B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6168D-C7BB-4606-AB38-9F4CC693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Data Visualization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E56DB-0CA9-4A33-9718-8F4EF353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17D3B-66AA-429B-B5BA-B8ADA8C6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A2128-6334-4AFF-AE31-833C4AB5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ILLUSTRATIVE / CONCEPTUAL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8E738-B10B-4D9F-B34E-0255FF28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61912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E354F-B6AC-4D19-A581-2FF7A0A2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285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8"/>
          </a:solidFill>
          <a:ln xmlns:a="http://schemas.openxmlformats.org/drawingml/2006/main" w="0">
            <a:solidFill>
              <a:srgbClr val="1F3B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301B1-63F6-4615-BFDB-C46BBAC7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9105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8"/>
          </a:solidFill>
          <a:ln xmlns:a="http://schemas.openxmlformats.org/drawingml/2006/main" w="0">
            <a:solidFill>
              <a:srgbClr val="1F3B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C1C75-A71E-4B1E-BD47-8084A8D7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781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82D53-EC4B-468C-BF58-B0760E09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7810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04BFA9-77BF-4F75-AD8A-0EA7B23A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28875"/>
            <a:ext cx="7810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7284A-65AA-4475-9968-9DCA9A0A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958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F32180-2542-4205-AA38-70925D80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958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EFFF2-E35F-44A0-A316-66BFDA71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958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BFC0F-687F-469B-A5BF-E396DEAF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125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Illustrative categories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FAA8BA-F9F4-4762-B2DF-14A395DB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42950" y="30003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125" b="1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772"/>
                </a:solidFill>
                <a:latin typeface="Arial"/>
                <a:ea typeface="Arial"/>
                <a:cs typeface="Arial"/>
              </a:rPr>
              <a:t>Relative level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E1F139-949A-45B1-AD53-7472E0E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l">
              <a:defRPr sz="120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C488B9-0C85-4A8C-91DF-9017EF5D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361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What do plots reveal about distributions or relationships?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5A03EB-316E-4873-97EC-4ACBB86F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l">
              <a:defRPr sz="120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66A76A-20EB-404E-B710-013B527E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4807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l">
              <a:defRPr sz="18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Visible patterns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096094-2068-4991-BA76-D16148AA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577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l">
              <a:defRPr sz="1275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This is a concise preview before the focused visualization module.</a:t>
            </a:r>
          </a:p>
        </p:txBody>
      </p:sp>
    </p:spTree>
    <p:extLst>
      <p:ext uri="{BB962C8B-B14F-4D97-AF65-F5344CB8AC3E}">
        <p14:creationId xmlns:p14="http://schemas.microsoft.com/office/powerpoint/2010/main" val="13560607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490DE1-068F-4762-86D9-CCD813F0BB6E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810375" y="4552950"/>
            <a:ext cx="152400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2"/>
            </a:solidFill>
            <a:prstDash val="solid"/>
            <a:tailEnd type="arrow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BB681E-24FA-4D49-99AC-87A11290F076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6810375" y="3486150"/>
            <a:ext cx="152400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2"/>
            </a:solidFill>
            <a:prstDash val="solid"/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31244A-48C3-4502-BE46-D8B781DBBC8D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810375" y="3457575"/>
            <a:ext cx="15240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2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DD89FA-814B-48A0-B643-358AE44D8FA3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810375" y="2362200"/>
            <a:ext cx="152400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2"/>
            </a:solidFill>
            <a:prstDash val="solid"/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40978A-97AE-4058-B6A4-BFC6440B25BE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6810375" y="2295525"/>
            <a:ext cx="152400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2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E20F7A-311A-4E08-90B7-FF23E5588F09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6810375" y="2295525"/>
            <a:ext cx="1524000" cy="66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2"/>
            </a:solidFill>
            <a:prstDash val="soli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BF3C2-CE53-41BD-9D5B-DF3CE7A5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BFD78-0E0F-41F1-8663-28A58A2C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Text Mining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C535B-3F3C-453F-8EBB-540D4E84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4BA54-719D-4106-B0B4-1B8BE40D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CF2A4-7FCD-4A1B-A2F5-C047C901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FICTIONAL TEXT SAMPLE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7A38D-49AA-41D4-840C-254008F5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609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36204-4A45-4DD6-AC60-2B4B59C4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609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CD651-D7E9-4F32-B5B7-588B362E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609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72C39-7A38-45AF-A326-CD566017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3360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l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“Quick delivery. Setup was easy.”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6E54E-9E4D-4188-8C3A-350F6538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28975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l">
              <a:defRPr sz="14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“Delivery arrived late. Setup took time.”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A9BB3-DC24-4F2D-855F-54C6BE23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243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l">
              <a:defRPr sz="14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“Support helped with setup.”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F0B06-8DE3-4E31-A326-E005A7EF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714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F5CB0-7ACA-4973-8EBB-A2DDFF76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05025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42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27CDA5-8862-42C4-81E5-A9F4B48F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2714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2A510-6DBB-4F53-A558-8ABAE75F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9565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42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SETUP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7F3B7-8201-4006-B9DA-AA0C1B0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2714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2BB7E6-BD05-4E8C-BED1-A579CD9A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86275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42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C6041E-5811-4B06-B0FB-5B912959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0542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Question: What patterns appear in text?    Output: textual patterns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9DAA5A-705B-4E74-B147-A72450E6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673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125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Preview only. No real corpus is implied.</a:t>
            </a:r>
          </a:p>
        </p:txBody>
      </p:sp>
    </p:spTree>
    <p:extLst>
      <p:ext uri="{BB962C8B-B14F-4D97-AF65-F5344CB8AC3E}">
        <p14:creationId xmlns:p14="http://schemas.microsoft.com/office/powerpoint/2010/main" val="39006023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A9029-CB5E-4B5B-AA21-0B9D0D05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B7F91-7F21-4011-B40F-A6DF111C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Learned Patterns and Explicit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5CF72-F49C-417D-B093-D15DC5C9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8A77F-8CC8-4506-9399-3C3BB8B0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87857-858F-465D-915D-F1EBAEDA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14376-132D-4EAF-8D5F-34E48B8D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461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Programs include explicit choices and rules.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DDAA1-9FC2-4FAF-80C2-C4DC5A71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461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Models can learn patterns from examples.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61DAA-2810-4D04-90A7-90FD4536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27558-1B32-4AC3-BD4B-47493DC2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461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Human judgment remains part of the process.</a:t>
            </a:r>
          </a:p>
        </p:txBody>
      </p:sp>
    </p:spTree>
    <p:extLst>
      <p:ext uri="{BB962C8B-B14F-4D97-AF65-F5344CB8AC3E}">
        <p14:creationId xmlns:p14="http://schemas.microsoft.com/office/powerpoint/2010/main" val="141701123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80111-812E-4EA0-8F2A-A9CBB68C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114A3-8498-47FB-8BEF-72304303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Target Availability: Four Task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9D6CF-E7AB-4A6F-88C8-5A5AA45E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466C3-9CB9-4AC3-9691-41CBEE5D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91190-F400-4782-9AA9-04F280F3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KNOWN 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5360E-8014-43EB-ABF8-D438EDCD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116AA-44B9-450F-B04F-ECB005ED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4286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CBEB6-97D9-48CC-A70F-EB61356A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667000"/>
            <a:ext cx="3943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3  Classification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Output: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41A87-EC81-46BB-A0F8-D355D87E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67125"/>
            <a:ext cx="4286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27FD2-9AB9-4D5C-8B3F-E441933B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762375"/>
            <a:ext cx="3943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4  Prediction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Output: number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4AFBE-5FA4-423C-A54C-69D3C653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NO KNOWN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87AFD-DF1D-4269-B1E9-92116D6F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99436-6A2A-47B0-8EE7-106EC444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286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E6E9B-E7D4-48F4-8DB4-B351BEE3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67000"/>
            <a:ext cx="3943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  Clustering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Output: groups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C8A93-2FCC-4418-B23F-19633719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67125"/>
            <a:ext cx="4286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8730D-0FC8-427C-A6A7-EF670C01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62375"/>
            <a:ext cx="3943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2  Association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Output: co-occurrence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D88E3-12A5-4FB6-ADDE-BB9513E9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292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772"/>
                </a:solidFill>
                <a:latin typeface="Arial"/>
                <a:ea typeface="Arial"/>
                <a:cs typeface="Arial"/>
              </a:rPr>
              <a:t>Four task types are compared here. Visualization and Text Mining remain in the six-technique spine.</a:t>
            </a:r>
          </a:p>
        </p:txBody>
      </p:sp>
    </p:spTree>
    <p:extLst>
      <p:ext uri="{BB962C8B-B14F-4D97-AF65-F5344CB8AC3E}">
        <p14:creationId xmlns:p14="http://schemas.microsoft.com/office/powerpoint/2010/main" val="112706252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1DD39-79AB-43AA-90E3-DC804270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CCF5E-DB1A-4692-B6E3-AE2C24D3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Supervised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C10D4-7B1D-4837-A63D-EC2C994E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CF369-7C19-4E5C-9E8D-85D9F764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23F92-F5E5-46C9-ABE3-F3F5B26D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371D1-6BD9-48B8-A2A8-CC4546BB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716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 known target guides learning.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A4FAC-D73F-48C2-AB69-2AB124E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BBEDF-7716-4C24-847C-3158E7C9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Classification predicts a class.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0BCCC-F2A3-400E-AF84-86D8BF0E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9FA2A-0363-4ADA-8593-4BA0C99F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95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Prediction estimates a number.</a:t>
            </a:r>
          </a:p>
        </p:txBody>
      </p:sp>
    </p:spTree>
    <p:extLst>
      <p:ext uri="{BB962C8B-B14F-4D97-AF65-F5344CB8AC3E}">
        <p14:creationId xmlns:p14="http://schemas.microsoft.com/office/powerpoint/2010/main" val="19169865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E3983-9113-4B81-A9AA-4AC2048E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A3454-BE34-4E69-BAC5-B90128B0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Unsupervised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A7A76-F9A0-4CE8-B443-B3ECC457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92969-C10C-4EE2-B4E6-0F4A5F9D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CD13D-68B8-456A-AE1C-E6721F84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CEF00-0B45-4E46-9CEC-9B292265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716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No known target defines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D5850-F8C5-4B23-869C-C646260D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DC639-600A-4033-B456-FBCE122C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Clustering finds useful groups.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E2700-9C15-4314-B08C-255AD988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39473-0A18-444B-9B36-932A239F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95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Association finds co-occurrence patterns.</a:t>
            </a:r>
          </a:p>
        </p:txBody>
      </p:sp>
    </p:spTree>
    <p:extLst>
      <p:ext uri="{BB962C8B-B14F-4D97-AF65-F5344CB8AC3E}">
        <p14:creationId xmlns:p14="http://schemas.microsoft.com/office/powerpoint/2010/main" val="193536473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90B19-9239-4496-B1E0-8B463B65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5EEC4-42B7-4439-B74E-E466FE27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Statistics, Querying, and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9208A-CE04-4976-AE96-82963DAD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2C405-A683-4C95-BCFE-08B2A88D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21A03-7C16-48FC-A536-9BFBB3EA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F44E0-B98B-47B9-992F-703E49C4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461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Statistics: summarize data and help quantify patterns and uncertainty.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ABEFA-1A05-430F-80E9-4668439F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461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Querying retrieves specified information.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0C41F-424E-4BE8-89E4-6BDF8113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58BB0-4F6A-4E38-9459-E34DC730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461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Analytics and data mining discover or estimate patterns. These activities can overlap.</a:t>
            </a:r>
          </a:p>
        </p:txBody>
      </p:sp>
    </p:spTree>
    <p:extLst>
      <p:ext uri="{BB962C8B-B14F-4D97-AF65-F5344CB8AC3E}">
        <p14:creationId xmlns:p14="http://schemas.microsoft.com/office/powerpoint/2010/main" val="14458333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14080-3361-440D-9B36-92C51FF3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F28AD-812C-4918-8971-A2265D1B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Technique Identification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AEFE8-90A1-4B9F-92CA-8D4CABDA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B8020-CFA7-4F49-8BED-31258338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8863C-0262-41B2-A893-2F8BC218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5255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44539-4B4B-45F7-B9C1-B43C423C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9065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ILLUSTRATIVE ACTIVITY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8724F-9395-4D3A-9E33-79CDC72B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5116C-E4C3-4C01-B45E-E181B4B7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716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Identify the business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257D6-ADF3-4837-815B-B85237BA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54AF4-0BE3-4445-BE2D-BBD5B6B2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Name the conceptual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4E91D-E9A1-43FF-A322-A59C9694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C2ACC-98DE-4F61-89DB-585F5FE7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95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Select the technique that fits.</a:t>
            </a:r>
          </a:p>
        </p:txBody>
      </p:sp>
    </p:spTree>
    <p:extLst>
      <p:ext uri="{BB962C8B-B14F-4D97-AF65-F5344CB8AC3E}">
        <p14:creationId xmlns:p14="http://schemas.microsoft.com/office/powerpoint/2010/main" val="41765695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FAA895-8E45-4B6A-A56A-8FB8466C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6B031-EBE2-402E-9AB4-5739B1F7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Six-Technique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B30A8-EBDA-47E3-9A42-E85F330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B5F2A-4A2E-4F28-B952-7863E632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DF4FA-0DB1-4973-B68B-0CFFA6B2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Technique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862EE-40C3-48A2-942D-1AD2E226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5735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Typical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A3CBE-B305-4E19-9E02-E8E7B8F1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57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EF28D-138F-4F6C-A504-B3651807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5C1F4-9855-4976-8B75-BF0062CD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  Clustering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FFD0B-4DC6-4CCB-B3AE-526396ED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Which cases form useful groups?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3C42A-0D13-4A61-A776-2C352B8D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groups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B502F-A781-4C1C-A25B-07BA9676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C217E-8588-4D1B-8124-B174270C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2  Association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4B2D8-2F1F-4B23-9E6B-D0F28817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What tends to occur together?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E5D64-127F-429A-853E-BF52B09A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432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co-occurrence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5B774-DD12-4871-A6DE-19BD89F1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3A39E-F4BD-45F4-96AA-BDB859C1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3  Classification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94667-51B0-4D9A-B0BC-53C4C6D5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Which discrete class is likely?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D492E9-5FF3-42E1-A418-71BDED05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909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class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9347D-C9B5-4BC0-81F3-1842A3B6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814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B52E55-80E4-4B27-AC76-9FC40675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4  Prediction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C18C4-22B8-4A52-9B4B-7FF9FF48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386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What numeric value is likely?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0CC736-F74D-435F-B433-8C0ECFB1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386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number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FA34A7-6E23-460D-A801-2BA0C582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291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81677C-EC26-4ADB-892C-7341A87D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5  Data Visualization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C2B6B6-796A-4C1A-8EA5-F052BB98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863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What do plots reveal?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03610A-604F-4C14-9C70-3E22E9A1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863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visible patterns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A3D0A1-FB0E-4FCF-8A2E-3A0D1067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768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99C0F8-DC60-439D-A667-10D74BB0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6  Text Mining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F0EC4F-61B6-4A43-B254-A47226F8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340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What patterns appear in text?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00702C-B48E-42E9-8BD6-C051550F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334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textual patterns</a:t>
            </a:r>
          </a:p>
        </p:txBody>
      </p:sp>
    </p:spTree>
    <p:extLst>
      <p:ext uri="{BB962C8B-B14F-4D97-AF65-F5344CB8AC3E}">
        <p14:creationId xmlns:p14="http://schemas.microsoft.com/office/powerpoint/2010/main" val="7394285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6FAFB4-135D-4F06-9E28-000055250CA1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3810000" y="1895475"/>
            <a:ext cx="104775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1737"/>
            </a:solidFill>
            <a:prstDash val="solid"/>
            <a:tailEnd type="arrow" w="med" len="med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FE6AD5-2660-462D-A3FF-38319A16AEBC}"/>
              </a:ext>
            </a:extLst>
          </p:cNvPr>
          <p:cNvCxnSpPr>
            <a:stCxn xmlns:a="http://schemas.openxmlformats.org/drawingml/2006/main" id="35" idx="0"/>
            <a:endCxn xmlns:a="http://schemas.openxmlformats.org/drawingml/2006/main" id="37" idx="2"/>
          </p:cNvCxnSpPr>
          <p:nvPr/>
        </p:nvCxnSpPr>
        <p:spPr>
          <a:xfrm xmlns:a="http://schemas.openxmlformats.org/drawingml/2006/main" flipV="1">
            <a:off x="2595563" y="3076575"/>
            <a:ext cx="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1737"/>
            </a:solidFill>
            <a:prstDash val="solid"/>
            <a:tailEnd type="arrow" w="med" len="me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82AF7-E86C-4515-B6DB-95F81FF70591}"/>
              </a:ext>
            </a:extLst>
          </p:cNvPr>
          <p:cNvCxnSpPr>
            <a:stCxn xmlns:a="http://schemas.openxmlformats.org/drawingml/2006/main" id="33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 flipV="1">
            <a:off x="3810000" y="4610100"/>
            <a:ext cx="104775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1737"/>
            </a:solidFill>
            <a:prstDash val="solid"/>
            <a:tailEnd type="arrow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5C8CBF-259D-4457-92BE-195FD21F9147}"/>
              </a:ext>
            </a:extLst>
          </p:cNvPr>
          <p:cNvCxnSpPr>
            <a:stCxn xmlns:a="http://schemas.openxmlformats.org/drawingml/2006/main" id="31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7286625" y="4610100"/>
            <a:ext cx="104775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1737"/>
            </a:solidFill>
            <a:prstDash val="solid"/>
            <a:tailEnd type="arrow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6CBB04-69A0-4BD5-8269-34BFEE1F6928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9548813" y="3076575"/>
            <a:ext cx="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1737"/>
            </a:solidFill>
            <a:prstDash val="solid"/>
            <a:tailEnd type="arrow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B49E21-5D42-433A-8708-8AB2854A7348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7286625" y="1895475"/>
            <a:ext cx="104775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1737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1F6E37-0D28-40F8-A945-8E2D7E60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114F0-FBAB-412B-A3AC-B32B7642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CRISP-DM 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E56FC-E8A3-43A8-9A7D-8624EA9A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2CCF3-14BA-4C7E-8828-EF012EE4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518185-8759-4620-B79D-34996C0F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24000"/>
            <a:ext cx="2428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3B0418-FA92-4AC9-8857-D57D3D70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19250"/>
            <a:ext cx="2124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  Business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Understanding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8DD62C-58B5-406E-9D0C-8511B3F3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33625"/>
            <a:ext cx="2428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D22F3D-9C30-4E6A-86D7-41732A26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28875"/>
            <a:ext cx="2124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2  Data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Understanding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C0EBDC-B63B-4F9D-8B48-C909215E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38625"/>
            <a:ext cx="2428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3E5223-16C4-4452-862D-8EDEEC4B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333875"/>
            <a:ext cx="2124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3  Data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0BA914-7E28-40D5-877D-E0AAEBA7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48250"/>
            <a:ext cx="2428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D6014-2CE9-454D-904C-9C5DA8A0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43500"/>
            <a:ext cx="2124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4  Modeling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C3C6D7-7CC2-4947-A696-C964FB15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EA97D7-9F26-466B-9601-56B82C93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333875"/>
            <a:ext cx="2124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5  Evaluation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107FB2-8FDB-4C6E-B02B-04E40296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33625"/>
            <a:ext cx="2428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B4584D-6D9B-4133-A8FF-3EEA49DE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428875"/>
            <a:ext cx="2124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6  Deployment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EFDD57-848B-4EAD-95E4-FC6F5FC0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95625"/>
            <a:ext cx="2667000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B173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49241A-4764-49A7-833F-03439F57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7660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72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ITERATIVE</a:t>
            </a:r>
          </a:p>
          <a:p xmlns:a="http://schemas.openxmlformats.org/drawingml/2006/main">
            <a:pPr algn="ctr">
              <a:defRPr sz="172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5BDBA9-B325-489A-8B2C-CD6C9B18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96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r">
              <a:defRPr sz="975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CRISP-DM 1.0 (Chapman et al., 2000)</a:t>
            </a:r>
          </a:p>
        </p:txBody>
      </p:sp>
    </p:spTree>
    <p:extLst>
      <p:ext uri="{BB962C8B-B14F-4D97-AF65-F5344CB8AC3E}">
        <p14:creationId xmlns:p14="http://schemas.microsoft.com/office/powerpoint/2010/main" val="1240213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AFAAC-DDD8-45F9-A770-94B4DF26123B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6096000" y="3305175"/>
            <a:ext cx="323850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772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70391-DEFF-44FA-968F-024F6068BFE2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2857500" y="3305175"/>
            <a:ext cx="323850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772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AAB64-A31B-4A71-9A66-0BB2D01B2A68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714875" y="272415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1737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7D892-D4CC-47CE-AE9E-57ED33ED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DF157-6E28-438F-94C7-79FC8238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Requirements and Available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562AD-440D-4F98-8306-A250588D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F6A6F-6217-4459-852F-55771592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8FDF3-9422-4394-AD32-0A74F5A6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3714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9421E-A61A-4ABF-AD6E-190FD53B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288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5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BUSINESS REQUIREMENTS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55498-9020-4561-B7D2-E66027D1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43125"/>
            <a:ext cx="3714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96E2C-E6BB-4720-822B-17AFCFD6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288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5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AVAILABLE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6C9F70-79E6-4821-B8A0-81A4FC6D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2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each informs the other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E8FF92-EFA1-4451-A465-BF5391A5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4381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F1DA9-1564-4F95-A5D4-231843F9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577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6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FEASIBLE ANALYTICAL QUESTION</a:t>
            </a:r>
          </a:p>
        </p:txBody>
      </p:sp>
    </p:spTree>
    <p:extLst>
      <p:ext uri="{BB962C8B-B14F-4D97-AF65-F5344CB8AC3E}">
        <p14:creationId xmlns:p14="http://schemas.microsoft.com/office/powerpoint/2010/main" val="4416251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5D3D3-3ABF-4895-8F9F-298ACC78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7BEB7-4032-430E-AA04-D172046A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Technique Selection and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7D5B2-3D89-4E25-B283-A6D6F037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F5053-4A17-4379-BBAB-ECD3654E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F76B1-2E00-467D-8B99-3C57110A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3429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7804E-69C4-46B1-B1E5-D3D6B388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3086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Business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9B8CC-31B9-43F6-8062-9411052D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19400"/>
            <a:ext cx="228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3E3AB-6AB2-4B8A-A2A9-BBDB0315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3429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F64F1-FEFD-4C80-9577-FE3F2D7B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3086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Fitting technique or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FF070-5D65-4542-90B3-B7DE3831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19400"/>
            <a:ext cx="228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5DAF8-C07D-4F0B-94A1-CE659A18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429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6E452-EC40-4296-8BCF-8F564069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3086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Interpretable output</a:t>
            </a:r>
          </a:p>
        </p:txBody>
      </p:sp>
    </p:spTree>
    <p:extLst>
      <p:ext uri="{BB962C8B-B14F-4D97-AF65-F5344CB8AC3E}">
        <p14:creationId xmlns:p14="http://schemas.microsoft.com/office/powerpoint/2010/main" val="32265976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40F17-9B4B-4FD9-A421-C0FEA47F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5C502-56AE-4425-A728-C8195DA5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F0E06-A14E-45BC-A522-06E92290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46672-8E24-44CF-A3A8-0ED60CA1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C2F89-C7D7-4DA2-B81B-9472A6F5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45464-260F-4BD3-B6B4-0A3FD280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716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Validate the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84963-363E-4FF2-B729-07D78076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C6610-5F09-4265-A5FF-96B525F4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Compare alternatives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02177-413C-45C6-8C16-80FF3EAE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B9A00-EF6E-438B-B526-D391A364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95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Assess stakeholder consequences</a:t>
            </a:r>
          </a:p>
        </p:txBody>
      </p:sp>
    </p:spTree>
    <p:extLst>
      <p:ext uri="{BB962C8B-B14F-4D97-AF65-F5344CB8AC3E}">
        <p14:creationId xmlns:p14="http://schemas.microsoft.com/office/powerpoint/2010/main" val="199310842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4F79D-3311-4C15-9FF8-AF22A0696E8E}"/>
              </a:ext>
            </a:extLst>
          </p:cNvPr>
          <p:cNvCxnSpPr>
            <a:stCxn xmlns:a="http://schemas.openxmlformats.org/drawingml/2006/main" id="18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2524125" y="2828925"/>
            <a:ext cx="0" cy="1695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1737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8E351-89F0-450C-84F5-5E7AF36B0D06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4095750" y="4962525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1737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2B1A02-97FC-4129-B32D-94050EDE95C3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9667875" y="2828925"/>
            <a:ext cx="0" cy="1695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1737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E72272-81B7-49DD-B4E2-64D45129E5ED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095750" y="2390775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1737"/>
            </a:solidFill>
            <a:prstDash val="soli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1593C-514C-4C9C-AB4B-247B3615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ACF59-DF69-405F-A55F-F016B723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Deployment Supports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A2CC6-81B7-404E-8ADD-9F420E87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13E40-19E3-4CC1-B583-203FEF05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93EAD-7849-445A-A3AC-658995D7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D528A-17E1-49A7-AB4E-B6B9C6C5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71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1  USE ANALYTICAL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872EC-C701-4606-92AB-A8025DAD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08D15-1F50-408F-B647-39288F1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2  MONITOR USE / CONSEQUENCES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29905-CB8C-42F4-BEB6-31F68068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296A8-35EC-4BB6-BFFA-9ADE27A4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434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3  HUMAN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065C58-5A2E-443A-88B9-DD103B5D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822A5-B540-4B06-8305-693700AE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672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4  RECONSIDER / REVISE QUESTION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BF5A45-E103-47C8-A752-C79D7A66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3619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D1D1F-EA96-4060-810D-33FE9538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Deployment supports a business process.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0AAD99-96AF-4D88-85F8-BACBD4EB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671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>
            <a:defPPr algn="ctr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It does not guarantee an outcome.</a:t>
            </a:r>
          </a:p>
        </p:txBody>
      </p:sp>
    </p:spTree>
    <p:extLst>
      <p:ext uri="{BB962C8B-B14F-4D97-AF65-F5344CB8AC3E}">
        <p14:creationId xmlns:p14="http://schemas.microsoft.com/office/powerpoint/2010/main" val="89325328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E82D3-B4B5-41F1-8E6C-3D56D159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8B17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1737"/>
                </a:solidFill>
                <a:latin typeface="Arial"/>
                <a:ea typeface="Arial"/>
                <a:cs typeface="Arial"/>
              </a:rPr>
              <a:t>KOREA UNIVERSITY BUSINESS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8272E-7B61-49A7-94F8-A81B67C6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3B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3B68"/>
                </a:solidFill>
                <a:latin typeface="Arial"/>
                <a:ea typeface="Arial"/>
                <a:cs typeface="Arial"/>
              </a:rPr>
              <a:t>Close: Ask, Match, Interpret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7B262-0771-4EAA-9DD3-AC551DCC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2"/>
          </a:solidFill>
          <a:ln xmlns:a="http://schemas.openxmlformats.org/drawingml/2006/main" w="0">
            <a:solidFill>
              <a:srgbClr val="B8BC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F91C9-148C-4D6B-83F3-FF86E81E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F67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772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27293-4F9B-48A2-9ACC-727F63FD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9050">
            <a:solidFill>
              <a:srgbClr val="1F3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CFD3B-7AF6-4FC8-98A9-E9878722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716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Ask a clear business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4ADED-E8CA-43D3-9477-6FE38B18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F125D-CB2F-4866-93F8-4AC31E4D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Match a fitting technique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3D10B-5F5F-4489-BD6F-E491AC0B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1047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039A8-2A77-4BDA-8092-5F62290B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9575"/>
            <a:ext cx="994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Interpret the result and its limits</a:t>
            </a:r>
          </a:p>
        </p:txBody>
      </p:sp>
    </p:spTree>
    <p:extLst>
      <p:ext uri="{BB962C8B-B14F-4D97-AF65-F5344CB8AC3E}">
        <p14:creationId xmlns:p14="http://schemas.microsoft.com/office/powerpoint/2010/main" val="299242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2026-10-09T05:58:43.2620000Z</dcterms:created>
  <dcterms:modified xsi:type="dcterms:W3CDTF">2026-10-09T05:58:43.2620000Z</dcterms:modified>
</coreProperties>
</file>