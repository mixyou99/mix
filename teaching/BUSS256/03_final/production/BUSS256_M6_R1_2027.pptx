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theme" Target="theme/theme1.xml"/><Relationship Id="rId33" Type="http://schemas.openxmlformats.org/officeDocument/2006/relationships/presProps" Target="presProps.xml"/><Relationship Id="rId34"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L-TITLE">
    <p:spTree>
      <p:nvGrpSpPr>
        <p:cNvPr id="1" name=""/>
        <p:cNvGrpSpPr/>
        <p:nvPr/>
      </p:nvGrpSpPr>
      <p:grpSpPr>
        <a:xfrm>
          <a:off x="0" y="0"/>
          <a:ext cx="0" cy="0"/>
          <a:chOff x="0" y="0"/>
          <a:chExt cx="0" cy="0"/>
        </a:xfrm>
      </p:grpSpPr>
      <p:sp>
        <p:nvSpPr>
          <p:cNvPr id="2" name="Title"/>
          <p:cNvSpPr>
            <a:spLocks noGrp="1"/>
          </p:cNvSpPr>
          <p:nvPr>
            <p:ph type="ctrTitle"/>
          </p:nvPr>
        </p:nvSpPr>
        <p:spPr>
          <a:xfrm>
            <a:off x="548640" y="2011680"/>
            <a:ext cx="11091672" cy="1280160"/>
          </a:xfrm>
        </p:spPr>
        <p:txBody>
          <a:bodyPr vert="horz" lIns="91440" tIns="45720" rIns="91440" bIns="45720" rtlCol="0" anchor="b">
            <a:noAutofit/>
          </a:bodyPr>
          <a:lstStyle>
            <a:lvl1pPr algn="l">
              <a:defRPr sz="4000" b="1"/>
            </a:lvl1pPr>
          </a:lstStyle>
          <a:p>
            <a:r>
              <a:rPr lang="en-US"/>
              <a:t>Title</a:t>
            </a:r>
          </a:p>
        </p:txBody>
      </p:sp>
      <p:sp>
        <p:nvSpPr>
          <p:cNvPr id="3" name="Subtitle"/>
          <p:cNvSpPr>
            <a:spLocks noGrp="1"/>
          </p:cNvSpPr>
          <p:nvPr>
            <p:ph type="subTitle" idx="1"/>
          </p:nvPr>
        </p:nvSpPr>
        <p:spPr>
          <a:xfrm>
            <a:off x="548640" y="3566160"/>
            <a:ext cx="11091672" cy="2377440"/>
          </a:xfrm>
        </p:spPr>
        <p:txBody>
          <a:bodyPr vert="horz" lIns="91440" tIns="45720" rIns="91440" bIns="45720" rtlCol="0" anchor="t">
            <a:noAutofit/>
          </a:bodyPr>
          <a:lstStyle>
            <a:lvl1pPr marL="0" indent="0" algn="l">
              <a:buNone/>
              <a:defRPr sz="2200"/>
            </a:lvl1pPr>
          </a:lstStyle>
          <a:p>
            <a:r>
              <a:rPr lang="en-US"/>
              <a:t>Subtitle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ST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Title</a:t>
            </a:r>
          </a:p>
        </p:txBody>
      </p:sp>
      <p:sp>
        <p:nvSpPr>
          <p:cNvPr id="3" name="Body"/>
          <p:cNvSpPr>
            <a:spLocks noGrp="1"/>
          </p:cNvSpPr>
          <p:nvPr>
            <p:ph type="body" idx="1"/>
          </p:nvPr>
        </p:nvSpPr>
        <p:spPr/>
        <p:txBody>
          <a:bodyPr/>
          <a:lstStyle/>
          <a:p>
            <a:pPr lvl="0"/>
            <a:r>
              <a:rPr lang="en-US"/>
              <a:t>Body</a:t>
            </a:r>
          </a:p>
        </p:txBody>
      </p:sp>
      <p:sp>
        <p:nvSpPr>
          <p:cNvPr id="4" name="Footer"/>
          <p:cNvSpPr>
            <a:spLocks noGrp="1"/>
          </p:cNvSpPr>
          <p:nvPr>
            <p:ph type="ftr" sz="quarter" idx="11"/>
          </p:nvPr>
        </p:nvSpPr>
        <p:spPr/>
        <p:txBody>
          <a:bodyPr/>
          <a:lstStyle/>
          <a:p>
            <a:endParaRPr lang="en-US"/>
          </a:p>
        </p:txBody>
      </p:sp>
      <p:sp>
        <p:nvSpPr>
          <p:cNvPr id="5"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L-DIAGRAM">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Title</a:t>
            </a:r>
          </a:p>
        </p:txBody>
      </p:sp>
      <p:sp>
        <p:nvSpPr>
          <p:cNvPr id="3" name="Footer"/>
          <p:cNvSpPr>
            <a:spLocks noGrp="1"/>
          </p:cNvSpPr>
          <p:nvPr>
            <p:ph type="ftr" sz="quarter" idx="11"/>
          </p:nvPr>
        </p:nvSpPr>
        <p:spPr/>
        <p:txBody>
          <a:bodyPr/>
          <a:lstStyle/>
          <a:p>
            <a:endParaRPr lang="en-US"/>
          </a:p>
        </p:txBody>
      </p:sp>
      <p:sp>
        <p:nvSpPr>
          <p:cNvPr id="4"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L-STRIP">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Title</a:t>
            </a:r>
          </a:p>
        </p:txBody>
      </p:sp>
      <p:sp>
        <p:nvSpPr>
          <p:cNvPr id="3" name="Footer"/>
          <p:cNvSpPr>
            <a:spLocks noGrp="1"/>
          </p:cNvSpPr>
          <p:nvPr>
            <p:ph type="ftr" sz="quarter" idx="11"/>
          </p:nvPr>
        </p:nvSpPr>
        <p:spPr/>
        <p:txBody>
          <a:bodyPr/>
          <a:lstStyle/>
          <a:p>
            <a:endParaRPr lang="en-US"/>
          </a:p>
        </p:txBody>
      </p:sp>
      <p:sp>
        <p:nvSpPr>
          <p:cNvPr id="4"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L-CLOSE">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Title</a:t>
            </a:r>
          </a:p>
        </p:txBody>
      </p:sp>
      <p:sp>
        <p:nvSpPr>
          <p:cNvPr id="3" name="Body"/>
          <p:cNvSpPr>
            <a:spLocks noGrp="1"/>
          </p:cNvSpPr>
          <p:nvPr>
            <p:ph type="body" idx="1"/>
          </p:nvPr>
        </p:nvSpPr>
        <p:spPr/>
        <p:txBody>
          <a:bodyPr/>
          <a:lstStyle/>
          <a:p>
            <a:pPr lvl="0"/>
            <a:r>
              <a:rPr lang="en-US"/>
              <a:t>Body</a:t>
            </a:r>
          </a:p>
        </p:txBody>
      </p:sp>
      <p:sp>
        <p:nvSpPr>
          <p:cNvPr id="4"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10" Type="http://schemas.openxmlformats.org/officeDocument/2006/relationships/theme" Target="../theme/theme1.xml"/><Relationship Id="rId20" Type="http://schemas.openxmlformats.org/officeDocument/2006/relationships/image" Target="../media/ku_crest.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48640" y="640080"/>
            <a:ext cx="11091672" cy="960120"/>
          </a:xfrm>
        </p:spPr>
        <p:txBody>
          <a:bodyPr vert="horz" lIns="91440" tIns="45720" rIns="91440" bIns="45720" rtlCol="0" anchor="b">
            <a:noAutofit/>
          </a:bodyPr>
          <a:lstStyle/>
          <a:p>
            <a:r>
              <a:rPr lang="en-US"/>
              <a:t>Title</a:t>
            </a:r>
          </a:p>
        </p:txBody>
      </p:sp>
      <p:sp>
        <p:nvSpPr>
          <p:cNvPr id="3" name="Body Placeholder"/>
          <p:cNvSpPr>
            <a:spLocks noGrp="1"/>
          </p:cNvSpPr>
          <p:nvPr>
            <p:ph type="body" idx="1"/>
          </p:nvPr>
        </p:nvSpPr>
        <p:spPr>
          <a:xfrm>
            <a:off x="548640" y="1737360"/>
            <a:ext cx="11091672" cy="4206240"/>
          </a:xfrm>
        </p:spPr>
        <p:txBody>
          <a:bodyPr vert="horz" lIns="91440" tIns="45720" rIns="91440" bIns="45720" rtlCol="0" anchor="t">
            <a:noAutofit/>
          </a:bodyPr>
          <a:lstStyle/>
          <a:p>
            <a:pPr lvl="0"/>
            <a:r>
              <a:rPr lang="en-US"/>
              <a:t>Body</a:t>
            </a:r>
          </a:p>
        </p:txBody>
      </p:sp>
      <p:sp>
        <p:nvSpPr>
          <p:cNvPr id="4" name="Footer Placeholder"/>
          <p:cNvSpPr>
            <a:spLocks noGrp="1"/>
          </p:cNvSpPr>
          <p:nvPr>
            <p:ph type="ftr" sz="quarter" idx="11"/>
          </p:nvPr>
        </p:nvSpPr>
        <p:spPr>
          <a:xfrm>
            <a:off x="548640" y="6053328"/>
            <a:ext cx="9509760" cy="685800"/>
          </a:xfrm>
        </p:spPr>
        <p:txBody>
          <a:bodyPr vert="horz" lIns="91440" tIns="45720" rIns="91440" bIns="45720" rtlCol="0" anchor="t">
            <a:noAutofit/>
          </a:bodyPr>
          <a:lstStyle>
            <a:lvl1pPr algn="l">
              <a:defRPr sz="1200">
                <a:solidFill>
                  <a:schemeClr val="accent3"/>
                </a:solidFill>
                <a:latin typeface="Arial"/>
              </a:defRPr>
            </a:lvl1pPr>
          </a:lstStyle>
          <a:p>
            <a:endParaRPr lang="en-US"/>
          </a:p>
        </p:txBody>
      </p:sp>
      <p:sp>
        <p:nvSpPr>
          <p:cNvPr id="5" name="Slide Number Placeholder"/>
          <p:cNvSpPr>
            <a:spLocks noGrp="1"/>
          </p:cNvSpPr>
          <p:nvPr>
            <p:ph type="sldNum" sz="quarter" idx="12"/>
          </p:nvPr>
        </p:nvSpPr>
        <p:spPr>
          <a:xfrm>
            <a:off x="10241280" y="6144768"/>
            <a:ext cx="640080" cy="320040"/>
          </a:xfrm>
        </p:spPr>
        <p:txBody>
          <a:bodyPr vert="horz" lIns="91440" tIns="45720" rIns="91440" bIns="45720" rtlCol="0" anchor="t">
            <a:noAutofit/>
          </a:bodyPr>
          <a:lstStyle>
            <a:lvl1pPr algn="r">
              <a:defRPr sz="1200">
                <a:solidFill>
                  <a:schemeClr val="accent3"/>
                </a:solidFill>
                <a:latin typeface="Arial"/>
              </a:defRPr>
            </a:lvl1pPr>
          </a:lstStyle>
          <a:p>
            <a:fld id="{B6F15528-21DE-4FAA-801E-634DDDAF4B2B}" type="slidenum">
              <a:rPr lang="en-US"/>
              <a:t>‹#›</a:t>
            </a:fld>
            <a:endParaRPr lang="en-US"/>
          </a:p>
        </p:txBody>
      </p:sp>
      <p:pic>
        <p:nvPicPr>
          <p:cNvPr id="6" name="KU_crest" descr="Korea University crest (institutional branding)"/>
          <p:cNvPicPr>
            <a:picLocks noChangeAspect="1"/>
          </p:cNvPicPr>
          <p:nvPr userDrawn="1"/>
        </p:nvPicPr>
        <p:blipFill>
          <a:blip r:embed="rId20"/>
          <a:stretch>
            <a:fillRect/>
          </a:stretch>
        </p:blipFill>
        <p:spPr>
          <a:xfrm>
            <a:off x="10972800" y="6053328"/>
            <a:ext cx="667512" cy="55778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a:lnSpc>
          <a:spcPct val="95000"/>
        </a:lnSpc>
        <a:spcBef>
          <a:spcPct val="0"/>
        </a:spcBef>
        <a:buNone/>
        <a:defRPr sz="3200" b="1" kern="1200">
          <a:solidFill>
            <a:schemeClr val="accent1"/>
          </a:solidFill>
          <a:latin typeface="+mj-lt"/>
          <a:ea typeface="+mj-ea"/>
          <a:cs typeface="+mj-cs"/>
        </a:defRPr>
      </a:lvl1pPr>
    </p:titleStyle>
    <p:bodyStyle>
      <a:lvl1pPr marL="0" indent="0" algn="l">
        <a:spcBef>
          <a:spcPts val="0"/>
        </a:spcBef>
        <a:buNone/>
        <a:defRPr sz="2400" b="0" kern="1200">
          <a:solidFill>
            <a:schemeClr val="tx1"/>
          </a:solidFill>
          <a:latin typeface="+mn-lt"/>
          <a:ea typeface="+mn-ea"/>
          <a:cs typeface="+mn-cs"/>
        </a:defRPr>
      </a:lvl1pPr>
    </p:bodyStyle>
    <p:otherStyle>
      <a:lvl1pPr marL="0" indent="0" algn="l">
        <a:spcBef>
          <a:spcPts val="0"/>
        </a:spcBef>
        <a:buNone/>
        <a:defRPr sz="1800" b="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ku_log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1_title_1"/>
          <p:cNvSpPr>
            <a:spLocks noGrp="1"/>
          </p:cNvSpPr>
          <p:nvPr>
            <p:ph type="ctr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Seminar 2 — Principles in Data Science</a:t>
            </a:r>
            <a:endParaRPr lang="en-US" sz="3200" dirty="0"/>
          </a:p>
        </p:txBody>
      </p:sp>
      <p:pic>
        <p:nvPicPr>
          <p:cNvPr id="3" name="S01_brand_2" descr="Korea University Business School logo (institutional branding)"/>
          <p:cNvPicPr>
            <a:picLocks noChangeAspect="1"/>
          </p:cNvPicPr>
          <p:nvPr/>
        </p:nvPicPr>
        <p:blipFill>
          <a:blip r:embed="rId2"/>
          <a:stretch>
            <a:fillRect/>
          </a:stretch>
        </p:blipFill>
        <p:spPr>
          <a:xfrm>
            <a:off x="548640" y="548640"/>
            <a:ext cx="1463040" cy="449830"/>
          </a:xfrm>
          <a:prstGeom prst="rect">
            <a:avLst/>
          </a:prstGeom>
        </p:spPr>
      </p:pic>
      <p:cxnSp>
        <p:nvCxnSpPr>
          <p:cNvPr id="4" name="S01_conn_3">
            <a:extLst>
              <a:ext uri="{C183D7F6-B498-43B3-948B-1728B52AA6E4}">
                <adec:decorative xmlns:adec="http://schemas.microsoft.com/office/drawing/2017/decorative" val="1"/>
              </a:ext>
            </a:extLst>
          </p:cNvPr>
          <p:cNvCxnSpPr/>
          <p:nvPr/>
        </p:nvCxnSpPr>
        <p:spPr>
          <a:xfrm>
            <a:off x="548640" y="3429000"/>
            <a:ext cx="4937760" cy="0"/>
          </a:xfrm>
          <a:prstGeom prst="line">
            <a:avLst/>
          </a:prstGeom>
          <a:ln w="25400">
            <a:solidFill>
              <a:schemeClr val="accent4"/>
            </a:solidFill>
            <a:round/>
          </a:ln>
        </p:spPr>
      </p:cxnSp>
      <p:sp>
        <p:nvSpPr>
          <p:cNvPr id="5" name="S01_body_4"/>
          <p:cNvSpPr>
            <a:spLocks noGrp="1"/>
          </p:cNvSpPr>
          <p:nvPr>
            <p:ph type="subTitle" idx="1"/>
          </p:nvPr>
        </p:nvSpPr>
        <p:spPr>
          <a:xfrm>
            <a:off x="548640" y="3611880"/>
            <a:ext cx="11091672" cy="2194560"/>
          </a:xfrm>
        </p:spPr>
        <p:txBody>
          <a:bodyPr/>
          <a:lstStyle/>
          <a:p>
            <a:pPr algn="l" marL="0" indent="0">
              <a:lnSpc>
                <a:spcPct val="100000"/>
              </a:lnSpc>
              <a:spcBef>
                <a:spcPts val="0"/>
              </a:spcBef>
              <a:spcAft>
                <a:spcPts val="1000"/>
              </a:spcAft>
              <a:buNone/>
            </a:pPr>
            <a:r>
              <a:rPr lang="en-US" sz="2600" b="1" dirty="0">
                <a:solidFill>
                  <a:schemeClr val="tx1"/>
                </a:solidFill>
                <a:latin typeface="Arial"/>
                <a:cs typeface="Arial"/>
              </a:rPr>
              <a:t>BUSS256: Introduction to Big Data Analytics and Interpretation</a:t>
            </a:r>
            <a:endParaRPr lang="en-US" sz="2600" dirty="0"/>
          </a:p>
          <a:p>
            <a:pPr algn="l" marL="0" indent="0">
              <a:lnSpc>
                <a:spcPct val="100000"/>
              </a:lnSpc>
              <a:spcBef>
                <a:spcPts val="0"/>
              </a:spcBef>
              <a:spcAft>
                <a:spcPts val="400"/>
              </a:spcAft>
              <a:buNone/>
            </a:pPr>
            <a:r>
              <a:rPr lang="en-US" sz="2200" b="0" dirty="0">
                <a:solidFill>
                  <a:schemeClr val="tx1"/>
                </a:solidFill>
                <a:latin typeface="Arial"/>
                <a:cs typeface="Arial"/>
              </a:rPr>
              <a:t>Korea University Business School</a:t>
            </a:r>
            <a:endParaRPr lang="en-US" sz="2200" dirty="0"/>
          </a:p>
          <a:p>
            <a:pPr algn="l" marL="0" indent="0">
              <a:lnSpc>
                <a:spcPct val="100000"/>
              </a:lnSpc>
              <a:spcBef>
                <a:spcPts val="0"/>
              </a:spcBef>
              <a:spcAft>
                <a:spcPts val="400"/>
              </a:spcAft>
              <a:buNone/>
            </a:pPr>
            <a:r>
              <a:rPr lang="en-US" sz="2200" b="0" dirty="0">
                <a:solidFill>
                  <a:schemeClr val="tx1"/>
                </a:solidFill>
                <a:latin typeface="Arial"/>
                <a:cs typeface="Arial"/>
              </a:rPr>
              <a:t>Prof. Gun-woong Lee</a:t>
            </a:r>
            <a:endParaRPr lang="en-US" sz="2200" dirty="0"/>
          </a:p>
          <a:p>
            <a:pPr algn="l" marL="0" indent="0">
              <a:lnSpc>
                <a:spcPct val="100000"/>
              </a:lnSpc>
              <a:spcBef>
                <a:spcPts val="0"/>
              </a:spcBef>
              <a:spcAft>
                <a:spcPts val="0"/>
              </a:spcAft>
              <a:buNone/>
            </a:pPr>
            <a:r>
              <a:rPr lang="en-US" sz="2200" b="0" dirty="0">
                <a:solidFill>
                  <a:schemeClr val="tx1"/>
                </a:solidFill>
                <a:latin typeface="Arial"/>
                <a:cs typeface="Arial"/>
              </a:rPr>
              <a:t>Spring 2027</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2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Data literacy: can I trust this data for this question?</a:t>
            </a:r>
            <a:endParaRPr lang="en-US" sz="2800" dirty="0"/>
          </a:p>
        </p:txBody>
      </p:sp>
      <p:sp>
        <p:nvSpPr>
          <p:cNvPr id="3" name="S02_definition_2"/>
          <p:cNvSpPr txBox="1"/>
          <p:nvPr/>
        </p:nvSpPr>
        <p:spPr>
          <a:xfrm>
            <a:off x="548640" y="1737360"/>
            <a:ext cx="11091672" cy="10058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Data literacy</a:t>
            </a:r>
            <a:r>
              <a:rPr lang="en-US" sz="2400" b="0" dirty="0">
                <a:solidFill>
                  <a:schemeClr val="tx1"/>
                </a:solidFill>
                <a:latin typeface="Arial"/>
                <a:cs typeface="Arial"/>
              </a:rPr>
              <a:t> = judging whether data is useful for a problem and arguing with evidence from data; it means reading and understanding data.</a:t>
            </a:r>
            <a:endParaRPr lang="en-US" sz="2400" dirty="0"/>
          </a:p>
        </p:txBody>
      </p:sp>
      <p:sp>
        <p:nvSpPr>
          <p:cNvPr id="4" name="S02_card_3"/>
          <p:cNvSpPr/>
          <p:nvPr/>
        </p:nvSpPr>
        <p:spPr>
          <a:xfrm>
            <a:off x="548640" y="2926080"/>
            <a:ext cx="3520440" cy="2194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5" name="S02_badge_4"/>
          <p:cNvSpPr/>
          <p:nvPr/>
        </p:nvSpPr>
        <p:spPr>
          <a:xfrm>
            <a:off x="731520" y="3108960"/>
            <a:ext cx="502920" cy="50292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2000" b="1" dirty="0">
                <a:solidFill>
                  <a:schemeClr val="bg1"/>
                </a:solidFill>
                <a:latin typeface="Arial"/>
                <a:cs typeface="Arial"/>
              </a:rPr>
              <a:t>1</a:t>
            </a:r>
            <a:endParaRPr lang="en-US" sz="2000" dirty="0"/>
          </a:p>
        </p:txBody>
      </p:sp>
      <p:sp>
        <p:nvSpPr>
          <p:cNvPr id="6" name="S02_card_text_5"/>
          <p:cNvSpPr txBox="1"/>
          <p:nvPr/>
        </p:nvSpPr>
        <p:spPr>
          <a:xfrm>
            <a:off x="731520" y="3749040"/>
            <a:ext cx="3154680" cy="1280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Where did it come from?</a:t>
            </a:r>
            <a:endParaRPr lang="en-US" sz="2400" dirty="0"/>
          </a:p>
        </p:txBody>
      </p:sp>
      <p:sp>
        <p:nvSpPr>
          <p:cNvPr id="7" name="S02_card_6"/>
          <p:cNvSpPr/>
          <p:nvPr/>
        </p:nvSpPr>
        <p:spPr>
          <a:xfrm>
            <a:off x="4334256" y="2926080"/>
            <a:ext cx="3520440" cy="2194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8" name="S02_badge_7"/>
          <p:cNvSpPr/>
          <p:nvPr/>
        </p:nvSpPr>
        <p:spPr>
          <a:xfrm>
            <a:off x="4517136" y="3108960"/>
            <a:ext cx="502920" cy="50292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2000" b="1" dirty="0">
                <a:solidFill>
                  <a:schemeClr val="bg1"/>
                </a:solidFill>
                <a:latin typeface="Arial"/>
                <a:cs typeface="Arial"/>
              </a:rPr>
              <a:t>2</a:t>
            </a:r>
            <a:endParaRPr lang="en-US" sz="2000" dirty="0"/>
          </a:p>
        </p:txBody>
      </p:sp>
      <p:sp>
        <p:nvSpPr>
          <p:cNvPr id="9" name="S02_card_text_8"/>
          <p:cNvSpPr txBox="1"/>
          <p:nvPr/>
        </p:nvSpPr>
        <p:spPr>
          <a:xfrm>
            <a:off x="4517136" y="3749040"/>
            <a:ext cx="3154680" cy="1280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What does it measure?</a:t>
            </a:r>
            <a:endParaRPr lang="en-US" sz="2400" dirty="0"/>
          </a:p>
        </p:txBody>
      </p:sp>
      <p:sp>
        <p:nvSpPr>
          <p:cNvPr id="10" name="S02_card_9"/>
          <p:cNvSpPr/>
          <p:nvPr/>
        </p:nvSpPr>
        <p:spPr>
          <a:xfrm>
            <a:off x="8119872" y="2926080"/>
            <a:ext cx="3520440" cy="2194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1" name="S02_badge_10"/>
          <p:cNvSpPr/>
          <p:nvPr/>
        </p:nvSpPr>
        <p:spPr>
          <a:xfrm>
            <a:off x="8302752" y="3108960"/>
            <a:ext cx="502920" cy="50292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2000" b="1" dirty="0">
                <a:solidFill>
                  <a:schemeClr val="bg1"/>
                </a:solidFill>
                <a:latin typeface="Arial"/>
                <a:cs typeface="Arial"/>
              </a:rPr>
              <a:t>3</a:t>
            </a:r>
            <a:endParaRPr lang="en-US" sz="2000" dirty="0"/>
          </a:p>
        </p:txBody>
      </p:sp>
      <p:sp>
        <p:nvSpPr>
          <p:cNvPr id="12" name="S02_card_text_11"/>
          <p:cNvSpPr txBox="1"/>
          <p:nvPr/>
        </p:nvSpPr>
        <p:spPr>
          <a:xfrm>
            <a:off x="8302752" y="3749040"/>
            <a:ext cx="3154680" cy="1280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Is it good enough for this question?</a:t>
            </a:r>
            <a:endParaRPr lang="en-US" sz="2400" dirty="0"/>
          </a:p>
        </p:txBody>
      </p:sp>
      <p:sp>
        <p:nvSpPr>
          <p:cNvPr id="13" name="S02_note_12"/>
          <p:cNvSpPr txBox="1"/>
          <p:nvPr/>
        </p:nvSpPr>
        <p:spPr>
          <a:xfrm>
            <a:off x="548640" y="5349240"/>
            <a:ext cx="11091672"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0" dirty="0">
                <a:solidFill>
                  <a:schemeClr val="accent3"/>
                </a:solidFill>
                <a:latin typeface="Arial"/>
                <a:cs typeface="Arial"/>
              </a:rPr>
              <a:t>Algorithm literacy comes later, with the techniques.</a:t>
            </a:r>
            <a:endParaRPr lang="en-US" sz="2000" dirty="0"/>
          </a:p>
        </p:txBody>
      </p:sp>
      <p:sp>
        <p:nvSpPr>
          <p:cNvPr id="14" name="S02_slide_number_13"/>
          <p:cNvSpPr>
            <a:spLocks noGrp="1"/>
          </p:cNvSpPr>
          <p:nvPr>
            <p:ph type="sldNum" sz="quarter" idx="12"/>
          </p:nvPr>
        </p:nvSpPr>
        <p:spPr/>
        <p:txBody>
          <a:bodyPr/>
          <a:lstStyle/>
          <a:p>
            <a:fld id="{B6F15528-21DE-4FAA-801E-634DDDAF4B2B}" type="slidenum">
              <a:rPr lang="en-US" sz="1200" dirty="0">
                <a:latin typeface="Arial"/>
              </a:r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3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Learning objectives</a:t>
            </a:r>
            <a:endParaRPr lang="en-US" sz="3200" dirty="0"/>
          </a:p>
        </p:txBody>
      </p:sp>
      <p:sp>
        <p:nvSpPr>
          <p:cNvPr id="3" name="S03_card_2"/>
          <p:cNvSpPr/>
          <p:nvPr/>
        </p:nvSpPr>
        <p:spPr>
          <a:xfrm>
            <a:off x="548640" y="1828800"/>
            <a:ext cx="5440680" cy="19202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4" name="S03_badge_3"/>
          <p:cNvSpPr/>
          <p:nvPr/>
        </p:nvSpPr>
        <p:spPr>
          <a:xfrm>
            <a:off x="676656" y="195681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1</a:t>
            </a:r>
            <a:endParaRPr lang="en-US" sz="1600" dirty="0"/>
          </a:p>
        </p:txBody>
      </p:sp>
      <p:sp>
        <p:nvSpPr>
          <p:cNvPr id="5" name="S03_card_text_4"/>
          <p:cNvSpPr txBox="1"/>
          <p:nvPr/>
        </p:nvSpPr>
        <p:spPr>
          <a:xfrm>
            <a:off x="1280160" y="1901952"/>
            <a:ext cx="4572000" cy="17739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0" dirty="0">
                <a:solidFill>
                  <a:schemeClr val="tx1"/>
                </a:solidFill>
                <a:latin typeface="Arial"/>
                <a:cs typeface="Arial"/>
              </a:rPr>
              <a:t>Use the core terms in plain business language</a:t>
            </a:r>
            <a:endParaRPr lang="en-US" sz="2400" dirty="0"/>
          </a:p>
        </p:txBody>
      </p:sp>
      <p:sp>
        <p:nvSpPr>
          <p:cNvPr id="6" name="S03_card_5"/>
          <p:cNvSpPr/>
          <p:nvPr/>
        </p:nvSpPr>
        <p:spPr>
          <a:xfrm>
            <a:off x="6199632" y="1828800"/>
            <a:ext cx="5440680" cy="19202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7" name="S03_badge_6"/>
          <p:cNvSpPr/>
          <p:nvPr/>
        </p:nvSpPr>
        <p:spPr>
          <a:xfrm>
            <a:off x="6327648" y="195681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2</a:t>
            </a:r>
            <a:endParaRPr lang="en-US" sz="1600" dirty="0"/>
          </a:p>
        </p:txBody>
      </p:sp>
      <p:sp>
        <p:nvSpPr>
          <p:cNvPr id="8" name="S03_card_text_7"/>
          <p:cNvSpPr txBox="1"/>
          <p:nvPr/>
        </p:nvSpPr>
        <p:spPr>
          <a:xfrm>
            <a:off x="6931152" y="1901952"/>
            <a:ext cx="4572000" cy="17739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0" dirty="0">
                <a:solidFill>
                  <a:schemeClr val="tx1"/>
                </a:solidFill>
                <a:latin typeface="Arial"/>
                <a:cs typeface="Arial"/>
              </a:rPr>
              <a:t>Name the four key elements of business analytics and how they connect</a:t>
            </a:r>
            <a:endParaRPr lang="en-US" sz="2400" dirty="0"/>
          </a:p>
        </p:txBody>
      </p:sp>
      <p:sp>
        <p:nvSpPr>
          <p:cNvPr id="9" name="S03_card_8"/>
          <p:cNvSpPr/>
          <p:nvPr/>
        </p:nvSpPr>
        <p:spPr>
          <a:xfrm>
            <a:off x="548640" y="3931920"/>
            <a:ext cx="5440680" cy="19202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0" name="S03_badge_9"/>
          <p:cNvSpPr/>
          <p:nvPr/>
        </p:nvSpPr>
        <p:spPr>
          <a:xfrm>
            <a:off x="676656" y="405993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3</a:t>
            </a:r>
            <a:endParaRPr lang="en-US" sz="1600" dirty="0"/>
          </a:p>
        </p:txBody>
      </p:sp>
      <p:sp>
        <p:nvSpPr>
          <p:cNvPr id="11" name="S03_card_text_10"/>
          <p:cNvSpPr txBox="1"/>
          <p:nvPr/>
        </p:nvSpPr>
        <p:spPr>
          <a:xfrm>
            <a:off x="1280160" y="4005072"/>
            <a:ext cx="4572000" cy="17739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0" dirty="0">
                <a:solidFill>
                  <a:schemeClr val="tx1"/>
                </a:solidFill>
                <a:latin typeface="Arial"/>
                <a:cs typeface="Arial"/>
              </a:rPr>
              <a:t>Explain what BA is used for and what it cannot promise</a:t>
            </a:r>
            <a:endParaRPr lang="en-US" sz="2400" dirty="0"/>
          </a:p>
        </p:txBody>
      </p:sp>
      <p:sp>
        <p:nvSpPr>
          <p:cNvPr id="12" name="S03_card_11"/>
          <p:cNvSpPr/>
          <p:nvPr/>
        </p:nvSpPr>
        <p:spPr>
          <a:xfrm>
            <a:off x="6199632" y="3931920"/>
            <a:ext cx="5440680" cy="19202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3" name="S03_badge_12"/>
          <p:cNvSpPr/>
          <p:nvPr/>
        </p:nvSpPr>
        <p:spPr>
          <a:xfrm>
            <a:off x="6327648" y="405993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4</a:t>
            </a:r>
            <a:endParaRPr lang="en-US" sz="1600" dirty="0"/>
          </a:p>
        </p:txBody>
      </p:sp>
      <p:sp>
        <p:nvSpPr>
          <p:cNvPr id="14" name="S03_card_text_13"/>
          <p:cNvSpPr txBox="1"/>
          <p:nvPr/>
        </p:nvSpPr>
        <p:spPr>
          <a:xfrm>
            <a:off x="6931152" y="4005072"/>
            <a:ext cx="4572000" cy="17739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0" dirty="0">
                <a:solidFill>
                  <a:schemeClr val="tx1"/>
                </a:solidFill>
                <a:latin typeface="Arial"/>
                <a:cs typeface="Arial"/>
              </a:rPr>
              <a:t>Practise one habit — before you trust a number or claim, ask how you would check it</a:t>
            </a:r>
            <a:endParaRPr lang="en-US" sz="2400" dirty="0"/>
          </a:p>
        </p:txBody>
      </p:sp>
      <p:sp>
        <p:nvSpPr>
          <p:cNvPr id="15" name="S03_slide_number_14"/>
          <p:cNvSpPr>
            <a:spLocks noGrp="1"/>
          </p:cNvSpPr>
          <p:nvPr>
            <p:ph type="sldNum" sz="quarter" idx="12"/>
          </p:nvPr>
        </p:nvSpPr>
        <p:spPr/>
        <p:txBody>
          <a:bodyPr/>
          <a:lstStyle/>
          <a:p>
            <a:fld id="{B6F15528-21DE-4FAA-801E-634DDDAF4B2B}" type="slidenum">
              <a:rPr lang="en-US" sz="1200" dirty="0">
                <a:latin typeface="Arial"/>
              </a:r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4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Vocabulary test</a:t>
            </a:r>
            <a:endParaRPr lang="en-US" sz="3200" dirty="0"/>
          </a:p>
        </p:txBody>
      </p:sp>
      <p:sp>
        <p:nvSpPr>
          <p:cNvPr id="3" name="S04_prompt_2"/>
          <p:cNvSpPr txBox="1"/>
          <p:nvPr/>
        </p:nvSpPr>
        <p:spPr>
          <a:xfrm>
            <a:off x="548640" y="1737360"/>
            <a:ext cx="11091672" cy="5029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How many terms do you know?</a:t>
            </a:r>
            <a:endParaRPr lang="en-US" sz="2400" dirty="0"/>
          </a:p>
        </p:txBody>
      </p:sp>
      <p:sp>
        <p:nvSpPr>
          <p:cNvPr id="4" name="S04_term_3"/>
          <p:cNvSpPr txBox="1"/>
          <p:nvPr/>
        </p:nvSpPr>
        <p:spPr>
          <a:xfrm>
            <a:off x="822960" y="2423160"/>
            <a:ext cx="502920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1.  Data</a:t>
            </a:r>
            <a:endParaRPr lang="en-US" sz="2200" dirty="0"/>
          </a:p>
        </p:txBody>
      </p:sp>
      <p:sp>
        <p:nvSpPr>
          <p:cNvPr id="5" name="S04_term_4"/>
          <p:cNvSpPr txBox="1"/>
          <p:nvPr/>
        </p:nvSpPr>
        <p:spPr>
          <a:xfrm>
            <a:off x="822960" y="3108960"/>
            <a:ext cx="502920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2.  Information</a:t>
            </a:r>
            <a:endParaRPr lang="en-US" sz="2200" dirty="0"/>
          </a:p>
        </p:txBody>
      </p:sp>
      <p:sp>
        <p:nvSpPr>
          <p:cNvPr id="6" name="S04_term_5"/>
          <p:cNvSpPr txBox="1"/>
          <p:nvPr/>
        </p:nvSpPr>
        <p:spPr>
          <a:xfrm>
            <a:off x="822960" y="3794760"/>
            <a:ext cx="502920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3.  Data Science</a:t>
            </a:r>
            <a:endParaRPr lang="en-US" sz="2200" dirty="0"/>
          </a:p>
        </p:txBody>
      </p:sp>
      <p:sp>
        <p:nvSpPr>
          <p:cNvPr id="7" name="S04_term_6"/>
          <p:cNvSpPr txBox="1"/>
          <p:nvPr/>
        </p:nvSpPr>
        <p:spPr>
          <a:xfrm>
            <a:off x="822960" y="4480560"/>
            <a:ext cx="502920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4.  Data Mining</a:t>
            </a:r>
            <a:endParaRPr lang="en-US" sz="2200" dirty="0"/>
          </a:p>
        </p:txBody>
      </p:sp>
      <p:sp>
        <p:nvSpPr>
          <p:cNvPr id="8" name="S04_term_7"/>
          <p:cNvSpPr txBox="1"/>
          <p:nvPr/>
        </p:nvSpPr>
        <p:spPr>
          <a:xfrm>
            <a:off x="822960" y="5166360"/>
            <a:ext cx="502920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5.  Analytics (vs. Analysis)</a:t>
            </a:r>
            <a:endParaRPr lang="en-US" sz="2200" dirty="0"/>
          </a:p>
        </p:txBody>
      </p:sp>
      <p:sp>
        <p:nvSpPr>
          <p:cNvPr id="9" name="S04_term_8"/>
          <p:cNvSpPr txBox="1"/>
          <p:nvPr/>
        </p:nvSpPr>
        <p:spPr>
          <a:xfrm>
            <a:off x="5943600" y="2423160"/>
            <a:ext cx="566928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6.  Data Analytics</a:t>
            </a:r>
            <a:endParaRPr lang="en-US" sz="2200" dirty="0"/>
          </a:p>
        </p:txBody>
      </p:sp>
      <p:sp>
        <p:nvSpPr>
          <p:cNvPr id="10" name="S04_term_9"/>
          <p:cNvSpPr txBox="1"/>
          <p:nvPr/>
        </p:nvSpPr>
        <p:spPr>
          <a:xfrm>
            <a:off x="5943600" y="3108960"/>
            <a:ext cx="566928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7.  Business Analytics</a:t>
            </a:r>
            <a:endParaRPr lang="en-US" sz="2200" dirty="0"/>
          </a:p>
        </p:txBody>
      </p:sp>
      <p:sp>
        <p:nvSpPr>
          <p:cNvPr id="11" name="S04_term_10"/>
          <p:cNvSpPr txBox="1"/>
          <p:nvPr/>
        </p:nvSpPr>
        <p:spPr>
          <a:xfrm>
            <a:off x="5943600" y="3794760"/>
            <a:ext cx="566928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8.  Big Data</a:t>
            </a:r>
            <a:endParaRPr lang="en-US" sz="2200" dirty="0"/>
          </a:p>
        </p:txBody>
      </p:sp>
      <p:sp>
        <p:nvSpPr>
          <p:cNvPr id="12" name="S04_term_11"/>
          <p:cNvSpPr txBox="1"/>
          <p:nvPr/>
        </p:nvSpPr>
        <p:spPr>
          <a:xfrm>
            <a:off x="5943600" y="4480560"/>
            <a:ext cx="566928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9.  Business Problems</a:t>
            </a:r>
            <a:endParaRPr lang="en-US" sz="2200" dirty="0"/>
          </a:p>
        </p:txBody>
      </p:sp>
      <p:sp>
        <p:nvSpPr>
          <p:cNvPr id="13" name="S04_term_12"/>
          <p:cNvSpPr txBox="1"/>
          <p:nvPr/>
        </p:nvSpPr>
        <p:spPr>
          <a:xfrm>
            <a:off x="5943600" y="5166360"/>
            <a:ext cx="5669280" cy="594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10.  Descriptive/Predictive Analytics</a:t>
            </a:r>
            <a:endParaRPr lang="en-US" sz="2200" dirty="0"/>
          </a:p>
        </p:txBody>
      </p:sp>
      <p:sp>
        <p:nvSpPr>
          <p:cNvPr id="14" name="S04_slide_number_13"/>
          <p:cNvSpPr>
            <a:spLocks noGrp="1"/>
          </p:cNvSpPr>
          <p:nvPr>
            <p:ph type="sldNum" sz="quarter" idx="12"/>
          </p:nvPr>
        </p:nvSpPr>
        <p:spPr/>
        <p:txBody>
          <a:bodyPr/>
          <a:lstStyle/>
          <a:p>
            <a:fld id="{B6F15528-21DE-4FAA-801E-634DDDAF4B2B}" type="slidenum">
              <a:rPr lang="en-US" sz="1200" dirty="0">
                <a:latin typeface="Arial"/>
              </a:r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5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Data and information</a:t>
            </a:r>
            <a:endParaRPr lang="en-US" sz="3200" dirty="0"/>
          </a:p>
        </p:txBody>
      </p:sp>
      <p:sp>
        <p:nvSpPr>
          <p:cNvPr id="3" name="S05_tag_illus_2"/>
          <p:cNvSpPr/>
          <p:nvPr/>
        </p:nvSpPr>
        <p:spPr>
          <a:xfrm>
            <a:off x="8759952" y="1737360"/>
            <a:ext cx="2880360" cy="365760"/>
          </a:xfrm>
          <a:prstGeom prst="rect">
            <a:avLst/>
          </a:prstGeom>
          <a:solidFill>
            <a:schemeClr val="bg1"/>
          </a:solidFill>
          <a:ln w="25400">
            <a:solidFill>
              <a:schemeClr val="accent2"/>
            </a:solidFill>
            <a:prstDash val="dash"/>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ILLUSTRATIVE EXAMPLE</a:t>
            </a:r>
            <a:endParaRPr lang="en-US" sz="1600" dirty="0"/>
          </a:p>
        </p:txBody>
      </p:sp>
      <p:sp>
        <p:nvSpPr>
          <p:cNvPr id="4" name="S05_analogy_3"/>
          <p:cNvSpPr txBox="1"/>
          <p:nvPr/>
        </p:nvSpPr>
        <p:spPr>
          <a:xfrm>
            <a:off x="548640" y="1737360"/>
            <a:ext cx="7863840" cy="7772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Data</a:t>
            </a:r>
            <a:r>
              <a:rPr lang="en-US" sz="2000" b="0" dirty="0">
                <a:solidFill>
                  <a:schemeClr val="tx1"/>
                </a:solidFill>
                <a:latin typeface="Arial"/>
                <a:cs typeface="Arial"/>
              </a:rPr>
              <a:t> = raw facts (flour, eggs); </a:t>
            </a:r>
            <a:r>
              <a:rPr lang="en-US" sz="2000" b="1" dirty="0">
                <a:solidFill>
                  <a:schemeClr val="tx1"/>
                </a:solidFill>
                <a:latin typeface="Arial"/>
                <a:cs typeface="Arial"/>
              </a:rPr>
              <a:t>information</a:t>
            </a:r>
            <a:r>
              <a:rPr lang="en-US" sz="2000" b="0" dirty="0">
                <a:solidFill>
                  <a:schemeClr val="tx1"/>
                </a:solidFill>
                <a:latin typeface="Arial"/>
                <a:cs typeface="Arial"/>
              </a:rPr>
              <a:t> = data organized so it can answer a question (the cake).</a:t>
            </a:r>
            <a:endParaRPr lang="en-US" sz="2000" dirty="0"/>
          </a:p>
        </p:txBody>
      </p:sp>
      <p:sp>
        <p:nvSpPr>
          <p:cNvPr id="5" name="S05_node_4"/>
          <p:cNvSpPr/>
          <p:nvPr/>
        </p:nvSpPr>
        <p:spPr>
          <a:xfrm>
            <a:off x="548640" y="2560320"/>
            <a:ext cx="3291840" cy="9144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1  Data</a:t>
            </a:r>
            <a:endParaRPr lang="en-US" sz="2200" dirty="0"/>
          </a:p>
          <a:p>
            <a:pPr algn="ctr" marL="0" indent="0">
              <a:lnSpc>
                <a:spcPct val="100000"/>
              </a:lnSpc>
              <a:spcBef>
                <a:spcPts val="0"/>
              </a:spcBef>
              <a:spcAft>
                <a:spcPts val="0"/>
              </a:spcAft>
              <a:buNone/>
            </a:pPr>
            <a:r>
              <a:rPr lang="en-US" sz="1600" b="0" dirty="0">
                <a:solidFill>
                  <a:schemeClr val="accent3"/>
                </a:solidFill>
                <a:latin typeface="Arial"/>
                <a:cs typeface="Arial"/>
              </a:rPr>
              <a:t>raw facts</a:t>
            </a:r>
            <a:endParaRPr lang="en-US" sz="1600" dirty="0"/>
          </a:p>
        </p:txBody>
      </p:sp>
      <p:cxnSp>
        <p:nvCxnSpPr>
          <p:cNvPr id="6" name="S05_conn_5">
            <a:extLst>
              <a:ext uri="{C183D7F6-B498-43B3-948B-1728B52AA6E4}">
                <adec:decorative xmlns:adec="http://schemas.microsoft.com/office/drawing/2017/decorative" val="1"/>
              </a:ext>
            </a:extLst>
          </p:cNvPr>
          <p:cNvCxnSpPr/>
          <p:nvPr/>
        </p:nvCxnSpPr>
        <p:spPr>
          <a:xfrm>
            <a:off x="3886200" y="3040380"/>
            <a:ext cx="516636" cy="0"/>
          </a:xfrm>
          <a:prstGeom prst="line">
            <a:avLst/>
          </a:prstGeom>
          <a:ln w="31750">
            <a:solidFill>
              <a:schemeClr val="tx1"/>
            </a:solidFill>
            <a:round/>
            <a:tailEnd type="triangle" w="med" len="med"/>
          </a:ln>
        </p:spPr>
      </p:cxnSp>
      <p:sp>
        <p:nvSpPr>
          <p:cNvPr id="7" name="S05_node_6"/>
          <p:cNvSpPr/>
          <p:nvPr/>
        </p:nvSpPr>
        <p:spPr>
          <a:xfrm>
            <a:off x="4448556" y="2560320"/>
            <a:ext cx="3291840" cy="9144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2  Information</a:t>
            </a:r>
            <a:endParaRPr lang="en-US" sz="2200" dirty="0"/>
          </a:p>
          <a:p>
            <a:pPr algn="ctr" marL="0" indent="0">
              <a:lnSpc>
                <a:spcPct val="100000"/>
              </a:lnSpc>
              <a:spcBef>
                <a:spcPts val="0"/>
              </a:spcBef>
              <a:spcAft>
                <a:spcPts val="0"/>
              </a:spcAft>
              <a:buNone/>
            </a:pPr>
            <a:r>
              <a:rPr lang="en-US" sz="1600" b="0" dirty="0">
                <a:solidFill>
                  <a:schemeClr val="accent3"/>
                </a:solidFill>
                <a:latin typeface="Arial"/>
                <a:cs typeface="Arial"/>
              </a:rPr>
              <a:t>data organized to answer a question</a:t>
            </a:r>
            <a:endParaRPr lang="en-US" sz="1600" dirty="0"/>
          </a:p>
        </p:txBody>
      </p:sp>
      <p:cxnSp>
        <p:nvCxnSpPr>
          <p:cNvPr id="8" name="S05_conn_7">
            <a:extLst>
              <a:ext uri="{C183D7F6-B498-43B3-948B-1728B52AA6E4}">
                <adec:decorative xmlns:adec="http://schemas.microsoft.com/office/drawing/2017/decorative" val="1"/>
              </a:ext>
            </a:extLst>
          </p:cNvPr>
          <p:cNvCxnSpPr/>
          <p:nvPr/>
        </p:nvCxnSpPr>
        <p:spPr>
          <a:xfrm>
            <a:off x="7786116" y="3040380"/>
            <a:ext cx="516636" cy="0"/>
          </a:xfrm>
          <a:prstGeom prst="line">
            <a:avLst/>
          </a:prstGeom>
          <a:ln w="31750">
            <a:solidFill>
              <a:schemeClr val="tx1"/>
            </a:solidFill>
            <a:round/>
            <a:tailEnd type="triangle" w="med" len="med"/>
          </a:ln>
        </p:spPr>
      </p:cxnSp>
      <p:sp>
        <p:nvSpPr>
          <p:cNvPr id="9" name="S05_node_8"/>
          <p:cNvSpPr/>
          <p:nvPr/>
        </p:nvSpPr>
        <p:spPr>
          <a:xfrm>
            <a:off x="8348472" y="2560320"/>
            <a:ext cx="3291840" cy="9144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3  Decision</a:t>
            </a:r>
            <a:endParaRPr lang="en-US" sz="2200" dirty="0"/>
          </a:p>
          <a:p>
            <a:pPr algn="ctr" marL="0" indent="0">
              <a:lnSpc>
                <a:spcPct val="100000"/>
              </a:lnSpc>
              <a:spcBef>
                <a:spcPts val="0"/>
              </a:spcBef>
              <a:spcAft>
                <a:spcPts val="0"/>
              </a:spcAft>
              <a:buNone/>
            </a:pPr>
            <a:r>
              <a:rPr lang="en-US" sz="1600" b="0" dirty="0">
                <a:solidFill>
                  <a:schemeClr val="accent3"/>
                </a:solidFill>
                <a:latin typeface="Arial"/>
                <a:cs typeface="Arial"/>
              </a:rPr>
              <a:t>a decision to make</a:t>
            </a:r>
            <a:endParaRPr lang="en-US" sz="1600" dirty="0"/>
          </a:p>
        </p:txBody>
      </p:sp>
      <p:sp>
        <p:nvSpPr>
          <p:cNvPr id="10" name="S05_panel_9"/>
          <p:cNvSpPr/>
          <p:nvPr/>
        </p:nvSpPr>
        <p:spPr>
          <a:xfrm>
            <a:off x="548640" y="3611880"/>
            <a:ext cx="3291840" cy="16459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1" name="S05_panel_head_10"/>
          <p:cNvSpPr txBox="1"/>
          <p:nvPr/>
        </p:nvSpPr>
        <p:spPr>
          <a:xfrm>
            <a:off x="640080" y="3639312"/>
            <a:ext cx="3108960" cy="3657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Raw transactions</a:t>
            </a:r>
            <a:endParaRPr lang="en-US" sz="1800" dirty="0"/>
          </a:p>
        </p:txBody>
      </p:sp>
      <p:sp>
        <p:nvSpPr>
          <p:cNvPr id="12" name="S05_raw_row_11"/>
          <p:cNvSpPr txBox="1"/>
          <p:nvPr/>
        </p:nvSpPr>
        <p:spPr>
          <a:xfrm>
            <a:off x="640080" y="4023360"/>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A</a:t>
            </a:r>
            <a:endParaRPr lang="en-US" sz="1600" dirty="0"/>
          </a:p>
        </p:txBody>
      </p:sp>
      <p:sp>
        <p:nvSpPr>
          <p:cNvPr id="13" name="S05_raw_row_12"/>
          <p:cNvSpPr txBox="1"/>
          <p:nvPr/>
        </p:nvSpPr>
        <p:spPr>
          <a:xfrm>
            <a:off x="640080" y="4325112"/>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B</a:t>
            </a:r>
            <a:endParaRPr lang="en-US" sz="1600" dirty="0"/>
          </a:p>
        </p:txBody>
      </p:sp>
      <p:sp>
        <p:nvSpPr>
          <p:cNvPr id="14" name="S05_raw_row_13"/>
          <p:cNvSpPr txBox="1"/>
          <p:nvPr/>
        </p:nvSpPr>
        <p:spPr>
          <a:xfrm>
            <a:off x="640080" y="4626864"/>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A</a:t>
            </a:r>
            <a:endParaRPr lang="en-US" sz="1600" dirty="0"/>
          </a:p>
        </p:txBody>
      </p:sp>
      <p:sp>
        <p:nvSpPr>
          <p:cNvPr id="15" name="S05_raw_row_14"/>
          <p:cNvSpPr txBox="1"/>
          <p:nvPr/>
        </p:nvSpPr>
        <p:spPr>
          <a:xfrm>
            <a:off x="640080" y="4928616"/>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A</a:t>
            </a:r>
            <a:endParaRPr lang="en-US" sz="1600" dirty="0"/>
          </a:p>
        </p:txBody>
      </p:sp>
      <p:sp>
        <p:nvSpPr>
          <p:cNvPr id="16" name="S05_raw_row_15"/>
          <p:cNvSpPr txBox="1"/>
          <p:nvPr/>
        </p:nvSpPr>
        <p:spPr>
          <a:xfrm>
            <a:off x="2240280" y="4023360"/>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B</a:t>
            </a:r>
            <a:endParaRPr lang="en-US" sz="1600" dirty="0"/>
          </a:p>
        </p:txBody>
      </p:sp>
      <p:sp>
        <p:nvSpPr>
          <p:cNvPr id="17" name="S05_raw_row_16"/>
          <p:cNvSpPr txBox="1"/>
          <p:nvPr/>
        </p:nvSpPr>
        <p:spPr>
          <a:xfrm>
            <a:off x="2240280" y="4325112"/>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A</a:t>
            </a:r>
            <a:endParaRPr lang="en-US" sz="1600" dirty="0"/>
          </a:p>
        </p:txBody>
      </p:sp>
      <p:sp>
        <p:nvSpPr>
          <p:cNvPr id="18" name="S05_raw_row_17"/>
          <p:cNvSpPr txBox="1"/>
          <p:nvPr/>
        </p:nvSpPr>
        <p:spPr>
          <a:xfrm>
            <a:off x="2240280" y="4626864"/>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A</a:t>
            </a:r>
            <a:endParaRPr lang="en-US" sz="1600" dirty="0"/>
          </a:p>
        </p:txBody>
      </p:sp>
      <p:sp>
        <p:nvSpPr>
          <p:cNvPr id="19" name="S05_raw_row_18"/>
          <p:cNvSpPr txBox="1"/>
          <p:nvPr/>
        </p:nvSpPr>
        <p:spPr>
          <a:xfrm>
            <a:off x="2240280" y="4928616"/>
            <a:ext cx="1554480" cy="292608"/>
          </a:xfrm>
          <a:prstGeom prst="rect">
            <a:avLst/>
          </a:prstGeom>
          <a:noFill/>
          <a:ln>
            <a:noFill/>
          </a:ln>
        </p:spPr>
        <p:txBody>
          <a:bodyPr wrap="square" lIns="27432" tIns="0" rIns="27432" bIns="0" rtlCol="0" anchor="ctr">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Product B</a:t>
            </a:r>
            <a:endParaRPr lang="en-US" sz="1600" dirty="0"/>
          </a:p>
        </p:txBody>
      </p:sp>
      <p:sp>
        <p:nvSpPr>
          <p:cNvPr id="20" name="S05_panel_19"/>
          <p:cNvSpPr/>
          <p:nvPr/>
        </p:nvSpPr>
        <p:spPr>
          <a:xfrm>
            <a:off x="4448556" y="3611880"/>
            <a:ext cx="3291840" cy="16459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1" name="S05_panel_head_20"/>
          <p:cNvSpPr txBox="1"/>
          <p:nvPr/>
        </p:nvSpPr>
        <p:spPr>
          <a:xfrm>
            <a:off x="4539996" y="3639312"/>
            <a:ext cx="3108960" cy="3657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This week:</a:t>
            </a:r>
            <a:endParaRPr lang="en-US" sz="1800" dirty="0"/>
          </a:p>
        </p:txBody>
      </p:sp>
      <p:sp>
        <p:nvSpPr>
          <p:cNvPr id="22" name="S05_summary_21"/>
          <p:cNvSpPr txBox="1"/>
          <p:nvPr/>
        </p:nvSpPr>
        <p:spPr>
          <a:xfrm>
            <a:off x="4631436" y="4114800"/>
            <a:ext cx="2926080" cy="10058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600"/>
              </a:spcAft>
              <a:buNone/>
            </a:pPr>
            <a:r>
              <a:rPr lang="en-US" sz="2000" b="1" dirty="0">
                <a:solidFill>
                  <a:schemeClr val="tx1"/>
                </a:solidFill>
                <a:latin typeface="Arial"/>
                <a:cs typeface="Arial"/>
              </a:rPr>
              <a:t>Product A = 5 units</a:t>
            </a:r>
            <a:endParaRPr lang="en-US" sz="2000" dirty="0"/>
          </a:p>
          <a:p>
            <a:pPr algn="l" marL="0" indent="0">
              <a:lnSpc>
                <a:spcPct val="100000"/>
              </a:lnSpc>
              <a:spcBef>
                <a:spcPts val="0"/>
              </a:spcBef>
              <a:spcAft>
                <a:spcPts val="0"/>
              </a:spcAft>
              <a:buNone/>
            </a:pPr>
            <a:r>
              <a:rPr lang="en-US" sz="2000" b="1" dirty="0">
                <a:solidFill>
                  <a:schemeClr val="tx1"/>
                </a:solidFill>
                <a:latin typeface="Arial"/>
                <a:cs typeface="Arial"/>
              </a:rPr>
              <a:t>Product B = 3 units</a:t>
            </a:r>
            <a:endParaRPr lang="en-US" sz="2000" dirty="0"/>
          </a:p>
        </p:txBody>
      </p:sp>
      <p:sp>
        <p:nvSpPr>
          <p:cNvPr id="23" name="S05_panel_22"/>
          <p:cNvSpPr/>
          <p:nvPr/>
        </p:nvSpPr>
        <p:spPr>
          <a:xfrm>
            <a:off x="8348472" y="3611880"/>
            <a:ext cx="3291840" cy="16459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4" name="S05_panel_head_23"/>
          <p:cNvSpPr txBox="1"/>
          <p:nvPr/>
        </p:nvSpPr>
        <p:spPr>
          <a:xfrm>
            <a:off x="8439912" y="3639312"/>
            <a:ext cx="3108960" cy="3657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Decision question:</a:t>
            </a:r>
            <a:endParaRPr lang="en-US" sz="1800" dirty="0"/>
          </a:p>
        </p:txBody>
      </p:sp>
      <p:sp>
        <p:nvSpPr>
          <p:cNvPr id="25" name="S05_decision_q_24"/>
          <p:cNvSpPr txBox="1"/>
          <p:nvPr/>
        </p:nvSpPr>
        <p:spPr>
          <a:xfrm>
            <a:off x="8531352" y="4069080"/>
            <a:ext cx="2926080" cy="109728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“Should we stock more A next week?”</a:t>
            </a:r>
            <a:endParaRPr lang="en-US" sz="2200" dirty="0"/>
          </a:p>
        </p:txBody>
      </p:sp>
      <p:sp>
        <p:nvSpPr>
          <p:cNvPr id="26" name="S05_prompt_bar_25"/>
          <p:cNvSpPr/>
          <p:nvPr/>
        </p:nvSpPr>
        <p:spPr>
          <a:xfrm>
            <a:off x="548640" y="5376672"/>
            <a:ext cx="11091672" cy="65836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Is a spreadsheet of 10,000 transactions data or information; what turns it into information?</a:t>
            </a:r>
            <a:endParaRPr lang="en-US" sz="2000" dirty="0"/>
          </a:p>
        </p:txBody>
      </p:sp>
      <p:sp>
        <p:nvSpPr>
          <p:cNvPr id="27" name="S05_slide_number_26"/>
          <p:cNvSpPr>
            <a:spLocks noGrp="1"/>
          </p:cNvSpPr>
          <p:nvPr>
            <p:ph type="sldNum" sz="quarter" idx="12"/>
          </p:nvPr>
        </p:nvSpPr>
        <p:spPr/>
        <p:txBody>
          <a:bodyPr/>
          <a:lstStyle/>
          <a:p>
            <a:fld id="{B6F15528-21DE-4FAA-801E-634DDDAF4B2B}" type="slidenum">
              <a:rPr lang="en-US" sz="1200" dirty="0">
                <a:latin typeface="Arial"/>
              </a:r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6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Data science and data mining</a:t>
            </a:r>
            <a:endParaRPr lang="en-US" sz="3200" dirty="0"/>
          </a:p>
        </p:txBody>
      </p:sp>
      <p:sp>
        <p:nvSpPr>
          <p:cNvPr id="3" name="S06_shape_ds_2"/>
          <p:cNvSpPr/>
          <p:nvPr/>
        </p:nvSpPr>
        <p:spPr>
          <a:xfrm>
            <a:off x="548640" y="1828800"/>
            <a:ext cx="5989320" cy="2240280"/>
          </a:xfrm>
          <a:prstGeom prst="roundRect">
            <a:avLst>
              <a:gd name="adj" fmla="val 12000"/>
            </a:avLst>
          </a:prstGeom>
          <a:solidFill>
            <a:schemeClr val="bg2"/>
          </a:solidFill>
          <a:ln w="38100">
            <a:solidFill>
              <a:schemeClr val="accent1"/>
            </a:solidFill>
            <a:round/>
          </a:ln>
        </p:spPr>
        <p:txBody>
          <a:bodyPr wrap="square" lIns="109728" tIns="54864" rIns="109728" bIns="54864" rtlCol="0" anchor="ctr">
            <a:noAutofit/>
          </a:bodyPr>
          <a:lstStyle/>
          <a:p>
            <a:endParaRPr lang="en-US" dirty="0"/>
          </a:p>
        </p:txBody>
      </p:sp>
      <p:sp>
        <p:nvSpPr>
          <p:cNvPr id="4" name="S06_shape_dm_3"/>
          <p:cNvSpPr/>
          <p:nvPr/>
        </p:nvSpPr>
        <p:spPr>
          <a:xfrm>
            <a:off x="5257800" y="1828800"/>
            <a:ext cx="5989320" cy="2240280"/>
          </a:xfrm>
          <a:prstGeom prst="roundRect">
            <a:avLst>
              <a:gd name="adj" fmla="val 12000"/>
            </a:avLst>
          </a:prstGeom>
          <a:noFill/>
          <a:ln w="38100">
            <a:solidFill>
              <a:schemeClr val="accent1"/>
            </a:solidFill>
            <a:prstDash val="dash"/>
            <a:round/>
          </a:ln>
        </p:spPr>
        <p:txBody>
          <a:bodyPr wrap="square" lIns="109728" tIns="54864" rIns="109728" bIns="54864" rtlCol="0" anchor="ctr">
            <a:noAutofit/>
          </a:bodyPr>
          <a:lstStyle/>
          <a:p>
            <a:endParaRPr lang="en-US" dirty="0"/>
          </a:p>
        </p:txBody>
      </p:sp>
      <p:sp>
        <p:nvSpPr>
          <p:cNvPr id="5" name="S06_ds_text_4"/>
          <p:cNvSpPr txBox="1"/>
          <p:nvPr/>
        </p:nvSpPr>
        <p:spPr>
          <a:xfrm>
            <a:off x="685800" y="1901952"/>
            <a:ext cx="4480560" cy="21031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400"/>
              </a:spcAft>
              <a:buNone/>
            </a:pPr>
            <a:r>
              <a:rPr lang="en-US" sz="2400" b="1" dirty="0">
                <a:solidFill>
                  <a:schemeClr val="tx1"/>
                </a:solidFill>
                <a:latin typeface="Arial"/>
                <a:cs typeface="Arial"/>
              </a:rPr>
              <a:t>Data science</a:t>
            </a:r>
            <a:endParaRPr lang="en-US" sz="2400" dirty="0"/>
          </a:p>
          <a:p>
            <a:pPr algn="l" marL="0" indent="0">
              <a:lnSpc>
                <a:spcPct val="100000"/>
              </a:lnSpc>
              <a:spcBef>
                <a:spcPts val="0"/>
              </a:spcBef>
              <a:spcAft>
                <a:spcPts val="0"/>
              </a:spcAft>
              <a:buNone/>
            </a:pPr>
            <a:r>
              <a:rPr lang="en-US" sz="2000" b="0" dirty="0">
                <a:solidFill>
                  <a:schemeClr val="tx1"/>
                </a:solidFill>
                <a:latin typeface="Arial"/>
                <a:cs typeface="Arial"/>
              </a:rPr>
              <a:t>A set of principles for extracting useful information and knowledge from data.</a:t>
            </a:r>
            <a:endParaRPr lang="en-US" sz="2000" dirty="0"/>
          </a:p>
        </p:txBody>
      </p:sp>
      <p:sp>
        <p:nvSpPr>
          <p:cNvPr id="6" name="S06_dm_text_5"/>
          <p:cNvSpPr txBox="1"/>
          <p:nvPr/>
        </p:nvSpPr>
        <p:spPr>
          <a:xfrm>
            <a:off x="6675120" y="1901952"/>
            <a:ext cx="4480560" cy="21031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400"/>
              </a:spcAft>
              <a:buNone/>
            </a:pPr>
            <a:r>
              <a:rPr lang="en-US" sz="2400" b="1" dirty="0">
                <a:solidFill>
                  <a:schemeClr val="tx1"/>
                </a:solidFill>
                <a:latin typeface="Arial"/>
                <a:cs typeface="Arial"/>
              </a:rPr>
              <a:t>Data mining</a:t>
            </a:r>
            <a:endParaRPr lang="en-US" sz="2400" dirty="0"/>
          </a:p>
          <a:p>
            <a:pPr algn="l" marL="0" indent="0">
              <a:lnSpc>
                <a:spcPct val="100000"/>
              </a:lnSpc>
              <a:spcBef>
                <a:spcPts val="0"/>
              </a:spcBef>
              <a:spcAft>
                <a:spcPts val="0"/>
              </a:spcAft>
              <a:buNone/>
            </a:pPr>
            <a:r>
              <a:rPr lang="en-US" sz="2000" b="0" dirty="0">
                <a:solidFill>
                  <a:schemeClr val="tx1"/>
                </a:solidFill>
                <a:latin typeface="Arial"/>
                <a:cs typeface="Arial"/>
              </a:rPr>
              <a:t>The technologies and methods that apply such principles to discover useful patterns and information in data.</a:t>
            </a:r>
            <a:endParaRPr lang="en-US" sz="2000" dirty="0"/>
          </a:p>
        </p:txBody>
      </p:sp>
      <p:sp>
        <p:nvSpPr>
          <p:cNvPr id="7" name="S06_overlap_label_6"/>
          <p:cNvSpPr/>
          <p:nvPr/>
        </p:nvSpPr>
        <p:spPr>
          <a:xfrm>
            <a:off x="5285232" y="3063240"/>
            <a:ext cx="1225296" cy="411480"/>
          </a:xfrm>
          <a:prstGeom prst="rect">
            <a:avLst/>
          </a:prstGeom>
          <a:solidFill>
            <a:schemeClr val="bg1"/>
          </a:solidFill>
          <a:ln w="12700">
            <a:solidFill>
              <a:schemeClr val="accent4"/>
            </a:solidFill>
            <a:round/>
          </a:ln>
        </p:spPr>
        <p:txBody>
          <a:bodyPr wrap="square" lIns="18288" tIns="18288" rIns="18288" bIns="18288"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overlap</a:t>
            </a:r>
            <a:endParaRPr lang="en-US" sz="1600" dirty="0"/>
          </a:p>
        </p:txBody>
      </p:sp>
      <p:cxnSp>
        <p:nvCxnSpPr>
          <p:cNvPr id="8" name="S06_conn_7">
            <a:extLst>
              <a:ext uri="{C183D7F6-B498-43B3-948B-1728B52AA6E4}">
                <adec:decorative xmlns:adec="http://schemas.microsoft.com/office/drawing/2017/decorative" val="1"/>
              </a:ext>
            </a:extLst>
          </p:cNvPr>
          <p:cNvCxnSpPr/>
          <p:nvPr/>
        </p:nvCxnSpPr>
        <p:spPr>
          <a:xfrm>
            <a:off x="3566160" y="4078224"/>
            <a:ext cx="0" cy="493776"/>
          </a:xfrm>
          <a:prstGeom prst="line">
            <a:avLst/>
          </a:prstGeom>
          <a:ln w="19050">
            <a:solidFill>
              <a:schemeClr val="accent1"/>
            </a:solidFill>
            <a:round/>
          </a:ln>
        </p:spPr>
      </p:cxnSp>
      <p:sp>
        <p:nvSpPr>
          <p:cNvPr id="9" name="S06_draws_label_8"/>
          <p:cNvSpPr txBox="1"/>
          <p:nvPr/>
        </p:nvSpPr>
        <p:spPr>
          <a:xfrm>
            <a:off x="548640" y="4160520"/>
            <a:ext cx="2926080" cy="3657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Data science draws on:</a:t>
            </a:r>
            <a:endParaRPr lang="en-US" sz="1800" dirty="0"/>
          </a:p>
        </p:txBody>
      </p:sp>
      <p:cxnSp>
        <p:nvCxnSpPr>
          <p:cNvPr id="10" name="S06_conn_9">
            <a:extLst>
              <a:ext uri="{C183D7F6-B498-43B3-948B-1728B52AA6E4}">
                <adec:decorative xmlns:adec="http://schemas.microsoft.com/office/drawing/2017/decorative" val="1"/>
              </a:ext>
            </a:extLst>
          </p:cNvPr>
          <p:cNvCxnSpPr/>
          <p:nvPr/>
        </p:nvCxnSpPr>
        <p:spPr>
          <a:xfrm>
            <a:off x="1851660" y="4572000"/>
            <a:ext cx="8476488" cy="0"/>
          </a:xfrm>
          <a:prstGeom prst="line">
            <a:avLst/>
          </a:prstGeom>
          <a:ln w="19050">
            <a:solidFill>
              <a:schemeClr val="accent1"/>
            </a:solidFill>
            <a:round/>
          </a:ln>
        </p:spPr>
      </p:cxnSp>
      <p:cxnSp>
        <p:nvCxnSpPr>
          <p:cNvPr id="11" name="S06_conn_10">
            <a:extLst>
              <a:ext uri="{C183D7F6-B498-43B3-948B-1728B52AA6E4}">
                <adec:decorative xmlns:adec="http://schemas.microsoft.com/office/drawing/2017/decorative" val="1"/>
              </a:ext>
            </a:extLst>
          </p:cNvPr>
          <p:cNvCxnSpPr/>
          <p:nvPr/>
        </p:nvCxnSpPr>
        <p:spPr>
          <a:xfrm>
            <a:off x="1851660" y="4572000"/>
            <a:ext cx="0" cy="137160"/>
          </a:xfrm>
          <a:prstGeom prst="line">
            <a:avLst/>
          </a:prstGeom>
          <a:ln w="19050">
            <a:solidFill>
              <a:schemeClr val="accent1"/>
            </a:solidFill>
            <a:round/>
          </a:ln>
        </p:spPr>
      </p:cxnSp>
      <p:sp>
        <p:nvSpPr>
          <p:cNvPr id="12" name="S06_chip_11"/>
          <p:cNvSpPr/>
          <p:nvPr/>
        </p:nvSpPr>
        <p:spPr>
          <a:xfrm>
            <a:off x="548640" y="4709160"/>
            <a:ext cx="2606040" cy="6858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Computer science</a:t>
            </a:r>
            <a:endParaRPr lang="en-US" sz="1800" dirty="0"/>
          </a:p>
        </p:txBody>
      </p:sp>
      <p:cxnSp>
        <p:nvCxnSpPr>
          <p:cNvPr id="13" name="S06_conn_12">
            <a:extLst>
              <a:ext uri="{C183D7F6-B498-43B3-948B-1728B52AA6E4}">
                <adec:decorative xmlns:adec="http://schemas.microsoft.com/office/drawing/2017/decorative" val="1"/>
              </a:ext>
            </a:extLst>
          </p:cNvPr>
          <p:cNvCxnSpPr/>
          <p:nvPr/>
        </p:nvCxnSpPr>
        <p:spPr>
          <a:xfrm>
            <a:off x="4677156" y="4572000"/>
            <a:ext cx="0" cy="137160"/>
          </a:xfrm>
          <a:prstGeom prst="line">
            <a:avLst/>
          </a:prstGeom>
          <a:ln w="19050">
            <a:solidFill>
              <a:schemeClr val="accent1"/>
            </a:solidFill>
            <a:round/>
          </a:ln>
        </p:spPr>
      </p:cxnSp>
      <p:sp>
        <p:nvSpPr>
          <p:cNvPr id="14" name="S06_chip_13"/>
          <p:cNvSpPr/>
          <p:nvPr/>
        </p:nvSpPr>
        <p:spPr>
          <a:xfrm>
            <a:off x="3374136" y="4709160"/>
            <a:ext cx="2606040" cy="6858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Mathematics</a:t>
            </a:r>
            <a:endParaRPr lang="en-US" sz="1800" dirty="0"/>
          </a:p>
        </p:txBody>
      </p:sp>
      <p:cxnSp>
        <p:nvCxnSpPr>
          <p:cNvPr id="15" name="S06_conn_14">
            <a:extLst>
              <a:ext uri="{C183D7F6-B498-43B3-948B-1728B52AA6E4}">
                <adec:decorative xmlns:adec="http://schemas.microsoft.com/office/drawing/2017/decorative" val="1"/>
              </a:ext>
            </a:extLst>
          </p:cNvPr>
          <p:cNvCxnSpPr/>
          <p:nvPr/>
        </p:nvCxnSpPr>
        <p:spPr>
          <a:xfrm>
            <a:off x="7502652" y="4572000"/>
            <a:ext cx="0" cy="137160"/>
          </a:xfrm>
          <a:prstGeom prst="line">
            <a:avLst/>
          </a:prstGeom>
          <a:ln w="19050">
            <a:solidFill>
              <a:schemeClr val="accent1"/>
            </a:solidFill>
            <a:round/>
          </a:ln>
        </p:spPr>
      </p:cxnSp>
      <p:sp>
        <p:nvSpPr>
          <p:cNvPr id="16" name="S06_chip_15"/>
          <p:cNvSpPr/>
          <p:nvPr/>
        </p:nvSpPr>
        <p:spPr>
          <a:xfrm>
            <a:off x="6199632" y="4709160"/>
            <a:ext cx="2606040" cy="6858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Statistics</a:t>
            </a:r>
            <a:endParaRPr lang="en-US" sz="1800" dirty="0"/>
          </a:p>
        </p:txBody>
      </p:sp>
      <p:cxnSp>
        <p:nvCxnSpPr>
          <p:cNvPr id="17" name="S06_conn_16">
            <a:extLst>
              <a:ext uri="{C183D7F6-B498-43B3-948B-1728B52AA6E4}">
                <adec:decorative xmlns:adec="http://schemas.microsoft.com/office/drawing/2017/decorative" val="1"/>
              </a:ext>
            </a:extLst>
          </p:cNvPr>
          <p:cNvCxnSpPr/>
          <p:nvPr/>
        </p:nvCxnSpPr>
        <p:spPr>
          <a:xfrm>
            <a:off x="10328148" y="4572000"/>
            <a:ext cx="0" cy="137160"/>
          </a:xfrm>
          <a:prstGeom prst="line">
            <a:avLst/>
          </a:prstGeom>
          <a:ln w="19050">
            <a:solidFill>
              <a:schemeClr val="accent1"/>
            </a:solidFill>
            <a:round/>
          </a:ln>
        </p:spPr>
      </p:cxnSp>
      <p:sp>
        <p:nvSpPr>
          <p:cNvPr id="18" name="S06_chip_17"/>
          <p:cNvSpPr/>
          <p:nvPr/>
        </p:nvSpPr>
        <p:spPr>
          <a:xfrm>
            <a:off x="9025128" y="4709160"/>
            <a:ext cx="2606040" cy="6858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Business / strategy knowledge</a:t>
            </a:r>
            <a:endParaRPr lang="en-US" sz="1800" dirty="0"/>
          </a:p>
        </p:txBody>
      </p:sp>
      <p:sp>
        <p:nvSpPr>
          <p:cNvPr id="19" name="S06_caption_18"/>
          <p:cNvSpPr txBox="1"/>
          <p:nvPr/>
        </p:nvSpPr>
        <p:spPr>
          <a:xfrm>
            <a:off x="548640" y="5486400"/>
            <a:ext cx="11091672"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0" i="1" dirty="0">
                <a:solidFill>
                  <a:schemeClr val="tx1"/>
                </a:solidFill>
                <a:latin typeface="Arial"/>
                <a:cs typeface="Arial"/>
              </a:rPr>
              <a:t>They overlap; one is not simply “inside” the other.</a:t>
            </a:r>
            <a:endParaRPr lang="en-US" sz="2000" dirty="0"/>
          </a:p>
        </p:txBody>
      </p:sp>
      <p:sp>
        <p:nvSpPr>
          <p:cNvPr id="20" name="S06_slide_number_19"/>
          <p:cNvSpPr>
            <a:spLocks noGrp="1"/>
          </p:cNvSpPr>
          <p:nvPr>
            <p:ph type="sldNum" sz="quarter" idx="12"/>
          </p:nvPr>
        </p:nvSpPr>
        <p:spPr/>
        <p:txBody>
          <a:bodyPr/>
          <a:lstStyle/>
          <a:p>
            <a:fld id="{B6F15528-21DE-4FAA-801E-634DDDAF4B2B}" type="slidenum">
              <a:rPr lang="en-US" sz="1200" dirty="0">
                <a:latin typeface="Arial"/>
              </a:r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7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Analytics: our working definition</a:t>
            </a:r>
            <a:endParaRPr lang="en-US" sz="3200" dirty="0"/>
          </a:p>
        </p:txBody>
      </p:sp>
      <p:sp>
        <p:nvSpPr>
          <p:cNvPr id="3" name="S07_definition_panel_2"/>
          <p:cNvSpPr/>
          <p:nvPr/>
        </p:nvSpPr>
        <p:spPr>
          <a:xfrm>
            <a:off x="548640" y="1920240"/>
            <a:ext cx="11091672" cy="2377440"/>
          </a:xfrm>
          <a:prstGeom prst="rect">
            <a:avLst/>
          </a:prstGeom>
          <a:solidFill>
            <a:schemeClr val="bg2"/>
          </a:solidFill>
          <a:ln w="12700">
            <a:solidFill>
              <a:schemeClr val="accent4"/>
            </a:solidFill>
            <a:round/>
          </a:ln>
        </p:spPr>
        <p:txBody>
          <a:bodyPr wrap="square" lIns="109728" tIns="54864" rIns="109728" bIns="54864" rtlCol="0" anchor="ctr">
            <a:noAutofit/>
          </a:bodyPr>
          <a:lstStyle/>
          <a:p>
            <a:endParaRPr lang="en-US" dirty="0"/>
          </a:p>
        </p:txBody>
      </p:sp>
      <p:sp>
        <p:nvSpPr>
          <p:cNvPr id="4" name="S07_definition_bar_3">
            <a:extLst>
              <a:ext uri="{C183D7F6-B498-43B3-948B-1728B52AA6E4}">
                <adec:decorative xmlns:adec="http://schemas.microsoft.com/office/drawing/2017/decorative" val="1"/>
              </a:ext>
            </a:extLst>
          </p:cNvPr>
          <p:cNvSpPr/>
          <p:nvPr/>
        </p:nvSpPr>
        <p:spPr>
          <a:xfrm>
            <a:off x="548640" y="1920240"/>
            <a:ext cx="128016" cy="2377440"/>
          </a:xfrm>
          <a:prstGeom prst="rect">
            <a:avLst/>
          </a:prstGeom>
          <a:solidFill>
            <a:schemeClr val="accent1"/>
          </a:solidFill>
          <a:ln>
            <a:noFill/>
          </a:ln>
        </p:spPr>
        <p:txBody>
          <a:bodyPr wrap="square" lIns="91440" tIns="45720" rIns="91440" bIns="45720" rtlCol="0" anchor="ctr">
            <a:noAutofit/>
          </a:bodyPr>
          <a:lstStyle/>
          <a:p>
            <a:endParaRPr lang="en-US" dirty="0"/>
          </a:p>
        </p:txBody>
      </p:sp>
      <p:sp>
        <p:nvSpPr>
          <p:cNvPr id="5" name="S07_definition_4"/>
          <p:cNvSpPr txBox="1"/>
          <p:nvPr/>
        </p:nvSpPr>
        <p:spPr>
          <a:xfrm>
            <a:off x="914400" y="2011680"/>
            <a:ext cx="10515600" cy="21945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3200" b="0" dirty="0">
                <a:solidFill>
                  <a:schemeClr val="tx1"/>
                </a:solidFill>
                <a:latin typeface="Arial"/>
                <a:cs typeface="Arial"/>
              </a:rPr>
              <a:t>Analytics is the </a:t>
            </a:r>
            <a:r>
              <a:rPr lang="en-US" sz="3200" b="1" dirty="0">
                <a:solidFill>
                  <a:schemeClr val="tx1"/>
                </a:solidFill>
                <a:latin typeface="Arial"/>
                <a:cs typeface="Arial"/>
              </a:rPr>
              <a:t>scientific process</a:t>
            </a:r>
            <a:r>
              <a:rPr lang="en-US" sz="3200" b="0" dirty="0">
                <a:solidFill>
                  <a:schemeClr val="tx1"/>
                </a:solidFill>
                <a:latin typeface="Arial"/>
                <a:cs typeface="Arial"/>
              </a:rPr>
              <a:t> of </a:t>
            </a:r>
            <a:r>
              <a:rPr lang="en-US" sz="3200" b="1" dirty="0">
                <a:solidFill>
                  <a:schemeClr val="tx1"/>
                </a:solidFill>
                <a:latin typeface="Arial"/>
                <a:cs typeface="Arial"/>
              </a:rPr>
              <a:t>transforming data</a:t>
            </a:r>
            <a:r>
              <a:rPr lang="en-US" sz="3200" b="0" dirty="0">
                <a:solidFill>
                  <a:schemeClr val="tx1"/>
                </a:solidFill>
                <a:latin typeface="Arial"/>
                <a:cs typeface="Arial"/>
              </a:rPr>
              <a:t> into </a:t>
            </a:r>
            <a:r>
              <a:rPr lang="en-US" sz="3200" b="1" dirty="0">
                <a:solidFill>
                  <a:schemeClr val="tx1"/>
                </a:solidFill>
                <a:latin typeface="Arial"/>
                <a:cs typeface="Arial"/>
              </a:rPr>
              <a:t>insight</a:t>
            </a:r>
            <a:r>
              <a:rPr lang="en-US" sz="3200" b="0" dirty="0">
                <a:solidFill>
                  <a:schemeClr val="tx1"/>
                </a:solidFill>
                <a:latin typeface="Arial"/>
                <a:cs typeface="Arial"/>
              </a:rPr>
              <a:t> for making </a:t>
            </a:r>
            <a:r>
              <a:rPr lang="en-US" sz="3200" b="1" dirty="0">
                <a:solidFill>
                  <a:schemeClr val="tx1"/>
                </a:solidFill>
                <a:latin typeface="Arial"/>
                <a:cs typeface="Arial"/>
              </a:rPr>
              <a:t>better decisions</a:t>
            </a:r>
            <a:r>
              <a:rPr lang="en-US" sz="3200" b="0" dirty="0">
                <a:solidFill>
                  <a:schemeClr val="tx1"/>
                </a:solidFill>
                <a:latin typeface="Arial"/>
                <a:cs typeface="Arial"/>
              </a:rPr>
              <a:t>. (INFORMS)</a:t>
            </a:r>
            <a:endParaRPr lang="en-US" sz="3200" dirty="0"/>
          </a:p>
        </p:txBody>
      </p:sp>
      <p:sp>
        <p:nvSpPr>
          <p:cNvPr id="6" name="S07_convention_note_5"/>
          <p:cNvSpPr txBox="1"/>
          <p:nvPr/>
        </p:nvSpPr>
        <p:spPr>
          <a:xfrm>
            <a:off x="548640" y="4526280"/>
            <a:ext cx="11091672" cy="8229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0" i="1" dirty="0">
                <a:solidFill>
                  <a:schemeClr val="accent3"/>
                </a:solidFill>
                <a:latin typeface="Arial"/>
                <a:cs typeface="Arial"/>
              </a:rPr>
              <a:t>Different sources draw the boundaries differently; this is the convention used in BUSS256.</a:t>
            </a:r>
            <a:endParaRPr lang="en-US" sz="2000" dirty="0"/>
          </a:p>
        </p:txBody>
      </p:sp>
      <p:sp>
        <p:nvSpPr>
          <p:cNvPr id="7" name="S07_source_footer_6"/>
          <p:cNvSpPr>
            <a:spLocks noGrp="1"/>
          </p:cNvSpPr>
          <p:nvPr>
            <p:ph type="ftr" sz="quarter" idx="11"/>
          </p:nvPr>
        </p:nvSpPr>
        <p:spPr/>
        <p:txBody>
          <a:bodyPr/>
          <a:lstStyle/>
          <a:p>
            <a:pPr algn="l" marL="0" indent="0">
              <a:lnSpc>
                <a:spcPct val="100000"/>
              </a:lnSpc>
              <a:spcBef>
                <a:spcPts val="0"/>
              </a:spcBef>
              <a:spcAft>
                <a:spcPts val="0"/>
              </a:spcAft>
              <a:buNone/>
            </a:pPr>
            <a:r>
              <a:rPr lang="en-US" sz="1200" b="0" dirty="0">
                <a:solidFill>
                  <a:schemeClr val="accent3"/>
                </a:solidFill>
                <a:latin typeface="Arial"/>
                <a:cs typeface="Arial"/>
              </a:rPr>
              <a:t>Source: INFORMS, “Operations Research &amp; Analytics” and “FAQs About O.R. &amp; Analytics” (informs.org).</a:t>
            </a:r>
            <a:endParaRPr lang="en-US" sz="1200" dirty="0"/>
          </a:p>
        </p:txBody>
      </p:sp>
      <p:sp>
        <p:nvSpPr>
          <p:cNvPr id="8" name="S07_slide_number_7"/>
          <p:cNvSpPr>
            <a:spLocks noGrp="1"/>
          </p:cNvSpPr>
          <p:nvPr>
            <p:ph type="sldNum" sz="quarter" idx="12"/>
          </p:nvPr>
        </p:nvSpPr>
        <p:spPr/>
        <p:txBody>
          <a:bodyPr/>
          <a:lstStyle/>
          <a:p>
            <a:fld id="{B6F15528-21DE-4FAA-801E-634DDDAF4B2B}" type="slidenum">
              <a:rPr lang="en-US" sz="1200" dirty="0">
                <a:latin typeface="Arial"/>
              </a:r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8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The analytics process</a:t>
            </a:r>
            <a:endParaRPr lang="en-US" sz="3200" dirty="0"/>
          </a:p>
        </p:txBody>
      </p:sp>
      <p:sp>
        <p:nvSpPr>
          <p:cNvPr id="3" name="S08_step_2"/>
          <p:cNvSpPr/>
          <p:nvPr/>
        </p:nvSpPr>
        <p:spPr>
          <a:xfrm>
            <a:off x="548640" y="182880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4" name="S08_badge_3"/>
          <p:cNvSpPr/>
          <p:nvPr/>
        </p:nvSpPr>
        <p:spPr>
          <a:xfrm>
            <a:off x="640080" y="192024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1</a:t>
            </a:r>
            <a:endParaRPr lang="en-US" sz="1600" dirty="0"/>
          </a:p>
        </p:txBody>
      </p:sp>
      <p:sp>
        <p:nvSpPr>
          <p:cNvPr id="5" name="S08_step_text_4"/>
          <p:cNvSpPr txBox="1"/>
          <p:nvPr/>
        </p:nvSpPr>
        <p:spPr>
          <a:xfrm>
            <a:off x="621792" y="230428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Problem identification</a:t>
            </a:r>
            <a:endParaRPr lang="en-US" sz="1800" dirty="0"/>
          </a:p>
        </p:txBody>
      </p:sp>
      <p:cxnSp>
        <p:nvCxnSpPr>
          <p:cNvPr id="6" name="S08_conn_5">
            <a:extLst>
              <a:ext uri="{C183D7F6-B498-43B3-948B-1728B52AA6E4}">
                <adec:decorative xmlns:adec="http://schemas.microsoft.com/office/drawing/2017/decorative" val="1"/>
              </a:ext>
            </a:extLst>
          </p:cNvPr>
          <p:cNvCxnSpPr/>
          <p:nvPr/>
        </p:nvCxnSpPr>
        <p:spPr>
          <a:xfrm>
            <a:off x="3044952" y="2537460"/>
            <a:ext cx="350215" cy="0"/>
          </a:xfrm>
          <a:prstGeom prst="line">
            <a:avLst/>
          </a:prstGeom>
          <a:ln w="31750">
            <a:solidFill>
              <a:schemeClr val="tx1"/>
            </a:solidFill>
            <a:round/>
            <a:tailEnd type="triangle" w="med" len="med"/>
          </a:ln>
        </p:spPr>
      </p:cxnSp>
      <p:sp>
        <p:nvSpPr>
          <p:cNvPr id="7" name="S08_step_6"/>
          <p:cNvSpPr/>
          <p:nvPr/>
        </p:nvSpPr>
        <p:spPr>
          <a:xfrm>
            <a:off x="3422599" y="182880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8" name="S08_badge_7"/>
          <p:cNvSpPr/>
          <p:nvPr/>
        </p:nvSpPr>
        <p:spPr>
          <a:xfrm>
            <a:off x="3514039" y="192024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2</a:t>
            </a:r>
            <a:endParaRPr lang="en-US" sz="1600" dirty="0"/>
          </a:p>
        </p:txBody>
      </p:sp>
      <p:sp>
        <p:nvSpPr>
          <p:cNvPr id="9" name="S08_step_text_8"/>
          <p:cNvSpPr txBox="1"/>
          <p:nvPr/>
        </p:nvSpPr>
        <p:spPr>
          <a:xfrm>
            <a:off x="3495751" y="230428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Data collection</a:t>
            </a:r>
            <a:endParaRPr lang="en-US" sz="1800" dirty="0"/>
          </a:p>
        </p:txBody>
      </p:sp>
      <p:cxnSp>
        <p:nvCxnSpPr>
          <p:cNvPr id="10" name="S08_conn_9">
            <a:extLst>
              <a:ext uri="{C183D7F6-B498-43B3-948B-1728B52AA6E4}">
                <adec:decorative xmlns:adec="http://schemas.microsoft.com/office/drawing/2017/decorative" val="1"/>
              </a:ext>
            </a:extLst>
          </p:cNvPr>
          <p:cNvCxnSpPr/>
          <p:nvPr/>
        </p:nvCxnSpPr>
        <p:spPr>
          <a:xfrm>
            <a:off x="5918911" y="2537460"/>
            <a:ext cx="350215" cy="0"/>
          </a:xfrm>
          <a:prstGeom prst="line">
            <a:avLst/>
          </a:prstGeom>
          <a:ln w="31750">
            <a:solidFill>
              <a:schemeClr val="tx1"/>
            </a:solidFill>
            <a:round/>
            <a:tailEnd type="triangle" w="med" len="med"/>
          </a:ln>
        </p:spPr>
      </p:cxnSp>
      <p:sp>
        <p:nvSpPr>
          <p:cNvPr id="11" name="S08_step_10"/>
          <p:cNvSpPr/>
          <p:nvPr/>
        </p:nvSpPr>
        <p:spPr>
          <a:xfrm>
            <a:off x="6296558" y="182880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2" name="S08_badge_11"/>
          <p:cNvSpPr/>
          <p:nvPr/>
        </p:nvSpPr>
        <p:spPr>
          <a:xfrm>
            <a:off x="6387998" y="192024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3</a:t>
            </a:r>
            <a:endParaRPr lang="en-US" sz="1600" dirty="0"/>
          </a:p>
        </p:txBody>
      </p:sp>
      <p:sp>
        <p:nvSpPr>
          <p:cNvPr id="13" name="S08_step_text_12"/>
          <p:cNvSpPr txBox="1"/>
          <p:nvPr/>
        </p:nvSpPr>
        <p:spPr>
          <a:xfrm>
            <a:off x="6369710" y="230428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Data storing</a:t>
            </a:r>
            <a:endParaRPr lang="en-US" sz="1800" dirty="0"/>
          </a:p>
        </p:txBody>
      </p:sp>
      <p:cxnSp>
        <p:nvCxnSpPr>
          <p:cNvPr id="14" name="S08_conn_13">
            <a:extLst>
              <a:ext uri="{C183D7F6-B498-43B3-948B-1728B52AA6E4}">
                <adec:decorative xmlns:adec="http://schemas.microsoft.com/office/drawing/2017/decorative" val="1"/>
              </a:ext>
            </a:extLst>
          </p:cNvPr>
          <p:cNvCxnSpPr/>
          <p:nvPr/>
        </p:nvCxnSpPr>
        <p:spPr>
          <a:xfrm>
            <a:off x="8792870" y="2537460"/>
            <a:ext cx="350215" cy="0"/>
          </a:xfrm>
          <a:prstGeom prst="line">
            <a:avLst/>
          </a:prstGeom>
          <a:ln w="31750">
            <a:solidFill>
              <a:schemeClr val="tx1"/>
            </a:solidFill>
            <a:round/>
            <a:tailEnd type="triangle" w="med" len="med"/>
          </a:ln>
        </p:spPr>
      </p:cxnSp>
      <p:sp>
        <p:nvSpPr>
          <p:cNvPr id="15" name="S08_step_14"/>
          <p:cNvSpPr/>
          <p:nvPr/>
        </p:nvSpPr>
        <p:spPr>
          <a:xfrm>
            <a:off x="9170518" y="182880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6" name="S08_badge_15"/>
          <p:cNvSpPr/>
          <p:nvPr/>
        </p:nvSpPr>
        <p:spPr>
          <a:xfrm>
            <a:off x="9261958" y="192024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4</a:t>
            </a:r>
            <a:endParaRPr lang="en-US" sz="1600" dirty="0"/>
          </a:p>
        </p:txBody>
      </p:sp>
      <p:sp>
        <p:nvSpPr>
          <p:cNvPr id="17" name="S08_step_text_16"/>
          <p:cNvSpPr txBox="1"/>
          <p:nvPr/>
        </p:nvSpPr>
        <p:spPr>
          <a:xfrm>
            <a:off x="9243670" y="230428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Data management (pre-processing, cleansing…)</a:t>
            </a:r>
            <a:endParaRPr lang="en-US" sz="1800" dirty="0"/>
          </a:p>
        </p:txBody>
      </p:sp>
      <p:sp>
        <p:nvSpPr>
          <p:cNvPr id="18" name="S08_step_17"/>
          <p:cNvSpPr/>
          <p:nvPr/>
        </p:nvSpPr>
        <p:spPr>
          <a:xfrm>
            <a:off x="548640" y="3566160"/>
            <a:ext cx="2468880" cy="1417320"/>
          </a:xfrm>
          <a:prstGeom prst="roundRect">
            <a:avLst>
              <a:gd name="adj" fmla="val 12000"/>
            </a:avLst>
          </a:prstGeom>
          <a:solidFill>
            <a:schemeClr val="bg1"/>
          </a:solidFill>
          <a:ln w="50800">
            <a:solidFill>
              <a:schemeClr val="accent2"/>
            </a:solidFill>
            <a:round/>
          </a:ln>
        </p:spPr>
        <p:txBody>
          <a:bodyPr wrap="square" lIns="109728" tIns="54864" rIns="109728" bIns="54864" rtlCol="0" anchor="ctr">
            <a:noAutofit/>
          </a:bodyPr>
          <a:lstStyle/>
          <a:p>
            <a:endParaRPr lang="en-US" dirty="0"/>
          </a:p>
        </p:txBody>
      </p:sp>
      <p:sp>
        <p:nvSpPr>
          <p:cNvPr id="19" name="S08_badge_18"/>
          <p:cNvSpPr/>
          <p:nvPr/>
        </p:nvSpPr>
        <p:spPr>
          <a:xfrm>
            <a:off x="640080" y="365760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5</a:t>
            </a:r>
            <a:endParaRPr lang="en-US" sz="1600" dirty="0"/>
          </a:p>
        </p:txBody>
      </p:sp>
      <p:sp>
        <p:nvSpPr>
          <p:cNvPr id="20" name="S08_step_text_19"/>
          <p:cNvSpPr txBox="1"/>
          <p:nvPr/>
        </p:nvSpPr>
        <p:spPr>
          <a:xfrm>
            <a:off x="621792" y="404164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Data analysis</a:t>
            </a:r>
            <a:endParaRPr lang="en-US" sz="1800" dirty="0"/>
          </a:p>
        </p:txBody>
      </p:sp>
      <p:cxnSp>
        <p:nvCxnSpPr>
          <p:cNvPr id="21" name="S08_conn_20">
            <a:extLst>
              <a:ext uri="{C183D7F6-B498-43B3-948B-1728B52AA6E4}">
                <adec:decorative xmlns:adec="http://schemas.microsoft.com/office/drawing/2017/decorative" val="1"/>
              </a:ext>
            </a:extLst>
          </p:cNvPr>
          <p:cNvCxnSpPr/>
          <p:nvPr/>
        </p:nvCxnSpPr>
        <p:spPr>
          <a:xfrm>
            <a:off x="3044952" y="4274820"/>
            <a:ext cx="350215" cy="0"/>
          </a:xfrm>
          <a:prstGeom prst="line">
            <a:avLst/>
          </a:prstGeom>
          <a:ln w="31750">
            <a:solidFill>
              <a:schemeClr val="tx1"/>
            </a:solidFill>
            <a:round/>
            <a:tailEnd type="triangle" w="med" len="med"/>
          </a:ln>
        </p:spPr>
      </p:cxnSp>
      <p:sp>
        <p:nvSpPr>
          <p:cNvPr id="22" name="S08_step_21"/>
          <p:cNvSpPr/>
          <p:nvPr/>
        </p:nvSpPr>
        <p:spPr>
          <a:xfrm>
            <a:off x="3422599" y="356616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3" name="S08_badge_22"/>
          <p:cNvSpPr/>
          <p:nvPr/>
        </p:nvSpPr>
        <p:spPr>
          <a:xfrm>
            <a:off x="3514039" y="365760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6</a:t>
            </a:r>
            <a:endParaRPr lang="en-US" sz="1600" dirty="0"/>
          </a:p>
        </p:txBody>
      </p:sp>
      <p:sp>
        <p:nvSpPr>
          <p:cNvPr id="24" name="S08_step_text_23"/>
          <p:cNvSpPr txBox="1"/>
          <p:nvPr/>
        </p:nvSpPr>
        <p:spPr>
          <a:xfrm>
            <a:off x="3495751" y="404164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Results and interpretation</a:t>
            </a:r>
            <a:endParaRPr lang="en-US" sz="1800" dirty="0"/>
          </a:p>
        </p:txBody>
      </p:sp>
      <p:cxnSp>
        <p:nvCxnSpPr>
          <p:cNvPr id="25" name="S08_conn_24">
            <a:extLst>
              <a:ext uri="{C183D7F6-B498-43B3-948B-1728B52AA6E4}">
                <adec:decorative xmlns:adec="http://schemas.microsoft.com/office/drawing/2017/decorative" val="1"/>
              </a:ext>
            </a:extLst>
          </p:cNvPr>
          <p:cNvCxnSpPr/>
          <p:nvPr/>
        </p:nvCxnSpPr>
        <p:spPr>
          <a:xfrm>
            <a:off x="5918911" y="4274820"/>
            <a:ext cx="350215" cy="0"/>
          </a:xfrm>
          <a:prstGeom prst="line">
            <a:avLst/>
          </a:prstGeom>
          <a:ln w="31750">
            <a:solidFill>
              <a:schemeClr val="tx1"/>
            </a:solidFill>
            <a:round/>
            <a:tailEnd type="triangle" w="med" len="med"/>
          </a:ln>
        </p:spPr>
      </p:cxnSp>
      <p:sp>
        <p:nvSpPr>
          <p:cNvPr id="26" name="S08_step_25"/>
          <p:cNvSpPr/>
          <p:nvPr/>
        </p:nvSpPr>
        <p:spPr>
          <a:xfrm>
            <a:off x="6296558" y="356616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7" name="S08_badge_26"/>
          <p:cNvSpPr/>
          <p:nvPr/>
        </p:nvSpPr>
        <p:spPr>
          <a:xfrm>
            <a:off x="6387998" y="365760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7</a:t>
            </a:r>
            <a:endParaRPr lang="en-US" sz="1600" dirty="0"/>
          </a:p>
        </p:txBody>
      </p:sp>
      <p:sp>
        <p:nvSpPr>
          <p:cNvPr id="28" name="S08_step_text_27"/>
          <p:cNvSpPr txBox="1"/>
          <p:nvPr/>
        </p:nvSpPr>
        <p:spPr>
          <a:xfrm>
            <a:off x="6369710" y="404164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Answering the business problem</a:t>
            </a:r>
            <a:endParaRPr lang="en-US" sz="1800" dirty="0"/>
          </a:p>
        </p:txBody>
      </p:sp>
      <p:cxnSp>
        <p:nvCxnSpPr>
          <p:cNvPr id="29" name="S08_conn_28">
            <a:extLst>
              <a:ext uri="{C183D7F6-B498-43B3-948B-1728B52AA6E4}">
                <adec:decorative xmlns:adec="http://schemas.microsoft.com/office/drawing/2017/decorative" val="1"/>
              </a:ext>
            </a:extLst>
          </p:cNvPr>
          <p:cNvCxnSpPr/>
          <p:nvPr/>
        </p:nvCxnSpPr>
        <p:spPr>
          <a:xfrm>
            <a:off x="8792870" y="4274820"/>
            <a:ext cx="350215" cy="0"/>
          </a:xfrm>
          <a:prstGeom prst="line">
            <a:avLst/>
          </a:prstGeom>
          <a:ln w="31750">
            <a:solidFill>
              <a:schemeClr val="tx1"/>
            </a:solidFill>
            <a:round/>
            <a:tailEnd type="triangle" w="med" len="med"/>
          </a:ln>
        </p:spPr>
      </p:cxnSp>
      <p:sp>
        <p:nvSpPr>
          <p:cNvPr id="30" name="S08_step_29"/>
          <p:cNvSpPr/>
          <p:nvPr/>
        </p:nvSpPr>
        <p:spPr>
          <a:xfrm>
            <a:off x="9170518" y="3566160"/>
            <a:ext cx="2468880" cy="1417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31" name="S08_badge_30"/>
          <p:cNvSpPr/>
          <p:nvPr/>
        </p:nvSpPr>
        <p:spPr>
          <a:xfrm>
            <a:off x="9261958" y="3657600"/>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8</a:t>
            </a:r>
            <a:endParaRPr lang="en-US" sz="1600" dirty="0"/>
          </a:p>
        </p:txBody>
      </p:sp>
      <p:sp>
        <p:nvSpPr>
          <p:cNvPr id="32" name="S08_step_text_31"/>
          <p:cNvSpPr txBox="1"/>
          <p:nvPr/>
        </p:nvSpPr>
        <p:spPr>
          <a:xfrm>
            <a:off x="9243670" y="4041648"/>
            <a:ext cx="2331720"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Offering insights</a:t>
            </a:r>
            <a:endParaRPr lang="en-US" sz="1800" dirty="0"/>
          </a:p>
        </p:txBody>
      </p:sp>
      <p:sp>
        <p:nvSpPr>
          <p:cNvPr id="33" name="S08_path_32">
            <a:extLst>
              <a:ext uri="{C183D7F6-B498-43B3-948B-1728B52AA6E4}">
                <adec:decorative xmlns:adec="http://schemas.microsoft.com/office/drawing/2017/decorative" val="1"/>
              </a:ext>
            </a:extLst>
          </p:cNvPr>
          <p:cNvSpPr/>
          <p:nvPr/>
        </p:nvSpPr>
        <p:spPr>
          <a:xfrm>
            <a:off x="1783080" y="3246120"/>
            <a:ext cx="8621878" cy="320040"/>
          </a:xfrm>
          <a:custGeom>
            <a:avLst/>
            <a:gdLst/>
            <a:ahLst/>
            <a:cxnLst/>
            <a:rect l="0" t="0" r="r" b="b"/>
            <a:pathLst>
              <a:path w="8621878" h="320040" fill="none">
                <a:moveTo>
                  <a:pt x="8621878" y="0"/>
                </a:moveTo>
                <a:lnTo>
                  <a:pt x="8621878" y="155448"/>
                </a:lnTo>
                <a:lnTo>
                  <a:pt x="0" y="155448"/>
                </a:lnTo>
                <a:lnTo>
                  <a:pt x="0" y="320040"/>
                </a:lnTo>
              </a:path>
            </a:pathLst>
          </a:custGeom>
          <a:noFill/>
          <a:ln w="31750">
            <a:solidFill>
              <a:schemeClr val="tx1"/>
            </a:solidFill>
            <a:round/>
            <a:tailEnd type="triangle" w="med" len="med"/>
          </a:ln>
        </p:spPr>
        <p:txBody>
          <a:bodyPr/>
          <a:lstStyle/>
          <a:p>
            <a:endParaRPr lang="en-US"/>
          </a:p>
        </p:txBody>
      </p:sp>
      <p:sp>
        <p:nvSpPr>
          <p:cNvPr id="34" name="S08_emph_label_33"/>
          <p:cNvSpPr txBox="1"/>
          <p:nvPr/>
        </p:nvSpPr>
        <p:spPr>
          <a:xfrm>
            <a:off x="548640" y="5029200"/>
            <a:ext cx="2468880" cy="320040"/>
          </a:xfrm>
          <a:prstGeom prst="rect">
            <a:avLst/>
          </a:prstGeom>
          <a:noFill/>
          <a:ln>
            <a:noFill/>
          </a:ln>
        </p:spPr>
        <p:txBody>
          <a:bodyPr wrap="square" lIns="45720" tIns="27432" rIns="45720" bIns="27432" rtlCol="0" anchor="t">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analysis = one step</a:t>
            </a:r>
            <a:endParaRPr lang="en-US" sz="1600" dirty="0"/>
          </a:p>
        </p:txBody>
      </p:sp>
      <p:sp>
        <p:nvSpPr>
          <p:cNvPr id="35" name="S08_note_34"/>
          <p:cNvSpPr txBox="1"/>
          <p:nvPr/>
        </p:nvSpPr>
        <p:spPr>
          <a:xfrm>
            <a:off x="548640" y="5376672"/>
            <a:ext cx="10241280" cy="64008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0" i="1" dirty="0">
                <a:solidFill>
                  <a:schemeClr val="tx1"/>
                </a:solidFill>
                <a:latin typeface="Arial"/>
                <a:cs typeface="Arial"/>
              </a:rPr>
              <a:t>Analysis is one step within the broader analytics process; analytics may include descriptive, predictive and decision-oriented work.</a:t>
            </a:r>
            <a:endParaRPr lang="en-US" sz="2000" dirty="0"/>
          </a:p>
        </p:txBody>
      </p:sp>
      <p:sp>
        <p:nvSpPr>
          <p:cNvPr id="36" name="S08_slide_number_35"/>
          <p:cNvSpPr>
            <a:spLocks noGrp="1"/>
          </p:cNvSpPr>
          <p:nvPr>
            <p:ph type="sldNum" sz="quarter" idx="12"/>
          </p:nvPr>
        </p:nvSpPr>
        <p:spPr/>
        <p:txBody>
          <a:bodyPr/>
          <a:lstStyle/>
          <a:p>
            <a:fld id="{B6F15528-21DE-4FAA-801E-634DDDAF4B2B}" type="slidenum">
              <a:rPr lang="en-US" sz="1200" dirty="0">
                <a:latin typeface="Arial"/>
              </a:r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09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Data analytics</a:t>
            </a:r>
            <a:endParaRPr lang="en-US" sz="3200" dirty="0"/>
          </a:p>
        </p:txBody>
      </p:sp>
      <p:sp>
        <p:nvSpPr>
          <p:cNvPr id="3" name="S09_definition_panel_2"/>
          <p:cNvSpPr/>
          <p:nvPr/>
        </p:nvSpPr>
        <p:spPr>
          <a:xfrm>
            <a:off x="548640" y="1828800"/>
            <a:ext cx="11091672" cy="1828800"/>
          </a:xfrm>
          <a:prstGeom prst="rect">
            <a:avLst/>
          </a:prstGeom>
          <a:solidFill>
            <a:schemeClr val="bg2"/>
          </a:solidFill>
          <a:ln w="12700">
            <a:solidFill>
              <a:schemeClr val="accent4"/>
            </a:solidFill>
            <a:round/>
          </a:ln>
        </p:spPr>
        <p:txBody>
          <a:bodyPr wrap="square" lIns="109728" tIns="54864" rIns="109728" bIns="54864" rtlCol="0" anchor="ctr">
            <a:noAutofit/>
          </a:bodyPr>
          <a:lstStyle/>
          <a:p>
            <a:endParaRPr lang="en-US" dirty="0"/>
          </a:p>
        </p:txBody>
      </p:sp>
      <p:sp>
        <p:nvSpPr>
          <p:cNvPr id="4" name="S09_definition_bar_3">
            <a:extLst>
              <a:ext uri="{C183D7F6-B498-43B3-948B-1728B52AA6E4}">
                <adec:decorative xmlns:adec="http://schemas.microsoft.com/office/drawing/2017/decorative" val="1"/>
              </a:ext>
            </a:extLst>
          </p:cNvPr>
          <p:cNvSpPr/>
          <p:nvPr/>
        </p:nvSpPr>
        <p:spPr>
          <a:xfrm>
            <a:off x="548640" y="1828800"/>
            <a:ext cx="128016" cy="1828800"/>
          </a:xfrm>
          <a:prstGeom prst="rect">
            <a:avLst/>
          </a:prstGeom>
          <a:solidFill>
            <a:schemeClr val="accent1"/>
          </a:solidFill>
          <a:ln>
            <a:noFill/>
          </a:ln>
        </p:spPr>
        <p:txBody>
          <a:bodyPr wrap="square" lIns="91440" tIns="45720" rIns="91440" bIns="45720" rtlCol="0" anchor="ctr">
            <a:noAutofit/>
          </a:bodyPr>
          <a:lstStyle/>
          <a:p>
            <a:endParaRPr lang="en-US" dirty="0"/>
          </a:p>
        </p:txBody>
      </p:sp>
      <p:sp>
        <p:nvSpPr>
          <p:cNvPr id="5" name="S09_definition_4"/>
          <p:cNvSpPr txBox="1"/>
          <p:nvPr/>
        </p:nvSpPr>
        <p:spPr>
          <a:xfrm>
            <a:off x="914400" y="1874520"/>
            <a:ext cx="10515600" cy="17373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800" b="1" dirty="0">
                <a:solidFill>
                  <a:schemeClr val="tx1"/>
                </a:solidFill>
                <a:latin typeface="Arial"/>
                <a:cs typeface="Arial"/>
              </a:rPr>
              <a:t>Data analytics is analytics focused on analyzing data</a:t>
            </a:r>
            <a:r>
              <a:rPr lang="en-US" sz="2800" b="0" dirty="0">
                <a:solidFill>
                  <a:schemeClr val="tx1"/>
                </a:solidFill>
                <a:latin typeface="Arial"/>
                <a:cs typeface="Arial"/>
              </a:rPr>
              <a:t> — collecting, organizing and examining data to find patterns and useful information.</a:t>
            </a:r>
            <a:endParaRPr lang="en-US" sz="2800" dirty="0"/>
          </a:p>
        </p:txBody>
      </p:sp>
      <p:sp>
        <p:nvSpPr>
          <p:cNvPr id="6" name="S09_node_5"/>
          <p:cNvSpPr/>
          <p:nvPr/>
        </p:nvSpPr>
        <p:spPr>
          <a:xfrm>
            <a:off x="548640" y="4160520"/>
            <a:ext cx="2926080" cy="11430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Data analytics</a:t>
            </a:r>
            <a:endParaRPr lang="en-US" sz="2200" dirty="0"/>
          </a:p>
        </p:txBody>
      </p:sp>
      <p:cxnSp>
        <p:nvCxnSpPr>
          <p:cNvPr id="7" name="S09_conn_6">
            <a:extLst>
              <a:ext uri="{C183D7F6-B498-43B3-948B-1728B52AA6E4}">
                <adec:decorative xmlns:adec="http://schemas.microsoft.com/office/drawing/2017/decorative" val="1"/>
              </a:ext>
            </a:extLst>
          </p:cNvPr>
          <p:cNvCxnSpPr/>
          <p:nvPr/>
        </p:nvCxnSpPr>
        <p:spPr>
          <a:xfrm>
            <a:off x="3520440" y="4732020"/>
            <a:ext cx="2240280" cy="0"/>
          </a:xfrm>
          <a:prstGeom prst="line">
            <a:avLst/>
          </a:prstGeom>
          <a:ln w="31750">
            <a:solidFill>
              <a:schemeClr val="tx1"/>
            </a:solidFill>
            <a:round/>
            <a:tailEnd type="triangle" w="med" len="med"/>
          </a:ln>
        </p:spPr>
      </p:cxnSp>
      <p:sp>
        <p:nvSpPr>
          <p:cNvPr id="8" name="S09_arrow_label_7"/>
          <p:cNvSpPr txBox="1"/>
          <p:nvPr/>
        </p:nvSpPr>
        <p:spPr>
          <a:xfrm>
            <a:off x="3520440" y="4069080"/>
            <a:ext cx="2240280" cy="640080"/>
          </a:xfrm>
          <a:prstGeom prst="rect">
            <a:avLst/>
          </a:prstGeom>
          <a:noFill/>
          <a:ln>
            <a:noFill/>
          </a:ln>
        </p:spPr>
        <p:txBody>
          <a:bodyPr wrap="square" lIns="45720" tIns="27432" rIns="45720" bIns="27432" rtlCol="0" anchor="b">
            <a:noAutofit/>
          </a:bodyPr>
          <a:lstStyle/>
          <a:p>
            <a:pPr algn="ctr" marL="0" indent="0">
              <a:lnSpc>
                <a:spcPct val="100000"/>
              </a:lnSpc>
              <a:spcBef>
                <a:spcPts val="0"/>
              </a:spcBef>
              <a:spcAft>
                <a:spcPts val="0"/>
              </a:spcAft>
              <a:buNone/>
            </a:pPr>
            <a:r>
              <a:rPr lang="en-US" sz="1800" b="0" dirty="0">
                <a:solidFill>
                  <a:schemeClr val="tx1"/>
                </a:solidFill>
                <a:latin typeface="Arial"/>
                <a:cs typeface="Arial"/>
              </a:rPr>
              <a:t>when the data are very large</a:t>
            </a:r>
            <a:endParaRPr lang="en-US" sz="1800" dirty="0"/>
          </a:p>
        </p:txBody>
      </p:sp>
      <p:sp>
        <p:nvSpPr>
          <p:cNvPr id="9" name="S09_node_8"/>
          <p:cNvSpPr/>
          <p:nvPr/>
        </p:nvSpPr>
        <p:spPr>
          <a:xfrm>
            <a:off x="5806440" y="4160520"/>
            <a:ext cx="5833872" cy="114300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New challenges appear</a:t>
            </a:r>
            <a:endParaRPr lang="en-US" sz="2000" dirty="0"/>
          </a:p>
          <a:p>
            <a:pPr algn="ctr" marL="0" indent="0">
              <a:lnSpc>
                <a:spcPct val="100000"/>
              </a:lnSpc>
              <a:spcBef>
                <a:spcPts val="0"/>
              </a:spcBef>
              <a:spcAft>
                <a:spcPts val="0"/>
              </a:spcAft>
              <a:buNone/>
            </a:pPr>
            <a:r>
              <a:rPr lang="en-US" sz="1800" b="0" dirty="0">
                <a:solidFill>
                  <a:schemeClr val="tx1"/>
                </a:solidFill>
                <a:latin typeface="Arial"/>
                <a:cs typeface="Arial"/>
              </a:rPr>
              <a:t>volume · velocity · variety (the Big Data section)</a:t>
            </a:r>
            <a:endParaRPr lang="en-US" sz="1800" dirty="0"/>
          </a:p>
        </p:txBody>
      </p:sp>
      <p:sp>
        <p:nvSpPr>
          <p:cNvPr id="10" name="S09_slide_number_9"/>
          <p:cNvSpPr>
            <a:spLocks noGrp="1"/>
          </p:cNvSpPr>
          <p:nvPr>
            <p:ph type="sldNum" sz="quarter" idx="12"/>
          </p:nvPr>
        </p:nvSpPr>
        <p:spPr/>
        <p:txBody>
          <a:bodyPr/>
          <a:lstStyle/>
          <a:p>
            <a:fld id="{B6F15528-21DE-4FAA-801E-634DDDAF4B2B}" type="slidenum">
              <a:rPr lang="en-US" sz="1200" dirty="0">
                <a:latin typeface="Arial"/>
              </a:r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0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Business analytics: from a business problem</a:t>
            </a:r>
            <a:br>
              <a:rPr lang="en-US" sz="2800" dirty="0"/>
            </a:br>
            <a:r>
              <a:rPr lang="en-US" sz="2800" b="1" dirty="0">
                <a:solidFill>
                  <a:schemeClr val="accent1"/>
                </a:solidFill>
                <a:latin typeface="Arial"/>
                <a:cs typeface="Arial"/>
              </a:rPr>
              <a:t>to a better-informed decision</a:t>
            </a:r>
            <a:endParaRPr lang="en-US" sz="2800" dirty="0"/>
          </a:p>
        </p:txBody>
      </p:sp>
      <p:sp>
        <p:nvSpPr>
          <p:cNvPr id="3" name="S10_definition_2"/>
          <p:cNvSpPr txBox="1"/>
          <p:nvPr/>
        </p:nvSpPr>
        <p:spPr>
          <a:xfrm>
            <a:off x="548640" y="1737360"/>
            <a:ext cx="11091672" cy="10058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Business analytics applies data and analytics to a business problem to generate insight for decisions.</a:t>
            </a:r>
            <a:r>
              <a:rPr lang="en-US" sz="2400" b="0" dirty="0">
                <a:solidFill>
                  <a:schemeClr val="tx1"/>
                </a:solidFill>
                <a:latin typeface="Arial"/>
                <a:cs typeface="Arial"/>
              </a:rPr>
              <a:t> It helps answer three questions:</a:t>
            </a:r>
            <a:endParaRPr lang="en-US" sz="2400" dirty="0"/>
          </a:p>
        </p:txBody>
      </p:sp>
      <p:sp>
        <p:nvSpPr>
          <p:cNvPr id="4" name="S10_node_3"/>
          <p:cNvSpPr/>
          <p:nvPr/>
        </p:nvSpPr>
        <p:spPr>
          <a:xfrm>
            <a:off x="548640" y="3474720"/>
            <a:ext cx="329184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1  Business problem</a:t>
            </a:r>
            <a:endParaRPr lang="en-US" sz="2200" dirty="0"/>
          </a:p>
        </p:txBody>
      </p:sp>
      <p:cxnSp>
        <p:nvCxnSpPr>
          <p:cNvPr id="5" name="S10_conn_4">
            <a:extLst>
              <a:ext uri="{C183D7F6-B498-43B3-948B-1728B52AA6E4}">
                <adec:decorative xmlns:adec="http://schemas.microsoft.com/office/drawing/2017/decorative" val="1"/>
              </a:ext>
            </a:extLst>
          </p:cNvPr>
          <p:cNvCxnSpPr/>
          <p:nvPr/>
        </p:nvCxnSpPr>
        <p:spPr>
          <a:xfrm>
            <a:off x="3886200" y="3977640"/>
            <a:ext cx="516636" cy="0"/>
          </a:xfrm>
          <a:prstGeom prst="line">
            <a:avLst/>
          </a:prstGeom>
          <a:ln w="31750">
            <a:solidFill>
              <a:schemeClr val="tx1"/>
            </a:solidFill>
            <a:round/>
            <a:tailEnd type="triangle" w="med" len="med"/>
          </a:ln>
        </p:spPr>
      </p:cxnSp>
      <p:sp>
        <p:nvSpPr>
          <p:cNvPr id="6" name="S10_node_5"/>
          <p:cNvSpPr/>
          <p:nvPr/>
        </p:nvSpPr>
        <p:spPr>
          <a:xfrm>
            <a:off x="4448556" y="3474720"/>
            <a:ext cx="329184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2  Analytics</a:t>
            </a:r>
            <a:endParaRPr lang="en-US" sz="2200" dirty="0"/>
          </a:p>
        </p:txBody>
      </p:sp>
      <p:cxnSp>
        <p:nvCxnSpPr>
          <p:cNvPr id="7" name="S10_conn_6">
            <a:extLst>
              <a:ext uri="{C183D7F6-B498-43B3-948B-1728B52AA6E4}">
                <adec:decorative xmlns:adec="http://schemas.microsoft.com/office/drawing/2017/decorative" val="1"/>
              </a:ext>
            </a:extLst>
          </p:cNvPr>
          <p:cNvCxnSpPr/>
          <p:nvPr/>
        </p:nvCxnSpPr>
        <p:spPr>
          <a:xfrm>
            <a:off x="7786116" y="3977640"/>
            <a:ext cx="516636" cy="0"/>
          </a:xfrm>
          <a:prstGeom prst="line">
            <a:avLst/>
          </a:prstGeom>
          <a:ln w="31750">
            <a:solidFill>
              <a:schemeClr val="tx1"/>
            </a:solidFill>
            <a:round/>
            <a:tailEnd type="triangle" w="med" len="med"/>
          </a:ln>
        </p:spPr>
      </p:cxnSp>
      <p:sp>
        <p:nvSpPr>
          <p:cNvPr id="8" name="S10_node_7"/>
          <p:cNvSpPr/>
          <p:nvPr/>
        </p:nvSpPr>
        <p:spPr>
          <a:xfrm>
            <a:off x="8348472" y="3474720"/>
            <a:ext cx="329184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3  Better-informed decision</a:t>
            </a:r>
            <a:endParaRPr lang="en-US" sz="2200" dirty="0"/>
          </a:p>
        </p:txBody>
      </p:sp>
      <p:sp>
        <p:nvSpPr>
          <p:cNvPr id="9" name="S10_data_tag_8"/>
          <p:cNvSpPr/>
          <p:nvPr/>
        </p:nvSpPr>
        <p:spPr>
          <a:xfrm>
            <a:off x="5440680" y="2852928"/>
            <a:ext cx="1280160" cy="365760"/>
          </a:xfrm>
          <a:prstGeom prst="roundRect">
            <a:avLst>
              <a:gd name="adj" fmla="val 30000"/>
            </a:avLst>
          </a:prstGeom>
          <a:solidFill>
            <a:schemeClr val="bg1"/>
          </a:solidFill>
          <a:ln w="25400">
            <a:solidFill>
              <a:schemeClr val="accent1"/>
            </a:solidFill>
            <a:prstDash val="dash"/>
            <a:round/>
          </a:ln>
        </p:spPr>
        <p:txBody>
          <a:bodyPr wrap="square" lIns="18288" tIns="18288" rIns="18288" bIns="18288"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data</a:t>
            </a:r>
            <a:endParaRPr lang="en-US" sz="1800" dirty="0"/>
          </a:p>
        </p:txBody>
      </p:sp>
      <p:cxnSp>
        <p:nvCxnSpPr>
          <p:cNvPr id="10" name="S10_conn_9">
            <a:extLst>
              <a:ext uri="{C183D7F6-B498-43B3-948B-1728B52AA6E4}">
                <adec:decorative xmlns:adec="http://schemas.microsoft.com/office/drawing/2017/decorative" val="1"/>
              </a:ext>
            </a:extLst>
          </p:cNvPr>
          <p:cNvCxnSpPr/>
          <p:nvPr/>
        </p:nvCxnSpPr>
        <p:spPr>
          <a:xfrm>
            <a:off x="6080760" y="3218688"/>
            <a:ext cx="0" cy="237744"/>
          </a:xfrm>
          <a:prstGeom prst="line">
            <a:avLst/>
          </a:prstGeom>
          <a:ln w="28575">
            <a:solidFill>
              <a:schemeClr val="tx1"/>
            </a:solidFill>
            <a:round/>
            <a:tailEnd type="triangle" w="med" len="med"/>
          </a:ln>
        </p:spPr>
      </p:cxnSp>
      <p:sp>
        <p:nvSpPr>
          <p:cNvPr id="11" name="S10_question_chip_10"/>
          <p:cNvSpPr/>
          <p:nvPr/>
        </p:nvSpPr>
        <p:spPr>
          <a:xfrm>
            <a:off x="548640" y="4800600"/>
            <a:ext cx="3520440" cy="86868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Q1  How are we doing?</a:t>
            </a:r>
            <a:endParaRPr lang="en-US" sz="2200" dirty="0"/>
          </a:p>
        </p:txBody>
      </p:sp>
      <p:sp>
        <p:nvSpPr>
          <p:cNvPr id="12" name="S10_question_chip_11"/>
          <p:cNvSpPr/>
          <p:nvPr/>
        </p:nvSpPr>
        <p:spPr>
          <a:xfrm>
            <a:off x="4334256" y="4800600"/>
            <a:ext cx="3520440" cy="86868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Q2  Why?</a:t>
            </a:r>
            <a:endParaRPr lang="en-US" sz="2200" dirty="0"/>
          </a:p>
        </p:txBody>
      </p:sp>
      <p:sp>
        <p:nvSpPr>
          <p:cNvPr id="13" name="S10_question_chip_12"/>
          <p:cNvSpPr/>
          <p:nvPr/>
        </p:nvSpPr>
        <p:spPr>
          <a:xfrm>
            <a:off x="8119872" y="4800600"/>
            <a:ext cx="3520440" cy="86868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Q3  What should we do next?</a:t>
            </a:r>
            <a:endParaRPr lang="en-US" sz="2200" dirty="0"/>
          </a:p>
        </p:txBody>
      </p:sp>
      <p:sp>
        <p:nvSpPr>
          <p:cNvPr id="14" name="S10_slide_number_13"/>
          <p:cNvSpPr>
            <a:spLocks noGrp="1"/>
          </p:cNvSpPr>
          <p:nvPr>
            <p:ph type="sldNum" sz="quarter" idx="12"/>
          </p:nvPr>
        </p:nvSpPr>
        <p:spPr/>
        <p:txBody>
          <a:bodyPr/>
          <a:lstStyle/>
          <a:p>
            <a:fld id="{B6F15528-21DE-4FAA-801E-634DDDAF4B2B}" type="slidenum">
              <a:rPr lang="en-US" sz="1200" dirty="0">
                <a:latin typeface="Arial"/>
              </a:r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1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Part 1 recap: vocabulary and relationships</a:t>
            </a:r>
            <a:endParaRPr lang="en-US" sz="3200" dirty="0"/>
          </a:p>
        </p:txBody>
      </p:sp>
      <p:sp>
        <p:nvSpPr>
          <p:cNvPr id="3" name="S11_node_2"/>
          <p:cNvSpPr/>
          <p:nvPr/>
        </p:nvSpPr>
        <p:spPr>
          <a:xfrm>
            <a:off x="548640" y="1691640"/>
            <a:ext cx="2606040" cy="1554480"/>
          </a:xfrm>
          <a:prstGeom prst="roundRect">
            <a:avLst>
              <a:gd name="adj" fmla="val 12000"/>
            </a:avLst>
          </a:prstGeom>
          <a:solidFill>
            <a:schemeClr val="bg2"/>
          </a:solidFill>
          <a:ln w="25400">
            <a:solidFill>
              <a:schemeClr val="accent1"/>
            </a:solidFill>
            <a:round/>
          </a:ln>
        </p:spPr>
        <p:txBody>
          <a:bodyPr wrap="square" lIns="109728" tIns="73152" rIns="91440" bIns="45720" rtlCol="0" anchor="t">
            <a:noAutofit/>
          </a:bodyPr>
          <a:lstStyle/>
          <a:p>
            <a:pPr algn="l" marL="0" indent="0">
              <a:lnSpc>
                <a:spcPct val="100000"/>
              </a:lnSpc>
              <a:spcBef>
                <a:spcPts val="0"/>
              </a:spcBef>
              <a:spcAft>
                <a:spcPts val="200"/>
              </a:spcAft>
              <a:buNone/>
            </a:pPr>
            <a:r>
              <a:rPr lang="en-US" sz="2000" b="1" dirty="0">
                <a:solidFill>
                  <a:schemeClr val="tx1"/>
                </a:solidFill>
                <a:latin typeface="Arial"/>
                <a:cs typeface="Arial"/>
              </a:rPr>
              <a:t>Data science</a:t>
            </a:r>
            <a:endParaRPr lang="en-US" sz="2000" dirty="0"/>
          </a:p>
          <a:p>
            <a:pPr algn="l" marL="0" indent="0">
              <a:lnSpc>
                <a:spcPct val="100000"/>
              </a:lnSpc>
              <a:spcBef>
                <a:spcPts val="0"/>
              </a:spcBef>
              <a:spcAft>
                <a:spcPts val="0"/>
              </a:spcAft>
              <a:buNone/>
            </a:pPr>
            <a:r>
              <a:rPr lang="en-US" sz="1600" b="0" dirty="0">
                <a:solidFill>
                  <a:schemeClr val="tx1"/>
                </a:solidFill>
                <a:latin typeface="Arial"/>
                <a:cs typeface="Arial"/>
              </a:rPr>
              <a:t>broader interdisciplinary principles and practice around learning from data</a:t>
            </a:r>
            <a:endParaRPr lang="en-US" sz="1600" dirty="0"/>
          </a:p>
        </p:txBody>
      </p:sp>
      <p:sp>
        <p:nvSpPr>
          <p:cNvPr id="4" name="S11_node_3"/>
          <p:cNvSpPr/>
          <p:nvPr/>
        </p:nvSpPr>
        <p:spPr>
          <a:xfrm>
            <a:off x="4791456" y="1691640"/>
            <a:ext cx="2606040" cy="1554480"/>
          </a:xfrm>
          <a:prstGeom prst="roundRect">
            <a:avLst>
              <a:gd name="adj" fmla="val 12000"/>
            </a:avLst>
          </a:prstGeom>
          <a:solidFill>
            <a:schemeClr val="bg2"/>
          </a:solidFill>
          <a:ln w="25400">
            <a:solidFill>
              <a:schemeClr val="accent1"/>
            </a:solidFill>
            <a:round/>
          </a:ln>
        </p:spPr>
        <p:txBody>
          <a:bodyPr wrap="square" lIns="109728" tIns="73152" rIns="91440" bIns="45720" rtlCol="0" anchor="t">
            <a:noAutofit/>
          </a:bodyPr>
          <a:lstStyle/>
          <a:p>
            <a:pPr algn="l" marL="0" indent="0">
              <a:lnSpc>
                <a:spcPct val="100000"/>
              </a:lnSpc>
              <a:spcBef>
                <a:spcPts val="0"/>
              </a:spcBef>
              <a:spcAft>
                <a:spcPts val="200"/>
              </a:spcAft>
              <a:buNone/>
            </a:pPr>
            <a:r>
              <a:rPr lang="en-US" sz="2000" b="1" dirty="0">
                <a:solidFill>
                  <a:schemeClr val="tx1"/>
                </a:solidFill>
                <a:latin typeface="Arial"/>
                <a:cs typeface="Arial"/>
              </a:rPr>
              <a:t>Analytics</a:t>
            </a:r>
            <a:endParaRPr lang="en-US" sz="2000" dirty="0"/>
          </a:p>
          <a:p>
            <a:pPr algn="l" marL="0" indent="0">
              <a:lnSpc>
                <a:spcPct val="100000"/>
              </a:lnSpc>
              <a:spcBef>
                <a:spcPts val="0"/>
              </a:spcBef>
              <a:spcAft>
                <a:spcPts val="0"/>
              </a:spcAft>
              <a:buNone/>
            </a:pPr>
            <a:r>
              <a:rPr lang="en-US" sz="1600" b="0" dirty="0">
                <a:solidFill>
                  <a:schemeClr val="tx1"/>
                </a:solidFill>
                <a:latin typeface="Arial"/>
                <a:cs typeface="Arial"/>
              </a:rPr>
              <a:t>the broad process for turning data into insight for decisions</a:t>
            </a:r>
            <a:endParaRPr lang="en-US" sz="1600" dirty="0"/>
          </a:p>
        </p:txBody>
      </p:sp>
      <p:sp>
        <p:nvSpPr>
          <p:cNvPr id="5" name="S11_node_4"/>
          <p:cNvSpPr/>
          <p:nvPr/>
        </p:nvSpPr>
        <p:spPr>
          <a:xfrm>
            <a:off x="9034272" y="1691640"/>
            <a:ext cx="2606040" cy="1554480"/>
          </a:xfrm>
          <a:prstGeom prst="roundRect">
            <a:avLst>
              <a:gd name="adj" fmla="val 12000"/>
            </a:avLst>
          </a:prstGeom>
          <a:solidFill>
            <a:schemeClr val="bg2"/>
          </a:solidFill>
          <a:ln w="25400">
            <a:solidFill>
              <a:schemeClr val="accent1"/>
            </a:solidFill>
            <a:round/>
          </a:ln>
        </p:spPr>
        <p:txBody>
          <a:bodyPr wrap="square" lIns="109728" tIns="73152" rIns="91440" bIns="45720" rtlCol="0" anchor="t">
            <a:noAutofit/>
          </a:bodyPr>
          <a:lstStyle/>
          <a:p>
            <a:pPr algn="l" marL="0" indent="0">
              <a:lnSpc>
                <a:spcPct val="100000"/>
              </a:lnSpc>
              <a:spcBef>
                <a:spcPts val="0"/>
              </a:spcBef>
              <a:spcAft>
                <a:spcPts val="200"/>
              </a:spcAft>
              <a:buNone/>
            </a:pPr>
            <a:r>
              <a:rPr lang="en-US" sz="2000" b="1" dirty="0">
                <a:solidFill>
                  <a:schemeClr val="tx1"/>
                </a:solidFill>
                <a:latin typeface="Arial"/>
                <a:cs typeface="Arial"/>
              </a:rPr>
              <a:t>Data analytics</a:t>
            </a:r>
            <a:endParaRPr lang="en-US" sz="2000" dirty="0"/>
          </a:p>
          <a:p>
            <a:pPr algn="l" marL="0" indent="0">
              <a:lnSpc>
                <a:spcPct val="100000"/>
              </a:lnSpc>
              <a:spcBef>
                <a:spcPts val="0"/>
              </a:spcBef>
              <a:spcAft>
                <a:spcPts val="0"/>
              </a:spcAft>
              <a:buNone/>
            </a:pPr>
            <a:r>
              <a:rPr lang="en-US" sz="1600" b="0" dirty="0">
                <a:solidFill>
                  <a:schemeClr val="tx1"/>
                </a:solidFill>
                <a:latin typeface="Arial"/>
                <a:cs typeface="Arial"/>
              </a:rPr>
              <a:t>analytics focused on analyzing data</a:t>
            </a:r>
            <a:endParaRPr lang="en-US" sz="1600" dirty="0"/>
          </a:p>
        </p:txBody>
      </p:sp>
      <p:sp>
        <p:nvSpPr>
          <p:cNvPr id="6" name="S11_node_5"/>
          <p:cNvSpPr/>
          <p:nvPr/>
        </p:nvSpPr>
        <p:spPr>
          <a:xfrm>
            <a:off x="4791456" y="3767328"/>
            <a:ext cx="2606040" cy="1554480"/>
          </a:xfrm>
          <a:prstGeom prst="roundRect">
            <a:avLst>
              <a:gd name="adj" fmla="val 12000"/>
            </a:avLst>
          </a:prstGeom>
          <a:solidFill>
            <a:schemeClr val="bg2"/>
          </a:solidFill>
          <a:ln w="25400">
            <a:solidFill>
              <a:schemeClr val="accent1"/>
            </a:solidFill>
            <a:round/>
          </a:ln>
        </p:spPr>
        <p:txBody>
          <a:bodyPr wrap="square" lIns="109728" tIns="73152" rIns="91440" bIns="45720" rtlCol="0" anchor="t">
            <a:noAutofit/>
          </a:bodyPr>
          <a:lstStyle/>
          <a:p>
            <a:pPr algn="l" marL="0" indent="0">
              <a:lnSpc>
                <a:spcPct val="100000"/>
              </a:lnSpc>
              <a:spcBef>
                <a:spcPts val="0"/>
              </a:spcBef>
              <a:spcAft>
                <a:spcPts val="200"/>
              </a:spcAft>
              <a:buNone/>
            </a:pPr>
            <a:r>
              <a:rPr lang="en-US" sz="2000" b="1" dirty="0">
                <a:solidFill>
                  <a:schemeClr val="tx1"/>
                </a:solidFill>
                <a:latin typeface="Arial"/>
                <a:cs typeface="Arial"/>
              </a:rPr>
              <a:t>Business analytics</a:t>
            </a:r>
            <a:endParaRPr lang="en-US" sz="2000" dirty="0"/>
          </a:p>
          <a:p>
            <a:pPr algn="l" marL="0" indent="0">
              <a:lnSpc>
                <a:spcPct val="100000"/>
              </a:lnSpc>
              <a:spcBef>
                <a:spcPts val="0"/>
              </a:spcBef>
              <a:spcAft>
                <a:spcPts val="0"/>
              </a:spcAft>
              <a:buNone/>
            </a:pPr>
            <a:r>
              <a:rPr lang="en-US" sz="1600" b="0" dirty="0">
                <a:solidFill>
                  <a:schemeClr val="tx1"/>
                </a:solidFill>
                <a:latin typeface="Arial"/>
                <a:cs typeface="Arial"/>
              </a:rPr>
              <a:t>the application of analytics to business problems and decisions</a:t>
            </a:r>
            <a:endParaRPr lang="en-US" sz="1600" dirty="0"/>
          </a:p>
        </p:txBody>
      </p:sp>
      <p:sp>
        <p:nvSpPr>
          <p:cNvPr id="7" name="S11_node_6"/>
          <p:cNvSpPr/>
          <p:nvPr/>
        </p:nvSpPr>
        <p:spPr>
          <a:xfrm>
            <a:off x="9034272" y="3767328"/>
            <a:ext cx="2606040" cy="1554480"/>
          </a:xfrm>
          <a:prstGeom prst="roundRect">
            <a:avLst>
              <a:gd name="adj" fmla="val 12000"/>
            </a:avLst>
          </a:prstGeom>
          <a:solidFill>
            <a:schemeClr val="bg2"/>
          </a:solidFill>
          <a:ln w="25400">
            <a:solidFill>
              <a:schemeClr val="accent1"/>
            </a:solidFill>
            <a:round/>
          </a:ln>
        </p:spPr>
        <p:txBody>
          <a:bodyPr wrap="square" lIns="109728" tIns="73152" rIns="91440" bIns="45720" rtlCol="0" anchor="t">
            <a:noAutofit/>
          </a:bodyPr>
          <a:lstStyle/>
          <a:p>
            <a:pPr algn="l" marL="0" indent="0">
              <a:lnSpc>
                <a:spcPct val="100000"/>
              </a:lnSpc>
              <a:spcBef>
                <a:spcPts val="0"/>
              </a:spcBef>
              <a:spcAft>
                <a:spcPts val="200"/>
              </a:spcAft>
              <a:buNone/>
            </a:pPr>
            <a:r>
              <a:rPr lang="en-US" sz="2000" b="1" dirty="0">
                <a:solidFill>
                  <a:schemeClr val="tx1"/>
                </a:solidFill>
                <a:latin typeface="Arial"/>
                <a:cs typeface="Arial"/>
              </a:rPr>
              <a:t>Data mining</a:t>
            </a:r>
            <a:endParaRPr lang="en-US" sz="2000" dirty="0"/>
          </a:p>
          <a:p>
            <a:pPr algn="l" marL="0" indent="0">
              <a:lnSpc>
                <a:spcPct val="100000"/>
              </a:lnSpc>
              <a:spcBef>
                <a:spcPts val="0"/>
              </a:spcBef>
              <a:spcAft>
                <a:spcPts val="0"/>
              </a:spcAft>
              <a:buNone/>
            </a:pPr>
            <a:r>
              <a:rPr lang="en-US" sz="1600" b="0" dirty="0">
                <a:solidFill>
                  <a:schemeClr val="tx1"/>
                </a:solidFill>
                <a:latin typeface="Arial"/>
                <a:cs typeface="Arial"/>
              </a:rPr>
              <a:t>methods for discovering useful patterns in data</a:t>
            </a:r>
            <a:endParaRPr lang="en-US" sz="1600" dirty="0"/>
          </a:p>
        </p:txBody>
      </p:sp>
      <p:cxnSp>
        <p:nvCxnSpPr>
          <p:cNvPr id="8" name="S11_conn_7">
            <a:extLst>
              <a:ext uri="{C183D7F6-B498-43B3-948B-1728B52AA6E4}">
                <adec:decorative xmlns:adec="http://schemas.microsoft.com/office/drawing/2017/decorative" val="1"/>
              </a:ext>
            </a:extLst>
          </p:cNvPr>
          <p:cNvCxnSpPr/>
          <p:nvPr/>
        </p:nvCxnSpPr>
        <p:spPr>
          <a:xfrm>
            <a:off x="3182112" y="2468880"/>
            <a:ext cx="1581912" cy="0"/>
          </a:xfrm>
          <a:prstGeom prst="line">
            <a:avLst/>
          </a:prstGeom>
          <a:ln w="31750">
            <a:solidFill>
              <a:schemeClr val="tx1"/>
            </a:solidFill>
            <a:round/>
            <a:tailEnd type="triangle" w="med" len="med"/>
          </a:ln>
        </p:spPr>
      </p:cxnSp>
      <p:sp>
        <p:nvSpPr>
          <p:cNvPr id="9" name="S11_conn_label_8"/>
          <p:cNvSpPr/>
          <p:nvPr/>
        </p:nvSpPr>
        <p:spPr>
          <a:xfrm>
            <a:off x="3154680" y="1810512"/>
            <a:ext cx="1636776" cy="594360"/>
          </a:xfrm>
          <a:prstGeom prst="rect">
            <a:avLst/>
          </a:prstGeom>
          <a:solidFill>
            <a:schemeClr val="bg1"/>
          </a:solidFill>
          <a:ln>
            <a:noFill/>
          </a:ln>
        </p:spPr>
        <p:txBody>
          <a:bodyPr wrap="square" lIns="18288" tIns="0" rIns="18288"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provides principles to</a:t>
            </a:r>
            <a:endParaRPr lang="en-US" sz="1600" dirty="0"/>
          </a:p>
        </p:txBody>
      </p:sp>
      <p:cxnSp>
        <p:nvCxnSpPr>
          <p:cNvPr id="10" name="S11_conn_9">
            <a:extLst>
              <a:ext uri="{C183D7F6-B498-43B3-948B-1728B52AA6E4}">
                <adec:decorative xmlns:adec="http://schemas.microsoft.com/office/drawing/2017/decorative" val="1"/>
              </a:ext>
            </a:extLst>
          </p:cNvPr>
          <p:cNvCxnSpPr/>
          <p:nvPr/>
        </p:nvCxnSpPr>
        <p:spPr>
          <a:xfrm>
            <a:off x="7424928" y="2468880"/>
            <a:ext cx="1581912" cy="0"/>
          </a:xfrm>
          <a:prstGeom prst="line">
            <a:avLst/>
          </a:prstGeom>
          <a:ln w="31750">
            <a:solidFill>
              <a:schemeClr val="tx1"/>
            </a:solidFill>
            <a:round/>
            <a:tailEnd type="triangle" w="med" len="med"/>
          </a:ln>
        </p:spPr>
      </p:cxnSp>
      <p:sp>
        <p:nvSpPr>
          <p:cNvPr id="11" name="S11_conn_label_10"/>
          <p:cNvSpPr/>
          <p:nvPr/>
        </p:nvSpPr>
        <p:spPr>
          <a:xfrm>
            <a:off x="7397496" y="1810512"/>
            <a:ext cx="1636776" cy="594360"/>
          </a:xfrm>
          <a:prstGeom prst="rect">
            <a:avLst/>
          </a:prstGeom>
          <a:solidFill>
            <a:schemeClr val="bg1"/>
          </a:solidFill>
          <a:ln>
            <a:noFill/>
          </a:ln>
        </p:spPr>
        <p:txBody>
          <a:bodyPr wrap="square" lIns="18288" tIns="0" rIns="18288"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focused on data</a:t>
            </a:r>
            <a:endParaRPr lang="en-US" sz="1600" dirty="0"/>
          </a:p>
        </p:txBody>
      </p:sp>
      <p:cxnSp>
        <p:nvCxnSpPr>
          <p:cNvPr id="12" name="S11_conn_11">
            <a:extLst>
              <a:ext uri="{C183D7F6-B498-43B3-948B-1728B52AA6E4}">
                <adec:decorative xmlns:adec="http://schemas.microsoft.com/office/drawing/2017/decorative" val="1"/>
              </a:ext>
            </a:extLst>
          </p:cNvPr>
          <p:cNvCxnSpPr/>
          <p:nvPr/>
        </p:nvCxnSpPr>
        <p:spPr>
          <a:xfrm>
            <a:off x="6094476" y="3273552"/>
            <a:ext cx="0" cy="466344"/>
          </a:xfrm>
          <a:prstGeom prst="line">
            <a:avLst/>
          </a:prstGeom>
          <a:ln w="31750">
            <a:solidFill>
              <a:schemeClr val="tx1"/>
            </a:solidFill>
            <a:round/>
            <a:tailEnd type="triangle" w="med" len="med"/>
          </a:ln>
        </p:spPr>
      </p:cxnSp>
      <p:sp>
        <p:nvSpPr>
          <p:cNvPr id="13" name="S11_conn_label_12"/>
          <p:cNvSpPr txBox="1"/>
          <p:nvPr/>
        </p:nvSpPr>
        <p:spPr>
          <a:xfrm>
            <a:off x="6204204" y="3246120"/>
            <a:ext cx="3200400" cy="4572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applied to business problems</a:t>
            </a:r>
            <a:endParaRPr lang="en-US" sz="1600" dirty="0"/>
          </a:p>
        </p:txBody>
      </p:sp>
      <p:cxnSp>
        <p:nvCxnSpPr>
          <p:cNvPr id="14" name="S11_conn_13">
            <a:extLst>
              <a:ext uri="{C183D7F6-B498-43B3-948B-1728B52AA6E4}">
                <adec:decorative xmlns:adec="http://schemas.microsoft.com/office/drawing/2017/decorative" val="1"/>
              </a:ext>
            </a:extLst>
          </p:cNvPr>
          <p:cNvCxnSpPr/>
          <p:nvPr/>
        </p:nvCxnSpPr>
        <p:spPr>
          <a:xfrm flipH="1">
            <a:off x="7424928" y="4544568"/>
            <a:ext cx="1581912" cy="0"/>
          </a:xfrm>
          <a:prstGeom prst="line">
            <a:avLst/>
          </a:prstGeom>
          <a:ln w="31750">
            <a:solidFill>
              <a:schemeClr val="tx1"/>
            </a:solidFill>
            <a:round/>
            <a:tailEnd type="triangle" w="med" len="med"/>
          </a:ln>
        </p:spPr>
      </p:cxnSp>
      <p:sp>
        <p:nvSpPr>
          <p:cNvPr id="15" name="S11_conn_label_14"/>
          <p:cNvSpPr/>
          <p:nvPr/>
        </p:nvSpPr>
        <p:spPr>
          <a:xfrm>
            <a:off x="7397496" y="3886200"/>
            <a:ext cx="1636776" cy="594360"/>
          </a:xfrm>
          <a:prstGeom prst="rect">
            <a:avLst/>
          </a:prstGeom>
          <a:solidFill>
            <a:schemeClr val="bg1"/>
          </a:solidFill>
          <a:ln>
            <a:noFill/>
          </a:ln>
        </p:spPr>
        <p:txBody>
          <a:bodyPr wrap="square" lIns="18288" tIns="0" rIns="18288"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supplies methods to</a:t>
            </a:r>
            <a:endParaRPr lang="en-US" sz="1600" dirty="0"/>
          </a:p>
        </p:txBody>
      </p:sp>
      <p:cxnSp>
        <p:nvCxnSpPr>
          <p:cNvPr id="16" name="S11_conn_15">
            <a:extLst>
              <a:ext uri="{C183D7F6-B498-43B3-948B-1728B52AA6E4}">
                <adec:decorative xmlns:adec="http://schemas.microsoft.com/office/drawing/2017/decorative" val="1"/>
              </a:ext>
            </a:extLst>
          </p:cNvPr>
          <p:cNvCxnSpPr/>
          <p:nvPr/>
        </p:nvCxnSpPr>
        <p:spPr>
          <a:xfrm flipV="1">
            <a:off x="9857232" y="3273552"/>
            <a:ext cx="0" cy="466344"/>
          </a:xfrm>
          <a:prstGeom prst="line">
            <a:avLst/>
          </a:prstGeom>
          <a:ln w="31750">
            <a:solidFill>
              <a:schemeClr val="tx1"/>
            </a:solidFill>
            <a:round/>
            <a:tailEnd type="triangle" w="med" len="med"/>
          </a:ln>
        </p:spPr>
      </p:cxnSp>
      <p:sp>
        <p:nvSpPr>
          <p:cNvPr id="17" name="S11_conn_label_16"/>
          <p:cNvSpPr txBox="1"/>
          <p:nvPr/>
        </p:nvSpPr>
        <p:spPr>
          <a:xfrm>
            <a:off x="9948672" y="3246120"/>
            <a:ext cx="1691640" cy="4572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supplies methods to</a:t>
            </a:r>
            <a:endParaRPr lang="en-US" sz="1600" dirty="0"/>
          </a:p>
        </p:txBody>
      </p:sp>
      <p:sp>
        <p:nvSpPr>
          <p:cNvPr id="18" name="S11_note_17"/>
          <p:cNvSpPr txBox="1"/>
          <p:nvPr/>
        </p:nvSpPr>
        <p:spPr>
          <a:xfrm>
            <a:off x="548640" y="3767328"/>
            <a:ext cx="2606040" cy="155448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i="1" dirty="0">
                <a:solidFill>
                  <a:schemeClr val="accent3"/>
                </a:solidFill>
                <a:latin typeface="Arial"/>
                <a:cs typeface="Arial"/>
              </a:rPr>
              <a:t>Boundaries vary across sources; BUSS256 uses these working distinctions.</a:t>
            </a:r>
            <a:endParaRPr lang="en-US" sz="1600" dirty="0"/>
          </a:p>
        </p:txBody>
      </p:sp>
      <p:sp>
        <p:nvSpPr>
          <p:cNvPr id="19" name="S11_checkback_bar_18"/>
          <p:cNvSpPr/>
          <p:nvPr/>
        </p:nvSpPr>
        <p:spPr>
          <a:xfrm>
            <a:off x="548640" y="5422392"/>
            <a:ext cx="11091672" cy="56692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Which terms from the opening vocabulary test can you now explain in your own words?</a:t>
            </a:r>
            <a:endParaRPr lang="en-US" sz="2000" dirty="0"/>
          </a:p>
        </p:txBody>
      </p:sp>
      <p:sp>
        <p:nvSpPr>
          <p:cNvPr id="20" name="S11_slide_number_19"/>
          <p:cNvSpPr>
            <a:spLocks noGrp="1"/>
          </p:cNvSpPr>
          <p:nvPr>
            <p:ph type="sldNum" sz="quarter" idx="12"/>
          </p:nvPr>
        </p:nvSpPr>
        <p:spPr/>
        <p:txBody>
          <a:bodyPr/>
          <a:lstStyle/>
          <a:p>
            <a:fld id="{B6F15528-21DE-4FAA-801E-634DDDAF4B2B}" type="slidenum">
              <a:rPr lang="en-US" sz="1200" dirty="0">
                <a:latin typeface="Arial"/>
              </a:r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2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Four elements of business analytics</a:t>
            </a:r>
            <a:endParaRPr lang="en-US" sz="3200" dirty="0"/>
          </a:p>
        </p:txBody>
      </p:sp>
      <p:sp>
        <p:nvSpPr>
          <p:cNvPr id="3" name="S12_node_anchor_2"/>
          <p:cNvSpPr/>
          <p:nvPr/>
        </p:nvSpPr>
        <p:spPr>
          <a:xfrm>
            <a:off x="3995928" y="1783080"/>
            <a:ext cx="4206240" cy="1463040"/>
          </a:xfrm>
          <a:prstGeom prst="roundRect">
            <a:avLst>
              <a:gd name="adj" fmla="val 12000"/>
            </a:avLst>
          </a:prstGeom>
          <a:solidFill>
            <a:schemeClr val="bg2"/>
          </a:solidFill>
          <a:ln w="50800">
            <a:solidFill>
              <a:schemeClr val="accent2"/>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400" b="1" dirty="0">
                <a:solidFill>
                  <a:schemeClr val="tx1"/>
                </a:solidFill>
                <a:latin typeface="Arial"/>
                <a:cs typeface="Arial"/>
              </a:rPr>
              <a:t>Business problem  —  anchor</a:t>
            </a:r>
            <a:endParaRPr lang="en-US" sz="2400" dirty="0"/>
          </a:p>
          <a:p>
            <a:pPr algn="ctr" marL="0" indent="0">
              <a:lnSpc>
                <a:spcPct val="100000"/>
              </a:lnSpc>
              <a:spcBef>
                <a:spcPts val="0"/>
              </a:spcBef>
              <a:spcAft>
                <a:spcPts val="0"/>
              </a:spcAft>
              <a:buNone/>
            </a:pPr>
            <a:r>
              <a:rPr lang="en-US" sz="1800" b="0" dirty="0">
                <a:solidFill>
                  <a:schemeClr val="tx1"/>
                </a:solidFill>
                <a:latin typeface="Arial"/>
                <a:cs typeface="Arial"/>
              </a:rPr>
              <a:t>What perceived gap or decision are we trying to address?</a:t>
            </a:r>
            <a:endParaRPr lang="en-US" sz="1800" dirty="0"/>
          </a:p>
        </p:txBody>
      </p:sp>
      <p:sp>
        <p:nvSpPr>
          <p:cNvPr id="4" name="S12_node_satellite_3"/>
          <p:cNvSpPr/>
          <p:nvPr/>
        </p:nvSpPr>
        <p:spPr>
          <a:xfrm>
            <a:off x="548640" y="3931920"/>
            <a:ext cx="3520440" cy="15087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Data</a:t>
            </a:r>
            <a:endParaRPr lang="en-US" sz="2200" dirty="0"/>
          </a:p>
          <a:p>
            <a:pPr algn="ctr" marL="0" indent="0">
              <a:lnSpc>
                <a:spcPct val="100000"/>
              </a:lnSpc>
              <a:spcBef>
                <a:spcPts val="0"/>
              </a:spcBef>
              <a:spcAft>
                <a:spcPts val="0"/>
              </a:spcAft>
              <a:buNone/>
            </a:pPr>
            <a:r>
              <a:rPr lang="en-US" sz="1800" b="0" dirty="0">
                <a:solidFill>
                  <a:schemeClr val="tx1"/>
                </a:solidFill>
                <a:latin typeface="Arial"/>
                <a:cs typeface="Arial"/>
              </a:rPr>
              <a:t>What evidence do we have, and is it suitable for the problem?</a:t>
            </a:r>
            <a:endParaRPr lang="en-US" sz="1800" dirty="0"/>
          </a:p>
        </p:txBody>
      </p:sp>
      <p:cxnSp>
        <p:nvCxnSpPr>
          <p:cNvPr id="5" name="S12_conn_4">
            <a:extLst>
              <a:ext uri="{C183D7F6-B498-43B3-948B-1728B52AA6E4}">
                <adec:decorative xmlns:adec="http://schemas.microsoft.com/office/drawing/2017/decorative" val="1"/>
              </a:ext>
            </a:extLst>
          </p:cNvPr>
          <p:cNvCxnSpPr/>
          <p:nvPr/>
        </p:nvCxnSpPr>
        <p:spPr>
          <a:xfrm flipH="1">
            <a:off x="2308860" y="3273552"/>
            <a:ext cx="2903220" cy="640080"/>
          </a:xfrm>
          <a:prstGeom prst="line">
            <a:avLst/>
          </a:prstGeom>
          <a:ln w="28575">
            <a:solidFill>
              <a:schemeClr val="tx1"/>
            </a:solidFill>
            <a:round/>
            <a:headEnd type="triangle" w="med" len="med"/>
            <a:tailEnd type="triangle" w="med" len="med"/>
          </a:ln>
        </p:spPr>
      </p:cxnSp>
      <p:sp>
        <p:nvSpPr>
          <p:cNvPr id="6" name="S12_node_satellite_5"/>
          <p:cNvSpPr/>
          <p:nvPr/>
        </p:nvSpPr>
        <p:spPr>
          <a:xfrm>
            <a:off x="4334256" y="3931920"/>
            <a:ext cx="3520440" cy="15087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Analytics</a:t>
            </a:r>
            <a:endParaRPr lang="en-US" sz="2200" dirty="0"/>
          </a:p>
          <a:p>
            <a:pPr algn="ctr" marL="0" indent="0">
              <a:lnSpc>
                <a:spcPct val="100000"/>
              </a:lnSpc>
              <a:spcBef>
                <a:spcPts val="0"/>
              </a:spcBef>
              <a:spcAft>
                <a:spcPts val="0"/>
              </a:spcAft>
              <a:buNone/>
            </a:pPr>
            <a:r>
              <a:rPr lang="en-US" sz="1800" b="0" dirty="0">
                <a:solidFill>
                  <a:schemeClr val="tx1"/>
                </a:solidFill>
                <a:latin typeface="Arial"/>
                <a:cs typeface="Arial"/>
              </a:rPr>
              <a:t>How do we examine the evidence to find patterns, estimates, or comparisons?</a:t>
            </a:r>
            <a:endParaRPr lang="en-US" sz="1800" dirty="0"/>
          </a:p>
        </p:txBody>
      </p:sp>
      <p:cxnSp>
        <p:nvCxnSpPr>
          <p:cNvPr id="7" name="S12_conn_6">
            <a:extLst>
              <a:ext uri="{C183D7F6-B498-43B3-948B-1728B52AA6E4}">
                <adec:decorative xmlns:adec="http://schemas.microsoft.com/office/drawing/2017/decorative" val="1"/>
              </a:ext>
            </a:extLst>
          </p:cNvPr>
          <p:cNvCxnSpPr/>
          <p:nvPr/>
        </p:nvCxnSpPr>
        <p:spPr>
          <a:xfrm flipH="1">
            <a:off x="6094476" y="3273552"/>
            <a:ext cx="4572" cy="640080"/>
          </a:xfrm>
          <a:prstGeom prst="line">
            <a:avLst/>
          </a:prstGeom>
          <a:ln w="28575">
            <a:solidFill>
              <a:schemeClr val="tx1"/>
            </a:solidFill>
            <a:round/>
            <a:headEnd type="triangle" w="med" len="med"/>
            <a:tailEnd type="triangle" w="med" len="med"/>
          </a:ln>
        </p:spPr>
      </p:cxnSp>
      <p:sp>
        <p:nvSpPr>
          <p:cNvPr id="8" name="S12_node_satellite_7"/>
          <p:cNvSpPr/>
          <p:nvPr/>
        </p:nvSpPr>
        <p:spPr>
          <a:xfrm>
            <a:off x="8119872" y="3931920"/>
            <a:ext cx="3520440" cy="15087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Insight</a:t>
            </a:r>
            <a:endParaRPr lang="en-US" sz="2200" dirty="0"/>
          </a:p>
          <a:p>
            <a:pPr algn="ctr" marL="0" indent="0">
              <a:lnSpc>
                <a:spcPct val="100000"/>
              </a:lnSpc>
              <a:spcBef>
                <a:spcPts val="0"/>
              </a:spcBef>
              <a:spcAft>
                <a:spcPts val="0"/>
              </a:spcAft>
              <a:buNone/>
            </a:pPr>
            <a:r>
              <a:rPr lang="en-US" sz="1800" b="0" dirty="0">
                <a:solidFill>
                  <a:schemeClr val="tx1"/>
                </a:solidFill>
                <a:latin typeface="Arial"/>
                <a:cs typeface="Arial"/>
              </a:rPr>
              <a:t>What have we learned that can inform the decision?</a:t>
            </a:r>
            <a:endParaRPr lang="en-US" sz="1800" dirty="0"/>
          </a:p>
        </p:txBody>
      </p:sp>
      <p:cxnSp>
        <p:nvCxnSpPr>
          <p:cNvPr id="9" name="S12_conn_8">
            <a:extLst>
              <a:ext uri="{C183D7F6-B498-43B3-948B-1728B52AA6E4}">
                <adec:decorative xmlns:adec="http://schemas.microsoft.com/office/drawing/2017/decorative" val="1"/>
              </a:ext>
            </a:extLst>
          </p:cNvPr>
          <p:cNvCxnSpPr/>
          <p:nvPr/>
        </p:nvCxnSpPr>
        <p:spPr>
          <a:xfrm>
            <a:off x="6986016" y="3273552"/>
            <a:ext cx="2894076" cy="640080"/>
          </a:xfrm>
          <a:prstGeom prst="line">
            <a:avLst/>
          </a:prstGeom>
          <a:ln w="28575">
            <a:solidFill>
              <a:schemeClr val="tx1"/>
            </a:solidFill>
            <a:round/>
            <a:headEnd type="triangle" w="med" len="med"/>
            <a:tailEnd type="triangle" w="med" len="med"/>
          </a:ln>
        </p:spPr>
      </p:cxnSp>
      <p:sp>
        <p:nvSpPr>
          <p:cNvPr id="10" name="S12_note_9"/>
          <p:cNvSpPr txBox="1"/>
          <p:nvPr/>
        </p:nvSpPr>
        <p:spPr>
          <a:xfrm>
            <a:off x="548640" y="5532120"/>
            <a:ext cx="11091672" cy="5029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i="1" dirty="0">
                <a:solidFill>
                  <a:schemeClr val="accent3"/>
                </a:solidFill>
                <a:latin typeface="Arial"/>
                <a:cs typeface="Arial"/>
              </a:rPr>
              <a:t>These are connected elements, not a rigid one-way sequence. The later insight-loop slide shows how they interact in a decision process.</a:t>
            </a:r>
            <a:endParaRPr lang="en-US" sz="1600" dirty="0"/>
          </a:p>
        </p:txBody>
      </p:sp>
      <p:sp>
        <p:nvSpPr>
          <p:cNvPr id="11" name="S12_slide_number_10"/>
          <p:cNvSpPr>
            <a:spLocks noGrp="1"/>
          </p:cNvSpPr>
          <p:nvPr>
            <p:ph type="sldNum" sz="quarter" idx="12"/>
          </p:nvPr>
        </p:nvSpPr>
        <p:spPr/>
        <p:txBody>
          <a:bodyPr/>
          <a:lstStyle/>
          <a:p>
            <a:fld id="{B6F15528-21DE-4FAA-801E-634DDDAF4B2B}" type="slidenum">
              <a:rPr lang="en-US" sz="1200" dirty="0">
                <a:latin typeface="Arial"/>
              </a:r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3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Big data: data from everywhere</a:t>
            </a:r>
            <a:endParaRPr lang="en-US" sz="3200" dirty="0"/>
          </a:p>
        </p:txBody>
      </p:sp>
      <p:sp>
        <p:nvSpPr>
          <p:cNvPr id="3" name="S13_strip_cur_2"/>
          <p:cNvSpPr/>
          <p:nvPr/>
        </p:nvSpPr>
        <p:spPr>
          <a:xfrm>
            <a:off x="548640" y="182880"/>
            <a:ext cx="3685032" cy="365760"/>
          </a:xfrm>
          <a:prstGeom prst="roundRect">
            <a:avLst>
              <a:gd name="adj" fmla="val 25000"/>
            </a:avLst>
          </a:prstGeom>
          <a:solidFill>
            <a:schemeClr val="accent1"/>
          </a:solidFill>
          <a:ln w="38100">
            <a:solidFill>
              <a:schemeClr val="accent1"/>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 Data — you are here</a:t>
            </a:r>
            <a:endParaRPr lang="en-US" sz="1600" dirty="0"/>
          </a:p>
        </p:txBody>
      </p:sp>
      <p:sp>
        <p:nvSpPr>
          <p:cNvPr id="4" name="S13_strip_other_3"/>
          <p:cNvSpPr/>
          <p:nvPr/>
        </p:nvSpPr>
        <p:spPr>
          <a:xfrm>
            <a:off x="4334256" y="182880"/>
            <a:ext cx="2162556"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Analytics</a:t>
            </a:r>
            <a:endParaRPr lang="en-US" sz="1600" dirty="0"/>
          </a:p>
        </p:txBody>
      </p:sp>
      <p:sp>
        <p:nvSpPr>
          <p:cNvPr id="5" name="S13_strip_other_4"/>
          <p:cNvSpPr/>
          <p:nvPr/>
        </p:nvSpPr>
        <p:spPr>
          <a:xfrm>
            <a:off x="6597396" y="182880"/>
            <a:ext cx="3026664"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Business problem</a:t>
            </a:r>
            <a:endParaRPr lang="en-US" sz="1600" dirty="0"/>
          </a:p>
        </p:txBody>
      </p:sp>
      <p:sp>
        <p:nvSpPr>
          <p:cNvPr id="6" name="S13_strip_other_5"/>
          <p:cNvSpPr/>
          <p:nvPr/>
        </p:nvSpPr>
        <p:spPr>
          <a:xfrm>
            <a:off x="9724644" y="182880"/>
            <a:ext cx="1915668"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Insight</a:t>
            </a:r>
            <a:endParaRPr lang="en-US" sz="1600" dirty="0"/>
          </a:p>
        </p:txBody>
      </p:sp>
      <p:sp>
        <p:nvSpPr>
          <p:cNvPr id="7" name="S13_lead_6"/>
          <p:cNvSpPr txBox="1"/>
          <p:nvPr/>
        </p:nvSpPr>
        <p:spPr>
          <a:xfrm>
            <a:off x="548640" y="1737360"/>
            <a:ext cx="11091672" cy="7772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0" dirty="0">
                <a:solidFill>
                  <a:schemeClr val="tx1"/>
                </a:solidFill>
                <a:latin typeface="Arial"/>
                <a:cs typeface="Arial"/>
              </a:rPr>
              <a:t>Data comes from web and e-commerce, purchases at stores, bank and card transactions, social networks.</a:t>
            </a:r>
            <a:endParaRPr lang="en-US" sz="2200" dirty="0"/>
          </a:p>
        </p:txBody>
      </p:sp>
      <p:sp>
        <p:nvSpPr>
          <p:cNvPr id="8" name="S13_tile_7"/>
          <p:cNvSpPr/>
          <p:nvPr/>
        </p:nvSpPr>
        <p:spPr>
          <a:xfrm>
            <a:off x="548640" y="2651760"/>
            <a:ext cx="2606040" cy="21031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9" name="S13_tile_label_8"/>
          <p:cNvSpPr txBox="1"/>
          <p:nvPr/>
        </p:nvSpPr>
        <p:spPr>
          <a:xfrm>
            <a:off x="594360" y="4023360"/>
            <a:ext cx="2514600" cy="68580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Web / e-commerce</a:t>
            </a:r>
            <a:endParaRPr lang="en-US" sz="2000" dirty="0"/>
          </a:p>
        </p:txBody>
      </p:sp>
      <p:sp>
        <p:nvSpPr>
          <p:cNvPr id="10" name="S13_ico_9">
            <a:extLst>
              <a:ext uri="{C183D7F6-B498-43B3-948B-1728B52AA6E4}">
                <adec:decorative xmlns:adec="http://schemas.microsoft.com/office/drawing/2017/decorative" val="1"/>
              </a:ext>
            </a:extLst>
          </p:cNvPr>
          <p:cNvSpPr/>
          <p:nvPr/>
        </p:nvSpPr>
        <p:spPr>
          <a:xfrm>
            <a:off x="1120140" y="2834640"/>
            <a:ext cx="1463040" cy="1005840"/>
          </a:xfrm>
          <a:prstGeom prst="rect">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11" name="S13_ico_10">
            <a:extLst>
              <a:ext uri="{C183D7F6-B498-43B3-948B-1728B52AA6E4}">
                <adec:decorative xmlns:adec="http://schemas.microsoft.com/office/drawing/2017/decorative" val="1"/>
              </a:ext>
            </a:extLst>
          </p:cNvPr>
          <p:cNvSpPr/>
          <p:nvPr/>
        </p:nvSpPr>
        <p:spPr>
          <a:xfrm>
            <a:off x="1120140" y="2834640"/>
            <a:ext cx="1463040" cy="228600"/>
          </a:xfrm>
          <a:prstGeom prst="rect">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12" name="S13_ico_11">
            <a:extLst>
              <a:ext uri="{C183D7F6-B498-43B3-948B-1728B52AA6E4}">
                <adec:decorative xmlns:adec="http://schemas.microsoft.com/office/drawing/2017/decorative" val="1"/>
              </a:ext>
            </a:extLst>
          </p:cNvPr>
          <p:cNvSpPr/>
          <p:nvPr/>
        </p:nvSpPr>
        <p:spPr>
          <a:xfrm>
            <a:off x="1303020" y="3200400"/>
            <a:ext cx="457200" cy="457200"/>
          </a:xfrm>
          <a:prstGeom prst="triangle">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13" name="S13_tile_12"/>
          <p:cNvSpPr/>
          <p:nvPr/>
        </p:nvSpPr>
        <p:spPr>
          <a:xfrm>
            <a:off x="3376879" y="2651760"/>
            <a:ext cx="2606040" cy="21031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4" name="S13_tile_label_13"/>
          <p:cNvSpPr txBox="1"/>
          <p:nvPr/>
        </p:nvSpPr>
        <p:spPr>
          <a:xfrm>
            <a:off x="3422599" y="4023360"/>
            <a:ext cx="2514600" cy="68580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Purchases at stores</a:t>
            </a:r>
            <a:endParaRPr lang="en-US" sz="2000" dirty="0"/>
          </a:p>
        </p:txBody>
      </p:sp>
      <p:sp>
        <p:nvSpPr>
          <p:cNvPr id="15" name="S13_ico_14">
            <a:extLst>
              <a:ext uri="{C183D7F6-B498-43B3-948B-1728B52AA6E4}">
                <adec:decorative xmlns:adec="http://schemas.microsoft.com/office/drawing/2017/decorative" val="1"/>
              </a:ext>
            </a:extLst>
          </p:cNvPr>
          <p:cNvSpPr/>
          <p:nvPr/>
        </p:nvSpPr>
        <p:spPr>
          <a:xfrm>
            <a:off x="4268419" y="2788920"/>
            <a:ext cx="822960" cy="1097280"/>
          </a:xfrm>
          <a:prstGeom prst="rect">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cxnSp>
        <p:nvCxnSpPr>
          <p:cNvPr id="16" name="S13_conn_15">
            <a:extLst>
              <a:ext uri="{C183D7F6-B498-43B3-948B-1728B52AA6E4}">
                <adec:decorative xmlns:adec="http://schemas.microsoft.com/office/drawing/2017/decorative" val="1"/>
              </a:ext>
            </a:extLst>
          </p:cNvPr>
          <p:cNvCxnSpPr/>
          <p:nvPr/>
        </p:nvCxnSpPr>
        <p:spPr>
          <a:xfrm>
            <a:off x="4405579" y="3017520"/>
            <a:ext cx="548640" cy="0"/>
          </a:xfrm>
          <a:prstGeom prst="line">
            <a:avLst/>
          </a:prstGeom>
          <a:ln w="25400">
            <a:solidFill>
              <a:schemeClr val="accent1"/>
            </a:solidFill>
            <a:round/>
          </a:ln>
        </p:spPr>
      </p:cxnSp>
      <p:cxnSp>
        <p:nvCxnSpPr>
          <p:cNvPr id="17" name="S13_conn_16">
            <a:extLst>
              <a:ext uri="{C183D7F6-B498-43B3-948B-1728B52AA6E4}">
                <adec:decorative xmlns:adec="http://schemas.microsoft.com/office/drawing/2017/decorative" val="1"/>
              </a:ext>
            </a:extLst>
          </p:cNvPr>
          <p:cNvCxnSpPr/>
          <p:nvPr/>
        </p:nvCxnSpPr>
        <p:spPr>
          <a:xfrm>
            <a:off x="4405579" y="3218688"/>
            <a:ext cx="548640" cy="0"/>
          </a:xfrm>
          <a:prstGeom prst="line">
            <a:avLst/>
          </a:prstGeom>
          <a:ln w="25400">
            <a:solidFill>
              <a:schemeClr val="accent1"/>
            </a:solidFill>
            <a:round/>
          </a:ln>
        </p:spPr>
      </p:cxnSp>
      <p:cxnSp>
        <p:nvCxnSpPr>
          <p:cNvPr id="18" name="S13_conn_17">
            <a:extLst>
              <a:ext uri="{C183D7F6-B498-43B3-948B-1728B52AA6E4}">
                <adec:decorative xmlns:adec="http://schemas.microsoft.com/office/drawing/2017/decorative" val="1"/>
              </a:ext>
            </a:extLst>
          </p:cNvPr>
          <p:cNvCxnSpPr/>
          <p:nvPr/>
        </p:nvCxnSpPr>
        <p:spPr>
          <a:xfrm>
            <a:off x="4405579" y="3419856"/>
            <a:ext cx="548640" cy="0"/>
          </a:xfrm>
          <a:prstGeom prst="line">
            <a:avLst/>
          </a:prstGeom>
          <a:ln w="25400">
            <a:solidFill>
              <a:schemeClr val="accent1"/>
            </a:solidFill>
            <a:round/>
          </a:ln>
        </p:spPr>
      </p:cxnSp>
      <p:cxnSp>
        <p:nvCxnSpPr>
          <p:cNvPr id="19" name="S13_conn_18">
            <a:extLst>
              <a:ext uri="{C183D7F6-B498-43B3-948B-1728B52AA6E4}">
                <adec:decorative xmlns:adec="http://schemas.microsoft.com/office/drawing/2017/decorative" val="1"/>
              </a:ext>
            </a:extLst>
          </p:cNvPr>
          <p:cNvCxnSpPr/>
          <p:nvPr/>
        </p:nvCxnSpPr>
        <p:spPr>
          <a:xfrm>
            <a:off x="4405579" y="3621024"/>
            <a:ext cx="548640" cy="0"/>
          </a:xfrm>
          <a:prstGeom prst="line">
            <a:avLst/>
          </a:prstGeom>
          <a:ln w="25400">
            <a:solidFill>
              <a:schemeClr val="accent1"/>
            </a:solidFill>
            <a:round/>
          </a:ln>
        </p:spPr>
      </p:cxnSp>
      <p:sp>
        <p:nvSpPr>
          <p:cNvPr id="20" name="S13_tile_19"/>
          <p:cNvSpPr/>
          <p:nvPr/>
        </p:nvSpPr>
        <p:spPr>
          <a:xfrm>
            <a:off x="6205118" y="2651760"/>
            <a:ext cx="2606040" cy="21031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1" name="S13_tile_label_20"/>
          <p:cNvSpPr txBox="1"/>
          <p:nvPr/>
        </p:nvSpPr>
        <p:spPr>
          <a:xfrm>
            <a:off x="6250838" y="4023360"/>
            <a:ext cx="2514600" cy="68580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Bank / card transactions</a:t>
            </a:r>
            <a:endParaRPr lang="en-US" sz="2000" dirty="0"/>
          </a:p>
        </p:txBody>
      </p:sp>
      <p:sp>
        <p:nvSpPr>
          <p:cNvPr id="22" name="S13_ico_21">
            <a:extLst>
              <a:ext uri="{C183D7F6-B498-43B3-948B-1728B52AA6E4}">
                <adec:decorative xmlns:adec="http://schemas.microsoft.com/office/drawing/2017/decorative" val="1"/>
              </a:ext>
            </a:extLst>
          </p:cNvPr>
          <p:cNvSpPr/>
          <p:nvPr/>
        </p:nvSpPr>
        <p:spPr>
          <a:xfrm>
            <a:off x="6730898" y="2926080"/>
            <a:ext cx="1554480" cy="914400"/>
          </a:xfrm>
          <a:prstGeom prst="roundRect">
            <a:avLst>
              <a:gd name="adj" fmla="val 12000"/>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23" name="S13_ico_22">
            <a:extLst>
              <a:ext uri="{C183D7F6-B498-43B3-948B-1728B52AA6E4}">
                <adec:decorative xmlns:adec="http://schemas.microsoft.com/office/drawing/2017/decorative" val="1"/>
              </a:ext>
            </a:extLst>
          </p:cNvPr>
          <p:cNvSpPr/>
          <p:nvPr/>
        </p:nvSpPr>
        <p:spPr>
          <a:xfrm>
            <a:off x="6730898" y="3108960"/>
            <a:ext cx="1554480" cy="201168"/>
          </a:xfrm>
          <a:prstGeom prst="rect">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24" name="S13_ico_23">
            <a:extLst>
              <a:ext uri="{C183D7F6-B498-43B3-948B-1728B52AA6E4}">
                <adec:decorative xmlns:adec="http://schemas.microsoft.com/office/drawing/2017/decorative" val="1"/>
              </a:ext>
            </a:extLst>
          </p:cNvPr>
          <p:cNvSpPr/>
          <p:nvPr/>
        </p:nvSpPr>
        <p:spPr>
          <a:xfrm>
            <a:off x="6913778" y="3474720"/>
            <a:ext cx="365760" cy="256032"/>
          </a:xfrm>
          <a:prstGeom prst="rect">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25" name="S13_tile_24"/>
          <p:cNvSpPr/>
          <p:nvPr/>
        </p:nvSpPr>
        <p:spPr>
          <a:xfrm>
            <a:off x="9033358" y="2651760"/>
            <a:ext cx="2606040" cy="21031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6" name="S13_tile_label_25"/>
          <p:cNvSpPr txBox="1"/>
          <p:nvPr/>
        </p:nvSpPr>
        <p:spPr>
          <a:xfrm>
            <a:off x="9079078" y="4023360"/>
            <a:ext cx="2514600" cy="68580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Social networks</a:t>
            </a:r>
            <a:endParaRPr lang="en-US" sz="2000" dirty="0"/>
          </a:p>
        </p:txBody>
      </p:sp>
      <p:cxnSp>
        <p:nvCxnSpPr>
          <p:cNvPr id="27" name="S13_conn_26">
            <a:extLst>
              <a:ext uri="{C183D7F6-B498-43B3-948B-1728B52AA6E4}">
                <adec:decorative xmlns:adec="http://schemas.microsoft.com/office/drawing/2017/decorative" val="1"/>
              </a:ext>
            </a:extLst>
          </p:cNvPr>
          <p:cNvCxnSpPr/>
          <p:nvPr/>
        </p:nvCxnSpPr>
        <p:spPr>
          <a:xfrm flipH="1">
            <a:off x="9787738" y="2926080"/>
            <a:ext cx="548640" cy="685800"/>
          </a:xfrm>
          <a:prstGeom prst="line">
            <a:avLst/>
          </a:prstGeom>
          <a:ln w="25400">
            <a:solidFill>
              <a:schemeClr val="accent1"/>
            </a:solidFill>
            <a:round/>
          </a:ln>
        </p:spPr>
      </p:cxnSp>
      <p:cxnSp>
        <p:nvCxnSpPr>
          <p:cNvPr id="28" name="S13_conn_27">
            <a:extLst>
              <a:ext uri="{C183D7F6-B498-43B3-948B-1728B52AA6E4}">
                <adec:decorative xmlns:adec="http://schemas.microsoft.com/office/drawing/2017/decorative" val="1"/>
              </a:ext>
            </a:extLst>
          </p:cNvPr>
          <p:cNvCxnSpPr/>
          <p:nvPr/>
        </p:nvCxnSpPr>
        <p:spPr>
          <a:xfrm>
            <a:off x="10336378" y="2926080"/>
            <a:ext cx="548640" cy="685800"/>
          </a:xfrm>
          <a:prstGeom prst="line">
            <a:avLst/>
          </a:prstGeom>
          <a:ln w="25400">
            <a:solidFill>
              <a:schemeClr val="accent1"/>
            </a:solidFill>
            <a:round/>
          </a:ln>
        </p:spPr>
      </p:cxnSp>
      <p:cxnSp>
        <p:nvCxnSpPr>
          <p:cNvPr id="29" name="S13_conn_28">
            <a:extLst>
              <a:ext uri="{C183D7F6-B498-43B3-948B-1728B52AA6E4}">
                <adec:decorative xmlns:adec="http://schemas.microsoft.com/office/drawing/2017/decorative" val="1"/>
              </a:ext>
            </a:extLst>
          </p:cNvPr>
          <p:cNvCxnSpPr/>
          <p:nvPr/>
        </p:nvCxnSpPr>
        <p:spPr>
          <a:xfrm>
            <a:off x="9787738" y="3611880"/>
            <a:ext cx="1097280" cy="0"/>
          </a:xfrm>
          <a:prstGeom prst="line">
            <a:avLst/>
          </a:prstGeom>
          <a:ln w="25400">
            <a:solidFill>
              <a:schemeClr val="accent1"/>
            </a:solidFill>
            <a:round/>
          </a:ln>
        </p:spPr>
      </p:cxnSp>
      <p:sp>
        <p:nvSpPr>
          <p:cNvPr id="30" name="S13_ico_29">
            <a:extLst>
              <a:ext uri="{C183D7F6-B498-43B3-948B-1728B52AA6E4}">
                <adec:decorative xmlns:adec="http://schemas.microsoft.com/office/drawing/2017/decorative" val="1"/>
              </a:ext>
            </a:extLst>
          </p:cNvPr>
          <p:cNvSpPr/>
          <p:nvPr/>
        </p:nvSpPr>
        <p:spPr>
          <a:xfrm>
            <a:off x="10180930" y="2770632"/>
            <a:ext cx="310896" cy="310896"/>
          </a:xfrm>
          <a:prstGeom prst="ellipse">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31" name="S13_ico_30">
            <a:extLst>
              <a:ext uri="{C183D7F6-B498-43B3-948B-1728B52AA6E4}">
                <adec:decorative xmlns:adec="http://schemas.microsoft.com/office/drawing/2017/decorative" val="1"/>
              </a:ext>
            </a:extLst>
          </p:cNvPr>
          <p:cNvSpPr/>
          <p:nvPr/>
        </p:nvSpPr>
        <p:spPr>
          <a:xfrm>
            <a:off x="9632290" y="3456432"/>
            <a:ext cx="310896" cy="310896"/>
          </a:xfrm>
          <a:prstGeom prst="ellipse">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32" name="S13_ico_31">
            <a:extLst>
              <a:ext uri="{C183D7F6-B498-43B3-948B-1728B52AA6E4}">
                <adec:decorative xmlns:adec="http://schemas.microsoft.com/office/drawing/2017/decorative" val="1"/>
              </a:ext>
            </a:extLst>
          </p:cNvPr>
          <p:cNvSpPr/>
          <p:nvPr/>
        </p:nvSpPr>
        <p:spPr>
          <a:xfrm>
            <a:off x="10729570" y="3456432"/>
            <a:ext cx="310896" cy="310896"/>
          </a:xfrm>
          <a:prstGeom prst="ellipse">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33" name="S13_hinge_bar_32"/>
          <p:cNvSpPr/>
          <p:nvPr/>
        </p:nvSpPr>
        <p:spPr>
          <a:xfrm>
            <a:off x="548640" y="4937760"/>
            <a:ext cx="11091672" cy="960120"/>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Collecting more data has become easier; turning it into useful information remains hard.</a:t>
            </a:r>
            <a:endParaRPr lang="en-US" sz="2400" dirty="0"/>
          </a:p>
        </p:txBody>
      </p:sp>
      <p:sp>
        <p:nvSpPr>
          <p:cNvPr id="34" name="S13_slide_number_33"/>
          <p:cNvSpPr>
            <a:spLocks noGrp="1"/>
          </p:cNvSpPr>
          <p:nvPr>
            <p:ph type="sldNum" sz="quarter" idx="12"/>
          </p:nvPr>
        </p:nvSpPr>
        <p:spPr/>
        <p:txBody>
          <a:bodyPr/>
          <a:lstStyle/>
          <a:p>
            <a:fld id="{B6F15528-21DE-4FAA-801E-634DDDAF4B2B}" type="slidenum">
              <a:rPr lang="en-US" sz="1200" dirty="0">
                <a:latin typeface="Arial"/>
              </a:r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4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More data ≠ more information</a:t>
            </a:r>
            <a:endParaRPr lang="en-US" sz="3200" dirty="0"/>
          </a:p>
        </p:txBody>
      </p:sp>
      <p:sp>
        <p:nvSpPr>
          <p:cNvPr id="3" name="S14_tag_hist_2"/>
          <p:cNvSpPr/>
          <p:nvPr/>
        </p:nvSpPr>
        <p:spPr>
          <a:xfrm>
            <a:off x="9006840" y="1737360"/>
            <a:ext cx="2633472" cy="365760"/>
          </a:xfrm>
          <a:prstGeom prst="rect">
            <a:avLst/>
          </a:prstGeom>
          <a:solidFill>
            <a:schemeClr val="bg1"/>
          </a:solidFill>
          <a:ln w="25400">
            <a:solidFill>
              <a:schemeClr val="accent2"/>
            </a:solidFill>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HISTORICAL EXAMPLE</a:t>
            </a:r>
            <a:endParaRPr lang="en-US" sz="1600" dirty="0"/>
          </a:p>
        </p:txBody>
      </p:sp>
      <p:sp>
        <p:nvSpPr>
          <p:cNvPr id="4" name="S14_card_left_3"/>
          <p:cNvSpPr/>
          <p:nvPr/>
        </p:nvSpPr>
        <p:spPr>
          <a:xfrm>
            <a:off x="548640" y="2240280"/>
            <a:ext cx="6126480" cy="2103120"/>
          </a:xfrm>
          <a:prstGeom prst="roundRect">
            <a:avLst>
              <a:gd name="adj" fmla="val 12000"/>
            </a:avLst>
          </a:prstGeom>
          <a:solidFill>
            <a:schemeClr val="bg2"/>
          </a:solidFill>
          <a:ln w="25400">
            <a:solidFill>
              <a:schemeClr val="accent1"/>
            </a:solidFill>
            <a:round/>
          </a:ln>
        </p:spPr>
        <p:txBody>
          <a:bodyPr wrap="square" lIns="137160" tIns="91440" rIns="137160" bIns="45720" rtlCol="0" anchor="t">
            <a:noAutofit/>
          </a:bodyPr>
          <a:lstStyle/>
          <a:p>
            <a:pPr algn="l" marL="0" indent="0">
              <a:lnSpc>
                <a:spcPct val="100000"/>
              </a:lnSpc>
              <a:spcBef>
                <a:spcPts val="0"/>
              </a:spcBef>
              <a:spcAft>
                <a:spcPts val="400"/>
              </a:spcAft>
              <a:buNone/>
            </a:pPr>
            <a:r>
              <a:rPr lang="en-US" sz="2000" b="1" dirty="0">
                <a:solidFill>
                  <a:schemeClr val="tx1"/>
                </a:solidFill>
                <a:latin typeface="Arial"/>
                <a:cs typeface="Arial"/>
              </a:rPr>
              <a:t>What the report described</a:t>
            </a:r>
            <a:endParaRPr lang="en-US" sz="2000" dirty="0"/>
          </a:p>
          <a:p>
            <a:pPr algn="l" marL="0" indent="0">
              <a:lnSpc>
                <a:spcPct val="100000"/>
              </a:lnSpc>
              <a:spcBef>
                <a:spcPts val="0"/>
              </a:spcBef>
              <a:spcAft>
                <a:spcPts val="0"/>
              </a:spcAft>
              <a:buNone/>
            </a:pPr>
            <a:r>
              <a:rPr lang="en-US" sz="1800" b="0" dirty="0">
                <a:solidFill>
                  <a:schemeClr val="tx1"/>
                </a:solidFill>
                <a:latin typeface="Arial"/>
                <a:cs typeface="Arial"/>
              </a:rPr>
              <a:t>A January 2008 TechCrunch report, citing Google engineering work, described Google as processing roughly </a:t>
            </a:r>
            <a:r>
              <a:rPr lang="en-US" sz="1800" b="1" dirty="0">
                <a:solidFill>
                  <a:schemeClr val="tx1"/>
                </a:solidFill>
                <a:latin typeface="Arial"/>
                <a:cs typeface="Arial"/>
              </a:rPr>
              <a:t>20 PB of data per day as of September 2007</a:t>
            </a:r>
            <a:r>
              <a:rPr lang="en-US" sz="1800" b="0" dirty="0">
                <a:solidFill>
                  <a:schemeClr val="tx1"/>
                </a:solidFill>
                <a:latin typeface="Arial"/>
                <a:cs typeface="Arial"/>
              </a:rPr>
              <a:t> — large-scale data processing across Google’s MapReduce workloads.</a:t>
            </a:r>
            <a:endParaRPr lang="en-US" sz="1800" dirty="0"/>
          </a:p>
        </p:txBody>
      </p:sp>
      <p:sp>
        <p:nvSpPr>
          <p:cNvPr id="5" name="S14_card_right_4"/>
          <p:cNvSpPr/>
          <p:nvPr/>
        </p:nvSpPr>
        <p:spPr>
          <a:xfrm>
            <a:off x="6858000" y="2240280"/>
            <a:ext cx="4782312" cy="2103120"/>
          </a:xfrm>
          <a:prstGeom prst="roundRect">
            <a:avLst>
              <a:gd name="adj" fmla="val 12000"/>
            </a:avLst>
          </a:prstGeom>
          <a:solidFill>
            <a:schemeClr val="bg1"/>
          </a:solidFill>
          <a:ln w="25400">
            <a:solidFill>
              <a:schemeClr val="accent1"/>
            </a:solidFill>
            <a:prstDash val="dash"/>
            <a:round/>
          </a:ln>
        </p:spPr>
        <p:txBody>
          <a:bodyPr wrap="square" lIns="109728" tIns="54864" rIns="109728" bIns="54864" rtlCol="0" anchor="ctr">
            <a:noAutofit/>
          </a:bodyPr>
          <a:lstStyle/>
          <a:p>
            <a:endParaRPr lang="en-US" dirty="0"/>
          </a:p>
        </p:txBody>
      </p:sp>
      <p:sp>
        <p:nvSpPr>
          <p:cNvPr id="6" name="S14_ico_5">
            <a:extLst>
              <a:ext uri="{C183D7F6-B498-43B3-948B-1728B52AA6E4}">
                <adec:decorative xmlns:adec="http://schemas.microsoft.com/office/drawing/2017/decorative" val="1"/>
              </a:ext>
            </a:extLst>
          </p:cNvPr>
          <p:cNvSpPr/>
          <p:nvPr/>
        </p:nvSpPr>
        <p:spPr>
          <a:xfrm>
            <a:off x="7040880" y="2377440"/>
            <a:ext cx="457200" cy="457200"/>
          </a:xfrm>
          <a:prstGeom prst="ellipse">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cxnSp>
        <p:nvCxnSpPr>
          <p:cNvPr id="7" name="S14_conn_6">
            <a:extLst>
              <a:ext uri="{C183D7F6-B498-43B3-948B-1728B52AA6E4}">
                <adec:decorative xmlns:adec="http://schemas.microsoft.com/office/drawing/2017/decorative" val="1"/>
              </a:ext>
            </a:extLst>
          </p:cNvPr>
          <p:cNvCxnSpPr/>
          <p:nvPr/>
        </p:nvCxnSpPr>
        <p:spPr>
          <a:xfrm>
            <a:off x="7150608" y="2487168"/>
            <a:ext cx="237744" cy="237744"/>
          </a:xfrm>
          <a:prstGeom prst="line">
            <a:avLst/>
          </a:prstGeom>
          <a:ln w="25400">
            <a:solidFill>
              <a:schemeClr val="accent1"/>
            </a:solidFill>
            <a:round/>
          </a:ln>
        </p:spPr>
      </p:cxnSp>
      <p:cxnSp>
        <p:nvCxnSpPr>
          <p:cNvPr id="8" name="S14_conn_7">
            <a:extLst>
              <a:ext uri="{C183D7F6-B498-43B3-948B-1728B52AA6E4}">
                <adec:decorative xmlns:adec="http://schemas.microsoft.com/office/drawing/2017/decorative" val="1"/>
              </a:ext>
            </a:extLst>
          </p:cNvPr>
          <p:cNvCxnSpPr/>
          <p:nvPr/>
        </p:nvCxnSpPr>
        <p:spPr>
          <a:xfrm flipH="1">
            <a:off x="7150608" y="2487168"/>
            <a:ext cx="237744" cy="237744"/>
          </a:xfrm>
          <a:prstGeom prst="line">
            <a:avLst/>
          </a:prstGeom>
          <a:ln w="25400">
            <a:solidFill>
              <a:schemeClr val="accent1"/>
            </a:solidFill>
            <a:round/>
          </a:ln>
        </p:spPr>
      </p:cxnSp>
      <p:sp>
        <p:nvSpPr>
          <p:cNvPr id="9" name="S14_card_right_head_8"/>
          <p:cNvSpPr txBox="1"/>
          <p:nvPr/>
        </p:nvSpPr>
        <p:spPr>
          <a:xfrm>
            <a:off x="7589520" y="2331720"/>
            <a:ext cx="3931920" cy="54864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What it is </a:t>
            </a:r>
            <a:r>
              <a:rPr lang="en-US" sz="2000" b="1" dirty="0">
                <a:solidFill>
                  <a:schemeClr val="tx1"/>
                </a:solidFill>
                <a:latin typeface="Arial"/>
                <a:cs typeface="Arial"/>
              </a:rPr>
              <a:t>NOT</a:t>
            </a:r>
            <a:endParaRPr lang="en-US" sz="2000" dirty="0"/>
          </a:p>
        </p:txBody>
      </p:sp>
      <p:sp>
        <p:nvSpPr>
          <p:cNvPr id="10" name="S14_card_right_text_9"/>
          <p:cNvSpPr txBox="1"/>
          <p:nvPr/>
        </p:nvSpPr>
        <p:spPr>
          <a:xfrm>
            <a:off x="6995160" y="2971800"/>
            <a:ext cx="4526280" cy="1280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600"/>
              </a:spcAft>
              <a:buNone/>
            </a:pPr>
            <a:r>
              <a:rPr lang="en-US" sz="2400" b="1" dirty="0">
                <a:solidFill>
                  <a:schemeClr val="tx1"/>
                </a:solidFill>
                <a:latin typeface="Arial"/>
                <a:cs typeface="Arial"/>
              </a:rPr>
              <a:t>“20 PB of user searches per day.”</a:t>
            </a:r>
            <a:endParaRPr lang="en-US" sz="2400" dirty="0"/>
          </a:p>
          <a:p>
            <a:pPr algn="l" marL="0" indent="0">
              <a:lnSpc>
                <a:spcPct val="100000"/>
              </a:lnSpc>
              <a:spcBef>
                <a:spcPts val="0"/>
              </a:spcBef>
              <a:spcAft>
                <a:spcPts val="0"/>
              </a:spcAft>
              <a:buNone/>
            </a:pPr>
            <a:r>
              <a:rPr lang="en-US" sz="1600" b="0" i="1" dirty="0">
                <a:solidFill>
                  <a:schemeClr val="accent3"/>
                </a:solidFill>
                <a:latin typeface="Arial"/>
                <a:cs typeface="Arial"/>
              </a:rPr>
              <a:t>Historical example — not a current figure.</a:t>
            </a:r>
            <a:endParaRPr lang="en-US" sz="1600" dirty="0"/>
          </a:p>
        </p:txBody>
      </p:sp>
      <p:sp>
        <p:nvSpPr>
          <p:cNvPr id="11" name="S14_statement_10"/>
          <p:cNvSpPr txBox="1"/>
          <p:nvPr/>
        </p:nvSpPr>
        <p:spPr>
          <a:xfrm>
            <a:off x="548640" y="4434840"/>
            <a:ext cx="11091672"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Large volume alone does not create information or insight.</a:t>
            </a:r>
            <a:endParaRPr lang="en-US" sz="2200" dirty="0"/>
          </a:p>
        </p:txBody>
      </p:sp>
      <p:sp>
        <p:nvSpPr>
          <p:cNvPr id="12" name="S14_ask_label_11"/>
          <p:cNvSpPr txBox="1"/>
          <p:nvPr/>
        </p:nvSpPr>
        <p:spPr>
          <a:xfrm>
            <a:off x="548640" y="4956048"/>
            <a:ext cx="822960" cy="4572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Ask:</a:t>
            </a:r>
            <a:endParaRPr lang="en-US" sz="2000" dirty="0"/>
          </a:p>
        </p:txBody>
      </p:sp>
      <p:sp>
        <p:nvSpPr>
          <p:cNvPr id="13" name="S14_verify_chip_12"/>
          <p:cNvSpPr/>
          <p:nvPr/>
        </p:nvSpPr>
        <p:spPr>
          <a:xfrm>
            <a:off x="1325880" y="4956048"/>
            <a:ext cx="3474720" cy="457200"/>
          </a:xfrm>
          <a:prstGeom prst="roundRect">
            <a:avLst>
              <a:gd name="adj" fmla="val 12000"/>
            </a:avLst>
          </a:prstGeom>
          <a:solidFill>
            <a:schemeClr val="bg1"/>
          </a:solidFill>
          <a:ln w="25400">
            <a:solidFill>
              <a:schemeClr val="accent1"/>
            </a:solidFill>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What was measured?</a:t>
            </a:r>
            <a:endParaRPr lang="en-US" sz="2000" dirty="0"/>
          </a:p>
        </p:txBody>
      </p:sp>
      <p:sp>
        <p:nvSpPr>
          <p:cNvPr id="14" name="S14_verify_chip_13"/>
          <p:cNvSpPr/>
          <p:nvPr/>
        </p:nvSpPr>
        <p:spPr>
          <a:xfrm>
            <a:off x="4937760" y="4956048"/>
            <a:ext cx="1920240" cy="457200"/>
          </a:xfrm>
          <a:prstGeom prst="roundRect">
            <a:avLst>
              <a:gd name="adj" fmla="val 12000"/>
            </a:avLst>
          </a:prstGeom>
          <a:solidFill>
            <a:schemeClr val="bg1"/>
          </a:solidFill>
          <a:ln w="25400">
            <a:solidFill>
              <a:schemeClr val="accent1"/>
            </a:solidFill>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When?</a:t>
            </a:r>
            <a:endParaRPr lang="en-US" sz="2000" dirty="0"/>
          </a:p>
        </p:txBody>
      </p:sp>
      <p:sp>
        <p:nvSpPr>
          <p:cNvPr id="15" name="S14_verify_chip_14"/>
          <p:cNvSpPr/>
          <p:nvPr/>
        </p:nvSpPr>
        <p:spPr>
          <a:xfrm>
            <a:off x="6995160" y="4956048"/>
            <a:ext cx="3474720" cy="457200"/>
          </a:xfrm>
          <a:prstGeom prst="roundRect">
            <a:avLst>
              <a:gd name="adj" fmla="val 12000"/>
            </a:avLst>
          </a:prstGeom>
          <a:solidFill>
            <a:schemeClr val="bg1"/>
          </a:solidFill>
          <a:ln w="25400">
            <a:solidFill>
              <a:schemeClr val="accent1"/>
            </a:solidFill>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For what purpose?</a:t>
            </a:r>
            <a:endParaRPr lang="en-US" sz="2000" dirty="0"/>
          </a:p>
        </p:txBody>
      </p:sp>
      <p:sp>
        <p:nvSpPr>
          <p:cNvPr id="16" name="S14_hinge_bar_15"/>
          <p:cNvSpPr/>
          <p:nvPr/>
        </p:nvSpPr>
        <p:spPr>
          <a:xfrm>
            <a:off x="548640" y="5504688"/>
            <a:ext cx="11091672" cy="457200"/>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Big data also creates special challenges in volume, velocity and variety.</a:t>
            </a:r>
            <a:endParaRPr lang="en-US" sz="2000" dirty="0"/>
          </a:p>
        </p:txBody>
      </p:sp>
      <p:sp>
        <p:nvSpPr>
          <p:cNvPr id="17" name="S14_source_footer_16"/>
          <p:cNvSpPr>
            <a:spLocks noGrp="1"/>
          </p:cNvSpPr>
          <p:nvPr>
            <p:ph type="ftr" sz="quarter" idx="11"/>
          </p:nvPr>
        </p:nvSpPr>
        <p:spPr/>
        <p:txBody>
          <a:bodyPr/>
          <a:lstStyle/>
          <a:p>
            <a:pPr algn="l" marL="0" indent="0">
              <a:lnSpc>
                <a:spcPct val="100000"/>
              </a:lnSpc>
              <a:spcBef>
                <a:spcPts val="0"/>
              </a:spcBef>
              <a:spcAft>
                <a:spcPts val="0"/>
              </a:spcAft>
              <a:buNone/>
            </a:pPr>
            <a:r>
              <a:rPr lang="en-US" sz="1200" b="0" dirty="0">
                <a:solidFill>
                  <a:schemeClr val="accent3"/>
                </a:solidFill>
                <a:latin typeface="Arial"/>
                <a:cs typeface="Arial"/>
              </a:rPr>
              <a:t>Source: TechCrunch, Jan. 9, 2008 (reporting Google’s processing volume as of Sept. 2007). Historical example — not a current figure.</a:t>
            </a:r>
            <a:endParaRPr lang="en-US" sz="1200" dirty="0"/>
          </a:p>
        </p:txBody>
      </p:sp>
      <p:sp>
        <p:nvSpPr>
          <p:cNvPr id="18" name="S14_slide_number_17"/>
          <p:cNvSpPr>
            <a:spLocks noGrp="1"/>
          </p:cNvSpPr>
          <p:nvPr>
            <p:ph type="sldNum" sz="quarter" idx="12"/>
          </p:nvPr>
        </p:nvSpPr>
        <p:spPr/>
        <p:txBody>
          <a:bodyPr/>
          <a:lstStyle/>
          <a:p>
            <a:fld id="{B6F15528-21DE-4FAA-801E-634DDDAF4B2B}" type="slidenum">
              <a:rPr lang="en-US" sz="1200" dirty="0">
                <a:latin typeface="Arial"/>
              </a:r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5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The Vs of big data</a:t>
            </a:r>
            <a:endParaRPr lang="en-US" sz="3200" dirty="0"/>
          </a:p>
        </p:txBody>
      </p:sp>
      <p:sp>
        <p:nvSpPr>
          <p:cNvPr id="3" name="S15_panel_core_2"/>
          <p:cNvSpPr/>
          <p:nvPr/>
        </p:nvSpPr>
        <p:spPr>
          <a:xfrm>
            <a:off x="548640" y="1783080"/>
            <a:ext cx="6583680" cy="3291840"/>
          </a:xfrm>
          <a:prstGeom prst="rect">
            <a:avLst/>
          </a:prstGeom>
          <a:solidFill>
            <a:schemeClr val="bg1"/>
          </a:solidFill>
          <a:ln w="38100">
            <a:solidFill>
              <a:schemeClr val="accent1"/>
            </a:solidFill>
            <a:round/>
          </a:ln>
        </p:spPr>
        <p:txBody>
          <a:bodyPr wrap="square" lIns="109728" tIns="54864" rIns="109728" bIns="54864" rtlCol="0" anchor="ctr">
            <a:noAutofit/>
          </a:bodyPr>
          <a:lstStyle/>
          <a:p>
            <a:endParaRPr lang="en-US" dirty="0"/>
          </a:p>
        </p:txBody>
      </p:sp>
      <p:sp>
        <p:nvSpPr>
          <p:cNvPr id="4" name="S15_panel_head_3"/>
          <p:cNvSpPr txBox="1"/>
          <p:nvPr/>
        </p:nvSpPr>
        <p:spPr>
          <a:xfrm>
            <a:off x="685800" y="1828800"/>
            <a:ext cx="6309360" cy="4572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CORE: THE THREE Vs</a:t>
            </a:r>
            <a:endParaRPr lang="en-US" sz="2000" dirty="0"/>
          </a:p>
        </p:txBody>
      </p:sp>
      <p:sp>
        <p:nvSpPr>
          <p:cNvPr id="5" name="S15_card_core_4"/>
          <p:cNvSpPr/>
          <p:nvPr/>
        </p:nvSpPr>
        <p:spPr>
          <a:xfrm>
            <a:off x="685800" y="2377440"/>
            <a:ext cx="2011680" cy="2560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6" name="S15_badge_5"/>
          <p:cNvSpPr/>
          <p:nvPr/>
        </p:nvSpPr>
        <p:spPr>
          <a:xfrm>
            <a:off x="795528" y="2487168"/>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800" b="1" dirty="0">
                <a:solidFill>
                  <a:schemeClr val="bg1"/>
                </a:solidFill>
                <a:latin typeface="Arial"/>
                <a:cs typeface="Arial"/>
              </a:rPr>
              <a:t>1</a:t>
            </a:r>
            <a:endParaRPr lang="en-US" sz="1800" dirty="0"/>
          </a:p>
        </p:txBody>
      </p:sp>
      <p:sp>
        <p:nvSpPr>
          <p:cNvPr id="7" name="S15_card_name_6"/>
          <p:cNvSpPr txBox="1"/>
          <p:nvPr/>
        </p:nvSpPr>
        <p:spPr>
          <a:xfrm>
            <a:off x="758952" y="2999232"/>
            <a:ext cx="1874520"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Volume</a:t>
            </a:r>
            <a:endParaRPr lang="en-US" sz="2200" dirty="0"/>
          </a:p>
        </p:txBody>
      </p:sp>
      <p:sp>
        <p:nvSpPr>
          <p:cNvPr id="8" name="S15_card_def_7"/>
          <p:cNvSpPr txBox="1"/>
          <p:nvPr/>
        </p:nvSpPr>
        <p:spPr>
          <a:xfrm>
            <a:off x="758952" y="3474720"/>
            <a:ext cx="1874520" cy="14173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the amount of data</a:t>
            </a:r>
            <a:endParaRPr lang="en-US" sz="1800" dirty="0"/>
          </a:p>
        </p:txBody>
      </p:sp>
      <p:sp>
        <p:nvSpPr>
          <p:cNvPr id="9" name="S15_card_core_8"/>
          <p:cNvSpPr/>
          <p:nvPr/>
        </p:nvSpPr>
        <p:spPr>
          <a:xfrm>
            <a:off x="2788920" y="2377440"/>
            <a:ext cx="2011680" cy="2560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0" name="S15_badge_9"/>
          <p:cNvSpPr/>
          <p:nvPr/>
        </p:nvSpPr>
        <p:spPr>
          <a:xfrm>
            <a:off x="2898648" y="2487168"/>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800" b="1" dirty="0">
                <a:solidFill>
                  <a:schemeClr val="bg1"/>
                </a:solidFill>
                <a:latin typeface="Arial"/>
                <a:cs typeface="Arial"/>
              </a:rPr>
              <a:t>2</a:t>
            </a:r>
            <a:endParaRPr lang="en-US" sz="1800" dirty="0"/>
          </a:p>
        </p:txBody>
      </p:sp>
      <p:sp>
        <p:nvSpPr>
          <p:cNvPr id="11" name="S15_card_name_10"/>
          <p:cNvSpPr txBox="1"/>
          <p:nvPr/>
        </p:nvSpPr>
        <p:spPr>
          <a:xfrm>
            <a:off x="2862072" y="2999232"/>
            <a:ext cx="1874520"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Velocity</a:t>
            </a:r>
            <a:endParaRPr lang="en-US" sz="2200" dirty="0"/>
          </a:p>
        </p:txBody>
      </p:sp>
      <p:sp>
        <p:nvSpPr>
          <p:cNvPr id="12" name="S15_card_def_11"/>
          <p:cNvSpPr txBox="1"/>
          <p:nvPr/>
        </p:nvSpPr>
        <p:spPr>
          <a:xfrm>
            <a:off x="2862072" y="3474720"/>
            <a:ext cx="1874520" cy="14173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the rate at which data are generated, arrive or need processing</a:t>
            </a:r>
            <a:endParaRPr lang="en-US" sz="1800" dirty="0"/>
          </a:p>
        </p:txBody>
      </p:sp>
      <p:sp>
        <p:nvSpPr>
          <p:cNvPr id="13" name="S15_card_core_12"/>
          <p:cNvSpPr/>
          <p:nvPr/>
        </p:nvSpPr>
        <p:spPr>
          <a:xfrm>
            <a:off x="4892040" y="2377440"/>
            <a:ext cx="2011680" cy="2560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4" name="S15_badge_13"/>
          <p:cNvSpPr/>
          <p:nvPr/>
        </p:nvSpPr>
        <p:spPr>
          <a:xfrm>
            <a:off x="5001768" y="2487168"/>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800" b="1" dirty="0">
                <a:solidFill>
                  <a:schemeClr val="bg1"/>
                </a:solidFill>
                <a:latin typeface="Arial"/>
                <a:cs typeface="Arial"/>
              </a:rPr>
              <a:t>3</a:t>
            </a:r>
            <a:endParaRPr lang="en-US" sz="1800" dirty="0"/>
          </a:p>
        </p:txBody>
      </p:sp>
      <p:sp>
        <p:nvSpPr>
          <p:cNvPr id="15" name="S15_card_name_14"/>
          <p:cNvSpPr txBox="1"/>
          <p:nvPr/>
        </p:nvSpPr>
        <p:spPr>
          <a:xfrm>
            <a:off x="4965192" y="2999232"/>
            <a:ext cx="1874520"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Variety</a:t>
            </a:r>
            <a:endParaRPr lang="en-US" sz="2200" dirty="0"/>
          </a:p>
        </p:txBody>
      </p:sp>
      <p:sp>
        <p:nvSpPr>
          <p:cNvPr id="16" name="S15_card_def_15"/>
          <p:cNvSpPr txBox="1"/>
          <p:nvPr/>
        </p:nvSpPr>
        <p:spPr>
          <a:xfrm>
            <a:off x="4965192" y="3474720"/>
            <a:ext cx="1874520" cy="14173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different forms and sources of data</a:t>
            </a:r>
            <a:endParaRPr lang="en-US" sz="1800" dirty="0"/>
          </a:p>
        </p:txBody>
      </p:sp>
      <p:sp>
        <p:nvSpPr>
          <p:cNvPr id="17" name="S15_panel_addl_16"/>
          <p:cNvSpPr/>
          <p:nvPr/>
        </p:nvSpPr>
        <p:spPr>
          <a:xfrm>
            <a:off x="7269480" y="1783080"/>
            <a:ext cx="4370832" cy="3291840"/>
          </a:xfrm>
          <a:prstGeom prst="rect">
            <a:avLst/>
          </a:prstGeom>
          <a:solidFill>
            <a:schemeClr val="bg1"/>
          </a:solidFill>
          <a:ln w="38100">
            <a:solidFill>
              <a:schemeClr val="accent1"/>
            </a:solidFill>
            <a:prstDash val="dash"/>
            <a:round/>
          </a:ln>
        </p:spPr>
        <p:txBody>
          <a:bodyPr wrap="square" lIns="109728" tIns="54864" rIns="109728" bIns="54864" rtlCol="0" anchor="ctr">
            <a:noAutofit/>
          </a:bodyPr>
          <a:lstStyle/>
          <a:p>
            <a:endParaRPr lang="en-US" dirty="0"/>
          </a:p>
        </p:txBody>
      </p:sp>
      <p:sp>
        <p:nvSpPr>
          <p:cNvPr id="18" name="S15_panel_head_17"/>
          <p:cNvSpPr txBox="1"/>
          <p:nvPr/>
        </p:nvSpPr>
        <p:spPr>
          <a:xfrm>
            <a:off x="7406640" y="1828800"/>
            <a:ext cx="4114800" cy="4572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TWO ADDITIONAL QUESTIONS</a:t>
            </a:r>
            <a:endParaRPr lang="en-US" sz="1800" dirty="0"/>
          </a:p>
        </p:txBody>
      </p:sp>
      <p:sp>
        <p:nvSpPr>
          <p:cNvPr id="19" name="S15_card_addl_18"/>
          <p:cNvSpPr/>
          <p:nvPr/>
        </p:nvSpPr>
        <p:spPr>
          <a:xfrm>
            <a:off x="7406640" y="2359152"/>
            <a:ext cx="4096512" cy="1280160"/>
          </a:xfrm>
          <a:prstGeom prst="roundRect">
            <a:avLst>
              <a:gd name="adj" fmla="val 12000"/>
            </a:avLst>
          </a:prstGeom>
          <a:solidFill>
            <a:schemeClr val="bg2"/>
          </a:solidFill>
          <a:ln w="25400">
            <a:solidFill>
              <a:schemeClr val="accent1"/>
            </a:solidFill>
            <a:prstDash val="dash"/>
            <a:round/>
          </a:ln>
        </p:spPr>
        <p:txBody>
          <a:bodyPr wrap="square" lIns="109728" tIns="54864" rIns="109728" bIns="54864" rtlCol="0" anchor="ctr">
            <a:noAutofit/>
          </a:bodyPr>
          <a:lstStyle/>
          <a:p>
            <a:endParaRPr lang="en-US" dirty="0"/>
          </a:p>
        </p:txBody>
      </p:sp>
      <p:sp>
        <p:nvSpPr>
          <p:cNvPr id="20" name="S15_badge_19"/>
          <p:cNvSpPr/>
          <p:nvPr/>
        </p:nvSpPr>
        <p:spPr>
          <a:xfrm>
            <a:off x="7498080" y="2432304"/>
            <a:ext cx="384048" cy="384048"/>
          </a:xfrm>
          <a:prstGeom prst="roundRect">
            <a:avLst>
              <a:gd name="adj" fmla="val 20000"/>
            </a:avLst>
          </a:prstGeom>
          <a:solidFill>
            <a:schemeClr val="bg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+1</a:t>
            </a:r>
            <a:endParaRPr lang="en-US" sz="1600" dirty="0"/>
          </a:p>
        </p:txBody>
      </p:sp>
      <p:sp>
        <p:nvSpPr>
          <p:cNvPr id="21" name="S15_card_name_20"/>
          <p:cNvSpPr txBox="1"/>
          <p:nvPr/>
        </p:nvSpPr>
        <p:spPr>
          <a:xfrm>
            <a:off x="8001000" y="2395728"/>
            <a:ext cx="3383280" cy="420624"/>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Value</a:t>
            </a:r>
            <a:endParaRPr lang="en-US" sz="2200" dirty="0"/>
          </a:p>
        </p:txBody>
      </p:sp>
      <p:sp>
        <p:nvSpPr>
          <p:cNvPr id="22" name="S15_card_def_21"/>
          <p:cNvSpPr txBox="1"/>
          <p:nvPr/>
        </p:nvSpPr>
        <p:spPr>
          <a:xfrm>
            <a:off x="7498080" y="2816352"/>
            <a:ext cx="3931920" cy="786384"/>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whether using the data can create useful value relative to its cost</a:t>
            </a:r>
            <a:endParaRPr lang="en-US" sz="1600" dirty="0"/>
          </a:p>
        </p:txBody>
      </p:sp>
      <p:sp>
        <p:nvSpPr>
          <p:cNvPr id="23" name="S15_card_addl_22"/>
          <p:cNvSpPr/>
          <p:nvPr/>
        </p:nvSpPr>
        <p:spPr>
          <a:xfrm>
            <a:off x="7406640" y="3730752"/>
            <a:ext cx="4096512" cy="1280160"/>
          </a:xfrm>
          <a:prstGeom prst="roundRect">
            <a:avLst>
              <a:gd name="adj" fmla="val 12000"/>
            </a:avLst>
          </a:prstGeom>
          <a:solidFill>
            <a:schemeClr val="bg2"/>
          </a:solidFill>
          <a:ln w="25400">
            <a:solidFill>
              <a:schemeClr val="accent1"/>
            </a:solidFill>
            <a:prstDash val="dash"/>
            <a:round/>
          </a:ln>
        </p:spPr>
        <p:txBody>
          <a:bodyPr wrap="square" lIns="109728" tIns="54864" rIns="109728" bIns="54864" rtlCol="0" anchor="ctr">
            <a:noAutofit/>
          </a:bodyPr>
          <a:lstStyle/>
          <a:p>
            <a:endParaRPr lang="en-US" dirty="0"/>
          </a:p>
        </p:txBody>
      </p:sp>
      <p:sp>
        <p:nvSpPr>
          <p:cNvPr id="24" name="S15_badge_23"/>
          <p:cNvSpPr/>
          <p:nvPr/>
        </p:nvSpPr>
        <p:spPr>
          <a:xfrm>
            <a:off x="7498080" y="3803904"/>
            <a:ext cx="384048" cy="384048"/>
          </a:xfrm>
          <a:prstGeom prst="roundRect">
            <a:avLst>
              <a:gd name="adj" fmla="val 20000"/>
            </a:avLst>
          </a:prstGeom>
          <a:solidFill>
            <a:schemeClr val="bg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+2</a:t>
            </a:r>
            <a:endParaRPr lang="en-US" sz="1600" dirty="0"/>
          </a:p>
        </p:txBody>
      </p:sp>
      <p:sp>
        <p:nvSpPr>
          <p:cNvPr id="25" name="S15_card_name_24"/>
          <p:cNvSpPr txBox="1"/>
          <p:nvPr/>
        </p:nvSpPr>
        <p:spPr>
          <a:xfrm>
            <a:off x="8001000" y="3767328"/>
            <a:ext cx="3383280" cy="420624"/>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Veracity</a:t>
            </a:r>
            <a:endParaRPr lang="en-US" sz="2200" dirty="0"/>
          </a:p>
        </p:txBody>
      </p:sp>
      <p:sp>
        <p:nvSpPr>
          <p:cNvPr id="26" name="S15_card_def_25"/>
          <p:cNvSpPr txBox="1"/>
          <p:nvPr/>
        </p:nvSpPr>
        <p:spPr>
          <a:xfrm>
            <a:off x="7498080" y="4187952"/>
            <a:ext cx="3931920" cy="786384"/>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whether the data can be trusted, considering accuracy, bias and provenance</a:t>
            </a:r>
            <a:endParaRPr lang="en-US" sz="1600" dirty="0"/>
          </a:p>
        </p:txBody>
      </p:sp>
      <p:sp>
        <p:nvSpPr>
          <p:cNvPr id="27" name="S15_note_26"/>
          <p:cNvSpPr txBox="1"/>
          <p:nvPr/>
        </p:nvSpPr>
        <p:spPr>
          <a:xfrm>
            <a:off x="548640" y="5138928"/>
            <a:ext cx="11091672" cy="5029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i="1" dirty="0">
                <a:solidFill>
                  <a:schemeClr val="accent3"/>
                </a:solidFill>
                <a:latin typeface="Arial"/>
                <a:cs typeface="Arial"/>
              </a:rPr>
              <a:t>Different frameworks use 3V, 4V or 5V labels; BUSS256 starts from the classic 3Vs and uses Value and Veracity as two additional questions.</a:t>
            </a:r>
            <a:endParaRPr lang="en-US" sz="1600" dirty="0"/>
          </a:p>
        </p:txBody>
      </p:sp>
      <p:sp>
        <p:nvSpPr>
          <p:cNvPr id="28" name="S15_teaching_link_27"/>
          <p:cNvSpPr txBox="1"/>
          <p:nvPr/>
        </p:nvSpPr>
        <p:spPr>
          <a:xfrm>
            <a:off x="548640" y="5669280"/>
            <a:ext cx="11091672" cy="3657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Teaching link: check your input before you trust your output (GIGO).</a:t>
            </a:r>
            <a:endParaRPr lang="en-US" sz="1800" dirty="0"/>
          </a:p>
        </p:txBody>
      </p:sp>
      <p:sp>
        <p:nvSpPr>
          <p:cNvPr id="29" name="S15_slide_number_28"/>
          <p:cNvSpPr>
            <a:spLocks noGrp="1"/>
          </p:cNvSpPr>
          <p:nvPr>
            <p:ph type="sldNum" sz="quarter" idx="12"/>
          </p:nvPr>
        </p:nvSpPr>
        <p:spPr/>
        <p:txBody>
          <a:bodyPr/>
          <a:lstStyle/>
          <a:p>
            <a:fld id="{B6F15528-21DE-4FAA-801E-634DDDAF4B2B}" type="slidenum">
              <a:rPr lang="en-US" sz="1200" dirty="0">
                <a:latin typeface="Arial"/>
              </a:r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6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Why can we collect so much data?</a:t>
            </a:r>
            <a:br>
              <a:rPr lang="en-US" sz="2800" dirty="0"/>
            </a:br>
            <a:r>
              <a:rPr lang="en-US" sz="2800" b="1" dirty="0">
                <a:solidFill>
                  <a:schemeClr val="accent1"/>
                </a:solidFill>
                <a:latin typeface="Arial"/>
                <a:cs typeface="Arial"/>
              </a:rPr>
              <a:t>Two separate technology trends</a:t>
            </a:r>
            <a:endParaRPr lang="en-US" sz="2800" dirty="0"/>
          </a:p>
        </p:txBody>
      </p:sp>
      <p:sp>
        <p:nvSpPr>
          <p:cNvPr id="3" name="S16_tag_hist_2"/>
          <p:cNvSpPr/>
          <p:nvPr/>
        </p:nvSpPr>
        <p:spPr>
          <a:xfrm>
            <a:off x="9006840" y="1737360"/>
            <a:ext cx="2633472" cy="365760"/>
          </a:xfrm>
          <a:prstGeom prst="rect">
            <a:avLst/>
          </a:prstGeom>
          <a:solidFill>
            <a:schemeClr val="bg1"/>
          </a:solidFill>
          <a:ln w="25400">
            <a:solidFill>
              <a:schemeClr val="accent2"/>
            </a:solidFill>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HISTORICAL EXAMPLE</a:t>
            </a:r>
            <a:endParaRPr lang="en-US" sz="1600" dirty="0"/>
          </a:p>
        </p:txBody>
      </p:sp>
      <p:sp>
        <p:nvSpPr>
          <p:cNvPr id="4" name="S16_ico_3">
            <a:extLst>
              <a:ext uri="{C183D7F6-B498-43B3-948B-1728B52AA6E4}">
                <adec:decorative xmlns:adec="http://schemas.microsoft.com/office/drawing/2017/decorative" val="1"/>
              </a:ext>
            </a:extLst>
          </p:cNvPr>
          <p:cNvSpPr/>
          <p:nvPr/>
        </p:nvSpPr>
        <p:spPr>
          <a:xfrm>
            <a:off x="685800" y="1755648"/>
            <a:ext cx="182880" cy="182880"/>
          </a:xfrm>
          <a:prstGeom prst="ellipse">
            <a:avLst/>
          </a:prstGeom>
          <a:noFill/>
          <a:ln w="25400">
            <a:solidFill>
              <a:schemeClr val="accent1"/>
            </a:solidFill>
            <a:round/>
          </a:ln>
        </p:spPr>
        <p:txBody>
          <a:bodyPr wrap="square" lIns="91440" tIns="45720" rIns="91440" bIns="45720" rtlCol="0" anchor="ctr">
            <a:noAutofit/>
          </a:bodyPr>
          <a:lstStyle/>
          <a:p>
            <a:endParaRPr lang="en-US" dirty="0"/>
          </a:p>
        </p:txBody>
      </p:sp>
      <p:sp>
        <p:nvSpPr>
          <p:cNvPr id="5" name="S16_ico_4">
            <a:extLst>
              <a:ext uri="{C183D7F6-B498-43B3-948B-1728B52AA6E4}">
                <adec:decorative xmlns:adec="http://schemas.microsoft.com/office/drawing/2017/decorative" val="1"/>
              </a:ext>
            </a:extLst>
          </p:cNvPr>
          <p:cNvSpPr/>
          <p:nvPr/>
        </p:nvSpPr>
        <p:spPr>
          <a:xfrm>
            <a:off x="594360" y="1984248"/>
            <a:ext cx="365760" cy="228600"/>
          </a:xfrm>
          <a:prstGeom prst="roundRect">
            <a:avLst>
              <a:gd name="adj" fmla="val 40000"/>
            </a:avLst>
          </a:prstGeom>
          <a:noFill/>
          <a:ln w="25400">
            <a:solidFill>
              <a:schemeClr val="accent1"/>
            </a:solidFill>
            <a:round/>
          </a:ln>
        </p:spPr>
        <p:txBody>
          <a:bodyPr wrap="square" lIns="91440" tIns="45720" rIns="91440" bIns="45720" rtlCol="0" anchor="ctr">
            <a:noAutofit/>
          </a:bodyPr>
          <a:lstStyle/>
          <a:p>
            <a:endParaRPr lang="en-US" dirty="0"/>
          </a:p>
        </p:txBody>
      </p:sp>
      <p:sp>
        <p:nvSpPr>
          <p:cNvPr id="6" name="S16_ico_5">
            <a:extLst>
              <a:ext uri="{C183D7F6-B498-43B3-948B-1728B52AA6E4}">
                <adec:decorative xmlns:adec="http://schemas.microsoft.com/office/drawing/2017/decorative" val="1"/>
              </a:ext>
            </a:extLst>
          </p:cNvPr>
          <p:cNvSpPr/>
          <p:nvPr/>
        </p:nvSpPr>
        <p:spPr>
          <a:xfrm>
            <a:off x="1234440" y="1755648"/>
            <a:ext cx="457200" cy="201168"/>
          </a:xfrm>
          <a:prstGeom prst="triangle">
            <a:avLst/>
          </a:prstGeom>
          <a:noFill/>
          <a:ln w="25400">
            <a:solidFill>
              <a:schemeClr val="accent1"/>
            </a:solidFill>
            <a:round/>
          </a:ln>
        </p:spPr>
        <p:txBody>
          <a:bodyPr wrap="square" lIns="91440" tIns="45720" rIns="91440" bIns="45720" rtlCol="0" anchor="ctr">
            <a:noAutofit/>
          </a:bodyPr>
          <a:lstStyle/>
          <a:p>
            <a:endParaRPr lang="en-US" dirty="0"/>
          </a:p>
        </p:txBody>
      </p:sp>
      <p:sp>
        <p:nvSpPr>
          <p:cNvPr id="7" name="S16_ico_6">
            <a:extLst>
              <a:ext uri="{C183D7F6-B498-43B3-948B-1728B52AA6E4}">
                <adec:decorative xmlns:adec="http://schemas.microsoft.com/office/drawing/2017/decorative" val="1"/>
              </a:ext>
            </a:extLst>
          </p:cNvPr>
          <p:cNvSpPr/>
          <p:nvPr/>
        </p:nvSpPr>
        <p:spPr>
          <a:xfrm>
            <a:off x="1289304" y="1956816"/>
            <a:ext cx="347472" cy="246888"/>
          </a:xfrm>
          <a:prstGeom prst="rect">
            <a:avLst/>
          </a:prstGeom>
          <a:noFill/>
          <a:ln w="25400">
            <a:solidFill>
              <a:schemeClr val="accent1"/>
            </a:solidFill>
            <a:round/>
          </a:ln>
        </p:spPr>
        <p:txBody>
          <a:bodyPr wrap="square" lIns="91440" tIns="45720" rIns="91440" bIns="45720" rtlCol="0" anchor="ctr">
            <a:noAutofit/>
          </a:bodyPr>
          <a:lstStyle/>
          <a:p>
            <a:endParaRPr lang="en-US" dirty="0"/>
          </a:p>
        </p:txBody>
      </p:sp>
      <p:sp>
        <p:nvSpPr>
          <p:cNvPr id="8" name="S16_ico_7">
            <a:extLst>
              <a:ext uri="{C183D7F6-B498-43B3-948B-1728B52AA6E4}">
                <adec:decorative xmlns:adec="http://schemas.microsoft.com/office/drawing/2017/decorative" val="1"/>
              </a:ext>
            </a:extLst>
          </p:cNvPr>
          <p:cNvSpPr/>
          <p:nvPr/>
        </p:nvSpPr>
        <p:spPr>
          <a:xfrm>
            <a:off x="1417320" y="2048256"/>
            <a:ext cx="91440" cy="155448"/>
          </a:xfrm>
          <a:prstGeom prst="rect">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9" name="S16_ico_8">
            <a:extLst>
              <a:ext uri="{C183D7F6-B498-43B3-948B-1728B52AA6E4}">
                <adec:decorative xmlns:adec="http://schemas.microsoft.com/office/drawing/2017/decorative" val="1"/>
              </a:ext>
            </a:extLst>
          </p:cNvPr>
          <p:cNvSpPr/>
          <p:nvPr/>
        </p:nvSpPr>
        <p:spPr>
          <a:xfrm>
            <a:off x="1920240" y="1938528"/>
            <a:ext cx="502920" cy="182880"/>
          </a:xfrm>
          <a:prstGeom prst="roundRect">
            <a:avLst>
              <a:gd name="adj" fmla="val 30000"/>
            </a:avLst>
          </a:prstGeom>
          <a:noFill/>
          <a:ln w="25400">
            <a:solidFill>
              <a:schemeClr val="accent1"/>
            </a:solidFill>
            <a:round/>
          </a:ln>
        </p:spPr>
        <p:txBody>
          <a:bodyPr wrap="square" lIns="91440" tIns="45720" rIns="91440" bIns="45720" rtlCol="0" anchor="ctr">
            <a:noAutofit/>
          </a:bodyPr>
          <a:lstStyle/>
          <a:p>
            <a:endParaRPr lang="en-US" dirty="0"/>
          </a:p>
        </p:txBody>
      </p:sp>
      <p:sp>
        <p:nvSpPr>
          <p:cNvPr id="10" name="S16_ico_9">
            <a:extLst>
              <a:ext uri="{C183D7F6-B498-43B3-948B-1728B52AA6E4}">
                <adec:decorative xmlns:adec="http://schemas.microsoft.com/office/drawing/2017/decorative" val="1"/>
              </a:ext>
            </a:extLst>
          </p:cNvPr>
          <p:cNvSpPr/>
          <p:nvPr/>
        </p:nvSpPr>
        <p:spPr>
          <a:xfrm>
            <a:off x="2029968" y="1810512"/>
            <a:ext cx="274320" cy="146304"/>
          </a:xfrm>
          <a:prstGeom prst="trapezoid">
            <a:avLst/>
          </a:prstGeom>
          <a:noFill/>
          <a:ln w="25400">
            <a:solidFill>
              <a:schemeClr val="accent1"/>
            </a:solidFill>
            <a:round/>
          </a:ln>
        </p:spPr>
        <p:txBody>
          <a:bodyPr wrap="square" lIns="91440" tIns="45720" rIns="91440" bIns="45720" rtlCol="0" anchor="ctr">
            <a:noAutofit/>
          </a:bodyPr>
          <a:lstStyle/>
          <a:p>
            <a:endParaRPr lang="en-US" dirty="0"/>
          </a:p>
        </p:txBody>
      </p:sp>
      <p:sp>
        <p:nvSpPr>
          <p:cNvPr id="11" name="S16_ico_10">
            <a:extLst>
              <a:ext uri="{C183D7F6-B498-43B3-948B-1728B52AA6E4}">
                <adec:decorative xmlns:adec="http://schemas.microsoft.com/office/drawing/2017/decorative" val="1"/>
              </a:ext>
            </a:extLst>
          </p:cNvPr>
          <p:cNvSpPr/>
          <p:nvPr/>
        </p:nvSpPr>
        <p:spPr>
          <a:xfrm>
            <a:off x="1984248" y="2084832"/>
            <a:ext cx="109728" cy="109728"/>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12" name="S16_ico_11">
            <a:extLst>
              <a:ext uri="{C183D7F6-B498-43B3-948B-1728B52AA6E4}">
                <adec:decorative xmlns:adec="http://schemas.microsoft.com/office/drawing/2017/decorative" val="1"/>
              </a:ext>
            </a:extLst>
          </p:cNvPr>
          <p:cNvSpPr/>
          <p:nvPr/>
        </p:nvSpPr>
        <p:spPr>
          <a:xfrm>
            <a:off x="2249424" y="2084832"/>
            <a:ext cx="109728" cy="109728"/>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13" name="S16_context_text_12"/>
          <p:cNvSpPr txBox="1"/>
          <p:nvPr/>
        </p:nvSpPr>
        <p:spPr>
          <a:xfrm>
            <a:off x="2606040" y="1737360"/>
            <a:ext cx="5852160" cy="50292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Data are generated by people, homes and vehicles.</a:t>
            </a:r>
            <a:endParaRPr lang="en-US" sz="1800" dirty="0"/>
          </a:p>
        </p:txBody>
      </p:sp>
      <p:sp>
        <p:nvSpPr>
          <p:cNvPr id="14" name="S16_panel_13"/>
          <p:cNvSpPr/>
          <p:nvPr/>
        </p:nvSpPr>
        <p:spPr>
          <a:xfrm>
            <a:off x="548640" y="2331720"/>
            <a:ext cx="5212080" cy="2743200"/>
          </a:xfrm>
          <a:prstGeom prst="rect">
            <a:avLst/>
          </a:prstGeom>
          <a:solidFill>
            <a:schemeClr val="bg1"/>
          </a:solidFill>
          <a:ln w="25400">
            <a:solidFill>
              <a:schemeClr val="accent1"/>
            </a:solidFill>
            <a:round/>
          </a:ln>
        </p:spPr>
        <p:txBody>
          <a:bodyPr wrap="square" lIns="109728" tIns="54864" rIns="109728" bIns="54864" rtlCol="0" anchor="ctr">
            <a:noAutofit/>
          </a:bodyPr>
          <a:lstStyle/>
          <a:p>
            <a:endParaRPr lang="en-US" dirty="0"/>
          </a:p>
        </p:txBody>
      </p:sp>
      <p:sp>
        <p:nvSpPr>
          <p:cNvPr id="15" name="S16_panel_head_14"/>
          <p:cNvSpPr/>
          <p:nvPr/>
        </p:nvSpPr>
        <p:spPr>
          <a:xfrm>
            <a:off x="548640" y="2331720"/>
            <a:ext cx="5212080" cy="411480"/>
          </a:xfrm>
          <a:prstGeom prst="rect">
            <a:avLst/>
          </a:prstGeom>
          <a:solidFill>
            <a:schemeClr val="accent1"/>
          </a:solidFill>
          <a:ln w="25400">
            <a:solidFill>
              <a:schemeClr val="accent1"/>
            </a:solidFill>
            <a:round/>
          </a:ln>
        </p:spPr>
        <p:txBody>
          <a:bodyPr wrap="square" lIns="137160" tIns="18288" rIns="91440" bIns="18288" rtlCol="0" anchor="ctr">
            <a:noAutofit/>
          </a:bodyPr>
          <a:lstStyle/>
          <a:p>
            <a:pPr algn="l" marL="0" indent="0">
              <a:lnSpc>
                <a:spcPct val="100000"/>
              </a:lnSpc>
              <a:spcBef>
                <a:spcPts val="0"/>
              </a:spcBef>
              <a:spcAft>
                <a:spcPts val="0"/>
              </a:spcAft>
              <a:buNone/>
            </a:pPr>
            <a:r>
              <a:rPr lang="en-US" sz="2000" b="1" dirty="0">
                <a:solidFill>
                  <a:schemeClr val="bg1"/>
                </a:solidFill>
                <a:latin typeface="Arial"/>
                <a:cs typeface="Arial"/>
              </a:rPr>
              <a:t>COMPUTING</a:t>
            </a:r>
            <a:endParaRPr lang="en-US" sz="2000" dirty="0"/>
          </a:p>
        </p:txBody>
      </p:sp>
      <p:sp>
        <p:nvSpPr>
          <p:cNvPr id="16" name="S16_panel_15"/>
          <p:cNvSpPr/>
          <p:nvPr/>
        </p:nvSpPr>
        <p:spPr>
          <a:xfrm>
            <a:off x="6428232" y="2331720"/>
            <a:ext cx="5212080" cy="2743200"/>
          </a:xfrm>
          <a:prstGeom prst="rect">
            <a:avLst/>
          </a:prstGeom>
          <a:solidFill>
            <a:schemeClr val="bg1"/>
          </a:solidFill>
          <a:ln w="25400">
            <a:solidFill>
              <a:schemeClr val="accent1"/>
            </a:solidFill>
            <a:round/>
          </a:ln>
        </p:spPr>
        <p:txBody>
          <a:bodyPr wrap="square" lIns="109728" tIns="54864" rIns="109728" bIns="54864" rtlCol="0" anchor="ctr">
            <a:noAutofit/>
          </a:bodyPr>
          <a:lstStyle/>
          <a:p>
            <a:endParaRPr lang="en-US" dirty="0"/>
          </a:p>
        </p:txBody>
      </p:sp>
      <p:sp>
        <p:nvSpPr>
          <p:cNvPr id="17" name="S16_panel_head_16"/>
          <p:cNvSpPr/>
          <p:nvPr/>
        </p:nvSpPr>
        <p:spPr>
          <a:xfrm>
            <a:off x="6428232" y="2331720"/>
            <a:ext cx="5212080" cy="411480"/>
          </a:xfrm>
          <a:prstGeom prst="rect">
            <a:avLst/>
          </a:prstGeom>
          <a:solidFill>
            <a:schemeClr val="accent1"/>
          </a:solidFill>
          <a:ln w="25400">
            <a:solidFill>
              <a:schemeClr val="accent1"/>
            </a:solidFill>
            <a:round/>
          </a:ln>
        </p:spPr>
        <p:txBody>
          <a:bodyPr wrap="square" lIns="137160" tIns="18288" rIns="91440" bIns="18288" rtlCol="0" anchor="ctr">
            <a:noAutofit/>
          </a:bodyPr>
          <a:lstStyle/>
          <a:p>
            <a:pPr algn="l" marL="0" indent="0">
              <a:lnSpc>
                <a:spcPct val="100000"/>
              </a:lnSpc>
              <a:spcBef>
                <a:spcPts val="0"/>
              </a:spcBef>
              <a:spcAft>
                <a:spcPts val="0"/>
              </a:spcAft>
              <a:buNone/>
            </a:pPr>
            <a:r>
              <a:rPr lang="en-US" sz="2000" b="1" dirty="0">
                <a:solidFill>
                  <a:schemeClr val="bg1"/>
                </a:solidFill>
                <a:latin typeface="Arial"/>
                <a:cs typeface="Arial"/>
              </a:rPr>
              <a:t>STORAGE</a:t>
            </a:r>
            <a:endParaRPr lang="en-US" sz="2000" dirty="0"/>
          </a:p>
        </p:txBody>
      </p:sp>
      <p:sp>
        <p:nvSpPr>
          <p:cNvPr id="18" name="S16_divider_label_17"/>
          <p:cNvSpPr txBox="1"/>
          <p:nvPr/>
        </p:nvSpPr>
        <p:spPr>
          <a:xfrm>
            <a:off x="5788152" y="2331720"/>
            <a:ext cx="640080" cy="2743200"/>
          </a:xfrm>
          <a:prstGeom prst="rect">
            <a:avLst/>
          </a:prstGeom>
          <a:noFill/>
          <a:ln>
            <a:noFill/>
          </a:ln>
        </p:spPr>
        <p:txBody>
          <a:bodyPr vert="vert270" wrap="square" lIns="45720" tIns="27432" rIns="45720" bIns="27432"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RELATED,</a:t>
            </a:r>
            <a:endParaRPr lang="en-US" sz="1600" dirty="0"/>
          </a:p>
          <a:p>
            <a:pPr algn="ctr" marL="0" indent="0">
              <a:lnSpc>
                <a:spcPct val="100000"/>
              </a:lnSpc>
              <a:spcBef>
                <a:spcPts val="0"/>
              </a:spcBef>
              <a:spcAft>
                <a:spcPts val="0"/>
              </a:spcAft>
              <a:buNone/>
            </a:pPr>
            <a:r>
              <a:rPr lang="en-US" sz="1600" b="1" dirty="0">
                <a:solidFill>
                  <a:schemeClr val="tx1"/>
                </a:solidFill>
                <a:latin typeface="Arial"/>
                <a:cs typeface="Arial"/>
              </a:rPr>
              <a:t>BUT SEPARATE</a:t>
            </a:r>
            <a:endParaRPr lang="en-US" sz="1600" dirty="0"/>
          </a:p>
        </p:txBody>
      </p:sp>
      <p:cxnSp>
        <p:nvCxnSpPr>
          <p:cNvPr id="19" name="S16_conn_18">
            <a:extLst>
              <a:ext uri="{C183D7F6-B498-43B3-948B-1728B52AA6E4}">
                <adec:decorative xmlns:adec="http://schemas.microsoft.com/office/drawing/2017/decorative" val="1"/>
              </a:ext>
            </a:extLst>
          </p:cNvPr>
          <p:cNvCxnSpPr/>
          <p:nvPr/>
        </p:nvCxnSpPr>
        <p:spPr>
          <a:xfrm>
            <a:off x="1005840" y="3108960"/>
            <a:ext cx="4297680" cy="0"/>
          </a:xfrm>
          <a:prstGeom prst="line">
            <a:avLst/>
          </a:prstGeom>
          <a:ln w="25400">
            <a:solidFill>
              <a:schemeClr val="accent1"/>
            </a:solidFill>
            <a:round/>
          </a:ln>
        </p:spPr>
      </p:cxnSp>
      <p:sp>
        <p:nvSpPr>
          <p:cNvPr id="20" name="S16_ico_19">
            <a:extLst>
              <a:ext uri="{C183D7F6-B498-43B3-948B-1728B52AA6E4}">
                <adec:decorative xmlns:adec="http://schemas.microsoft.com/office/drawing/2017/decorative" val="1"/>
              </a:ext>
            </a:extLst>
          </p:cNvPr>
          <p:cNvSpPr/>
          <p:nvPr/>
        </p:nvSpPr>
        <p:spPr>
          <a:xfrm>
            <a:off x="1289304" y="3026664"/>
            <a:ext cx="164592" cy="164592"/>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21" name="S16_tl_year_20"/>
          <p:cNvSpPr txBox="1"/>
          <p:nvPr/>
        </p:nvSpPr>
        <p:spPr>
          <a:xfrm>
            <a:off x="1005840" y="2697480"/>
            <a:ext cx="2286000" cy="274320"/>
          </a:xfrm>
          <a:prstGeom prst="rect">
            <a:avLst/>
          </a:prstGeom>
          <a:noFill/>
          <a:ln>
            <a:noFill/>
          </a:ln>
        </p:spPr>
        <p:txBody>
          <a:bodyPr wrap="square" lIns="18288" tIns="0" rIns="18288" bIns="0" rtlCol="0" anchor="b">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1965</a:t>
            </a:r>
            <a:endParaRPr lang="en-US" sz="1600" dirty="0"/>
          </a:p>
        </p:txBody>
      </p:sp>
      <p:sp>
        <p:nvSpPr>
          <p:cNvPr id="22" name="S16_tl_label_21"/>
          <p:cNvSpPr txBox="1"/>
          <p:nvPr/>
        </p:nvSpPr>
        <p:spPr>
          <a:xfrm>
            <a:off x="1005840" y="3246120"/>
            <a:ext cx="2286000" cy="548640"/>
          </a:xfrm>
          <a:prstGeom prst="rect">
            <a:avLst/>
          </a:prstGeom>
          <a:noFill/>
          <a:ln>
            <a:noFill/>
          </a:ln>
        </p:spPr>
        <p:txBody>
          <a:bodyPr wrap="square" lIns="18288" tIns="0" rIns="18288" bIns="0"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roughly annual doubling</a:t>
            </a:r>
            <a:endParaRPr lang="en-US" sz="1600" dirty="0"/>
          </a:p>
        </p:txBody>
      </p:sp>
      <p:sp>
        <p:nvSpPr>
          <p:cNvPr id="23" name="S16_ico_22">
            <a:extLst>
              <a:ext uri="{C183D7F6-B498-43B3-948B-1728B52AA6E4}">
                <adec:decorative xmlns:adec="http://schemas.microsoft.com/office/drawing/2017/decorative" val="1"/>
              </a:ext>
            </a:extLst>
          </p:cNvPr>
          <p:cNvSpPr/>
          <p:nvPr/>
        </p:nvSpPr>
        <p:spPr>
          <a:xfrm>
            <a:off x="3666744" y="3026664"/>
            <a:ext cx="164592" cy="164592"/>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24" name="S16_tl_year_23"/>
          <p:cNvSpPr txBox="1"/>
          <p:nvPr/>
        </p:nvSpPr>
        <p:spPr>
          <a:xfrm>
            <a:off x="3383280" y="2697480"/>
            <a:ext cx="2286000" cy="274320"/>
          </a:xfrm>
          <a:prstGeom prst="rect">
            <a:avLst/>
          </a:prstGeom>
          <a:noFill/>
          <a:ln>
            <a:noFill/>
          </a:ln>
        </p:spPr>
        <p:txBody>
          <a:bodyPr wrap="square" lIns="18288" tIns="0" rIns="18288" bIns="0" rtlCol="0" anchor="b">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1975</a:t>
            </a:r>
            <a:endParaRPr lang="en-US" sz="1600" dirty="0"/>
          </a:p>
        </p:txBody>
      </p:sp>
      <p:sp>
        <p:nvSpPr>
          <p:cNvPr id="25" name="S16_tl_label_24"/>
          <p:cNvSpPr txBox="1"/>
          <p:nvPr/>
        </p:nvSpPr>
        <p:spPr>
          <a:xfrm>
            <a:off x="3383280" y="3246120"/>
            <a:ext cx="2286000" cy="548640"/>
          </a:xfrm>
          <a:prstGeom prst="rect">
            <a:avLst/>
          </a:prstGeom>
          <a:noFill/>
          <a:ln>
            <a:noFill/>
          </a:ln>
        </p:spPr>
        <p:txBody>
          <a:bodyPr wrap="square" lIns="18288" tIns="0" rIns="18288" bIns="0"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revised: roughly every two years</a:t>
            </a:r>
            <a:endParaRPr lang="en-US" sz="1600" dirty="0"/>
          </a:p>
        </p:txBody>
      </p:sp>
      <p:cxnSp>
        <p:nvCxnSpPr>
          <p:cNvPr id="26" name="S16_conn_25">
            <a:extLst>
              <a:ext uri="{C183D7F6-B498-43B3-948B-1728B52AA6E4}">
                <adec:decorative xmlns:adec="http://schemas.microsoft.com/office/drawing/2017/decorative" val="1"/>
              </a:ext>
            </a:extLst>
          </p:cNvPr>
          <p:cNvCxnSpPr/>
          <p:nvPr/>
        </p:nvCxnSpPr>
        <p:spPr>
          <a:xfrm>
            <a:off x="6885432" y="3108960"/>
            <a:ext cx="4297680" cy="0"/>
          </a:xfrm>
          <a:prstGeom prst="line">
            <a:avLst/>
          </a:prstGeom>
          <a:ln w="25400">
            <a:solidFill>
              <a:schemeClr val="accent1"/>
            </a:solidFill>
            <a:round/>
          </a:ln>
        </p:spPr>
      </p:cxnSp>
      <p:sp>
        <p:nvSpPr>
          <p:cNvPr id="27" name="S16_ico_26">
            <a:extLst>
              <a:ext uri="{C183D7F6-B498-43B3-948B-1728B52AA6E4}">
                <adec:decorative xmlns:adec="http://schemas.microsoft.com/office/drawing/2017/decorative" val="1"/>
              </a:ext>
            </a:extLst>
          </p:cNvPr>
          <p:cNvSpPr/>
          <p:nvPr/>
        </p:nvSpPr>
        <p:spPr>
          <a:xfrm>
            <a:off x="7168896" y="3026664"/>
            <a:ext cx="164592" cy="164592"/>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28" name="S16_tl_year_27"/>
          <p:cNvSpPr txBox="1"/>
          <p:nvPr/>
        </p:nvSpPr>
        <p:spPr>
          <a:xfrm>
            <a:off x="6885432" y="2697480"/>
            <a:ext cx="2286000" cy="274320"/>
          </a:xfrm>
          <a:prstGeom prst="rect">
            <a:avLst/>
          </a:prstGeom>
          <a:noFill/>
          <a:ln>
            <a:noFill/>
          </a:ln>
        </p:spPr>
        <p:txBody>
          <a:bodyPr wrap="square" lIns="18288" tIns="0" rIns="18288" bIns="0" rtlCol="0" anchor="b">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Sept 2022</a:t>
            </a:r>
            <a:endParaRPr lang="en-US" sz="1600" dirty="0"/>
          </a:p>
        </p:txBody>
      </p:sp>
      <p:sp>
        <p:nvSpPr>
          <p:cNvPr id="29" name="S16_tl_label_28"/>
          <p:cNvSpPr txBox="1"/>
          <p:nvPr/>
        </p:nvSpPr>
        <p:spPr>
          <a:xfrm>
            <a:off x="6885432" y="3246120"/>
            <a:ext cx="2286000" cy="548640"/>
          </a:xfrm>
          <a:prstGeom prst="rect">
            <a:avLst/>
          </a:prstGeom>
          <a:noFill/>
          <a:ln>
            <a:noFill/>
          </a:ln>
        </p:spPr>
        <p:txBody>
          <a:bodyPr wrap="square" lIns="18288" tIns="0" rIns="18288" bIns="0"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working prototype, 2 TB microSDXC</a:t>
            </a:r>
            <a:endParaRPr lang="en-US" sz="1600" dirty="0"/>
          </a:p>
        </p:txBody>
      </p:sp>
      <p:sp>
        <p:nvSpPr>
          <p:cNvPr id="30" name="S16_ico_29">
            <a:extLst>
              <a:ext uri="{C183D7F6-B498-43B3-948B-1728B52AA6E4}">
                <adec:decorative xmlns:adec="http://schemas.microsoft.com/office/drawing/2017/decorative" val="1"/>
              </a:ext>
            </a:extLst>
          </p:cNvPr>
          <p:cNvSpPr/>
          <p:nvPr/>
        </p:nvSpPr>
        <p:spPr>
          <a:xfrm>
            <a:off x="9546336" y="3026664"/>
            <a:ext cx="164592" cy="164592"/>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31" name="S16_tl_year_30"/>
          <p:cNvSpPr txBox="1"/>
          <p:nvPr/>
        </p:nvSpPr>
        <p:spPr>
          <a:xfrm>
            <a:off x="9262872" y="2697480"/>
            <a:ext cx="2286000" cy="274320"/>
          </a:xfrm>
          <a:prstGeom prst="rect">
            <a:avLst/>
          </a:prstGeom>
          <a:noFill/>
          <a:ln>
            <a:noFill/>
          </a:ln>
        </p:spPr>
        <p:txBody>
          <a:bodyPr wrap="square" lIns="18288" tIns="0" rIns="18288" bIns="0" rtlCol="0" anchor="b">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2023</a:t>
            </a:r>
            <a:endParaRPr lang="en-US" sz="1600" dirty="0"/>
          </a:p>
        </p:txBody>
      </p:sp>
      <p:sp>
        <p:nvSpPr>
          <p:cNvPr id="32" name="S16_tl_label_31"/>
          <p:cNvSpPr txBox="1"/>
          <p:nvPr/>
        </p:nvSpPr>
        <p:spPr>
          <a:xfrm>
            <a:off x="9262872" y="3246120"/>
            <a:ext cx="2286000" cy="548640"/>
          </a:xfrm>
          <a:prstGeom prst="rect">
            <a:avLst/>
          </a:prstGeom>
          <a:noFill/>
          <a:ln>
            <a:noFill/>
          </a:ln>
        </p:spPr>
        <p:txBody>
          <a:bodyPr wrap="square" lIns="18288" tIns="0" rIns="18288" bIns="0"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mass production planned</a:t>
            </a:r>
            <a:endParaRPr lang="en-US" sz="1600" dirty="0"/>
          </a:p>
        </p:txBody>
      </p:sp>
      <p:sp>
        <p:nvSpPr>
          <p:cNvPr id="33" name="S16_panel_text_32"/>
          <p:cNvSpPr txBox="1"/>
          <p:nvPr/>
        </p:nvSpPr>
        <p:spPr>
          <a:xfrm>
            <a:off x="685800" y="3749040"/>
            <a:ext cx="4937760" cy="1261872"/>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Gordon Moore’s 1965 observation projected roughly annual doubling of components (transistors) on integrated circuits; in 1975 he revised the pace to roughly every two years. An empirical observation/projection, not a natural law.</a:t>
            </a:r>
            <a:endParaRPr lang="en-US" sz="1600" dirty="0"/>
          </a:p>
        </p:txBody>
      </p:sp>
      <p:sp>
        <p:nvSpPr>
          <p:cNvPr id="34" name="S16_panel_text_33"/>
          <p:cNvSpPr txBox="1"/>
          <p:nvPr/>
        </p:nvSpPr>
        <p:spPr>
          <a:xfrm>
            <a:off x="6565392" y="3749040"/>
            <a:ext cx="4937760" cy="1261872"/>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Kioxia announced a working prototype of a 2 TB microSDXC card in September 2022; mass production was planned for 2023. Historical examples, not current product specifications.</a:t>
            </a:r>
            <a:endParaRPr lang="en-US" sz="1600" dirty="0"/>
          </a:p>
        </p:txBody>
      </p:sp>
      <p:sp>
        <p:nvSpPr>
          <p:cNvPr id="35" name="S16_teaching_bar_34"/>
          <p:cNvSpPr/>
          <p:nvPr/>
        </p:nvSpPr>
        <p:spPr>
          <a:xfrm>
            <a:off x="548640" y="5138928"/>
            <a:ext cx="11091672" cy="868680"/>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Advances in computing and storage made it increasingly feasible to collect and process much larger datasets. These are related technology trends, not evidence that one caused the other.</a:t>
            </a:r>
            <a:endParaRPr lang="en-US" sz="1800" dirty="0"/>
          </a:p>
        </p:txBody>
      </p:sp>
      <p:sp>
        <p:nvSpPr>
          <p:cNvPr id="36" name="S16_source_footer_35"/>
          <p:cNvSpPr>
            <a:spLocks noGrp="1"/>
          </p:cNvSpPr>
          <p:nvPr>
            <p:ph type="ftr" sz="quarter" idx="11"/>
          </p:nvPr>
        </p:nvSpPr>
        <p:spPr/>
        <p:txBody>
          <a:bodyPr/>
          <a:lstStyle/>
          <a:p>
            <a:pPr algn="l" marL="0" indent="0">
              <a:lnSpc>
                <a:spcPct val="100000"/>
              </a:lnSpc>
              <a:spcBef>
                <a:spcPts val="0"/>
              </a:spcBef>
              <a:spcAft>
                <a:spcPts val="0"/>
              </a:spcAft>
              <a:buNone/>
            </a:pPr>
            <a:r>
              <a:rPr lang="en-US" sz="1200" b="0" dirty="0">
                <a:solidFill>
                  <a:schemeClr val="accent3"/>
                </a:solidFill>
                <a:latin typeface="Arial"/>
                <a:cs typeface="Arial"/>
              </a:rPr>
              <a:t>Sources: Intel, Moore’s Law page (1965 projection; 1975 revision); Kioxia announcement, Sept. 28, 2022 (2 TB microSDXC prototype; mass production planned for 2023). Historical examples, not current product specifications.</a:t>
            </a:r>
            <a:endParaRPr lang="en-US" sz="1200" dirty="0"/>
          </a:p>
        </p:txBody>
      </p:sp>
      <p:sp>
        <p:nvSpPr>
          <p:cNvPr id="37" name="S16_slide_number_36"/>
          <p:cNvSpPr>
            <a:spLocks noGrp="1"/>
          </p:cNvSpPr>
          <p:nvPr>
            <p:ph type="sldNum" sz="quarter" idx="12"/>
          </p:nvPr>
        </p:nvSpPr>
        <p:spPr/>
        <p:txBody>
          <a:bodyPr/>
          <a:lstStyle/>
          <a:p>
            <a:fld id="{B6F15528-21DE-4FAA-801E-634DDDAF4B2B}" type="slidenum">
              <a:rPr lang="en-US" sz="1200" dirty="0">
                <a:latin typeface="Arial"/>
              </a:r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7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Velocity: when timing matters</a:t>
            </a:r>
            <a:endParaRPr lang="en-US" sz="3200" dirty="0"/>
          </a:p>
        </p:txBody>
      </p:sp>
      <p:sp>
        <p:nvSpPr>
          <p:cNvPr id="3" name="S17_strip3_other_2"/>
          <p:cNvSpPr/>
          <p:nvPr/>
        </p:nvSpPr>
        <p:spPr>
          <a:xfrm>
            <a:off x="548640" y="182880"/>
            <a:ext cx="2567940"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Volume</a:t>
            </a:r>
            <a:endParaRPr lang="en-US" sz="1600" dirty="0"/>
          </a:p>
        </p:txBody>
      </p:sp>
      <p:sp>
        <p:nvSpPr>
          <p:cNvPr id="4" name="S17_strip3_arrow_3"/>
          <p:cNvSpPr txBox="1"/>
          <p:nvPr/>
        </p:nvSpPr>
        <p:spPr>
          <a:xfrm>
            <a:off x="3116580" y="182880"/>
            <a:ext cx="411480" cy="36576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a:t>
            </a:r>
            <a:endParaRPr lang="en-US" sz="1800" dirty="0"/>
          </a:p>
        </p:txBody>
      </p:sp>
      <p:sp>
        <p:nvSpPr>
          <p:cNvPr id="5" name="S17_strip3_cur_4"/>
          <p:cNvSpPr/>
          <p:nvPr/>
        </p:nvSpPr>
        <p:spPr>
          <a:xfrm>
            <a:off x="3528060" y="182880"/>
            <a:ext cx="5009388" cy="365760"/>
          </a:xfrm>
          <a:prstGeom prst="roundRect">
            <a:avLst>
              <a:gd name="adj" fmla="val 25000"/>
            </a:avLst>
          </a:prstGeom>
          <a:solidFill>
            <a:schemeClr val="accent1"/>
          </a:solidFill>
          <a:ln w="38100">
            <a:solidFill>
              <a:schemeClr val="accent1"/>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 Velocity — you are here</a:t>
            </a:r>
            <a:endParaRPr lang="en-US" sz="1600" dirty="0"/>
          </a:p>
        </p:txBody>
      </p:sp>
      <p:sp>
        <p:nvSpPr>
          <p:cNvPr id="6" name="S17_strip3_arrow_5"/>
          <p:cNvSpPr txBox="1"/>
          <p:nvPr/>
        </p:nvSpPr>
        <p:spPr>
          <a:xfrm>
            <a:off x="8537448" y="182880"/>
            <a:ext cx="411480" cy="36576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a:t>
            </a:r>
            <a:endParaRPr lang="en-US" sz="1800" dirty="0"/>
          </a:p>
        </p:txBody>
      </p:sp>
      <p:sp>
        <p:nvSpPr>
          <p:cNvPr id="7" name="S17_strip3_other_6"/>
          <p:cNvSpPr/>
          <p:nvPr/>
        </p:nvSpPr>
        <p:spPr>
          <a:xfrm>
            <a:off x="8948928" y="182880"/>
            <a:ext cx="2691384"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Variety</a:t>
            </a:r>
            <a:endParaRPr lang="en-US" sz="1600" dirty="0"/>
          </a:p>
        </p:txBody>
      </p:sp>
      <p:sp>
        <p:nvSpPr>
          <p:cNvPr id="8" name="S17_tag_hyp_7"/>
          <p:cNvSpPr/>
          <p:nvPr/>
        </p:nvSpPr>
        <p:spPr>
          <a:xfrm>
            <a:off x="8759952" y="1737360"/>
            <a:ext cx="2880360" cy="365760"/>
          </a:xfrm>
          <a:prstGeom prst="rect">
            <a:avLst/>
          </a:prstGeom>
          <a:solidFill>
            <a:schemeClr val="bg1"/>
          </a:solidFill>
          <a:ln w="25400">
            <a:solidFill>
              <a:schemeClr val="accent2"/>
            </a:solidFill>
            <a:prstDash val="sysDot"/>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HYPOTHETICAL EXAMPLE</a:t>
            </a:r>
            <a:endParaRPr lang="en-US" sz="1600" dirty="0"/>
          </a:p>
        </p:txBody>
      </p:sp>
      <p:sp>
        <p:nvSpPr>
          <p:cNvPr id="9" name="S17_definition_8"/>
          <p:cNvSpPr txBox="1"/>
          <p:nvPr/>
        </p:nvSpPr>
        <p:spPr>
          <a:xfrm>
            <a:off x="548640" y="1737360"/>
            <a:ext cx="7863840" cy="9601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Velocity</a:t>
            </a:r>
            <a:r>
              <a:rPr lang="en-US" sz="2000" b="0" dirty="0">
                <a:solidFill>
                  <a:schemeClr val="tx1"/>
                </a:solidFill>
                <a:latin typeface="Arial"/>
                <a:cs typeface="Arial"/>
              </a:rPr>
              <a:t> is how quickly data are generated, arrive, or need processing. Some decisions lose value when the data arrive too late.</a:t>
            </a:r>
            <a:endParaRPr lang="en-US" sz="2000" dirty="0"/>
          </a:p>
        </p:txBody>
      </p:sp>
      <p:sp>
        <p:nvSpPr>
          <p:cNvPr id="10" name="S17_lane_label_9"/>
          <p:cNvSpPr txBox="1"/>
          <p:nvPr/>
        </p:nvSpPr>
        <p:spPr>
          <a:xfrm>
            <a:off x="548640" y="2788920"/>
            <a:ext cx="2194560" cy="8229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Flagged within seconds</a:t>
            </a:r>
            <a:endParaRPr lang="en-US" sz="1800" dirty="0"/>
          </a:p>
        </p:txBody>
      </p:sp>
      <p:sp>
        <p:nvSpPr>
          <p:cNvPr id="11" name="S17_lane_label_10"/>
          <p:cNvSpPr txBox="1"/>
          <p:nvPr/>
        </p:nvSpPr>
        <p:spPr>
          <a:xfrm>
            <a:off x="548640" y="3840480"/>
            <a:ext cx="2194560" cy="8229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Detected much later</a:t>
            </a:r>
            <a:endParaRPr lang="en-US" sz="1800" dirty="0"/>
          </a:p>
        </p:txBody>
      </p:sp>
      <p:sp>
        <p:nvSpPr>
          <p:cNvPr id="12" name="S17_lane_node_11"/>
          <p:cNvSpPr/>
          <p:nvPr/>
        </p:nvSpPr>
        <p:spPr>
          <a:xfrm>
            <a:off x="2834640" y="2788920"/>
            <a:ext cx="2468880" cy="8229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Suspicious transaction</a:t>
            </a:r>
            <a:endParaRPr lang="en-US" sz="1800" dirty="0"/>
          </a:p>
        </p:txBody>
      </p:sp>
      <p:cxnSp>
        <p:nvCxnSpPr>
          <p:cNvPr id="13" name="S17_conn_12">
            <a:extLst>
              <a:ext uri="{C183D7F6-B498-43B3-948B-1728B52AA6E4}">
                <adec:decorative xmlns:adec="http://schemas.microsoft.com/office/drawing/2017/decorative" val="1"/>
              </a:ext>
            </a:extLst>
          </p:cNvPr>
          <p:cNvCxnSpPr/>
          <p:nvPr/>
        </p:nvCxnSpPr>
        <p:spPr>
          <a:xfrm>
            <a:off x="5340096" y="3200400"/>
            <a:ext cx="475488" cy="0"/>
          </a:xfrm>
          <a:prstGeom prst="line">
            <a:avLst/>
          </a:prstGeom>
          <a:ln w="31750">
            <a:solidFill>
              <a:schemeClr val="tx1"/>
            </a:solidFill>
            <a:round/>
            <a:tailEnd type="triangle" w="med" len="med"/>
          </a:ln>
        </p:spPr>
      </p:cxnSp>
      <p:sp>
        <p:nvSpPr>
          <p:cNvPr id="14" name="S17_lane_node_13"/>
          <p:cNvSpPr/>
          <p:nvPr/>
        </p:nvSpPr>
        <p:spPr>
          <a:xfrm>
            <a:off x="5852160" y="2788920"/>
            <a:ext cx="2377440" cy="8229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Flag raised</a:t>
            </a:r>
            <a:endParaRPr lang="en-US" sz="1800" dirty="0"/>
          </a:p>
        </p:txBody>
      </p:sp>
      <p:cxnSp>
        <p:nvCxnSpPr>
          <p:cNvPr id="15" name="S17_conn_14">
            <a:extLst>
              <a:ext uri="{C183D7F6-B498-43B3-948B-1728B52AA6E4}">
                <adec:decorative xmlns:adec="http://schemas.microsoft.com/office/drawing/2017/decorative" val="1"/>
              </a:ext>
            </a:extLst>
          </p:cNvPr>
          <p:cNvCxnSpPr/>
          <p:nvPr/>
        </p:nvCxnSpPr>
        <p:spPr>
          <a:xfrm>
            <a:off x="8266176" y="3200400"/>
            <a:ext cx="384048" cy="0"/>
          </a:xfrm>
          <a:prstGeom prst="line">
            <a:avLst/>
          </a:prstGeom>
          <a:ln w="31750">
            <a:solidFill>
              <a:schemeClr val="tx1"/>
            </a:solidFill>
            <a:round/>
            <a:tailEnd type="triangle" w="med" len="med"/>
          </a:ln>
        </p:spPr>
      </p:cxnSp>
      <p:sp>
        <p:nvSpPr>
          <p:cNvPr id="16" name="S17_lane_node_15"/>
          <p:cNvSpPr/>
          <p:nvPr/>
        </p:nvSpPr>
        <p:spPr>
          <a:xfrm>
            <a:off x="8686800" y="2788920"/>
            <a:ext cx="2953512" cy="8229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May be stopped before completion</a:t>
            </a:r>
            <a:endParaRPr lang="en-US" sz="1800" dirty="0"/>
          </a:p>
        </p:txBody>
      </p:sp>
      <p:sp>
        <p:nvSpPr>
          <p:cNvPr id="17" name="S17_lane_node_16"/>
          <p:cNvSpPr/>
          <p:nvPr/>
        </p:nvSpPr>
        <p:spPr>
          <a:xfrm>
            <a:off x="2834640" y="3840480"/>
            <a:ext cx="2194560" cy="8229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Suspicious transaction</a:t>
            </a:r>
            <a:endParaRPr lang="en-US" sz="1800" dirty="0"/>
          </a:p>
        </p:txBody>
      </p:sp>
      <p:cxnSp>
        <p:nvCxnSpPr>
          <p:cNvPr id="18" name="S17_conn_17">
            <a:extLst>
              <a:ext uri="{C183D7F6-B498-43B3-948B-1728B52AA6E4}">
                <adec:decorative xmlns:adec="http://schemas.microsoft.com/office/drawing/2017/decorative" val="1"/>
              </a:ext>
            </a:extLst>
          </p:cNvPr>
          <p:cNvCxnSpPr/>
          <p:nvPr/>
        </p:nvCxnSpPr>
        <p:spPr>
          <a:xfrm>
            <a:off x="5065776" y="4251960"/>
            <a:ext cx="1426464" cy="0"/>
          </a:xfrm>
          <a:prstGeom prst="line">
            <a:avLst/>
          </a:prstGeom>
          <a:ln w="31750">
            <a:solidFill>
              <a:schemeClr val="tx1"/>
            </a:solidFill>
            <a:prstDash val="dash"/>
            <a:round/>
          </a:ln>
        </p:spPr>
      </p:cxnSp>
      <p:sp>
        <p:nvSpPr>
          <p:cNvPr id="19" name="S17_gap_label_18"/>
          <p:cNvSpPr txBox="1"/>
          <p:nvPr/>
        </p:nvSpPr>
        <p:spPr>
          <a:xfrm>
            <a:off x="5120640" y="3840480"/>
            <a:ext cx="1371600" cy="365760"/>
          </a:xfrm>
          <a:prstGeom prst="rect">
            <a:avLst/>
          </a:prstGeom>
          <a:noFill/>
          <a:ln>
            <a:noFill/>
          </a:ln>
        </p:spPr>
        <p:txBody>
          <a:bodyPr wrap="square" lIns="45720" tIns="27432" rIns="45720" bIns="27432" rtlCol="0" anchor="b">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a:t>
            </a:r>
            <a:endParaRPr lang="en-US" sz="2000" dirty="0"/>
          </a:p>
        </p:txBody>
      </p:sp>
      <p:sp>
        <p:nvSpPr>
          <p:cNvPr id="20" name="S17_lane_node_19"/>
          <p:cNvSpPr/>
          <p:nvPr/>
        </p:nvSpPr>
        <p:spPr>
          <a:xfrm>
            <a:off x="6537960" y="3840480"/>
            <a:ext cx="1554480" cy="822960"/>
          </a:xfrm>
          <a:prstGeom prst="roundRect">
            <a:avLst>
              <a:gd name="adj" fmla="val 12000"/>
            </a:avLst>
          </a:prstGeom>
          <a:solidFill>
            <a:schemeClr val="bg1"/>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Detected</a:t>
            </a:r>
            <a:endParaRPr lang="en-US" sz="1800" dirty="0"/>
          </a:p>
        </p:txBody>
      </p:sp>
      <p:cxnSp>
        <p:nvCxnSpPr>
          <p:cNvPr id="21" name="S17_conn_20">
            <a:extLst>
              <a:ext uri="{C183D7F6-B498-43B3-948B-1728B52AA6E4}">
                <adec:decorative xmlns:adec="http://schemas.microsoft.com/office/drawing/2017/decorative" val="1"/>
              </a:ext>
            </a:extLst>
          </p:cNvPr>
          <p:cNvCxnSpPr/>
          <p:nvPr/>
        </p:nvCxnSpPr>
        <p:spPr>
          <a:xfrm>
            <a:off x="8129016" y="4251960"/>
            <a:ext cx="521208" cy="0"/>
          </a:xfrm>
          <a:prstGeom prst="line">
            <a:avLst/>
          </a:prstGeom>
          <a:ln w="31750">
            <a:solidFill>
              <a:schemeClr val="tx1"/>
            </a:solidFill>
            <a:round/>
            <a:tailEnd type="triangle" w="med" len="med"/>
          </a:ln>
        </p:spPr>
      </p:cxnSp>
      <p:sp>
        <p:nvSpPr>
          <p:cNvPr id="22" name="S17_lane_node_21"/>
          <p:cNvSpPr/>
          <p:nvPr/>
        </p:nvSpPr>
        <p:spPr>
          <a:xfrm>
            <a:off x="8686800" y="3840480"/>
            <a:ext cx="2953512" cy="822960"/>
          </a:xfrm>
          <a:prstGeom prst="roundRect">
            <a:avLst>
              <a:gd name="adj" fmla="val 12000"/>
            </a:avLst>
          </a:prstGeom>
          <a:solidFill>
            <a:schemeClr val="bg2"/>
          </a:solidFill>
          <a:ln w="25400">
            <a:solidFill>
              <a:schemeClr val="accent1"/>
            </a:solidFill>
            <a:prstDash val="dash"/>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Preventive opportunity may already be gone</a:t>
            </a:r>
            <a:endParaRPr lang="en-US" sz="1800" dirty="0"/>
          </a:p>
        </p:txBody>
      </p:sp>
      <p:cxnSp>
        <p:nvCxnSpPr>
          <p:cNvPr id="23" name="S17_conn_22">
            <a:extLst>
              <a:ext uri="{C183D7F6-B498-43B3-948B-1728B52AA6E4}">
                <adec:decorative xmlns:adec="http://schemas.microsoft.com/office/drawing/2017/decorative" val="1"/>
              </a:ext>
            </a:extLst>
          </p:cNvPr>
          <p:cNvCxnSpPr/>
          <p:nvPr/>
        </p:nvCxnSpPr>
        <p:spPr>
          <a:xfrm>
            <a:off x="2834640" y="4846320"/>
            <a:ext cx="8503920" cy="0"/>
          </a:xfrm>
          <a:prstGeom prst="line">
            <a:avLst/>
          </a:prstGeom>
          <a:ln w="25400">
            <a:solidFill>
              <a:schemeClr val="accent3"/>
            </a:solidFill>
            <a:round/>
            <a:tailEnd type="triangle" w="med" len="med"/>
          </a:ln>
        </p:spPr>
      </p:cxnSp>
      <p:sp>
        <p:nvSpPr>
          <p:cNvPr id="24" name="S17_axis_label_23"/>
          <p:cNvSpPr txBox="1"/>
          <p:nvPr/>
        </p:nvSpPr>
        <p:spPr>
          <a:xfrm>
            <a:off x="548640" y="4681728"/>
            <a:ext cx="2194560" cy="329184"/>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600" b="0" dirty="0">
                <a:solidFill>
                  <a:schemeClr val="accent3"/>
                </a:solidFill>
                <a:latin typeface="Arial"/>
                <a:cs typeface="Arial"/>
              </a:rPr>
              <a:t>time →</a:t>
            </a:r>
            <a:endParaRPr lang="en-US" sz="1600" dirty="0"/>
          </a:p>
        </p:txBody>
      </p:sp>
      <p:sp>
        <p:nvSpPr>
          <p:cNvPr id="25" name="S17_banner_24"/>
          <p:cNvSpPr txBox="1"/>
          <p:nvPr/>
        </p:nvSpPr>
        <p:spPr>
          <a:xfrm>
            <a:off x="548640" y="4956048"/>
            <a:ext cx="11091672" cy="36576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Same underlying data — different decision value because of timing.</a:t>
            </a:r>
            <a:endParaRPr lang="en-US" sz="2000" dirty="0"/>
          </a:p>
        </p:txBody>
      </p:sp>
      <p:sp>
        <p:nvSpPr>
          <p:cNvPr id="26" name="S17_verify_bar_25"/>
          <p:cNvSpPr/>
          <p:nvPr/>
        </p:nvSpPr>
        <p:spPr>
          <a:xfrm>
            <a:off x="548640" y="5376672"/>
            <a:ext cx="11091672" cy="65836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Verification prompt: “If this were a real statistic, what source and timestamp would you need before quoting it?”</a:t>
            </a:r>
            <a:endParaRPr lang="en-US" sz="1800" dirty="0"/>
          </a:p>
        </p:txBody>
      </p:sp>
      <p:sp>
        <p:nvSpPr>
          <p:cNvPr id="27" name="S17_slide_number_26"/>
          <p:cNvSpPr>
            <a:spLocks noGrp="1"/>
          </p:cNvSpPr>
          <p:nvPr>
            <p:ph type="sldNum" sz="quarter" idx="12"/>
          </p:nvPr>
        </p:nvSpPr>
        <p:spPr/>
        <p:txBody>
          <a:bodyPr/>
          <a:lstStyle/>
          <a:p>
            <a:fld id="{B6F15528-21DE-4FAA-801E-634DDDAF4B2B}" type="slidenum">
              <a:rPr lang="en-US" sz="1200" dirty="0">
                <a:latin typeface="Arial"/>
              </a:r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8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Variety: structured vs. unstructured data</a:t>
            </a:r>
            <a:endParaRPr lang="en-US" sz="3200" dirty="0"/>
          </a:p>
        </p:txBody>
      </p:sp>
      <p:sp>
        <p:nvSpPr>
          <p:cNvPr id="3" name="S18_strip3_other_2"/>
          <p:cNvSpPr/>
          <p:nvPr/>
        </p:nvSpPr>
        <p:spPr>
          <a:xfrm>
            <a:off x="548640" y="182880"/>
            <a:ext cx="2572512"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Volume</a:t>
            </a:r>
            <a:endParaRPr lang="en-US" sz="1600" dirty="0"/>
          </a:p>
        </p:txBody>
      </p:sp>
      <p:sp>
        <p:nvSpPr>
          <p:cNvPr id="4" name="S18_strip3_arrow_3"/>
          <p:cNvSpPr txBox="1"/>
          <p:nvPr/>
        </p:nvSpPr>
        <p:spPr>
          <a:xfrm>
            <a:off x="3121152" y="182880"/>
            <a:ext cx="411480" cy="36576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a:t>
            </a:r>
            <a:endParaRPr lang="en-US" sz="1800" dirty="0"/>
          </a:p>
        </p:txBody>
      </p:sp>
      <p:sp>
        <p:nvSpPr>
          <p:cNvPr id="5" name="S18_strip3_other_4"/>
          <p:cNvSpPr/>
          <p:nvPr/>
        </p:nvSpPr>
        <p:spPr>
          <a:xfrm>
            <a:off x="3532632" y="182880"/>
            <a:ext cx="2819400"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Velocity</a:t>
            </a:r>
            <a:endParaRPr lang="en-US" sz="1600" dirty="0"/>
          </a:p>
        </p:txBody>
      </p:sp>
      <p:sp>
        <p:nvSpPr>
          <p:cNvPr id="6" name="S18_strip3_arrow_5"/>
          <p:cNvSpPr txBox="1"/>
          <p:nvPr/>
        </p:nvSpPr>
        <p:spPr>
          <a:xfrm>
            <a:off x="6352032" y="182880"/>
            <a:ext cx="411480" cy="36576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1800" b="1" dirty="0">
                <a:solidFill>
                  <a:schemeClr val="tx1"/>
                </a:solidFill>
                <a:latin typeface="Arial"/>
                <a:cs typeface="Arial"/>
              </a:rPr>
              <a:t>→</a:t>
            </a:r>
            <a:endParaRPr lang="en-US" sz="1800" dirty="0"/>
          </a:p>
        </p:txBody>
      </p:sp>
      <p:sp>
        <p:nvSpPr>
          <p:cNvPr id="7" name="S18_strip3_cur_6"/>
          <p:cNvSpPr/>
          <p:nvPr/>
        </p:nvSpPr>
        <p:spPr>
          <a:xfrm>
            <a:off x="6763512" y="182880"/>
            <a:ext cx="4876800" cy="365760"/>
          </a:xfrm>
          <a:prstGeom prst="roundRect">
            <a:avLst>
              <a:gd name="adj" fmla="val 25000"/>
            </a:avLst>
          </a:prstGeom>
          <a:solidFill>
            <a:schemeClr val="accent1"/>
          </a:solidFill>
          <a:ln w="38100">
            <a:solidFill>
              <a:schemeClr val="accent1"/>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 Variety — you are here</a:t>
            </a:r>
            <a:endParaRPr lang="en-US" sz="1600" dirty="0"/>
          </a:p>
        </p:txBody>
      </p:sp>
      <p:sp>
        <p:nvSpPr>
          <p:cNvPr id="8" name="S18_panel_7"/>
          <p:cNvSpPr/>
          <p:nvPr/>
        </p:nvSpPr>
        <p:spPr>
          <a:xfrm>
            <a:off x="548640" y="1737360"/>
            <a:ext cx="5120640" cy="3611880"/>
          </a:xfrm>
          <a:prstGeom prst="rect">
            <a:avLst/>
          </a:prstGeom>
          <a:solidFill>
            <a:schemeClr val="bg1"/>
          </a:solidFill>
          <a:ln w="25400">
            <a:solidFill>
              <a:schemeClr val="accent1"/>
            </a:solidFill>
            <a:round/>
          </a:ln>
        </p:spPr>
        <p:txBody>
          <a:bodyPr wrap="square" lIns="109728" tIns="54864" rIns="109728" bIns="54864" rtlCol="0" anchor="ctr">
            <a:noAutofit/>
          </a:bodyPr>
          <a:lstStyle/>
          <a:p>
            <a:endParaRPr lang="en-US" dirty="0"/>
          </a:p>
        </p:txBody>
      </p:sp>
      <p:sp>
        <p:nvSpPr>
          <p:cNvPr id="9" name="S18_panel_head_8"/>
          <p:cNvSpPr/>
          <p:nvPr/>
        </p:nvSpPr>
        <p:spPr>
          <a:xfrm>
            <a:off x="548640" y="1737360"/>
            <a:ext cx="5120640" cy="457200"/>
          </a:xfrm>
          <a:prstGeom prst="rect">
            <a:avLst/>
          </a:prstGeom>
          <a:solidFill>
            <a:schemeClr val="accent1"/>
          </a:solidFill>
          <a:ln w="25400">
            <a:solidFill>
              <a:schemeClr val="accent1"/>
            </a:solidFill>
            <a:round/>
          </a:ln>
        </p:spPr>
        <p:txBody>
          <a:bodyPr wrap="square" lIns="91440" tIns="45720" rIns="91440" bIns="45720" rtlCol="0" anchor="ctr">
            <a:noAutofit/>
          </a:bodyPr>
          <a:lstStyle/>
          <a:p>
            <a:pPr algn="ctr" marL="0" indent="0">
              <a:lnSpc>
                <a:spcPct val="100000"/>
              </a:lnSpc>
              <a:spcBef>
                <a:spcPts val="0"/>
              </a:spcBef>
              <a:spcAft>
                <a:spcPts val="0"/>
              </a:spcAft>
              <a:buNone/>
            </a:pPr>
            <a:r>
              <a:rPr lang="en-US" sz="2000" b="1" dirty="0">
                <a:solidFill>
                  <a:schemeClr val="bg1"/>
                </a:solidFill>
                <a:latin typeface="Arial"/>
                <a:cs typeface="Arial"/>
              </a:rPr>
              <a:t>STRUCTURED</a:t>
            </a:r>
            <a:endParaRPr lang="en-US" sz="2000" dirty="0"/>
          </a:p>
        </p:txBody>
      </p:sp>
      <p:sp>
        <p:nvSpPr>
          <p:cNvPr id="10" name="S18_panel_9"/>
          <p:cNvSpPr/>
          <p:nvPr/>
        </p:nvSpPr>
        <p:spPr>
          <a:xfrm>
            <a:off x="6519672" y="1737360"/>
            <a:ext cx="5120640" cy="3611880"/>
          </a:xfrm>
          <a:prstGeom prst="rect">
            <a:avLst/>
          </a:prstGeom>
          <a:solidFill>
            <a:schemeClr val="bg1"/>
          </a:solidFill>
          <a:ln w="25400">
            <a:solidFill>
              <a:schemeClr val="accent1"/>
            </a:solidFill>
            <a:round/>
          </a:ln>
        </p:spPr>
        <p:txBody>
          <a:bodyPr wrap="square" lIns="109728" tIns="54864" rIns="109728" bIns="54864" rtlCol="0" anchor="ctr">
            <a:noAutofit/>
          </a:bodyPr>
          <a:lstStyle/>
          <a:p>
            <a:endParaRPr lang="en-US" dirty="0"/>
          </a:p>
        </p:txBody>
      </p:sp>
      <p:sp>
        <p:nvSpPr>
          <p:cNvPr id="11" name="S18_panel_head_10"/>
          <p:cNvSpPr/>
          <p:nvPr/>
        </p:nvSpPr>
        <p:spPr>
          <a:xfrm>
            <a:off x="6519672" y="1737360"/>
            <a:ext cx="5120640" cy="457200"/>
          </a:xfrm>
          <a:prstGeom prst="rect">
            <a:avLst/>
          </a:prstGeom>
          <a:solidFill>
            <a:schemeClr val="accent1"/>
          </a:solidFill>
          <a:ln w="25400">
            <a:solidFill>
              <a:schemeClr val="accent1"/>
            </a:solidFill>
            <a:round/>
          </a:ln>
        </p:spPr>
        <p:txBody>
          <a:bodyPr wrap="square" lIns="91440" tIns="45720" rIns="91440" bIns="45720" rtlCol="0" anchor="ctr">
            <a:noAutofit/>
          </a:bodyPr>
          <a:lstStyle/>
          <a:p>
            <a:pPr algn="ctr" marL="0" indent="0">
              <a:lnSpc>
                <a:spcPct val="100000"/>
              </a:lnSpc>
              <a:spcBef>
                <a:spcPts val="0"/>
              </a:spcBef>
              <a:spcAft>
                <a:spcPts val="0"/>
              </a:spcAft>
              <a:buNone/>
            </a:pPr>
            <a:r>
              <a:rPr lang="en-US" sz="2000" b="1" dirty="0">
                <a:solidFill>
                  <a:schemeClr val="bg1"/>
                </a:solidFill>
                <a:latin typeface="Arial"/>
                <a:cs typeface="Arial"/>
              </a:rPr>
              <a:t>UNSTRUCTURED</a:t>
            </a:r>
            <a:endParaRPr lang="en-US" sz="2000" dirty="0"/>
          </a:p>
        </p:txBody>
      </p:sp>
      <p:sp>
        <p:nvSpPr>
          <p:cNvPr id="12" name="S18_vs_badge_11"/>
          <p:cNvSpPr/>
          <p:nvPr/>
        </p:nvSpPr>
        <p:spPr>
          <a:xfrm>
            <a:off x="5669280" y="3291840"/>
            <a:ext cx="850392" cy="457200"/>
          </a:xfrm>
          <a:prstGeom prst="ellipse">
            <a:avLst/>
          </a:prstGeom>
          <a:solidFill>
            <a:schemeClr val="bg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vs</a:t>
            </a:r>
            <a:endParaRPr lang="en-US" sz="2000" dirty="0"/>
          </a:p>
        </p:txBody>
      </p:sp>
      <p:sp>
        <p:nvSpPr>
          <p:cNvPr id="13" name="S18_def_12"/>
          <p:cNvSpPr txBox="1"/>
          <p:nvPr/>
        </p:nvSpPr>
        <p:spPr>
          <a:xfrm>
            <a:off x="658368" y="2240280"/>
            <a:ext cx="4937760" cy="86868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Organized in a predefined structure such as rows and columns (database tables, spreadsheets).</a:t>
            </a:r>
            <a:endParaRPr lang="en-US" sz="1800" dirty="0"/>
          </a:p>
        </p:txBody>
      </p:sp>
      <p:graphicFrame>
        <p:nvGraphicFramePr>
          <p:cNvPr id="14" name="S18_table_13" descr="Mini table with columns ID, Item, Amount, Date"/>
          <p:cNvGraphicFramePr>
            <a:graphicFrameLocks noGrp="1"/>
          </p:cNvGraphicFramePr>
          <p:nvPr/>
        </p:nvGraphicFramePr>
        <p:xfrm>
          <a:off x="777240" y="3154680"/>
          <a:ext cx="4480560" cy="1463040"/>
        </p:xfrm>
        <a:graphic>
          <a:graphicData uri="http://schemas.openxmlformats.org/drawingml/2006/table">
            <a:tbl>
              <a:tblPr firstRow="1"/>
              <a:tblGrid>
                <a:gridCol w="914400"/>
                <a:gridCol w="1280160"/>
                <a:gridCol w="1280160"/>
                <a:gridCol w="1005840"/>
              </a:tblGrid>
              <a:tr h="365760">
                <a:tc>
                  <a:txBody>
                    <a:bodyPr/>
                    <a:lstStyle/>
                    <a:p>
                      <a:pPr algn="ctr" marL="0" indent="0">
                        <a:lnSpc>
                          <a:spcPct val="100000"/>
                        </a:lnSpc>
                        <a:spcBef>
                          <a:spcPts val="0"/>
                        </a:spcBef>
                        <a:spcAft>
                          <a:spcPts val="0"/>
                        </a:spcAft>
                        <a:buNone/>
                      </a:pPr>
                      <a:r>
                        <a:rPr lang="en-US" sz="1600" b="1" dirty="0">
                          <a:solidFill>
                            <a:schemeClr val="tx1"/>
                          </a:solidFill>
                          <a:latin typeface="Arial"/>
                          <a:cs typeface="Arial"/>
                        </a:rPr>
                        <a:t>ID</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2"/>
                    </a:solidFill>
                  </a:tcPr>
                </a:tc>
                <a:tc>
                  <a:txBody>
                    <a:bodyPr/>
                    <a:lstStyle/>
                    <a:p>
                      <a:pPr algn="ctr" marL="0" indent="0">
                        <a:lnSpc>
                          <a:spcPct val="100000"/>
                        </a:lnSpc>
                        <a:spcBef>
                          <a:spcPts val="0"/>
                        </a:spcBef>
                        <a:spcAft>
                          <a:spcPts val="0"/>
                        </a:spcAft>
                        <a:buNone/>
                      </a:pPr>
                      <a:r>
                        <a:rPr lang="en-US" sz="1600" b="1" dirty="0">
                          <a:solidFill>
                            <a:schemeClr val="tx1"/>
                          </a:solidFill>
                          <a:latin typeface="Arial"/>
                          <a:cs typeface="Arial"/>
                        </a:rPr>
                        <a:t>Item</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2"/>
                    </a:solidFill>
                  </a:tcPr>
                </a:tc>
                <a:tc>
                  <a:txBody>
                    <a:bodyPr/>
                    <a:lstStyle/>
                    <a:p>
                      <a:pPr algn="ctr" marL="0" indent="0">
                        <a:lnSpc>
                          <a:spcPct val="100000"/>
                        </a:lnSpc>
                        <a:spcBef>
                          <a:spcPts val="0"/>
                        </a:spcBef>
                        <a:spcAft>
                          <a:spcPts val="0"/>
                        </a:spcAft>
                        <a:buNone/>
                      </a:pPr>
                      <a:r>
                        <a:rPr lang="en-US" sz="1600" b="1" dirty="0">
                          <a:solidFill>
                            <a:schemeClr val="tx1"/>
                          </a:solidFill>
                          <a:latin typeface="Arial"/>
                          <a:cs typeface="Arial"/>
                        </a:rPr>
                        <a:t>Amount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2"/>
                    </a:solidFill>
                  </a:tcPr>
                </a:tc>
                <a:tc>
                  <a:txBody>
                    <a:bodyPr/>
                    <a:lstStyle/>
                    <a:p>
                      <a:pPr algn="ctr" marL="0" indent="0">
                        <a:lnSpc>
                          <a:spcPct val="100000"/>
                        </a:lnSpc>
                        <a:spcBef>
                          <a:spcPts val="0"/>
                        </a:spcBef>
                        <a:spcAft>
                          <a:spcPts val="0"/>
                        </a:spcAft>
                        <a:buNone/>
                      </a:pPr>
                      <a:r>
                        <a:rPr lang="en-US" sz="1600" b="1" dirty="0">
                          <a:solidFill>
                            <a:schemeClr val="tx1"/>
                          </a:solidFill>
                          <a:latin typeface="Arial"/>
                          <a:cs typeface="Arial"/>
                        </a:rPr>
                        <a:t>Date</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2"/>
                    </a:solidFill>
                  </a:tcPr>
                </a:tc>
              </a:tr>
              <a:tr h="365760">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r>
              <a:tr h="365760">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r>
              <a:tr h="365760">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c>
                  <a:txBody>
                    <a:bodyPr/>
                    <a:lstStyle/>
                    <a:p>
                      <a:pPr algn="ctr" marL="0" indent="0">
                        <a:lnSpc>
                          <a:spcPct val="100000"/>
                        </a:lnSpc>
                        <a:spcBef>
                          <a:spcPts val="0"/>
                        </a:spcBef>
                        <a:spcAft>
                          <a:spcPts val="0"/>
                        </a:spcAft>
                        <a:buNone/>
                      </a:pPr>
                      <a:r>
                        <a:rPr lang="en-US" sz="1600" b="0" dirty="0">
                          <a:solidFill>
                            <a:schemeClr val="tx1"/>
                          </a:solidFill>
                          <a:latin typeface="Arial"/>
                          <a:cs typeface="Arial"/>
                        </a:rPr>
                        <a:t>…</a:t>
                      </a:r>
                      <a:endParaRPr lang="en-US" sz="1600" dirty="0"/>
                    </a:p>
                  </a:txBody>
                  <a:tcPr marL="45720" marR="45720" marT="27432" marB="27432"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1"/>
                    </a:solidFill>
                  </a:tcPr>
                </a:tc>
              </a:tr>
            </a:tbl>
          </a:graphicData>
        </a:graphic>
      </p:graphicFrame>
      <p:sp>
        <p:nvSpPr>
          <p:cNvPr id="15" name="S18_caption_14"/>
          <p:cNvSpPr txBox="1"/>
          <p:nvPr/>
        </p:nvSpPr>
        <p:spPr>
          <a:xfrm>
            <a:off x="777240" y="4709160"/>
            <a:ext cx="4480560" cy="3657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rows and columns</a:t>
            </a:r>
            <a:endParaRPr lang="en-US" sz="1800" dirty="0"/>
          </a:p>
        </p:txBody>
      </p:sp>
      <p:sp>
        <p:nvSpPr>
          <p:cNvPr id="16" name="S18_def_15"/>
          <p:cNvSpPr txBox="1"/>
          <p:nvPr/>
        </p:nvSpPr>
        <p:spPr>
          <a:xfrm>
            <a:off x="6629400" y="2240280"/>
            <a:ext cx="4937760" cy="86868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Text documents, audio, images, video, social-media posts.</a:t>
            </a:r>
            <a:endParaRPr lang="en-US" sz="1800" dirty="0"/>
          </a:p>
        </p:txBody>
      </p:sp>
      <p:sp>
        <p:nvSpPr>
          <p:cNvPr id="17" name="S18_tile_16"/>
          <p:cNvSpPr/>
          <p:nvPr/>
        </p:nvSpPr>
        <p:spPr>
          <a:xfrm>
            <a:off x="6656832" y="3154680"/>
            <a:ext cx="1481328" cy="1051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8" name="S18_tile_label_17"/>
          <p:cNvSpPr txBox="1"/>
          <p:nvPr/>
        </p:nvSpPr>
        <p:spPr>
          <a:xfrm>
            <a:off x="6656832" y="3703320"/>
            <a:ext cx="1481328" cy="475488"/>
          </a:xfrm>
          <a:prstGeom prst="rect">
            <a:avLst/>
          </a:prstGeom>
          <a:noFill/>
          <a:ln>
            <a:noFill/>
          </a:ln>
        </p:spPr>
        <p:txBody>
          <a:bodyPr wrap="square" lIns="18288" tIns="0" rIns="18288"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Text documents</a:t>
            </a:r>
            <a:endParaRPr lang="en-US" sz="1600" dirty="0"/>
          </a:p>
        </p:txBody>
      </p:sp>
      <p:sp>
        <p:nvSpPr>
          <p:cNvPr id="19" name="S18_ico_18">
            <a:extLst>
              <a:ext uri="{C183D7F6-B498-43B3-948B-1728B52AA6E4}">
                <adec:decorative xmlns:adec="http://schemas.microsoft.com/office/drawing/2017/decorative" val="1"/>
              </a:ext>
            </a:extLst>
          </p:cNvPr>
          <p:cNvSpPr/>
          <p:nvPr/>
        </p:nvSpPr>
        <p:spPr>
          <a:xfrm>
            <a:off x="7214616" y="3227832"/>
            <a:ext cx="365760" cy="457200"/>
          </a:xfrm>
          <a:prstGeom prst="rect">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cxnSp>
        <p:nvCxnSpPr>
          <p:cNvPr id="20" name="S18_conn_19">
            <a:extLst>
              <a:ext uri="{C183D7F6-B498-43B3-948B-1728B52AA6E4}">
                <adec:decorative xmlns:adec="http://schemas.microsoft.com/office/drawing/2017/decorative" val="1"/>
              </a:ext>
            </a:extLst>
          </p:cNvPr>
          <p:cNvCxnSpPr/>
          <p:nvPr/>
        </p:nvCxnSpPr>
        <p:spPr>
          <a:xfrm>
            <a:off x="7287768" y="3346704"/>
            <a:ext cx="219456" cy="0"/>
          </a:xfrm>
          <a:prstGeom prst="line">
            <a:avLst/>
          </a:prstGeom>
          <a:ln w="19050">
            <a:solidFill>
              <a:schemeClr val="accent1"/>
            </a:solidFill>
            <a:round/>
          </a:ln>
        </p:spPr>
      </p:cxnSp>
      <p:cxnSp>
        <p:nvCxnSpPr>
          <p:cNvPr id="21" name="S18_conn_20">
            <a:extLst>
              <a:ext uri="{C183D7F6-B498-43B3-948B-1728B52AA6E4}">
                <adec:decorative xmlns:adec="http://schemas.microsoft.com/office/drawing/2017/decorative" val="1"/>
              </a:ext>
            </a:extLst>
          </p:cNvPr>
          <p:cNvCxnSpPr/>
          <p:nvPr/>
        </p:nvCxnSpPr>
        <p:spPr>
          <a:xfrm>
            <a:off x="7287768" y="3447288"/>
            <a:ext cx="219456" cy="0"/>
          </a:xfrm>
          <a:prstGeom prst="line">
            <a:avLst/>
          </a:prstGeom>
          <a:ln w="19050">
            <a:solidFill>
              <a:schemeClr val="accent1"/>
            </a:solidFill>
            <a:round/>
          </a:ln>
        </p:spPr>
      </p:cxnSp>
      <p:cxnSp>
        <p:nvCxnSpPr>
          <p:cNvPr id="22" name="S18_conn_21">
            <a:extLst>
              <a:ext uri="{C183D7F6-B498-43B3-948B-1728B52AA6E4}">
                <adec:decorative xmlns:adec="http://schemas.microsoft.com/office/drawing/2017/decorative" val="1"/>
              </a:ext>
            </a:extLst>
          </p:cNvPr>
          <p:cNvCxnSpPr/>
          <p:nvPr/>
        </p:nvCxnSpPr>
        <p:spPr>
          <a:xfrm>
            <a:off x="7287768" y="3547872"/>
            <a:ext cx="219456" cy="0"/>
          </a:xfrm>
          <a:prstGeom prst="line">
            <a:avLst/>
          </a:prstGeom>
          <a:ln w="19050">
            <a:solidFill>
              <a:schemeClr val="accent1"/>
            </a:solidFill>
            <a:round/>
          </a:ln>
        </p:spPr>
      </p:cxnSp>
      <p:sp>
        <p:nvSpPr>
          <p:cNvPr id="23" name="S18_tile_22"/>
          <p:cNvSpPr/>
          <p:nvPr/>
        </p:nvSpPr>
        <p:spPr>
          <a:xfrm>
            <a:off x="8211312" y="3154680"/>
            <a:ext cx="1481328" cy="1051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4" name="S18_tile_label_23"/>
          <p:cNvSpPr txBox="1"/>
          <p:nvPr/>
        </p:nvSpPr>
        <p:spPr>
          <a:xfrm>
            <a:off x="8211312" y="3703320"/>
            <a:ext cx="1481328" cy="475488"/>
          </a:xfrm>
          <a:prstGeom prst="rect">
            <a:avLst/>
          </a:prstGeom>
          <a:noFill/>
          <a:ln>
            <a:noFill/>
          </a:ln>
        </p:spPr>
        <p:txBody>
          <a:bodyPr wrap="square" lIns="18288" tIns="0" rIns="18288"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Audio</a:t>
            </a:r>
            <a:endParaRPr lang="en-US" sz="1600" dirty="0"/>
          </a:p>
        </p:txBody>
      </p:sp>
      <p:sp>
        <p:nvSpPr>
          <p:cNvPr id="25" name="S18_ico_24">
            <a:extLst>
              <a:ext uri="{C183D7F6-B498-43B3-948B-1728B52AA6E4}">
                <adec:decorative xmlns:adec="http://schemas.microsoft.com/office/drawing/2017/decorative" val="1"/>
              </a:ext>
            </a:extLst>
          </p:cNvPr>
          <p:cNvSpPr/>
          <p:nvPr/>
        </p:nvSpPr>
        <p:spPr>
          <a:xfrm>
            <a:off x="8723376" y="3364992"/>
            <a:ext cx="182880" cy="182880"/>
          </a:xfrm>
          <a:prstGeom prst="rect">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26" name="S18_ico_25">
            <a:extLst>
              <a:ext uri="{C183D7F6-B498-43B3-948B-1728B52AA6E4}">
                <adec:decorative xmlns:adec="http://schemas.microsoft.com/office/drawing/2017/decorative" val="1"/>
              </a:ext>
            </a:extLst>
          </p:cNvPr>
          <p:cNvSpPr/>
          <p:nvPr/>
        </p:nvSpPr>
        <p:spPr>
          <a:xfrm>
            <a:off x="8878824" y="3300984"/>
            <a:ext cx="128016" cy="310896"/>
          </a:xfrm>
          <a:prstGeom prst="trapezoid">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27" name="S18_ico_26">
            <a:extLst>
              <a:ext uri="{C183D7F6-B498-43B3-948B-1728B52AA6E4}">
                <adec:decorative xmlns:adec="http://schemas.microsoft.com/office/drawing/2017/decorative" val="1"/>
              </a:ext>
            </a:extLst>
          </p:cNvPr>
          <p:cNvSpPr/>
          <p:nvPr/>
        </p:nvSpPr>
        <p:spPr>
          <a:xfrm>
            <a:off x="8951976" y="3319272"/>
            <a:ext cx="274320" cy="274320"/>
          </a:xfrm>
          <a:prstGeom prst="arc">
            <a:avLst/>
          </a:prstGeom>
          <a:noFill/>
          <a:ln w="25400">
            <a:solidFill>
              <a:schemeClr val="accent1"/>
            </a:solidFill>
            <a:round/>
          </a:ln>
        </p:spPr>
        <p:txBody>
          <a:bodyPr wrap="square" lIns="91440" tIns="45720" rIns="91440" bIns="45720" rtlCol="0" anchor="ctr">
            <a:noAutofit/>
          </a:bodyPr>
          <a:lstStyle/>
          <a:p>
            <a:endParaRPr lang="en-US" dirty="0"/>
          </a:p>
        </p:txBody>
      </p:sp>
      <p:sp>
        <p:nvSpPr>
          <p:cNvPr id="28" name="S18_tile_27"/>
          <p:cNvSpPr/>
          <p:nvPr/>
        </p:nvSpPr>
        <p:spPr>
          <a:xfrm>
            <a:off x="9765792" y="3154680"/>
            <a:ext cx="1481328" cy="1051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9" name="S18_tile_label_28"/>
          <p:cNvSpPr txBox="1"/>
          <p:nvPr/>
        </p:nvSpPr>
        <p:spPr>
          <a:xfrm>
            <a:off x="9765792" y="3703320"/>
            <a:ext cx="1481328" cy="475488"/>
          </a:xfrm>
          <a:prstGeom prst="rect">
            <a:avLst/>
          </a:prstGeom>
          <a:noFill/>
          <a:ln>
            <a:noFill/>
          </a:ln>
        </p:spPr>
        <p:txBody>
          <a:bodyPr wrap="square" lIns="18288" tIns="0" rIns="18288"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Images</a:t>
            </a:r>
            <a:endParaRPr lang="en-US" sz="1600" dirty="0"/>
          </a:p>
        </p:txBody>
      </p:sp>
      <p:sp>
        <p:nvSpPr>
          <p:cNvPr id="30" name="S18_ico_29">
            <a:extLst>
              <a:ext uri="{C183D7F6-B498-43B3-948B-1728B52AA6E4}">
                <adec:decorative xmlns:adec="http://schemas.microsoft.com/office/drawing/2017/decorative" val="1"/>
              </a:ext>
            </a:extLst>
          </p:cNvPr>
          <p:cNvSpPr/>
          <p:nvPr/>
        </p:nvSpPr>
        <p:spPr>
          <a:xfrm>
            <a:off x="10259568" y="3246120"/>
            <a:ext cx="493776" cy="420624"/>
          </a:xfrm>
          <a:prstGeom prst="rect">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31" name="S18_ico_30">
            <a:extLst>
              <a:ext uri="{C183D7F6-B498-43B3-948B-1728B52AA6E4}">
                <adec:decorative xmlns:adec="http://schemas.microsoft.com/office/drawing/2017/decorative" val="1"/>
              </a:ext>
            </a:extLst>
          </p:cNvPr>
          <p:cNvSpPr/>
          <p:nvPr/>
        </p:nvSpPr>
        <p:spPr>
          <a:xfrm>
            <a:off x="10323576" y="3429000"/>
            <a:ext cx="256032" cy="219456"/>
          </a:xfrm>
          <a:prstGeom prst="triangl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32" name="S18_ico_31">
            <a:extLst>
              <a:ext uri="{C183D7F6-B498-43B3-948B-1728B52AA6E4}">
                <adec:decorative xmlns:adec="http://schemas.microsoft.com/office/drawing/2017/decorative" val="1"/>
              </a:ext>
            </a:extLst>
          </p:cNvPr>
          <p:cNvSpPr/>
          <p:nvPr/>
        </p:nvSpPr>
        <p:spPr>
          <a:xfrm>
            <a:off x="10597896" y="3300984"/>
            <a:ext cx="109728" cy="109728"/>
          </a:xfrm>
          <a:prstGeom prst="ellipse">
            <a:avLst/>
          </a:prstGeom>
          <a:solidFill>
            <a:schemeClr val="accent1"/>
          </a:solidFill>
          <a:ln w="25400">
            <a:solidFill>
              <a:schemeClr val="accent1"/>
            </a:solidFill>
            <a:round/>
          </a:ln>
        </p:spPr>
        <p:txBody>
          <a:bodyPr wrap="square" lIns="91440" tIns="45720" rIns="91440" bIns="45720" rtlCol="0" anchor="ctr">
            <a:noAutofit/>
          </a:bodyPr>
          <a:lstStyle/>
          <a:p>
            <a:endParaRPr lang="en-US" dirty="0"/>
          </a:p>
        </p:txBody>
      </p:sp>
      <p:sp>
        <p:nvSpPr>
          <p:cNvPr id="33" name="S18_tile_32"/>
          <p:cNvSpPr/>
          <p:nvPr/>
        </p:nvSpPr>
        <p:spPr>
          <a:xfrm>
            <a:off x="6656832" y="4251960"/>
            <a:ext cx="1481328" cy="1051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34" name="S18_tile_label_33"/>
          <p:cNvSpPr txBox="1"/>
          <p:nvPr/>
        </p:nvSpPr>
        <p:spPr>
          <a:xfrm>
            <a:off x="6656832" y="4800600"/>
            <a:ext cx="1481328" cy="475488"/>
          </a:xfrm>
          <a:prstGeom prst="rect">
            <a:avLst/>
          </a:prstGeom>
          <a:noFill/>
          <a:ln>
            <a:noFill/>
          </a:ln>
        </p:spPr>
        <p:txBody>
          <a:bodyPr wrap="square" lIns="18288" tIns="0" rIns="18288"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Video</a:t>
            </a:r>
            <a:endParaRPr lang="en-US" sz="1600" dirty="0"/>
          </a:p>
        </p:txBody>
      </p:sp>
      <p:sp>
        <p:nvSpPr>
          <p:cNvPr id="35" name="S18_ico_34">
            <a:extLst>
              <a:ext uri="{C183D7F6-B498-43B3-948B-1728B52AA6E4}">
                <adec:decorative xmlns:adec="http://schemas.microsoft.com/office/drawing/2017/decorative" val="1"/>
              </a:ext>
            </a:extLst>
          </p:cNvPr>
          <p:cNvSpPr/>
          <p:nvPr/>
        </p:nvSpPr>
        <p:spPr>
          <a:xfrm>
            <a:off x="7150608" y="4343400"/>
            <a:ext cx="493776" cy="420624"/>
          </a:xfrm>
          <a:prstGeom prst="rect">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36" name="S18_ico_35">
            <a:extLst>
              <a:ext uri="{C183D7F6-B498-43B3-948B-1728B52AA6E4}">
                <adec:decorative xmlns:adec="http://schemas.microsoft.com/office/drawing/2017/decorative" val="1"/>
              </a:ext>
            </a:extLst>
          </p:cNvPr>
          <p:cNvSpPr/>
          <p:nvPr/>
        </p:nvSpPr>
        <p:spPr>
          <a:xfrm>
            <a:off x="7315200" y="4453128"/>
            <a:ext cx="182880" cy="201168"/>
          </a:xfrm>
          <a:prstGeom prst="triangle">
            <a:avLst/>
          </a:prstGeom>
          <a:solidFill>
            <a:schemeClr val="accent1"/>
          </a:solidFill>
          <a:ln w="12700">
            <a:solidFill>
              <a:schemeClr val="accent1"/>
            </a:solidFill>
            <a:round/>
          </a:ln>
        </p:spPr>
        <p:txBody>
          <a:bodyPr wrap="square" lIns="91440" tIns="45720" rIns="91440" bIns="45720" rtlCol="0" anchor="ctr">
            <a:noAutofit/>
          </a:bodyPr>
          <a:lstStyle/>
          <a:p>
            <a:endParaRPr lang="en-US" dirty="0"/>
          </a:p>
        </p:txBody>
      </p:sp>
      <p:sp>
        <p:nvSpPr>
          <p:cNvPr id="37" name="S18_tile_36"/>
          <p:cNvSpPr/>
          <p:nvPr/>
        </p:nvSpPr>
        <p:spPr>
          <a:xfrm>
            <a:off x="8211312" y="4251960"/>
            <a:ext cx="1481328" cy="10515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38" name="S18_tile_label_37"/>
          <p:cNvSpPr txBox="1"/>
          <p:nvPr/>
        </p:nvSpPr>
        <p:spPr>
          <a:xfrm>
            <a:off x="8211312" y="4800600"/>
            <a:ext cx="1481328" cy="475488"/>
          </a:xfrm>
          <a:prstGeom prst="rect">
            <a:avLst/>
          </a:prstGeom>
          <a:noFill/>
          <a:ln>
            <a:noFill/>
          </a:ln>
        </p:spPr>
        <p:txBody>
          <a:bodyPr wrap="square" lIns="18288" tIns="0" rIns="18288"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Social-media posts</a:t>
            </a:r>
            <a:endParaRPr lang="en-US" sz="1600" dirty="0"/>
          </a:p>
        </p:txBody>
      </p:sp>
      <p:sp>
        <p:nvSpPr>
          <p:cNvPr id="39" name="S18_ico_38">
            <a:extLst>
              <a:ext uri="{C183D7F6-B498-43B3-948B-1728B52AA6E4}">
                <adec:decorative xmlns:adec="http://schemas.microsoft.com/office/drawing/2017/decorative" val="1"/>
              </a:ext>
            </a:extLst>
          </p:cNvPr>
          <p:cNvSpPr/>
          <p:nvPr/>
        </p:nvSpPr>
        <p:spPr>
          <a:xfrm>
            <a:off x="8705088" y="4343400"/>
            <a:ext cx="493776" cy="310896"/>
          </a:xfrm>
          <a:prstGeom prst="roundRect">
            <a:avLst>
              <a:gd name="adj" fmla="val 25000"/>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40" name="S18_ico_39">
            <a:extLst>
              <a:ext uri="{C183D7F6-B498-43B3-948B-1728B52AA6E4}">
                <adec:decorative xmlns:adec="http://schemas.microsoft.com/office/drawing/2017/decorative" val="1"/>
              </a:ext>
            </a:extLst>
          </p:cNvPr>
          <p:cNvSpPr/>
          <p:nvPr/>
        </p:nvSpPr>
        <p:spPr>
          <a:xfrm>
            <a:off x="8842248" y="4636008"/>
            <a:ext cx="128016" cy="128016"/>
          </a:xfrm>
          <a:prstGeom prst="triangle">
            <a:avLst/>
          </a:prstGeom>
          <a:solidFill>
            <a:schemeClr val="bg1"/>
          </a:solidFill>
          <a:ln w="25400">
            <a:solidFill>
              <a:schemeClr val="accent1"/>
            </a:solidFill>
            <a:round/>
          </a:ln>
        </p:spPr>
        <p:txBody>
          <a:bodyPr wrap="square" lIns="91440" tIns="45720" rIns="91440" bIns="45720" rtlCol="0" anchor="ctr">
            <a:noAutofit/>
          </a:bodyPr>
          <a:lstStyle/>
          <a:p>
            <a:endParaRPr lang="en-US" dirty="0"/>
          </a:p>
        </p:txBody>
      </p:sp>
      <p:sp>
        <p:nvSpPr>
          <p:cNvPr id="41" name="S18_note_40"/>
          <p:cNvSpPr txBox="1"/>
          <p:nvPr/>
        </p:nvSpPr>
        <p:spPr>
          <a:xfrm>
            <a:off x="548640" y="5440680"/>
            <a:ext cx="11091672"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i="1" dirty="0">
                <a:solidFill>
                  <a:schemeClr val="accent3"/>
                </a:solidFill>
                <a:latin typeface="Arial"/>
                <a:cs typeface="Arial"/>
              </a:rPr>
              <a:t>Semi-structured — JSON / logs; not developed further.</a:t>
            </a:r>
            <a:endParaRPr lang="en-US" sz="1800" dirty="0"/>
          </a:p>
        </p:txBody>
      </p:sp>
      <p:sp>
        <p:nvSpPr>
          <p:cNvPr id="42" name="S18_slide_number_41"/>
          <p:cNvSpPr>
            <a:spLocks noGrp="1"/>
          </p:cNvSpPr>
          <p:nvPr>
            <p:ph type="sldNum" sz="quarter" idx="12"/>
          </p:nvPr>
        </p:nvSpPr>
        <p:spPr/>
        <p:txBody>
          <a:bodyPr/>
          <a:lstStyle/>
          <a:p>
            <a:fld id="{B6F15528-21DE-4FAA-801E-634DDDAF4B2B}" type="slidenum">
              <a:rPr lang="en-US" sz="1200" dirty="0">
                <a:latin typeface="Arial"/>
              </a:r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19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Data: why does business analytics rely on it?</a:t>
            </a:r>
            <a:endParaRPr lang="en-US" sz="3200" dirty="0"/>
          </a:p>
        </p:txBody>
      </p:sp>
      <p:sp>
        <p:nvSpPr>
          <p:cNvPr id="3" name="S19_card_2"/>
          <p:cNvSpPr/>
          <p:nvPr/>
        </p:nvSpPr>
        <p:spPr>
          <a:xfrm>
            <a:off x="548640" y="1783080"/>
            <a:ext cx="5440680" cy="12344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4" name="S19_badge_3"/>
          <p:cNvSpPr/>
          <p:nvPr/>
        </p:nvSpPr>
        <p:spPr>
          <a:xfrm>
            <a:off x="676656" y="191109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1</a:t>
            </a:r>
            <a:endParaRPr lang="en-US" sz="1600" dirty="0"/>
          </a:p>
        </p:txBody>
      </p:sp>
      <p:sp>
        <p:nvSpPr>
          <p:cNvPr id="5" name="S19_card_text_4"/>
          <p:cNvSpPr txBox="1"/>
          <p:nvPr/>
        </p:nvSpPr>
        <p:spPr>
          <a:xfrm>
            <a:off x="1280160" y="1856232"/>
            <a:ext cx="4572000" cy="10881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What kinds of data?</a:t>
            </a:r>
            <a:endParaRPr lang="en-US" sz="2400" dirty="0"/>
          </a:p>
        </p:txBody>
      </p:sp>
      <p:sp>
        <p:nvSpPr>
          <p:cNvPr id="6" name="S19_card_5"/>
          <p:cNvSpPr/>
          <p:nvPr/>
        </p:nvSpPr>
        <p:spPr>
          <a:xfrm>
            <a:off x="6199632" y="1783080"/>
            <a:ext cx="5440680" cy="12344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7" name="S19_badge_6"/>
          <p:cNvSpPr/>
          <p:nvPr/>
        </p:nvSpPr>
        <p:spPr>
          <a:xfrm>
            <a:off x="6327648" y="191109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2</a:t>
            </a:r>
            <a:endParaRPr lang="en-US" sz="1600" dirty="0"/>
          </a:p>
        </p:txBody>
      </p:sp>
      <p:sp>
        <p:nvSpPr>
          <p:cNvPr id="8" name="S19_card_text_7"/>
          <p:cNvSpPr txBox="1"/>
          <p:nvPr/>
        </p:nvSpPr>
        <p:spPr>
          <a:xfrm>
            <a:off x="6931152" y="1856232"/>
            <a:ext cx="4572000" cy="10881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How do we get it (data collection)?</a:t>
            </a:r>
            <a:endParaRPr lang="en-US" sz="2400" dirty="0"/>
          </a:p>
        </p:txBody>
      </p:sp>
      <p:sp>
        <p:nvSpPr>
          <p:cNvPr id="9" name="S19_card_8"/>
          <p:cNvSpPr/>
          <p:nvPr/>
        </p:nvSpPr>
        <p:spPr>
          <a:xfrm>
            <a:off x="548640" y="3154680"/>
            <a:ext cx="5440680" cy="12344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0" name="S19_badge_9"/>
          <p:cNvSpPr/>
          <p:nvPr/>
        </p:nvSpPr>
        <p:spPr>
          <a:xfrm>
            <a:off x="676656" y="328269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3</a:t>
            </a:r>
            <a:endParaRPr lang="en-US" sz="1600" dirty="0"/>
          </a:p>
        </p:txBody>
      </p:sp>
      <p:sp>
        <p:nvSpPr>
          <p:cNvPr id="11" name="S19_card_text_10"/>
          <p:cNvSpPr txBox="1"/>
          <p:nvPr/>
        </p:nvSpPr>
        <p:spPr>
          <a:xfrm>
            <a:off x="1280160" y="3227832"/>
            <a:ext cx="4572000" cy="10881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How do we manage it?</a:t>
            </a:r>
            <a:endParaRPr lang="en-US" sz="2400" dirty="0"/>
          </a:p>
        </p:txBody>
      </p:sp>
      <p:sp>
        <p:nvSpPr>
          <p:cNvPr id="12" name="S19_card_11"/>
          <p:cNvSpPr/>
          <p:nvPr/>
        </p:nvSpPr>
        <p:spPr>
          <a:xfrm>
            <a:off x="6199632" y="3154680"/>
            <a:ext cx="5440680" cy="12344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3" name="S19_badge_12"/>
          <p:cNvSpPr/>
          <p:nvPr/>
        </p:nvSpPr>
        <p:spPr>
          <a:xfrm>
            <a:off x="6327648" y="3282696"/>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4</a:t>
            </a:r>
            <a:endParaRPr lang="en-US" sz="1600" dirty="0"/>
          </a:p>
        </p:txBody>
      </p:sp>
      <p:sp>
        <p:nvSpPr>
          <p:cNvPr id="14" name="S19_card_text_13"/>
          <p:cNvSpPr txBox="1"/>
          <p:nvPr/>
        </p:nvSpPr>
        <p:spPr>
          <a:xfrm>
            <a:off x="6931152" y="3227832"/>
            <a:ext cx="4572000" cy="108813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How do we analyze it?</a:t>
            </a:r>
            <a:endParaRPr lang="en-US" sz="2400" dirty="0"/>
          </a:p>
        </p:txBody>
      </p:sp>
      <p:sp>
        <p:nvSpPr>
          <p:cNvPr id="15" name="S19_goes_bar_14"/>
          <p:cNvSpPr/>
          <p:nvPr/>
        </p:nvSpPr>
        <p:spPr>
          <a:xfrm>
            <a:off x="548640" y="4572000"/>
            <a:ext cx="11091672" cy="685800"/>
          </a:xfrm>
          <a:prstGeom prst="rect">
            <a:avLst/>
          </a:prstGeom>
          <a:solidFill>
            <a:schemeClr val="bg1"/>
          </a:solidFill>
          <a:ln w="12700">
            <a:solidFill>
              <a:schemeClr val="accent4"/>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Where the course goes:</a:t>
            </a:r>
            <a:r>
              <a:rPr lang="en-US" sz="1800" b="0" dirty="0">
                <a:solidFill>
                  <a:schemeClr val="tx1"/>
                </a:solidFill>
                <a:latin typeface="Arial"/>
                <a:cs typeface="Arial"/>
              </a:rPr>
              <a:t> data types and data management are covered later; analytical methods follow; text analysis later handles unstructured text.</a:t>
            </a:r>
            <a:endParaRPr lang="en-US" sz="1800" dirty="0"/>
          </a:p>
        </p:txBody>
      </p:sp>
      <p:sp>
        <p:nvSpPr>
          <p:cNvPr id="16" name="S19_habit_box_15"/>
          <p:cNvSpPr/>
          <p:nvPr/>
        </p:nvSpPr>
        <p:spPr>
          <a:xfrm>
            <a:off x="548640" y="5349240"/>
            <a:ext cx="11091672" cy="685800"/>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Data-literacy habit:</a:t>
            </a:r>
            <a:r>
              <a:rPr lang="en-US" sz="1800" b="0" dirty="0">
                <a:solidFill>
                  <a:schemeClr val="tx1"/>
                </a:solidFill>
                <a:latin typeface="Arial"/>
                <a:cs typeface="Arial"/>
              </a:rPr>
              <a:t> say when and how a dataset was collected (for example, the App Store dataset is a historical snapshot collected in July 2013 and is labeled that way).</a:t>
            </a:r>
            <a:endParaRPr lang="en-US" sz="1800" dirty="0"/>
          </a:p>
        </p:txBody>
      </p:sp>
      <p:sp>
        <p:nvSpPr>
          <p:cNvPr id="17" name="S19_slide_number_16"/>
          <p:cNvSpPr>
            <a:spLocks noGrp="1"/>
          </p:cNvSpPr>
          <p:nvPr>
            <p:ph type="sldNum" sz="quarter" idx="12"/>
          </p:nvPr>
        </p:nvSpPr>
        <p:spPr/>
        <p:txBody>
          <a:bodyPr/>
          <a:lstStyle/>
          <a:p>
            <a:fld id="{B6F15528-21DE-4FAA-801E-634DDDAF4B2B}" type="slidenum">
              <a:rPr lang="en-US" sz="1200" dirty="0">
                <a:latin typeface="Arial"/>
              </a:r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0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Analytics: methods and types</a:t>
            </a:r>
            <a:endParaRPr lang="en-US" sz="3200" dirty="0"/>
          </a:p>
        </p:txBody>
      </p:sp>
      <p:sp>
        <p:nvSpPr>
          <p:cNvPr id="3" name="S20_strip_other_2"/>
          <p:cNvSpPr/>
          <p:nvPr/>
        </p:nvSpPr>
        <p:spPr>
          <a:xfrm>
            <a:off x="548640" y="182880"/>
            <a:ext cx="1528191"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Data</a:t>
            </a:r>
            <a:endParaRPr lang="en-US" sz="1600" dirty="0"/>
          </a:p>
        </p:txBody>
      </p:sp>
      <p:sp>
        <p:nvSpPr>
          <p:cNvPr id="4" name="S20_strip_cur_3"/>
          <p:cNvSpPr/>
          <p:nvPr/>
        </p:nvSpPr>
        <p:spPr>
          <a:xfrm>
            <a:off x="2177415" y="182880"/>
            <a:ext cx="4353687" cy="365760"/>
          </a:xfrm>
          <a:prstGeom prst="roundRect">
            <a:avLst>
              <a:gd name="adj" fmla="val 25000"/>
            </a:avLst>
          </a:prstGeom>
          <a:solidFill>
            <a:schemeClr val="accent1"/>
          </a:solidFill>
          <a:ln w="38100">
            <a:solidFill>
              <a:schemeClr val="accent1"/>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 Analytics — you are here</a:t>
            </a:r>
            <a:endParaRPr lang="en-US" sz="1600" dirty="0"/>
          </a:p>
        </p:txBody>
      </p:sp>
      <p:sp>
        <p:nvSpPr>
          <p:cNvPr id="5" name="S20_strip_other_4"/>
          <p:cNvSpPr/>
          <p:nvPr/>
        </p:nvSpPr>
        <p:spPr>
          <a:xfrm>
            <a:off x="6631686" y="182880"/>
            <a:ext cx="3009519"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Business problem</a:t>
            </a:r>
            <a:endParaRPr lang="en-US" sz="1600" dirty="0"/>
          </a:p>
        </p:txBody>
      </p:sp>
      <p:sp>
        <p:nvSpPr>
          <p:cNvPr id="6" name="S20_strip_other_5"/>
          <p:cNvSpPr/>
          <p:nvPr/>
        </p:nvSpPr>
        <p:spPr>
          <a:xfrm>
            <a:off x="9741789" y="182880"/>
            <a:ext cx="1898523"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Insight</a:t>
            </a:r>
            <a:endParaRPr lang="en-US" sz="1600" dirty="0"/>
          </a:p>
        </p:txBody>
      </p:sp>
      <p:sp>
        <p:nvSpPr>
          <p:cNvPr id="7" name="S20_left_head_6"/>
          <p:cNvSpPr txBox="1"/>
          <p:nvPr/>
        </p:nvSpPr>
        <p:spPr>
          <a:xfrm>
            <a:off x="548640" y="1783080"/>
            <a:ext cx="5394960" cy="8229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Refers to various </a:t>
            </a:r>
            <a:r>
              <a:rPr lang="en-US" sz="2400" b="1" dirty="0">
                <a:solidFill>
                  <a:schemeClr val="tx1"/>
                </a:solidFill>
                <a:latin typeface="Arial"/>
                <a:cs typeface="Arial"/>
              </a:rPr>
              <a:t>methods</a:t>
            </a:r>
            <a:r>
              <a:rPr lang="en-US" sz="2400" b="1" dirty="0">
                <a:solidFill>
                  <a:schemeClr val="tx1"/>
                </a:solidFill>
                <a:latin typeface="Arial"/>
                <a:cs typeface="Arial"/>
              </a:rPr>
              <a:t> and </a:t>
            </a:r>
            <a:r>
              <a:rPr lang="en-US" sz="2400" b="1" dirty="0">
                <a:solidFill>
                  <a:schemeClr val="tx1"/>
                </a:solidFill>
                <a:latin typeface="Arial"/>
                <a:cs typeface="Arial"/>
              </a:rPr>
              <a:t>procedures</a:t>
            </a:r>
            <a:r>
              <a:rPr lang="en-US" sz="2400" b="1" dirty="0">
                <a:solidFill>
                  <a:schemeClr val="tx1"/>
                </a:solidFill>
                <a:latin typeface="Arial"/>
                <a:cs typeface="Arial"/>
              </a:rPr>
              <a:t> in</a:t>
            </a:r>
            <a:endParaRPr lang="en-US" sz="2400" dirty="0"/>
          </a:p>
        </p:txBody>
      </p:sp>
      <p:sp>
        <p:nvSpPr>
          <p:cNvPr id="8" name="S20_method_chip_7"/>
          <p:cNvSpPr/>
          <p:nvPr/>
        </p:nvSpPr>
        <p:spPr>
          <a:xfrm>
            <a:off x="548640" y="2697480"/>
            <a:ext cx="5394960" cy="65836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Mathematics (Arithmetic: Sum, Mean, SD…)</a:t>
            </a:r>
            <a:endParaRPr lang="en-US" sz="1800" dirty="0"/>
          </a:p>
        </p:txBody>
      </p:sp>
      <p:sp>
        <p:nvSpPr>
          <p:cNvPr id="9" name="S20_method_chip_8"/>
          <p:cNvSpPr/>
          <p:nvPr/>
        </p:nvSpPr>
        <p:spPr>
          <a:xfrm>
            <a:off x="548640" y="3474720"/>
            <a:ext cx="5394960" cy="65836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Statistics (Prediction, Probabilities,…)</a:t>
            </a:r>
            <a:endParaRPr lang="en-US" sz="1800" dirty="0"/>
          </a:p>
        </p:txBody>
      </p:sp>
      <p:sp>
        <p:nvSpPr>
          <p:cNvPr id="10" name="S20_method_chip_9"/>
          <p:cNvSpPr/>
          <p:nvPr/>
        </p:nvSpPr>
        <p:spPr>
          <a:xfrm>
            <a:off x="548640" y="4251960"/>
            <a:ext cx="5394960" cy="65836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Computer Science (Machine Learning)</a:t>
            </a:r>
            <a:endParaRPr lang="en-US" sz="1800" dirty="0"/>
          </a:p>
        </p:txBody>
      </p:sp>
      <p:sp>
        <p:nvSpPr>
          <p:cNvPr id="11" name="S20_method_chip_10"/>
          <p:cNvSpPr/>
          <p:nvPr/>
        </p:nvSpPr>
        <p:spPr>
          <a:xfrm>
            <a:off x="548640" y="5029200"/>
            <a:ext cx="5394960" cy="658368"/>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a:t>
            </a:r>
            <a:endParaRPr lang="en-US" sz="1800" dirty="0"/>
          </a:p>
        </p:txBody>
      </p:sp>
      <p:sp>
        <p:nvSpPr>
          <p:cNvPr id="12" name="S20_right_head_11"/>
          <p:cNvSpPr txBox="1"/>
          <p:nvPr/>
        </p:nvSpPr>
        <p:spPr>
          <a:xfrm>
            <a:off x="6245352" y="1783080"/>
            <a:ext cx="5394960" cy="8229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Types of analytics</a:t>
            </a:r>
            <a:endParaRPr lang="en-US" sz="2400" dirty="0"/>
          </a:p>
        </p:txBody>
      </p:sp>
      <p:sp>
        <p:nvSpPr>
          <p:cNvPr id="13" name="S20_type_card_12"/>
          <p:cNvSpPr/>
          <p:nvPr/>
        </p:nvSpPr>
        <p:spPr>
          <a:xfrm>
            <a:off x="6245352" y="2697480"/>
            <a:ext cx="5394960" cy="1463040"/>
          </a:xfrm>
          <a:prstGeom prst="rect">
            <a:avLst/>
          </a:prstGeom>
          <a:solidFill>
            <a:schemeClr val="bg1"/>
          </a:solidFill>
          <a:ln w="381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Descriptive Analytics:</a:t>
            </a:r>
            <a:endParaRPr lang="en-US" sz="2400" dirty="0"/>
          </a:p>
          <a:p>
            <a:pPr algn="l" marL="0" indent="0">
              <a:lnSpc>
                <a:spcPct val="100000"/>
              </a:lnSpc>
              <a:spcBef>
                <a:spcPts val="0"/>
              </a:spcBef>
              <a:spcAft>
                <a:spcPts val="0"/>
              </a:spcAft>
              <a:buNone/>
            </a:pPr>
            <a:r>
              <a:rPr lang="en-US" sz="2400" b="0" dirty="0">
                <a:solidFill>
                  <a:schemeClr val="tx1"/>
                </a:solidFill>
                <a:latin typeface="Arial"/>
                <a:cs typeface="Arial"/>
              </a:rPr>
              <a:t>What has happened?</a:t>
            </a:r>
            <a:endParaRPr lang="en-US" sz="2400" dirty="0"/>
          </a:p>
        </p:txBody>
      </p:sp>
      <p:sp>
        <p:nvSpPr>
          <p:cNvPr id="14" name="S20_type_card_13"/>
          <p:cNvSpPr/>
          <p:nvPr/>
        </p:nvSpPr>
        <p:spPr>
          <a:xfrm>
            <a:off x="6245352" y="4343400"/>
            <a:ext cx="5394960" cy="1463040"/>
          </a:xfrm>
          <a:prstGeom prst="rect">
            <a:avLst/>
          </a:prstGeom>
          <a:solidFill>
            <a:schemeClr val="bg1"/>
          </a:solidFill>
          <a:ln w="38100">
            <a:solidFill>
              <a:schemeClr val="accent1"/>
            </a:solidFill>
            <a:prstDash val="dash"/>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Predictive Analytics:</a:t>
            </a:r>
            <a:endParaRPr lang="en-US" sz="2400" dirty="0"/>
          </a:p>
          <a:p>
            <a:pPr algn="l" marL="0" indent="0">
              <a:lnSpc>
                <a:spcPct val="100000"/>
              </a:lnSpc>
              <a:spcBef>
                <a:spcPts val="0"/>
              </a:spcBef>
              <a:spcAft>
                <a:spcPts val="0"/>
              </a:spcAft>
              <a:buNone/>
            </a:pPr>
            <a:r>
              <a:rPr lang="en-US" sz="2400" b="0" dirty="0">
                <a:solidFill>
                  <a:schemeClr val="tx1"/>
                </a:solidFill>
                <a:latin typeface="Arial"/>
                <a:cs typeface="Arial"/>
              </a:rPr>
              <a:t>What could happen?</a:t>
            </a:r>
            <a:endParaRPr lang="en-US" sz="2400" dirty="0"/>
          </a:p>
        </p:txBody>
      </p:sp>
      <p:sp>
        <p:nvSpPr>
          <p:cNvPr id="15" name="S20_slide_number_14"/>
          <p:cNvSpPr>
            <a:spLocks noGrp="1"/>
          </p:cNvSpPr>
          <p:nvPr>
            <p:ph type="sldNum" sz="quarter" idx="12"/>
          </p:nvPr>
        </p:nvSpPr>
        <p:spPr/>
        <p:txBody>
          <a:bodyPr/>
          <a:lstStyle/>
          <a:p>
            <a:fld id="{B6F15528-21DE-4FAA-801E-634DDDAF4B2B}" type="slidenum">
              <a:rPr lang="en-US" sz="1200" dirty="0">
                <a:latin typeface="Arial"/>
              </a:r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1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Descriptive analytics</a:t>
            </a:r>
            <a:endParaRPr lang="en-US" sz="3200" dirty="0"/>
          </a:p>
        </p:txBody>
      </p:sp>
      <p:sp>
        <p:nvSpPr>
          <p:cNvPr id="3" name="S21_body_2"/>
          <p:cNvSpPr>
            <a:spLocks noGrp="1"/>
          </p:cNvSpPr>
          <p:nvPr>
            <p:ph type="body" idx="1"/>
          </p:nvPr>
        </p:nvSpPr>
        <p:spPr>
          <a:xfrm>
            <a:off x="548640" y="1783080"/>
            <a:ext cx="11091672" cy="3291840"/>
          </a:xfrm>
        </p:spPr>
        <p:txBody>
          <a:bodyPr/>
          <a:lstStyle/>
          <a:p>
            <a:pPr algn="l" marL="0" indent="0">
              <a:lnSpc>
                <a:spcPct val="100000"/>
              </a:lnSpc>
              <a:spcBef>
                <a:spcPts val="0"/>
              </a:spcBef>
              <a:spcAft>
                <a:spcPts val="1000"/>
              </a:spcAft>
              <a:buNone/>
            </a:pPr>
            <a:r>
              <a:rPr lang="en-US" sz="2800" b="1" dirty="0">
                <a:solidFill>
                  <a:schemeClr val="tx1"/>
                </a:solidFill>
                <a:latin typeface="Arial"/>
                <a:cs typeface="Arial"/>
              </a:rPr>
              <a:t>Identify, classify, and count objects or events</a:t>
            </a:r>
            <a:endParaRPr lang="en-US" sz="2800" dirty="0"/>
          </a:p>
          <a:p>
            <a:pPr algn="l" marL="342900" indent="-342900">
              <a:lnSpc>
                <a:spcPct val="100000"/>
              </a:lnSpc>
              <a:spcBef>
                <a:spcPts val="0"/>
              </a:spcBef>
              <a:spcAft>
                <a:spcPts val="600"/>
              </a:spcAft>
              <a:buFont typeface="Arial"/>
              <a:buChar char="•"/>
            </a:pPr>
            <a:r>
              <a:rPr lang="en-US" sz="2200" b="0" dirty="0">
                <a:solidFill>
                  <a:schemeClr val="tx1"/>
                </a:solidFill>
                <a:latin typeface="Arial"/>
                <a:cs typeface="Arial"/>
              </a:rPr>
              <a:t>Money spent or number of widgets manufactured in the past time period.</a:t>
            </a:r>
            <a:endParaRPr lang="en-US" sz="2200" dirty="0"/>
          </a:p>
          <a:p>
            <a:pPr algn="l" marL="342900" indent="-342900">
              <a:lnSpc>
                <a:spcPct val="100000"/>
              </a:lnSpc>
              <a:spcBef>
                <a:spcPts val="0"/>
              </a:spcBef>
              <a:spcAft>
                <a:spcPts val="600"/>
              </a:spcAft>
              <a:buFont typeface="Arial"/>
              <a:buChar char="•"/>
            </a:pPr>
            <a:r>
              <a:rPr lang="en-US" sz="2200" b="0" dirty="0">
                <a:solidFill>
                  <a:schemeClr val="tx1"/>
                </a:solidFill>
                <a:latin typeface="Arial"/>
                <a:cs typeface="Arial"/>
              </a:rPr>
              <a:t>They are critical for knowing how the organization is performing—your current situation.</a:t>
            </a:r>
            <a:endParaRPr lang="en-US" sz="2200" dirty="0"/>
          </a:p>
          <a:p>
            <a:pPr algn="l" marL="342900" indent="-342900">
              <a:lnSpc>
                <a:spcPct val="100000"/>
              </a:lnSpc>
              <a:spcBef>
                <a:spcPts val="0"/>
              </a:spcBef>
              <a:spcAft>
                <a:spcPts val="600"/>
              </a:spcAft>
              <a:buFont typeface="Arial"/>
              <a:buChar char="•"/>
            </a:pPr>
            <a:r>
              <a:rPr lang="en-US" sz="2200" b="0" dirty="0">
                <a:solidFill>
                  <a:schemeClr val="tx1"/>
                </a:solidFill>
                <a:latin typeface="Arial"/>
                <a:cs typeface="Arial"/>
              </a:rPr>
              <a:t>For example, they let you know if you are above or below budget, or are performing up to standards.</a:t>
            </a:r>
            <a:endParaRPr lang="en-US" sz="2200" dirty="0"/>
          </a:p>
          <a:p>
            <a:pPr algn="l" marL="342900" indent="-342900">
              <a:lnSpc>
                <a:spcPct val="100000"/>
              </a:lnSpc>
              <a:spcBef>
                <a:spcPts val="0"/>
              </a:spcBef>
              <a:spcAft>
                <a:spcPts val="0"/>
              </a:spcAft>
              <a:buFont typeface="Arial"/>
              <a:buChar char="•"/>
            </a:pPr>
            <a:r>
              <a:rPr lang="en-US" sz="2200" b="0" dirty="0">
                <a:solidFill>
                  <a:schemeClr val="tx1"/>
                </a:solidFill>
                <a:latin typeface="Arial"/>
                <a:cs typeface="Arial"/>
              </a:rPr>
              <a:t>This category includes reports and dashboards.</a:t>
            </a:r>
            <a:endParaRPr lang="en-US" sz="2200" dirty="0"/>
          </a:p>
        </p:txBody>
      </p:sp>
      <p:cxnSp>
        <p:nvCxnSpPr>
          <p:cNvPr id="4" name="S21_conn_3">
            <a:extLst>
              <a:ext uri="{C183D7F6-B498-43B3-948B-1728B52AA6E4}">
                <adec:decorative xmlns:adec="http://schemas.microsoft.com/office/drawing/2017/decorative" val="1"/>
              </a:ext>
            </a:extLst>
          </p:cNvPr>
          <p:cNvCxnSpPr/>
          <p:nvPr/>
        </p:nvCxnSpPr>
        <p:spPr>
          <a:xfrm>
            <a:off x="548640" y="5166360"/>
            <a:ext cx="11091672" cy="0"/>
          </a:xfrm>
          <a:prstGeom prst="line">
            <a:avLst/>
          </a:prstGeom>
          <a:ln w="19050">
            <a:solidFill>
              <a:schemeClr val="accent4"/>
            </a:solidFill>
            <a:round/>
          </a:ln>
        </p:spPr>
      </p:cxnSp>
      <p:sp>
        <p:nvSpPr>
          <p:cNvPr id="5" name="S21_closing_4"/>
          <p:cNvSpPr txBox="1"/>
          <p:nvPr/>
        </p:nvSpPr>
        <p:spPr>
          <a:xfrm>
            <a:off x="548640" y="5230368"/>
            <a:ext cx="11091672" cy="8229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Descriptive analytics summarizes past and current performance — it tells us what happened.</a:t>
            </a:r>
            <a:endParaRPr lang="en-US" sz="2400" dirty="0"/>
          </a:p>
        </p:txBody>
      </p:sp>
      <p:sp>
        <p:nvSpPr>
          <p:cNvPr id="6" name="S21_slide_number_5"/>
          <p:cNvSpPr>
            <a:spLocks noGrp="1"/>
          </p:cNvSpPr>
          <p:nvPr>
            <p:ph type="sldNum" sz="quarter" idx="12"/>
          </p:nvPr>
        </p:nvSpPr>
        <p:spPr/>
        <p:txBody>
          <a:bodyPr/>
          <a:lstStyle/>
          <a:p>
            <a:fld id="{B6F15528-21DE-4FAA-801E-634DDDAF4B2B}" type="slidenum">
              <a:rPr lang="en-US" sz="1200" dirty="0">
                <a:latin typeface="Arial"/>
              </a:r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2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Descriptive analytics in practice: a dashboard (illustrative)</a:t>
            </a:r>
            <a:endParaRPr lang="en-US" sz="2800" dirty="0"/>
          </a:p>
        </p:txBody>
      </p:sp>
      <p:sp>
        <p:nvSpPr>
          <p:cNvPr id="3" name="S22_dashboard_frame_2"/>
          <p:cNvSpPr/>
          <p:nvPr/>
        </p:nvSpPr>
        <p:spPr>
          <a:xfrm>
            <a:off x="548640" y="2240280"/>
            <a:ext cx="7498080" cy="3749040"/>
          </a:xfrm>
          <a:prstGeom prst="rect">
            <a:avLst/>
          </a:prstGeom>
          <a:solidFill>
            <a:schemeClr val="bg1"/>
          </a:solidFill>
          <a:ln w="25400">
            <a:solidFill>
              <a:schemeClr val="accent1"/>
            </a:solidFill>
            <a:prstDash val="dash"/>
            <a:round/>
          </a:ln>
        </p:spPr>
        <p:txBody>
          <a:bodyPr wrap="square" lIns="109728" tIns="54864" rIns="109728" bIns="54864" rtlCol="0" anchor="ctr">
            <a:noAutofit/>
          </a:bodyPr>
          <a:lstStyle/>
          <a:p>
            <a:endParaRPr lang="en-US" dirty="0"/>
          </a:p>
        </p:txBody>
      </p:sp>
      <p:sp>
        <p:nvSpPr>
          <p:cNvPr id="4" name="S22_frame_header_3"/>
          <p:cNvSpPr txBox="1"/>
          <p:nvPr/>
        </p:nvSpPr>
        <p:spPr>
          <a:xfrm>
            <a:off x="640080" y="2267712"/>
            <a:ext cx="7315200" cy="50292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ILLUSTRATIVE EXAMPLE — Online Store</a:t>
            </a:r>
            <a:endParaRPr lang="en-US" sz="1600" dirty="0"/>
          </a:p>
          <a:p>
            <a:pPr algn="l" marL="0" indent="0">
              <a:lnSpc>
                <a:spcPct val="100000"/>
              </a:lnSpc>
              <a:spcBef>
                <a:spcPts val="0"/>
              </a:spcBef>
              <a:spcAft>
                <a:spcPts val="0"/>
              </a:spcAft>
              <a:buNone/>
            </a:pPr>
            <a:r>
              <a:rPr lang="en-US" sz="1600" b="0" dirty="0">
                <a:solidFill>
                  <a:schemeClr val="accent3"/>
                </a:solidFill>
                <a:latin typeface="Arial"/>
                <a:cs typeface="Arial"/>
              </a:rPr>
              <a:t>Toy values — not from a real organization or dataset</a:t>
            </a:r>
            <a:endParaRPr lang="en-US" sz="1600" dirty="0"/>
          </a:p>
        </p:txBody>
      </p:sp>
      <p:sp>
        <p:nvSpPr>
          <p:cNvPr id="5" name="S22_kpi_tile_4"/>
          <p:cNvSpPr/>
          <p:nvPr/>
        </p:nvSpPr>
        <p:spPr>
          <a:xfrm>
            <a:off x="731520" y="2834640"/>
            <a:ext cx="2240280" cy="868680"/>
          </a:xfrm>
          <a:prstGeom prst="rect">
            <a:avLst/>
          </a:prstGeom>
          <a:solidFill>
            <a:schemeClr val="bg2"/>
          </a:solidFill>
          <a:ln w="12700">
            <a:solidFill>
              <a:schemeClr val="accent4"/>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600" b="0" dirty="0">
                <a:solidFill>
                  <a:schemeClr val="accent3"/>
                </a:solidFill>
                <a:latin typeface="Arial"/>
                <a:cs typeface="Arial"/>
              </a:rPr>
              <a:t>Orders</a:t>
            </a:r>
            <a:endParaRPr lang="en-US" sz="1600" dirty="0"/>
          </a:p>
          <a:p>
            <a:pPr algn="ctr" marL="0" indent="0">
              <a:lnSpc>
                <a:spcPct val="100000"/>
              </a:lnSpc>
              <a:spcBef>
                <a:spcPts val="0"/>
              </a:spcBef>
              <a:spcAft>
                <a:spcPts val="0"/>
              </a:spcAft>
              <a:buNone/>
            </a:pPr>
            <a:r>
              <a:rPr lang="en-US" sz="2800" b="1" dirty="0">
                <a:solidFill>
                  <a:schemeClr val="tx1"/>
                </a:solidFill>
                <a:latin typeface="Arial"/>
                <a:cs typeface="Arial"/>
              </a:rPr>
              <a:t>120</a:t>
            </a:r>
            <a:endParaRPr lang="en-US" sz="2800" dirty="0"/>
          </a:p>
        </p:txBody>
      </p:sp>
      <p:sp>
        <p:nvSpPr>
          <p:cNvPr id="6" name="S22_kpi_tile_5"/>
          <p:cNvSpPr/>
          <p:nvPr/>
        </p:nvSpPr>
        <p:spPr>
          <a:xfrm>
            <a:off x="3154680" y="2834640"/>
            <a:ext cx="2240280" cy="868680"/>
          </a:xfrm>
          <a:prstGeom prst="rect">
            <a:avLst/>
          </a:prstGeom>
          <a:solidFill>
            <a:schemeClr val="bg2"/>
          </a:solidFill>
          <a:ln w="12700">
            <a:solidFill>
              <a:schemeClr val="accent4"/>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600" b="0" dirty="0">
                <a:solidFill>
                  <a:schemeClr val="accent3"/>
                </a:solidFill>
                <a:latin typeface="Arial"/>
                <a:cs typeface="Arial"/>
              </a:rPr>
              <a:t>Revenue</a:t>
            </a:r>
            <a:endParaRPr lang="en-US" sz="1600" dirty="0"/>
          </a:p>
          <a:p>
            <a:pPr algn="ctr" marL="0" indent="0">
              <a:lnSpc>
                <a:spcPct val="100000"/>
              </a:lnSpc>
              <a:spcBef>
                <a:spcPts val="0"/>
              </a:spcBef>
              <a:spcAft>
                <a:spcPts val="0"/>
              </a:spcAft>
              <a:buNone/>
            </a:pPr>
            <a:r>
              <a:rPr lang="en-US" sz="2800" b="1" dirty="0">
                <a:solidFill>
                  <a:schemeClr val="tx1"/>
                </a:solidFill>
                <a:latin typeface="Arial"/>
                <a:cs typeface="Arial"/>
              </a:rPr>
              <a:t>$6,000</a:t>
            </a:r>
            <a:endParaRPr lang="en-US" sz="2800" dirty="0"/>
          </a:p>
        </p:txBody>
      </p:sp>
      <p:sp>
        <p:nvSpPr>
          <p:cNvPr id="7" name="S22_kpi_tile_6"/>
          <p:cNvSpPr/>
          <p:nvPr/>
        </p:nvSpPr>
        <p:spPr>
          <a:xfrm>
            <a:off x="5577840" y="2834640"/>
            <a:ext cx="2240280" cy="868680"/>
          </a:xfrm>
          <a:prstGeom prst="rect">
            <a:avLst/>
          </a:prstGeom>
          <a:solidFill>
            <a:schemeClr val="bg2"/>
          </a:solidFill>
          <a:ln w="12700">
            <a:solidFill>
              <a:schemeClr val="accent4"/>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1600" b="0" dirty="0">
                <a:solidFill>
                  <a:schemeClr val="accent3"/>
                </a:solidFill>
                <a:latin typeface="Arial"/>
                <a:cs typeface="Arial"/>
              </a:rPr>
              <a:t>Average order value</a:t>
            </a:r>
            <a:endParaRPr lang="en-US" sz="1600" dirty="0"/>
          </a:p>
          <a:p>
            <a:pPr algn="ctr" marL="0" indent="0">
              <a:lnSpc>
                <a:spcPct val="100000"/>
              </a:lnSpc>
              <a:spcBef>
                <a:spcPts val="0"/>
              </a:spcBef>
              <a:spcAft>
                <a:spcPts val="0"/>
              </a:spcAft>
              <a:buNone/>
            </a:pPr>
            <a:r>
              <a:rPr lang="en-US" sz="2800" b="1" dirty="0">
                <a:solidFill>
                  <a:schemeClr val="tx1"/>
                </a:solidFill>
                <a:latin typeface="Arial"/>
                <a:cs typeface="Arial"/>
              </a:rPr>
              <a:t>$50</a:t>
            </a:r>
            <a:endParaRPr lang="en-US" sz="2800" dirty="0"/>
          </a:p>
        </p:txBody>
      </p:sp>
      <p:sp>
        <p:nvSpPr>
          <p:cNvPr id="8" name="S22_chart_title_7"/>
          <p:cNvSpPr txBox="1"/>
          <p:nvPr/>
        </p:nvSpPr>
        <p:spPr>
          <a:xfrm>
            <a:off x="731520" y="3767328"/>
            <a:ext cx="4572000" cy="32004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600" b="1" dirty="0">
                <a:solidFill>
                  <a:schemeClr val="tx1"/>
                </a:solidFill>
                <a:latin typeface="Arial"/>
                <a:cs typeface="Arial"/>
              </a:rPr>
              <a:t>Weekly revenue</a:t>
            </a:r>
            <a:endParaRPr lang="en-US" sz="1600" dirty="0"/>
          </a:p>
        </p:txBody>
      </p:sp>
      <p:cxnSp>
        <p:nvCxnSpPr>
          <p:cNvPr id="9" name="S22_conn_8">
            <a:extLst>
              <a:ext uri="{C183D7F6-B498-43B3-948B-1728B52AA6E4}">
                <adec:decorative xmlns:adec="http://schemas.microsoft.com/office/drawing/2017/decorative" val="1"/>
              </a:ext>
            </a:extLst>
          </p:cNvPr>
          <p:cNvCxnSpPr/>
          <p:nvPr/>
        </p:nvCxnSpPr>
        <p:spPr>
          <a:xfrm>
            <a:off x="1417320" y="5394960"/>
            <a:ext cx="6035040" cy="0"/>
          </a:xfrm>
          <a:prstGeom prst="line">
            <a:avLst/>
          </a:prstGeom>
          <a:ln w="19050">
            <a:solidFill>
              <a:schemeClr val="tx1"/>
            </a:solidFill>
            <a:round/>
          </a:ln>
        </p:spPr>
      </p:cxnSp>
      <p:cxnSp>
        <p:nvCxnSpPr>
          <p:cNvPr id="10" name="S22_conn_9">
            <a:extLst>
              <a:ext uri="{C183D7F6-B498-43B3-948B-1728B52AA6E4}">
                <adec:decorative xmlns:adec="http://schemas.microsoft.com/office/drawing/2017/decorative" val="1"/>
              </a:ext>
            </a:extLst>
          </p:cNvPr>
          <p:cNvCxnSpPr/>
          <p:nvPr/>
        </p:nvCxnSpPr>
        <p:spPr>
          <a:xfrm>
            <a:off x="1417320" y="4389120"/>
            <a:ext cx="0" cy="1005840"/>
          </a:xfrm>
          <a:prstGeom prst="line">
            <a:avLst/>
          </a:prstGeom>
          <a:ln w="19050">
            <a:solidFill>
              <a:schemeClr val="tx1"/>
            </a:solidFill>
            <a:round/>
          </a:ln>
        </p:spPr>
      </p:cxnSp>
      <p:sp>
        <p:nvSpPr>
          <p:cNvPr id="11" name="S22_path_10">
            <a:extLst>
              <a:ext uri="{C183D7F6-B498-43B3-948B-1728B52AA6E4}">
                <adec:decorative xmlns:adec="http://schemas.microsoft.com/office/drawing/2017/decorative" val="1"/>
              </a:ext>
            </a:extLst>
          </p:cNvPr>
          <p:cNvSpPr/>
          <p:nvPr/>
        </p:nvSpPr>
        <p:spPr>
          <a:xfrm>
            <a:off x="1965960" y="4439412"/>
            <a:ext cx="4937760" cy="352044"/>
          </a:xfrm>
          <a:custGeom>
            <a:avLst/>
            <a:gdLst/>
            <a:ahLst/>
            <a:cxnLst/>
            <a:rect l="0" t="0" r="r" b="b"/>
            <a:pathLst>
              <a:path w="4937760" h="352044" fill="none">
                <a:moveTo>
                  <a:pt x="0" y="352044"/>
                </a:moveTo>
                <a:lnTo>
                  <a:pt x="1645920" y="251460"/>
                </a:lnTo>
                <a:lnTo>
                  <a:pt x="3291840" y="201168"/>
                </a:lnTo>
                <a:lnTo>
                  <a:pt x="4937760" y="0"/>
                </a:lnTo>
              </a:path>
            </a:pathLst>
          </a:custGeom>
          <a:noFill/>
          <a:ln w="31750">
            <a:solidFill>
              <a:schemeClr val="accent1"/>
            </a:solidFill>
            <a:round/>
          </a:ln>
        </p:spPr>
        <p:txBody>
          <a:bodyPr/>
          <a:lstStyle/>
          <a:p>
            <a:endParaRPr lang="en-US"/>
          </a:p>
        </p:txBody>
      </p:sp>
      <p:sp>
        <p:nvSpPr>
          <p:cNvPr id="12" name="S22_marker_11">
            <a:extLst>
              <a:ext uri="{C183D7F6-B498-43B3-948B-1728B52AA6E4}">
                <adec:decorative xmlns:adec="http://schemas.microsoft.com/office/drawing/2017/decorative" val="1"/>
              </a:ext>
            </a:extLst>
          </p:cNvPr>
          <p:cNvSpPr/>
          <p:nvPr/>
        </p:nvSpPr>
        <p:spPr>
          <a:xfrm>
            <a:off x="1883664" y="4709160"/>
            <a:ext cx="164592" cy="164592"/>
          </a:xfrm>
          <a:prstGeom prst="ellipse">
            <a:avLst/>
          </a:prstGeom>
          <a:solidFill>
            <a:schemeClr val="accent1"/>
          </a:solidFill>
          <a:ln w="19050">
            <a:solidFill>
              <a:schemeClr val="accent1"/>
            </a:solidFill>
            <a:round/>
          </a:ln>
        </p:spPr>
        <p:txBody>
          <a:bodyPr wrap="square" lIns="91440" tIns="45720" rIns="91440" bIns="45720" rtlCol="0" anchor="ctr">
            <a:noAutofit/>
          </a:bodyPr>
          <a:lstStyle/>
          <a:p>
            <a:endParaRPr lang="en-US" dirty="0"/>
          </a:p>
        </p:txBody>
      </p:sp>
      <p:sp>
        <p:nvSpPr>
          <p:cNvPr id="13" name="S22_data_label_12"/>
          <p:cNvSpPr txBox="1"/>
          <p:nvPr/>
        </p:nvSpPr>
        <p:spPr>
          <a:xfrm>
            <a:off x="1417320" y="4407408"/>
            <a:ext cx="1097280" cy="274320"/>
          </a:xfrm>
          <a:prstGeom prst="rect">
            <a:avLst/>
          </a:prstGeom>
          <a:noFill/>
          <a:ln>
            <a:noFill/>
          </a:ln>
        </p:spPr>
        <p:txBody>
          <a:bodyPr wrap="square" lIns="0" tIns="0" rIns="0"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$1.2k</a:t>
            </a:r>
            <a:endParaRPr lang="en-US" sz="1600" dirty="0"/>
          </a:p>
        </p:txBody>
      </p:sp>
      <p:sp>
        <p:nvSpPr>
          <p:cNvPr id="14" name="S22_axis_tick_13"/>
          <p:cNvSpPr txBox="1"/>
          <p:nvPr/>
        </p:nvSpPr>
        <p:spPr>
          <a:xfrm>
            <a:off x="1508760" y="5422392"/>
            <a:ext cx="914400" cy="256032"/>
          </a:xfrm>
          <a:prstGeom prst="rect">
            <a:avLst/>
          </a:prstGeom>
          <a:noFill/>
          <a:ln>
            <a:noFill/>
          </a:ln>
        </p:spPr>
        <p:txBody>
          <a:bodyPr wrap="square" lIns="0" tIns="0" rIns="0" bIns="0" rtlCol="0" anchor="t">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Week 1</a:t>
            </a:r>
            <a:endParaRPr lang="en-US" sz="1600" dirty="0"/>
          </a:p>
        </p:txBody>
      </p:sp>
      <p:sp>
        <p:nvSpPr>
          <p:cNvPr id="15" name="S22_marker_14">
            <a:extLst>
              <a:ext uri="{C183D7F6-B498-43B3-948B-1728B52AA6E4}">
                <adec:decorative xmlns:adec="http://schemas.microsoft.com/office/drawing/2017/decorative" val="1"/>
              </a:ext>
            </a:extLst>
          </p:cNvPr>
          <p:cNvSpPr/>
          <p:nvPr/>
        </p:nvSpPr>
        <p:spPr>
          <a:xfrm>
            <a:off x="3529584" y="4608576"/>
            <a:ext cx="164592" cy="164592"/>
          </a:xfrm>
          <a:prstGeom prst="diamond">
            <a:avLst/>
          </a:prstGeom>
          <a:solidFill>
            <a:schemeClr val="accent1"/>
          </a:solidFill>
          <a:ln w="19050">
            <a:solidFill>
              <a:schemeClr val="accent1"/>
            </a:solidFill>
            <a:round/>
          </a:ln>
        </p:spPr>
        <p:txBody>
          <a:bodyPr wrap="square" lIns="91440" tIns="45720" rIns="91440" bIns="45720" rtlCol="0" anchor="ctr">
            <a:noAutofit/>
          </a:bodyPr>
          <a:lstStyle/>
          <a:p>
            <a:endParaRPr lang="en-US" dirty="0"/>
          </a:p>
        </p:txBody>
      </p:sp>
      <p:sp>
        <p:nvSpPr>
          <p:cNvPr id="16" name="S22_data_label_15"/>
          <p:cNvSpPr txBox="1"/>
          <p:nvPr/>
        </p:nvSpPr>
        <p:spPr>
          <a:xfrm>
            <a:off x="3063240" y="4306824"/>
            <a:ext cx="1097280" cy="274320"/>
          </a:xfrm>
          <a:prstGeom prst="rect">
            <a:avLst/>
          </a:prstGeom>
          <a:noFill/>
          <a:ln>
            <a:noFill/>
          </a:ln>
        </p:spPr>
        <p:txBody>
          <a:bodyPr wrap="square" lIns="0" tIns="0" rIns="0"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$1.4k</a:t>
            </a:r>
            <a:endParaRPr lang="en-US" sz="1600" dirty="0"/>
          </a:p>
        </p:txBody>
      </p:sp>
      <p:sp>
        <p:nvSpPr>
          <p:cNvPr id="17" name="S22_axis_tick_16"/>
          <p:cNvSpPr txBox="1"/>
          <p:nvPr/>
        </p:nvSpPr>
        <p:spPr>
          <a:xfrm>
            <a:off x="3154680" y="5422392"/>
            <a:ext cx="914400" cy="256032"/>
          </a:xfrm>
          <a:prstGeom prst="rect">
            <a:avLst/>
          </a:prstGeom>
          <a:noFill/>
          <a:ln>
            <a:noFill/>
          </a:ln>
        </p:spPr>
        <p:txBody>
          <a:bodyPr wrap="square" lIns="0" tIns="0" rIns="0" bIns="0" rtlCol="0" anchor="t">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Week 2</a:t>
            </a:r>
            <a:endParaRPr lang="en-US" sz="1600" dirty="0"/>
          </a:p>
        </p:txBody>
      </p:sp>
      <p:sp>
        <p:nvSpPr>
          <p:cNvPr id="18" name="S22_marker_17">
            <a:extLst>
              <a:ext uri="{C183D7F6-B498-43B3-948B-1728B52AA6E4}">
                <adec:decorative xmlns:adec="http://schemas.microsoft.com/office/drawing/2017/decorative" val="1"/>
              </a:ext>
            </a:extLst>
          </p:cNvPr>
          <p:cNvSpPr/>
          <p:nvPr/>
        </p:nvSpPr>
        <p:spPr>
          <a:xfrm>
            <a:off x="5175504" y="4558284"/>
            <a:ext cx="164592" cy="164592"/>
          </a:xfrm>
          <a:prstGeom prst="ellipse">
            <a:avLst/>
          </a:prstGeom>
          <a:solidFill>
            <a:schemeClr val="accent1"/>
          </a:solidFill>
          <a:ln w="19050">
            <a:solidFill>
              <a:schemeClr val="accent1"/>
            </a:solidFill>
            <a:round/>
          </a:ln>
        </p:spPr>
        <p:txBody>
          <a:bodyPr wrap="square" lIns="91440" tIns="45720" rIns="91440" bIns="45720" rtlCol="0" anchor="ctr">
            <a:noAutofit/>
          </a:bodyPr>
          <a:lstStyle/>
          <a:p>
            <a:endParaRPr lang="en-US" dirty="0"/>
          </a:p>
        </p:txBody>
      </p:sp>
      <p:sp>
        <p:nvSpPr>
          <p:cNvPr id="19" name="S22_data_label_18"/>
          <p:cNvSpPr txBox="1"/>
          <p:nvPr/>
        </p:nvSpPr>
        <p:spPr>
          <a:xfrm>
            <a:off x="4709160" y="4256532"/>
            <a:ext cx="1097280" cy="274320"/>
          </a:xfrm>
          <a:prstGeom prst="rect">
            <a:avLst/>
          </a:prstGeom>
          <a:noFill/>
          <a:ln>
            <a:noFill/>
          </a:ln>
        </p:spPr>
        <p:txBody>
          <a:bodyPr wrap="square" lIns="0" tIns="0" rIns="0"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$1.5k</a:t>
            </a:r>
            <a:endParaRPr lang="en-US" sz="1600" dirty="0"/>
          </a:p>
        </p:txBody>
      </p:sp>
      <p:sp>
        <p:nvSpPr>
          <p:cNvPr id="20" name="S22_axis_tick_19"/>
          <p:cNvSpPr txBox="1"/>
          <p:nvPr/>
        </p:nvSpPr>
        <p:spPr>
          <a:xfrm>
            <a:off x="4800600" y="5422392"/>
            <a:ext cx="914400" cy="256032"/>
          </a:xfrm>
          <a:prstGeom prst="rect">
            <a:avLst/>
          </a:prstGeom>
          <a:noFill/>
          <a:ln>
            <a:noFill/>
          </a:ln>
        </p:spPr>
        <p:txBody>
          <a:bodyPr wrap="square" lIns="0" tIns="0" rIns="0" bIns="0" rtlCol="0" anchor="t">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Week 3</a:t>
            </a:r>
            <a:endParaRPr lang="en-US" sz="1600" dirty="0"/>
          </a:p>
        </p:txBody>
      </p:sp>
      <p:sp>
        <p:nvSpPr>
          <p:cNvPr id="21" name="S22_marker_20">
            <a:extLst>
              <a:ext uri="{C183D7F6-B498-43B3-948B-1728B52AA6E4}">
                <adec:decorative xmlns:adec="http://schemas.microsoft.com/office/drawing/2017/decorative" val="1"/>
              </a:ext>
            </a:extLst>
          </p:cNvPr>
          <p:cNvSpPr/>
          <p:nvPr/>
        </p:nvSpPr>
        <p:spPr>
          <a:xfrm>
            <a:off x="6821424" y="4357116"/>
            <a:ext cx="164592" cy="164592"/>
          </a:xfrm>
          <a:prstGeom prst="diamond">
            <a:avLst/>
          </a:prstGeom>
          <a:solidFill>
            <a:schemeClr val="accent1"/>
          </a:solidFill>
          <a:ln w="19050">
            <a:solidFill>
              <a:schemeClr val="accent1"/>
            </a:solidFill>
            <a:round/>
          </a:ln>
        </p:spPr>
        <p:txBody>
          <a:bodyPr wrap="square" lIns="91440" tIns="45720" rIns="91440" bIns="45720" rtlCol="0" anchor="ctr">
            <a:noAutofit/>
          </a:bodyPr>
          <a:lstStyle/>
          <a:p>
            <a:endParaRPr lang="en-US" dirty="0"/>
          </a:p>
        </p:txBody>
      </p:sp>
      <p:sp>
        <p:nvSpPr>
          <p:cNvPr id="22" name="S22_data_label_21"/>
          <p:cNvSpPr txBox="1"/>
          <p:nvPr/>
        </p:nvSpPr>
        <p:spPr>
          <a:xfrm>
            <a:off x="6355080" y="4055364"/>
            <a:ext cx="1097280" cy="274320"/>
          </a:xfrm>
          <a:prstGeom prst="rect">
            <a:avLst/>
          </a:prstGeom>
          <a:noFill/>
          <a:ln>
            <a:noFill/>
          </a:ln>
        </p:spPr>
        <p:txBody>
          <a:bodyPr wrap="square" lIns="0" tIns="0" rIns="0" bIns="0" rtlCol="0" anchor="b">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$1.9k</a:t>
            </a:r>
            <a:endParaRPr lang="en-US" sz="1600" dirty="0"/>
          </a:p>
        </p:txBody>
      </p:sp>
      <p:sp>
        <p:nvSpPr>
          <p:cNvPr id="23" name="S22_axis_tick_22"/>
          <p:cNvSpPr txBox="1"/>
          <p:nvPr/>
        </p:nvSpPr>
        <p:spPr>
          <a:xfrm>
            <a:off x="6446520" y="5422392"/>
            <a:ext cx="914400" cy="256032"/>
          </a:xfrm>
          <a:prstGeom prst="rect">
            <a:avLst/>
          </a:prstGeom>
          <a:noFill/>
          <a:ln>
            <a:noFill/>
          </a:ln>
        </p:spPr>
        <p:txBody>
          <a:bodyPr wrap="square" lIns="0" tIns="0" rIns="0" bIns="0" rtlCol="0" anchor="t">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Week 4</a:t>
            </a:r>
            <a:endParaRPr lang="en-US" sz="1600" dirty="0"/>
          </a:p>
        </p:txBody>
      </p:sp>
      <p:sp>
        <p:nvSpPr>
          <p:cNvPr id="24" name="S22_question_box_23"/>
          <p:cNvSpPr/>
          <p:nvPr/>
        </p:nvSpPr>
        <p:spPr>
          <a:xfrm>
            <a:off x="8275320" y="2240280"/>
            <a:ext cx="3364992" cy="1737360"/>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Which numbers tell us what happened?</a:t>
            </a:r>
            <a:endParaRPr lang="en-US" sz="2200" dirty="0"/>
          </a:p>
        </p:txBody>
      </p:sp>
      <p:sp>
        <p:nvSpPr>
          <p:cNvPr id="25" name="S22_question_box_24"/>
          <p:cNvSpPr/>
          <p:nvPr/>
        </p:nvSpPr>
        <p:spPr>
          <a:xfrm>
            <a:off x="8275320" y="4160520"/>
            <a:ext cx="3364992" cy="1828800"/>
          </a:xfrm>
          <a:prstGeom prst="rect">
            <a:avLst/>
          </a:prstGeom>
          <a:solidFill>
            <a:schemeClr val="bg1"/>
          </a:solidFill>
          <a:ln w="38100">
            <a:solidFill>
              <a:schemeClr val="accent1"/>
            </a:solidFill>
            <a:prstDash val="dash"/>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What question would require prediction?</a:t>
            </a:r>
            <a:endParaRPr lang="en-US" sz="2200" dirty="0"/>
          </a:p>
        </p:txBody>
      </p:sp>
      <p:sp>
        <p:nvSpPr>
          <p:cNvPr id="26" name="S22_slide_number_25"/>
          <p:cNvSpPr>
            <a:spLocks noGrp="1"/>
          </p:cNvSpPr>
          <p:nvPr>
            <p:ph type="sldNum" sz="quarter" idx="12"/>
          </p:nvPr>
        </p:nvSpPr>
        <p:spPr/>
        <p:txBody>
          <a:bodyPr/>
          <a:lstStyle/>
          <a:p>
            <a:fld id="{B6F15528-21DE-4FAA-801E-634DDDAF4B2B}" type="slidenum">
              <a:rPr lang="en-US" sz="1200" dirty="0">
                <a:latin typeface="Arial"/>
              </a:r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3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Predictive analytics</a:t>
            </a:r>
            <a:endParaRPr lang="en-US" sz="3200" dirty="0"/>
          </a:p>
        </p:txBody>
      </p:sp>
      <p:sp>
        <p:nvSpPr>
          <p:cNvPr id="3" name="S23_body_2"/>
          <p:cNvSpPr>
            <a:spLocks noGrp="1"/>
          </p:cNvSpPr>
          <p:nvPr>
            <p:ph type="body" idx="1"/>
          </p:nvPr>
        </p:nvSpPr>
        <p:spPr>
          <a:xfrm>
            <a:off x="548640" y="1783080"/>
            <a:ext cx="11091672" cy="3291840"/>
          </a:xfrm>
        </p:spPr>
        <p:txBody>
          <a:bodyPr/>
          <a:lstStyle/>
          <a:p>
            <a:pPr algn="l" marL="0" indent="0">
              <a:lnSpc>
                <a:spcPct val="100000"/>
              </a:lnSpc>
              <a:spcBef>
                <a:spcPts val="0"/>
              </a:spcBef>
              <a:spcAft>
                <a:spcPts val="1000"/>
              </a:spcAft>
              <a:buNone/>
            </a:pPr>
            <a:r>
              <a:rPr lang="en-US" sz="2800" b="1" dirty="0">
                <a:solidFill>
                  <a:schemeClr val="tx1"/>
                </a:solidFill>
                <a:latin typeface="Arial"/>
                <a:cs typeface="Arial"/>
              </a:rPr>
              <a:t>Look at the trend of past events to anticipate possible future outcomes.</a:t>
            </a:r>
            <a:endParaRPr lang="en-US" sz="2800" dirty="0"/>
          </a:p>
          <a:p>
            <a:pPr algn="l" marL="342900" indent="-342900">
              <a:lnSpc>
                <a:spcPct val="100000"/>
              </a:lnSpc>
              <a:spcBef>
                <a:spcPts val="0"/>
              </a:spcBef>
              <a:spcAft>
                <a:spcPts val="600"/>
              </a:spcAft>
              <a:buFont typeface="Arial"/>
              <a:buChar char="•"/>
            </a:pPr>
            <a:r>
              <a:rPr lang="en-US" sz="2200" b="0" dirty="0">
                <a:solidFill>
                  <a:schemeClr val="tx1"/>
                </a:solidFill>
                <a:latin typeface="Arial"/>
                <a:cs typeface="Arial"/>
              </a:rPr>
              <a:t>This can support planning by estimating possible future outcomes.</a:t>
            </a:r>
            <a:endParaRPr lang="en-US" sz="2200" dirty="0"/>
          </a:p>
          <a:p>
            <a:pPr algn="l" marL="342900" indent="-342900">
              <a:lnSpc>
                <a:spcPct val="100000"/>
              </a:lnSpc>
              <a:spcBef>
                <a:spcPts val="0"/>
              </a:spcBef>
              <a:spcAft>
                <a:spcPts val="600"/>
              </a:spcAft>
              <a:buFont typeface="Arial"/>
              <a:buChar char="•"/>
            </a:pPr>
            <a:r>
              <a:rPr lang="en-US" sz="2200" b="0" dirty="0">
                <a:solidFill>
                  <a:schemeClr val="tx1"/>
                </a:solidFill>
                <a:latin typeface="Arial"/>
                <a:cs typeface="Arial"/>
              </a:rPr>
              <a:t>Discover patterns and correlations in data that might be missed by the human eye.</a:t>
            </a:r>
            <a:endParaRPr lang="en-US" sz="2200" dirty="0"/>
          </a:p>
          <a:p>
            <a:pPr algn="l" marL="342900" indent="-342900">
              <a:lnSpc>
                <a:spcPct val="100000"/>
              </a:lnSpc>
              <a:spcBef>
                <a:spcPts val="0"/>
              </a:spcBef>
              <a:spcAft>
                <a:spcPts val="0"/>
              </a:spcAft>
              <a:buFont typeface="Arial"/>
              <a:buChar char="•"/>
            </a:pPr>
            <a:r>
              <a:rPr lang="en-US" sz="2200" b="0" dirty="0">
                <a:solidFill>
                  <a:schemeClr val="tx1"/>
                </a:solidFill>
                <a:latin typeface="Arial"/>
                <a:cs typeface="Arial"/>
              </a:rPr>
              <a:t>Build models that generate estimates under specified inputs or assumptions.</a:t>
            </a:r>
            <a:endParaRPr lang="en-US" sz="2200" dirty="0"/>
          </a:p>
        </p:txBody>
      </p:sp>
      <p:sp>
        <p:nvSpPr>
          <p:cNvPr id="4" name="S23_flow_node_3"/>
          <p:cNvSpPr/>
          <p:nvPr/>
        </p:nvSpPr>
        <p:spPr>
          <a:xfrm>
            <a:off x="548640" y="5212080"/>
            <a:ext cx="2743200" cy="68580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Input</a:t>
            </a:r>
            <a:endParaRPr lang="en-US" sz="2000" dirty="0"/>
          </a:p>
        </p:txBody>
      </p:sp>
      <p:cxnSp>
        <p:nvCxnSpPr>
          <p:cNvPr id="5" name="S23_conn_4">
            <a:extLst>
              <a:ext uri="{C183D7F6-B498-43B3-948B-1728B52AA6E4}">
                <adec:decorative xmlns:adec="http://schemas.microsoft.com/office/drawing/2017/decorative" val="1"/>
              </a:ext>
            </a:extLst>
          </p:cNvPr>
          <p:cNvCxnSpPr/>
          <p:nvPr/>
        </p:nvCxnSpPr>
        <p:spPr>
          <a:xfrm>
            <a:off x="3328416" y="5554980"/>
            <a:ext cx="566928" cy="0"/>
          </a:xfrm>
          <a:prstGeom prst="line">
            <a:avLst/>
          </a:prstGeom>
          <a:ln w="31750">
            <a:solidFill>
              <a:schemeClr val="tx1"/>
            </a:solidFill>
            <a:round/>
            <a:tailEnd type="triangle" w="med" len="med"/>
          </a:ln>
        </p:spPr>
      </p:cxnSp>
      <p:sp>
        <p:nvSpPr>
          <p:cNvPr id="6" name="S23_flow_node_5"/>
          <p:cNvSpPr/>
          <p:nvPr/>
        </p:nvSpPr>
        <p:spPr>
          <a:xfrm>
            <a:off x="3931920" y="5212080"/>
            <a:ext cx="2743200" cy="68580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Method / model</a:t>
            </a:r>
            <a:endParaRPr lang="en-US" sz="2000" dirty="0"/>
          </a:p>
        </p:txBody>
      </p:sp>
      <p:cxnSp>
        <p:nvCxnSpPr>
          <p:cNvPr id="7" name="S23_conn_6">
            <a:extLst>
              <a:ext uri="{C183D7F6-B498-43B3-948B-1728B52AA6E4}">
                <adec:decorative xmlns:adec="http://schemas.microsoft.com/office/drawing/2017/decorative" val="1"/>
              </a:ext>
            </a:extLst>
          </p:cNvPr>
          <p:cNvCxnSpPr/>
          <p:nvPr/>
        </p:nvCxnSpPr>
        <p:spPr>
          <a:xfrm>
            <a:off x="6711696" y="5554980"/>
            <a:ext cx="566928" cy="0"/>
          </a:xfrm>
          <a:prstGeom prst="line">
            <a:avLst/>
          </a:prstGeom>
          <a:ln w="31750">
            <a:solidFill>
              <a:schemeClr val="tx1"/>
            </a:solidFill>
            <a:round/>
            <a:tailEnd type="triangle" w="med" len="med"/>
          </a:ln>
        </p:spPr>
      </p:cxnSp>
      <p:sp>
        <p:nvSpPr>
          <p:cNvPr id="8" name="S23_flow_node_7"/>
          <p:cNvSpPr/>
          <p:nvPr/>
        </p:nvSpPr>
        <p:spPr>
          <a:xfrm>
            <a:off x="7315200" y="5212080"/>
            <a:ext cx="2743200" cy="68580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Estimate</a:t>
            </a:r>
            <a:endParaRPr lang="en-US" sz="2000" dirty="0"/>
          </a:p>
        </p:txBody>
      </p:sp>
      <p:sp>
        <p:nvSpPr>
          <p:cNvPr id="9" name="S23_slide_number_8"/>
          <p:cNvSpPr>
            <a:spLocks noGrp="1"/>
          </p:cNvSpPr>
          <p:nvPr>
            <p:ph type="sldNum" sz="quarter" idx="12"/>
          </p:nvPr>
        </p:nvSpPr>
        <p:spPr/>
        <p:txBody>
          <a:bodyPr/>
          <a:lstStyle/>
          <a:p>
            <a:fld id="{B6F15528-21DE-4FAA-801E-634DDDAF4B2B}" type="slidenum">
              <a:rPr lang="en-US" sz="1200" dirty="0">
                <a:latin typeface="Arial"/>
              </a:r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4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Google Flu Trends: a good model that stopped being reliable</a:t>
            </a:r>
            <a:endParaRPr lang="en-US" sz="2800" dirty="0"/>
          </a:p>
        </p:txBody>
      </p:sp>
      <p:cxnSp>
        <p:nvCxnSpPr>
          <p:cNvPr id="3" name="S24_conn_2">
            <a:extLst>
              <a:ext uri="{C183D7F6-B498-43B3-948B-1728B52AA6E4}">
                <adec:decorative xmlns:adec="http://schemas.microsoft.com/office/drawing/2017/decorative" val="1"/>
              </a:ext>
            </a:extLst>
          </p:cNvPr>
          <p:cNvCxnSpPr/>
          <p:nvPr/>
        </p:nvCxnSpPr>
        <p:spPr>
          <a:xfrm>
            <a:off x="1371600" y="2286000"/>
            <a:ext cx="9418320" cy="0"/>
          </a:xfrm>
          <a:prstGeom prst="line">
            <a:avLst/>
          </a:prstGeom>
          <a:ln w="31750">
            <a:solidFill>
              <a:schemeClr val="accent1"/>
            </a:solidFill>
            <a:round/>
          </a:ln>
        </p:spPr>
      </p:cxnSp>
      <p:sp>
        <p:nvSpPr>
          <p:cNvPr id="4" name="S24_year_3"/>
          <p:cNvSpPr txBox="1"/>
          <p:nvPr/>
        </p:nvSpPr>
        <p:spPr>
          <a:xfrm>
            <a:off x="1577340" y="1627632"/>
            <a:ext cx="1463040" cy="420624"/>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400" b="1" dirty="0">
                <a:solidFill>
                  <a:schemeClr val="tx1"/>
                </a:solidFill>
                <a:latin typeface="Arial"/>
                <a:cs typeface="Arial"/>
              </a:rPr>
              <a:t>2009</a:t>
            </a:r>
            <a:endParaRPr lang="en-US" sz="2400" dirty="0"/>
          </a:p>
        </p:txBody>
      </p:sp>
      <p:sp>
        <p:nvSpPr>
          <p:cNvPr id="5" name="S24_badge_4"/>
          <p:cNvSpPr/>
          <p:nvPr/>
        </p:nvSpPr>
        <p:spPr>
          <a:xfrm>
            <a:off x="2107692" y="2084832"/>
            <a:ext cx="402336" cy="402336"/>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1</a:t>
            </a:r>
            <a:endParaRPr lang="en-US" sz="1600" dirty="0"/>
          </a:p>
        </p:txBody>
      </p:sp>
      <p:sp>
        <p:nvSpPr>
          <p:cNvPr id="6" name="S24_stage_card_5"/>
          <p:cNvSpPr/>
          <p:nvPr/>
        </p:nvSpPr>
        <p:spPr>
          <a:xfrm>
            <a:off x="548640" y="2697480"/>
            <a:ext cx="3520440" cy="2560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7" name="S24_stage_text_6"/>
          <p:cNvSpPr txBox="1"/>
          <p:nvPr/>
        </p:nvSpPr>
        <p:spPr>
          <a:xfrm>
            <a:off x="640080" y="2770632"/>
            <a:ext cx="3337560" cy="2423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Original study (2009): GFT estimates tracked CDC-reported flu activity over the 2003–2008 study period, including a held-out validation period.</a:t>
            </a:r>
            <a:endParaRPr lang="en-US" sz="1600" dirty="0"/>
          </a:p>
          <a:p>
            <a:pPr algn="l" marL="0" indent="0">
              <a:lnSpc>
                <a:spcPct val="100000"/>
              </a:lnSpc>
              <a:spcBef>
                <a:spcPts val="600"/>
              </a:spcBef>
              <a:spcAft>
                <a:spcPts val="0"/>
              </a:spcAft>
              <a:buNone/>
            </a:pPr>
            <a:r>
              <a:rPr lang="en-US" sz="1600" b="0" i="1" dirty="0">
                <a:solidFill>
                  <a:schemeClr val="accent3"/>
                </a:solidFill>
                <a:latin typeface="Arial"/>
                <a:cs typeface="Arial"/>
              </a:rPr>
              <a:t>Ginsberg et al. (Nature, 2009) built GFT from search-query data.</a:t>
            </a:r>
            <a:endParaRPr lang="en-US" sz="1600" dirty="0"/>
          </a:p>
        </p:txBody>
      </p:sp>
      <p:sp>
        <p:nvSpPr>
          <p:cNvPr id="8" name="S24_year_7"/>
          <p:cNvSpPr txBox="1"/>
          <p:nvPr/>
        </p:nvSpPr>
        <p:spPr>
          <a:xfrm>
            <a:off x="5362956" y="1627632"/>
            <a:ext cx="1463040" cy="420624"/>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400" b="1" dirty="0">
                <a:solidFill>
                  <a:schemeClr val="tx1"/>
                </a:solidFill>
                <a:latin typeface="Arial"/>
                <a:cs typeface="Arial"/>
              </a:rPr>
              <a:t>2013</a:t>
            </a:r>
            <a:endParaRPr lang="en-US" sz="2400" dirty="0"/>
          </a:p>
        </p:txBody>
      </p:sp>
      <p:sp>
        <p:nvSpPr>
          <p:cNvPr id="9" name="S24_badge_8"/>
          <p:cNvSpPr/>
          <p:nvPr/>
        </p:nvSpPr>
        <p:spPr>
          <a:xfrm>
            <a:off x="5893308" y="2084832"/>
            <a:ext cx="402336" cy="402336"/>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2</a:t>
            </a:r>
            <a:endParaRPr lang="en-US" sz="1600" dirty="0"/>
          </a:p>
        </p:txBody>
      </p:sp>
      <p:sp>
        <p:nvSpPr>
          <p:cNvPr id="10" name="S24_stage_card_9"/>
          <p:cNvSpPr/>
          <p:nvPr/>
        </p:nvSpPr>
        <p:spPr>
          <a:xfrm>
            <a:off x="4334256" y="2697480"/>
            <a:ext cx="3520440" cy="2560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1" name="S24_stage_text_10"/>
          <p:cNvSpPr txBox="1"/>
          <p:nvPr/>
        </p:nvSpPr>
        <p:spPr>
          <a:xfrm>
            <a:off x="4425696" y="2770632"/>
            <a:ext cx="3337560" cy="2423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Substantial overestimation, discussed in the 2014 critique. Lazer et al. (Science, 2014): in early 2013 GFT predicted more than twice the CDC-reported proportion of influenza-like-illness doctor visits; algorithm dynamics and “big data hubris” among the problems.</a:t>
            </a:r>
            <a:endParaRPr lang="en-US" sz="1600" dirty="0"/>
          </a:p>
        </p:txBody>
      </p:sp>
      <p:sp>
        <p:nvSpPr>
          <p:cNvPr id="12" name="S24_year_11"/>
          <p:cNvSpPr txBox="1"/>
          <p:nvPr/>
        </p:nvSpPr>
        <p:spPr>
          <a:xfrm>
            <a:off x="9148572" y="1627632"/>
            <a:ext cx="1463040" cy="420624"/>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400" b="1" dirty="0">
                <a:solidFill>
                  <a:schemeClr val="tx1"/>
                </a:solidFill>
                <a:latin typeface="Arial"/>
                <a:cs typeface="Arial"/>
              </a:rPr>
              <a:t>2015</a:t>
            </a:r>
            <a:endParaRPr lang="en-US" sz="2400" dirty="0"/>
          </a:p>
        </p:txBody>
      </p:sp>
      <p:sp>
        <p:nvSpPr>
          <p:cNvPr id="13" name="S24_badge_12"/>
          <p:cNvSpPr/>
          <p:nvPr/>
        </p:nvSpPr>
        <p:spPr>
          <a:xfrm>
            <a:off x="9678924" y="2084832"/>
            <a:ext cx="402336" cy="402336"/>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3</a:t>
            </a:r>
            <a:endParaRPr lang="en-US" sz="1600" dirty="0"/>
          </a:p>
        </p:txBody>
      </p:sp>
      <p:sp>
        <p:nvSpPr>
          <p:cNvPr id="14" name="S24_stage_card_13"/>
          <p:cNvSpPr/>
          <p:nvPr/>
        </p:nvSpPr>
        <p:spPr>
          <a:xfrm>
            <a:off x="8119872" y="2697480"/>
            <a:ext cx="3520440" cy="256032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5" name="S24_stage_text_14"/>
          <p:cNvSpPr txBox="1"/>
          <p:nvPr/>
        </p:nvSpPr>
        <p:spPr>
          <a:xfrm>
            <a:off x="8211312" y="2770632"/>
            <a:ext cx="3337560" cy="24231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Google stopped maintaining its own Flu Trends website and provided signal data to specialist research partners (Google Research, Aug. 2015).</a:t>
            </a:r>
            <a:endParaRPr lang="en-US" sz="1600" dirty="0"/>
          </a:p>
        </p:txBody>
      </p:sp>
      <p:sp>
        <p:nvSpPr>
          <p:cNvPr id="16" name="S24_lesson_panel_15"/>
          <p:cNvSpPr/>
          <p:nvPr/>
        </p:nvSpPr>
        <p:spPr>
          <a:xfrm>
            <a:off x="548640" y="5349240"/>
            <a:ext cx="11091672" cy="685800"/>
          </a:xfrm>
          <a:prstGeom prst="rect">
            <a:avLst/>
          </a:prstGeom>
          <a:solidFill>
            <a:schemeClr val="bg1"/>
          </a:solidFill>
          <a:ln w="381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1800" b="1" dirty="0">
                <a:solidFill>
                  <a:schemeClr val="tx1"/>
                </a:solidFill>
                <a:latin typeface="Arial"/>
                <a:cs typeface="Arial"/>
              </a:rPr>
              <a:t>Lesson:</a:t>
            </a:r>
            <a:r>
              <a:rPr lang="en-US" sz="1800" b="0" dirty="0">
                <a:solidFill>
                  <a:schemeClr val="tx1"/>
                </a:solidFill>
                <a:latin typeface="Arial"/>
                <a:cs typeface="Arial"/>
              </a:rPr>
              <a:t> A model can fit historical data and still become unreliable when the data-generating environment changes. Keep checking performance on new data.</a:t>
            </a:r>
            <a:endParaRPr lang="en-US" sz="1800" dirty="0"/>
          </a:p>
        </p:txBody>
      </p:sp>
      <p:sp>
        <p:nvSpPr>
          <p:cNvPr id="17" name="S24_source_footer_16"/>
          <p:cNvSpPr>
            <a:spLocks noGrp="1"/>
          </p:cNvSpPr>
          <p:nvPr>
            <p:ph type="ftr" sz="quarter" idx="11"/>
          </p:nvPr>
        </p:nvSpPr>
        <p:spPr/>
        <p:txBody>
          <a:bodyPr/>
          <a:lstStyle/>
          <a:p>
            <a:pPr algn="l" marL="0" indent="0">
              <a:lnSpc>
                <a:spcPct val="100000"/>
              </a:lnSpc>
              <a:spcBef>
                <a:spcPts val="0"/>
              </a:spcBef>
              <a:spcAft>
                <a:spcPts val="0"/>
              </a:spcAft>
              <a:buNone/>
            </a:pPr>
            <a:r>
              <a:rPr lang="en-US" sz="1200" b="0" dirty="0">
                <a:solidFill>
                  <a:schemeClr val="accent3"/>
                </a:solidFill>
                <a:latin typeface="Arial"/>
                <a:cs typeface="Arial"/>
              </a:rPr>
              <a:t>Sources: Ginsberg et al., Nature (2009); Lazer et al., Science (2014); Google Research, “The Next Chapter for Flu Trends” (Aug. 20, 2015).</a:t>
            </a:r>
            <a:endParaRPr lang="en-US" sz="1200" dirty="0"/>
          </a:p>
        </p:txBody>
      </p:sp>
      <p:sp>
        <p:nvSpPr>
          <p:cNvPr id="18" name="S24_slide_number_17"/>
          <p:cNvSpPr>
            <a:spLocks noGrp="1"/>
          </p:cNvSpPr>
          <p:nvPr>
            <p:ph type="sldNum" sz="quarter" idx="12"/>
          </p:nvPr>
        </p:nvSpPr>
        <p:spPr/>
        <p:txBody>
          <a:bodyPr/>
          <a:lstStyle/>
          <a:p>
            <a:fld id="{B6F15528-21DE-4FAA-801E-634DDDAF4B2B}" type="slidenum">
              <a:rPr lang="en-US" sz="1200" dirty="0">
                <a:latin typeface="Arial"/>
              </a:r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5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Business problems</a:t>
            </a:r>
            <a:endParaRPr lang="en-US" sz="3200" dirty="0"/>
          </a:p>
        </p:txBody>
      </p:sp>
      <p:sp>
        <p:nvSpPr>
          <p:cNvPr id="3" name="S25_strip_other_2"/>
          <p:cNvSpPr/>
          <p:nvPr/>
        </p:nvSpPr>
        <p:spPr>
          <a:xfrm>
            <a:off x="548640" y="182880"/>
            <a:ext cx="1504188"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Data</a:t>
            </a:r>
            <a:endParaRPr lang="en-US" sz="1600" dirty="0"/>
          </a:p>
        </p:txBody>
      </p:sp>
      <p:sp>
        <p:nvSpPr>
          <p:cNvPr id="4" name="S25_strip_other_3"/>
          <p:cNvSpPr/>
          <p:nvPr/>
        </p:nvSpPr>
        <p:spPr>
          <a:xfrm>
            <a:off x="2153412" y="182880"/>
            <a:ext cx="2121408"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Analytics</a:t>
            </a:r>
            <a:endParaRPr lang="en-US" sz="1600" dirty="0"/>
          </a:p>
        </p:txBody>
      </p:sp>
      <p:sp>
        <p:nvSpPr>
          <p:cNvPr id="5" name="S25_strip_cur_4"/>
          <p:cNvSpPr/>
          <p:nvPr/>
        </p:nvSpPr>
        <p:spPr>
          <a:xfrm>
            <a:off x="4375404" y="182880"/>
            <a:ext cx="5289804" cy="365760"/>
          </a:xfrm>
          <a:prstGeom prst="roundRect">
            <a:avLst>
              <a:gd name="adj" fmla="val 25000"/>
            </a:avLst>
          </a:prstGeom>
          <a:solidFill>
            <a:schemeClr val="accent1"/>
          </a:solidFill>
          <a:ln w="38100">
            <a:solidFill>
              <a:schemeClr val="accent1"/>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 Business problem — you are here</a:t>
            </a:r>
            <a:endParaRPr lang="en-US" sz="1600" dirty="0"/>
          </a:p>
        </p:txBody>
      </p:sp>
      <p:sp>
        <p:nvSpPr>
          <p:cNvPr id="6" name="S25_strip_other_5"/>
          <p:cNvSpPr/>
          <p:nvPr/>
        </p:nvSpPr>
        <p:spPr>
          <a:xfrm>
            <a:off x="9765792" y="182880"/>
            <a:ext cx="1874520"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Insight</a:t>
            </a:r>
            <a:endParaRPr lang="en-US" sz="1600" dirty="0"/>
          </a:p>
        </p:txBody>
      </p:sp>
      <p:sp>
        <p:nvSpPr>
          <p:cNvPr id="7" name="S25_definition_6"/>
          <p:cNvSpPr txBox="1"/>
          <p:nvPr/>
        </p:nvSpPr>
        <p:spPr>
          <a:xfrm>
            <a:off x="548640" y="1737360"/>
            <a:ext cx="11091672" cy="82296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A business problem is a perceived gap between the current state and a desired state that requires deciding how to close the gap.</a:t>
            </a:r>
            <a:endParaRPr lang="en-US" sz="2200" dirty="0"/>
          </a:p>
        </p:txBody>
      </p:sp>
      <p:sp>
        <p:nvSpPr>
          <p:cNvPr id="8" name="S25_node_7"/>
          <p:cNvSpPr/>
          <p:nvPr/>
        </p:nvSpPr>
        <p:spPr>
          <a:xfrm>
            <a:off x="548640" y="2697480"/>
            <a:ext cx="2926080" cy="91440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Current state</a:t>
            </a:r>
            <a:endParaRPr lang="en-US" sz="2200" dirty="0"/>
          </a:p>
        </p:txBody>
      </p:sp>
      <p:sp>
        <p:nvSpPr>
          <p:cNvPr id="9" name="S25_node_8"/>
          <p:cNvSpPr/>
          <p:nvPr/>
        </p:nvSpPr>
        <p:spPr>
          <a:xfrm>
            <a:off x="8714232" y="2697480"/>
            <a:ext cx="2926080" cy="91440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Desired state</a:t>
            </a:r>
            <a:endParaRPr lang="en-US" sz="2200" dirty="0"/>
          </a:p>
        </p:txBody>
      </p:sp>
      <p:cxnSp>
        <p:nvCxnSpPr>
          <p:cNvPr id="10" name="S25_conn_9">
            <a:extLst>
              <a:ext uri="{C183D7F6-B498-43B3-948B-1728B52AA6E4}">
                <adec:decorative xmlns:adec="http://schemas.microsoft.com/office/drawing/2017/decorative" val="1"/>
              </a:ext>
            </a:extLst>
          </p:cNvPr>
          <p:cNvCxnSpPr/>
          <p:nvPr/>
        </p:nvCxnSpPr>
        <p:spPr>
          <a:xfrm>
            <a:off x="3520440" y="3154680"/>
            <a:ext cx="5148072" cy="0"/>
          </a:xfrm>
          <a:prstGeom prst="line">
            <a:avLst/>
          </a:prstGeom>
          <a:ln w="31750">
            <a:solidFill>
              <a:schemeClr val="tx1"/>
            </a:solidFill>
            <a:round/>
            <a:headEnd type="triangle" w="med" len="med"/>
            <a:tailEnd type="triangle" w="med" len="med"/>
          </a:ln>
        </p:spPr>
      </p:cxnSp>
      <p:sp>
        <p:nvSpPr>
          <p:cNvPr id="11" name="S25_gap_label_10"/>
          <p:cNvSpPr/>
          <p:nvPr/>
        </p:nvSpPr>
        <p:spPr>
          <a:xfrm>
            <a:off x="4892040" y="2788920"/>
            <a:ext cx="2377440" cy="548640"/>
          </a:xfrm>
          <a:prstGeom prst="rect">
            <a:avLst/>
          </a:prstGeom>
          <a:solidFill>
            <a:schemeClr val="bg1"/>
          </a:solidFill>
          <a:ln w="25400">
            <a:solidFill>
              <a:schemeClr val="accent2"/>
            </a:solidFill>
            <a:round/>
          </a:ln>
        </p:spPr>
        <p:txBody>
          <a:bodyPr wrap="square" lIns="45720" tIns="18288" rIns="45720" bIns="18288"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perceived gap</a:t>
            </a:r>
            <a:endParaRPr lang="en-US" sz="2000" dirty="0"/>
          </a:p>
        </p:txBody>
      </p:sp>
      <p:sp>
        <p:nvSpPr>
          <p:cNvPr id="12" name="S25_decision_box_11"/>
          <p:cNvSpPr/>
          <p:nvPr/>
        </p:nvSpPr>
        <p:spPr>
          <a:xfrm>
            <a:off x="3611880" y="3794760"/>
            <a:ext cx="4937760" cy="640080"/>
          </a:xfrm>
          <a:prstGeom prst="roundRect">
            <a:avLst>
              <a:gd name="adj" fmla="val 12000"/>
            </a:avLst>
          </a:prstGeom>
          <a:solidFill>
            <a:schemeClr val="bg1"/>
          </a:solidFill>
          <a:ln w="38100">
            <a:solidFill>
              <a:schemeClr val="accent1"/>
            </a:solidFill>
            <a:round/>
          </a:ln>
        </p:spPr>
        <p:txBody>
          <a:bodyPr wrap="square" lIns="109728" tIns="54864" rIns="109728" bIns="54864"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Decision needed to close the gap</a:t>
            </a:r>
            <a:endParaRPr lang="en-US" sz="2000" dirty="0"/>
          </a:p>
        </p:txBody>
      </p:sp>
      <p:cxnSp>
        <p:nvCxnSpPr>
          <p:cNvPr id="13" name="S25_conn_12">
            <a:extLst>
              <a:ext uri="{C183D7F6-B498-43B3-948B-1728B52AA6E4}">
                <adec:decorative xmlns:adec="http://schemas.microsoft.com/office/drawing/2017/decorative" val="1"/>
              </a:ext>
            </a:extLst>
          </p:cNvPr>
          <p:cNvCxnSpPr/>
          <p:nvPr/>
        </p:nvCxnSpPr>
        <p:spPr>
          <a:xfrm flipV="1">
            <a:off x="6080760" y="3383280"/>
            <a:ext cx="0" cy="393192"/>
          </a:xfrm>
          <a:prstGeom prst="line">
            <a:avLst/>
          </a:prstGeom>
          <a:ln w="31750">
            <a:solidFill>
              <a:schemeClr val="tx1"/>
            </a:solidFill>
            <a:round/>
            <a:tailEnd type="triangle" w="med" len="med"/>
          </a:ln>
        </p:spPr>
      </p:cxnSp>
      <p:sp>
        <p:nvSpPr>
          <p:cNvPr id="14" name="S25_example_chip_13"/>
          <p:cNvSpPr/>
          <p:nvPr/>
        </p:nvSpPr>
        <p:spPr>
          <a:xfrm>
            <a:off x="548640" y="4572000"/>
            <a:ext cx="3520440" cy="685800"/>
          </a:xfrm>
          <a:prstGeom prst="roundRect">
            <a:avLst>
              <a:gd name="adj" fmla="val 12000"/>
            </a:avLst>
          </a:prstGeom>
          <a:solidFill>
            <a:schemeClr val="bg1"/>
          </a:solidFill>
          <a:ln w="12700">
            <a:solidFill>
              <a:schemeClr val="accent4"/>
            </a:solidFill>
            <a:round/>
          </a:ln>
        </p:spPr>
        <p:txBody>
          <a:bodyPr wrap="square" lIns="73152" tIns="27432" rIns="73152" bIns="27432"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Current customer churn is above the desired level</a:t>
            </a:r>
            <a:endParaRPr lang="en-US" sz="1600" dirty="0"/>
          </a:p>
        </p:txBody>
      </p:sp>
      <p:sp>
        <p:nvSpPr>
          <p:cNvPr id="15" name="S25_example_chip_14"/>
          <p:cNvSpPr/>
          <p:nvPr/>
        </p:nvSpPr>
        <p:spPr>
          <a:xfrm>
            <a:off x="4334256" y="4572000"/>
            <a:ext cx="3520440" cy="685800"/>
          </a:xfrm>
          <a:prstGeom prst="roundRect">
            <a:avLst>
              <a:gd name="adj" fmla="val 12000"/>
            </a:avLst>
          </a:prstGeom>
          <a:solidFill>
            <a:schemeClr val="bg1"/>
          </a:solidFill>
          <a:ln w="12700">
            <a:solidFill>
              <a:schemeClr val="accent4"/>
            </a:solidFill>
            <a:round/>
          </a:ln>
        </p:spPr>
        <p:txBody>
          <a:bodyPr wrap="square" lIns="73152" tIns="27432" rIns="73152" bIns="27432"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Inventory availability is below the desired service level</a:t>
            </a:r>
            <a:endParaRPr lang="en-US" sz="1600" dirty="0"/>
          </a:p>
        </p:txBody>
      </p:sp>
      <p:sp>
        <p:nvSpPr>
          <p:cNvPr id="16" name="S25_example_chip_15"/>
          <p:cNvSpPr/>
          <p:nvPr/>
        </p:nvSpPr>
        <p:spPr>
          <a:xfrm>
            <a:off x="8119872" y="4572000"/>
            <a:ext cx="3520440" cy="685800"/>
          </a:xfrm>
          <a:prstGeom prst="roundRect">
            <a:avLst>
              <a:gd name="adj" fmla="val 12000"/>
            </a:avLst>
          </a:prstGeom>
          <a:solidFill>
            <a:schemeClr val="bg1"/>
          </a:solidFill>
          <a:ln w="12700">
            <a:solidFill>
              <a:schemeClr val="accent4"/>
            </a:solidFill>
            <a:round/>
          </a:ln>
        </p:spPr>
        <p:txBody>
          <a:bodyPr wrap="square" lIns="73152" tIns="27432" rIns="73152" bIns="27432"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Sales growth is below a target</a:t>
            </a:r>
            <a:endParaRPr lang="en-US" sz="1600" dirty="0"/>
          </a:p>
        </p:txBody>
      </p:sp>
      <p:sp>
        <p:nvSpPr>
          <p:cNvPr id="17" name="S25_closing_16"/>
          <p:cNvSpPr txBox="1"/>
          <p:nvPr/>
        </p:nvSpPr>
        <p:spPr>
          <a:xfrm>
            <a:off x="548640" y="5349240"/>
            <a:ext cx="11091672" cy="6858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800" b="0" dirty="0">
                <a:solidFill>
                  <a:schemeClr val="tx1"/>
                </a:solidFill>
                <a:latin typeface="Arial"/>
                <a:cs typeface="Arial"/>
              </a:rPr>
              <a:t>For each: what is the current state, the desired state, and the decision needed to close the gap? BA helps when the gap can be measured and the decision can be informed by data.</a:t>
            </a:r>
            <a:endParaRPr lang="en-US" sz="1800" dirty="0"/>
          </a:p>
        </p:txBody>
      </p:sp>
      <p:sp>
        <p:nvSpPr>
          <p:cNvPr id="18" name="S25_slide_number_17"/>
          <p:cNvSpPr>
            <a:spLocks noGrp="1"/>
          </p:cNvSpPr>
          <p:nvPr>
            <p:ph type="sldNum" sz="quarter" idx="12"/>
          </p:nvPr>
        </p:nvSpPr>
        <p:spPr/>
        <p:txBody>
          <a:bodyPr/>
          <a:lstStyle/>
          <a:p>
            <a:fld id="{B6F15528-21DE-4FAA-801E-634DDDAF4B2B}" type="slidenum">
              <a:rPr lang="en-US" sz="1200" dirty="0">
                <a:latin typeface="Arial"/>
              </a:r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6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Common business-analytics questions — and their limits</a:t>
            </a:r>
            <a:endParaRPr lang="en-US" sz="2800" dirty="0"/>
          </a:p>
        </p:txBody>
      </p:sp>
      <p:sp>
        <p:nvSpPr>
          <p:cNvPr id="3" name="S26_card_2"/>
          <p:cNvSpPr/>
          <p:nvPr/>
        </p:nvSpPr>
        <p:spPr>
          <a:xfrm>
            <a:off x="548640" y="1783080"/>
            <a:ext cx="3520440" cy="224028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4" name="S26_badge_3"/>
          <p:cNvSpPr/>
          <p:nvPr/>
        </p:nvSpPr>
        <p:spPr>
          <a:xfrm>
            <a:off x="676656" y="1892808"/>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800" b="1" dirty="0">
                <a:solidFill>
                  <a:schemeClr val="bg1"/>
                </a:solidFill>
                <a:latin typeface="Arial"/>
                <a:cs typeface="Arial"/>
              </a:rPr>
              <a:t>1</a:t>
            </a:r>
            <a:endParaRPr lang="en-US" sz="1800" dirty="0"/>
          </a:p>
        </p:txBody>
      </p:sp>
      <p:sp>
        <p:nvSpPr>
          <p:cNvPr id="5" name="S26_card_q_4"/>
          <p:cNvSpPr txBox="1"/>
          <p:nvPr/>
        </p:nvSpPr>
        <p:spPr>
          <a:xfrm>
            <a:off x="676656" y="2423160"/>
            <a:ext cx="3264408" cy="10058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How likely is client X to buy product Y?</a:t>
            </a:r>
            <a:endParaRPr lang="en-US" sz="2000" dirty="0"/>
          </a:p>
        </p:txBody>
      </p:sp>
      <p:sp>
        <p:nvSpPr>
          <p:cNvPr id="6" name="S26_card_a_5"/>
          <p:cNvSpPr txBox="1"/>
          <p:nvPr/>
        </p:nvSpPr>
        <p:spPr>
          <a:xfrm>
            <a:off x="676656" y="3429000"/>
            <a:ext cx="3264408" cy="5486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Look at the client’s purchase behaviour and patterns.</a:t>
            </a:r>
            <a:endParaRPr lang="en-US" sz="1600" dirty="0"/>
          </a:p>
        </p:txBody>
      </p:sp>
      <p:sp>
        <p:nvSpPr>
          <p:cNvPr id="7" name="S26_card_6"/>
          <p:cNvSpPr/>
          <p:nvPr/>
        </p:nvSpPr>
        <p:spPr>
          <a:xfrm>
            <a:off x="4334256" y="1783080"/>
            <a:ext cx="3520440" cy="224028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8" name="S26_badge_7"/>
          <p:cNvSpPr/>
          <p:nvPr/>
        </p:nvSpPr>
        <p:spPr>
          <a:xfrm>
            <a:off x="4462272" y="1892808"/>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800" b="1" dirty="0">
                <a:solidFill>
                  <a:schemeClr val="bg1"/>
                </a:solidFill>
                <a:latin typeface="Arial"/>
                <a:cs typeface="Arial"/>
              </a:rPr>
              <a:t>2</a:t>
            </a:r>
            <a:endParaRPr lang="en-US" sz="1800" dirty="0"/>
          </a:p>
        </p:txBody>
      </p:sp>
      <p:sp>
        <p:nvSpPr>
          <p:cNvPr id="9" name="S26_card_q_8"/>
          <p:cNvSpPr txBox="1"/>
          <p:nvPr/>
        </p:nvSpPr>
        <p:spPr>
          <a:xfrm>
            <a:off x="4462272" y="2423160"/>
            <a:ext cx="3264408" cy="10058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Which clients are at risk of going to competitors?</a:t>
            </a:r>
            <a:endParaRPr lang="en-US" sz="2000" dirty="0"/>
          </a:p>
        </p:txBody>
      </p:sp>
      <p:sp>
        <p:nvSpPr>
          <p:cNvPr id="10" name="S26_card_a_9"/>
          <p:cNvSpPr txBox="1"/>
          <p:nvPr/>
        </p:nvSpPr>
        <p:spPr>
          <a:xfrm>
            <a:off x="4462272" y="3429000"/>
            <a:ext cx="3264408" cy="5486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Look at similarities with clients who left.</a:t>
            </a:r>
            <a:endParaRPr lang="en-US" sz="1600" dirty="0"/>
          </a:p>
        </p:txBody>
      </p:sp>
      <p:sp>
        <p:nvSpPr>
          <p:cNvPr id="11" name="S26_card_10"/>
          <p:cNvSpPr/>
          <p:nvPr/>
        </p:nvSpPr>
        <p:spPr>
          <a:xfrm>
            <a:off x="8119872" y="1783080"/>
            <a:ext cx="3520440" cy="224028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2" name="S26_badge_11"/>
          <p:cNvSpPr/>
          <p:nvPr/>
        </p:nvSpPr>
        <p:spPr>
          <a:xfrm>
            <a:off x="8247888" y="1892808"/>
            <a:ext cx="457200" cy="45720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800" b="1" dirty="0">
                <a:solidFill>
                  <a:schemeClr val="bg1"/>
                </a:solidFill>
                <a:latin typeface="Arial"/>
                <a:cs typeface="Arial"/>
              </a:rPr>
              <a:t>3</a:t>
            </a:r>
            <a:endParaRPr lang="en-US" sz="1800" dirty="0"/>
          </a:p>
        </p:txBody>
      </p:sp>
      <p:sp>
        <p:nvSpPr>
          <p:cNvPr id="13" name="S26_card_q_12"/>
          <p:cNvSpPr txBox="1"/>
          <p:nvPr/>
        </p:nvSpPr>
        <p:spPr>
          <a:xfrm>
            <a:off x="8247888" y="2423160"/>
            <a:ext cx="3264408" cy="10058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What promotions should we offer to retain customers?</a:t>
            </a:r>
            <a:endParaRPr lang="en-US" sz="2000" dirty="0"/>
          </a:p>
        </p:txBody>
      </p:sp>
      <p:sp>
        <p:nvSpPr>
          <p:cNvPr id="14" name="S26_card_a_13"/>
          <p:cNvSpPr txBox="1"/>
          <p:nvPr/>
        </p:nvSpPr>
        <p:spPr>
          <a:xfrm>
            <a:off x="8247888" y="3429000"/>
            <a:ext cx="3264408" cy="5486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dirty="0">
                <a:solidFill>
                  <a:schemeClr val="tx1"/>
                </a:solidFill>
                <a:latin typeface="Arial"/>
                <a:cs typeface="Arial"/>
              </a:rPr>
              <a:t>Look at relationships between offers and retention.</a:t>
            </a:r>
            <a:endParaRPr lang="en-US" sz="1600" dirty="0"/>
          </a:p>
        </p:txBody>
      </p:sp>
      <p:sp>
        <p:nvSpPr>
          <p:cNvPr id="15" name="S26_caution_panel_14"/>
          <p:cNvSpPr/>
          <p:nvPr/>
        </p:nvSpPr>
        <p:spPr>
          <a:xfrm>
            <a:off x="548640" y="4206240"/>
            <a:ext cx="11091672" cy="1783080"/>
          </a:xfrm>
          <a:prstGeom prst="rect">
            <a:avLst/>
          </a:prstGeom>
          <a:solidFill>
            <a:schemeClr val="bg1"/>
          </a:solidFill>
          <a:ln w="50800">
            <a:solidFill>
              <a:schemeClr val="accent1"/>
            </a:solidFill>
            <a:round/>
          </a:ln>
        </p:spPr>
        <p:txBody>
          <a:bodyPr wrap="square" lIns="109728" tIns="54864" rIns="109728" bIns="54864" rtlCol="0" anchor="ctr">
            <a:noAutofit/>
          </a:bodyPr>
          <a:lstStyle/>
          <a:p>
            <a:endParaRPr lang="en-US" dirty="0"/>
          </a:p>
        </p:txBody>
      </p:sp>
      <p:sp>
        <p:nvSpPr>
          <p:cNvPr id="16" name="S26_caution_icon_15">
            <a:extLst>
              <a:ext uri="{C183D7F6-B498-43B3-948B-1728B52AA6E4}">
                <adec:decorative xmlns:adec="http://schemas.microsoft.com/office/drawing/2017/decorative" val="1"/>
              </a:ext>
            </a:extLst>
          </p:cNvPr>
          <p:cNvSpPr/>
          <p:nvPr/>
        </p:nvSpPr>
        <p:spPr>
          <a:xfrm>
            <a:off x="731520" y="4343400"/>
            <a:ext cx="640080" cy="566928"/>
          </a:xfrm>
          <a:prstGeom prst="triangle">
            <a:avLst/>
          </a:prstGeom>
          <a:solidFill>
            <a:schemeClr val="bg1"/>
          </a:solidFill>
          <a:ln w="38100">
            <a:solidFill>
              <a:schemeClr val="accent1"/>
            </a:solidFill>
            <a:round/>
          </a:ln>
        </p:spPr>
        <p:txBody>
          <a:bodyPr wrap="square" lIns="0" tIns="128016" rIns="0" bIns="0" rtlCol="0" anchor="ctr">
            <a:noAutofit/>
          </a:bodyPr>
          <a:lstStyle/>
          <a:p>
            <a:pPr algn="ctr" marL="0" indent="0">
              <a:lnSpc>
                <a:spcPct val="100000"/>
              </a:lnSpc>
              <a:spcBef>
                <a:spcPts val="0"/>
              </a:spcBef>
              <a:spcAft>
                <a:spcPts val="0"/>
              </a:spcAft>
              <a:buNone/>
            </a:pPr>
            <a:r>
              <a:rPr lang="en-US" sz="2200" b="1" dirty="0">
                <a:solidFill>
                  <a:schemeClr val="tx1"/>
                </a:solidFill>
                <a:latin typeface="Arial"/>
                <a:cs typeface="Arial"/>
              </a:rPr>
              <a:t>!</a:t>
            </a:r>
            <a:endParaRPr lang="en-US" sz="2200" dirty="0"/>
          </a:p>
        </p:txBody>
      </p:sp>
      <p:sp>
        <p:nvSpPr>
          <p:cNvPr id="17" name="S26_caution_head_16"/>
          <p:cNvSpPr txBox="1"/>
          <p:nvPr/>
        </p:nvSpPr>
        <p:spPr>
          <a:xfrm>
            <a:off x="1508760" y="4297680"/>
            <a:ext cx="9966960" cy="4572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CAUTION — Prediction or association alone ≠ causal proof.</a:t>
            </a:r>
            <a:endParaRPr lang="en-US" sz="2200" dirty="0"/>
          </a:p>
        </p:txBody>
      </p:sp>
      <p:sp>
        <p:nvSpPr>
          <p:cNvPr id="18" name="S26_caution_text_17"/>
          <p:cNvSpPr txBox="1"/>
          <p:nvPr/>
        </p:nvSpPr>
        <p:spPr>
          <a:xfrm>
            <a:off x="1508760" y="4754880"/>
            <a:ext cx="9966960" cy="11887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000" b="0" dirty="0">
                <a:solidFill>
                  <a:schemeClr val="tx1"/>
                </a:solidFill>
                <a:latin typeface="Arial"/>
                <a:cs typeface="Arial"/>
              </a:rPr>
              <a:t>Prediction can identify who may be at risk; association can suggest patterns; </a:t>
            </a:r>
            <a:r>
              <a:rPr lang="en-US" sz="2000" b="1" dirty="0">
                <a:solidFill>
                  <a:schemeClr val="tx1"/>
                </a:solidFill>
                <a:latin typeface="Arial"/>
                <a:cs typeface="Arial"/>
              </a:rPr>
              <a:t>neither alone proves that an intervention caused an outcome.</a:t>
            </a:r>
            <a:r>
              <a:rPr lang="en-US" sz="2000" b="0" dirty="0">
                <a:solidFill>
                  <a:schemeClr val="tx1"/>
                </a:solidFill>
                <a:latin typeface="Arial"/>
                <a:cs typeface="Arial"/>
              </a:rPr>
              <a:t> One way to test an intervention is an A/B test.</a:t>
            </a:r>
            <a:endParaRPr lang="en-US" sz="2000" dirty="0"/>
          </a:p>
        </p:txBody>
      </p:sp>
      <p:sp>
        <p:nvSpPr>
          <p:cNvPr id="19" name="S26_slide_number_18"/>
          <p:cNvSpPr>
            <a:spLocks noGrp="1"/>
          </p:cNvSpPr>
          <p:nvPr>
            <p:ph type="sldNum" sz="quarter" idx="12"/>
          </p:nvPr>
        </p:nvSpPr>
        <p:spPr/>
        <p:txBody>
          <a:bodyPr/>
          <a:lstStyle/>
          <a:p>
            <a:fld id="{B6F15528-21DE-4FAA-801E-634DDDAF4B2B}" type="slidenum">
              <a:rPr lang="en-US" sz="1200" dirty="0">
                <a:latin typeface="Arial"/>
              </a:r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7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From problem to outcome: the insight loop</a:t>
            </a:r>
            <a:endParaRPr lang="en-US" sz="3200" dirty="0"/>
          </a:p>
        </p:txBody>
      </p:sp>
      <p:sp>
        <p:nvSpPr>
          <p:cNvPr id="3" name="S27_strip_other_2"/>
          <p:cNvSpPr/>
          <p:nvPr/>
        </p:nvSpPr>
        <p:spPr>
          <a:xfrm>
            <a:off x="548640" y="182880"/>
            <a:ext cx="1535049"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Data</a:t>
            </a:r>
            <a:endParaRPr lang="en-US" sz="1600" dirty="0"/>
          </a:p>
        </p:txBody>
      </p:sp>
      <p:sp>
        <p:nvSpPr>
          <p:cNvPr id="4" name="S27_strip_other_3"/>
          <p:cNvSpPr/>
          <p:nvPr/>
        </p:nvSpPr>
        <p:spPr>
          <a:xfrm>
            <a:off x="2184273" y="182880"/>
            <a:ext cx="2152269"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Analytics</a:t>
            </a:r>
            <a:endParaRPr lang="en-US" sz="1600" dirty="0"/>
          </a:p>
        </p:txBody>
      </p:sp>
      <p:sp>
        <p:nvSpPr>
          <p:cNvPr id="5" name="S27_strip_other_4"/>
          <p:cNvSpPr/>
          <p:nvPr/>
        </p:nvSpPr>
        <p:spPr>
          <a:xfrm>
            <a:off x="4437126" y="182880"/>
            <a:ext cx="3016377" cy="365760"/>
          </a:xfrm>
          <a:prstGeom prst="roundRect">
            <a:avLst>
              <a:gd name="adj" fmla="val 25000"/>
            </a:avLst>
          </a:prstGeom>
          <a:noFill/>
          <a:ln w="12700">
            <a:solidFill>
              <a:schemeClr val="accent4"/>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0" dirty="0">
                <a:solidFill>
                  <a:schemeClr val="tx1"/>
                </a:solidFill>
                <a:latin typeface="Arial"/>
                <a:cs typeface="Arial"/>
              </a:rPr>
              <a:t>○ Business problem</a:t>
            </a:r>
            <a:endParaRPr lang="en-US" sz="1600" dirty="0"/>
          </a:p>
        </p:txBody>
      </p:sp>
      <p:sp>
        <p:nvSpPr>
          <p:cNvPr id="6" name="S27_strip_cur_5"/>
          <p:cNvSpPr/>
          <p:nvPr/>
        </p:nvSpPr>
        <p:spPr>
          <a:xfrm>
            <a:off x="7554087" y="182880"/>
            <a:ext cx="4086225" cy="365760"/>
          </a:xfrm>
          <a:prstGeom prst="roundRect">
            <a:avLst>
              <a:gd name="adj" fmla="val 25000"/>
            </a:avLst>
          </a:prstGeom>
          <a:solidFill>
            <a:schemeClr val="accent1"/>
          </a:solidFill>
          <a:ln w="38100">
            <a:solidFill>
              <a:schemeClr val="accent1"/>
            </a:solidFill>
            <a:round/>
          </a:ln>
        </p:spPr>
        <p:txBody>
          <a:bodyPr wrap="square" lIns="36576" tIns="18288" rIns="36576" bIns="18288"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 Insight — you are here</a:t>
            </a:r>
            <a:endParaRPr lang="en-US" sz="1600" dirty="0"/>
          </a:p>
        </p:txBody>
      </p:sp>
      <p:sp>
        <p:nvSpPr>
          <p:cNvPr id="7" name="S27_loop_node_anchor_6"/>
          <p:cNvSpPr/>
          <p:nvPr/>
        </p:nvSpPr>
        <p:spPr>
          <a:xfrm>
            <a:off x="548640" y="1965960"/>
            <a:ext cx="2286000" cy="1371600"/>
          </a:xfrm>
          <a:prstGeom prst="roundRect">
            <a:avLst>
              <a:gd name="adj" fmla="val 12000"/>
            </a:avLst>
          </a:prstGeom>
          <a:solidFill>
            <a:schemeClr val="bg2"/>
          </a:solidFill>
          <a:ln w="50800">
            <a:solidFill>
              <a:schemeClr val="accent2"/>
            </a:solidFill>
            <a:round/>
          </a:ln>
        </p:spPr>
        <p:txBody>
          <a:bodyPr wrap="square" lIns="109728" tIns="54864" rIns="109728" bIns="54864" rtlCol="0" anchor="ctr">
            <a:noAutofit/>
          </a:bodyPr>
          <a:lstStyle/>
          <a:p>
            <a:endParaRPr lang="en-US" dirty="0"/>
          </a:p>
        </p:txBody>
      </p:sp>
      <p:sp>
        <p:nvSpPr>
          <p:cNvPr id="8" name="S27_badge_7"/>
          <p:cNvSpPr/>
          <p:nvPr/>
        </p:nvSpPr>
        <p:spPr>
          <a:xfrm>
            <a:off x="640080" y="2057400"/>
            <a:ext cx="365760" cy="36576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1</a:t>
            </a:r>
            <a:endParaRPr lang="en-US" sz="1600" dirty="0"/>
          </a:p>
        </p:txBody>
      </p:sp>
      <p:sp>
        <p:nvSpPr>
          <p:cNvPr id="9" name="S27_loop_label_8"/>
          <p:cNvSpPr txBox="1"/>
          <p:nvPr/>
        </p:nvSpPr>
        <p:spPr>
          <a:xfrm>
            <a:off x="1051560" y="2011680"/>
            <a:ext cx="1737360" cy="9144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Business problem</a:t>
            </a:r>
            <a:endParaRPr lang="en-US" sz="2000" dirty="0"/>
          </a:p>
        </p:txBody>
      </p:sp>
      <p:sp>
        <p:nvSpPr>
          <p:cNvPr id="10" name="S27_loop_node_9"/>
          <p:cNvSpPr/>
          <p:nvPr/>
        </p:nvSpPr>
        <p:spPr>
          <a:xfrm>
            <a:off x="3337560" y="2148840"/>
            <a:ext cx="210312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1" name="S27_badge_10"/>
          <p:cNvSpPr/>
          <p:nvPr/>
        </p:nvSpPr>
        <p:spPr>
          <a:xfrm>
            <a:off x="3429000" y="2240280"/>
            <a:ext cx="365760" cy="36576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2</a:t>
            </a:r>
            <a:endParaRPr lang="en-US" sz="1600" dirty="0"/>
          </a:p>
        </p:txBody>
      </p:sp>
      <p:sp>
        <p:nvSpPr>
          <p:cNvPr id="12" name="S27_loop_label_11"/>
          <p:cNvSpPr txBox="1"/>
          <p:nvPr/>
        </p:nvSpPr>
        <p:spPr>
          <a:xfrm>
            <a:off x="3840480" y="2194560"/>
            <a:ext cx="1554480" cy="9144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Data</a:t>
            </a:r>
            <a:endParaRPr lang="en-US" sz="2000" dirty="0"/>
          </a:p>
        </p:txBody>
      </p:sp>
      <p:sp>
        <p:nvSpPr>
          <p:cNvPr id="13" name="S27_loop_node_12"/>
          <p:cNvSpPr/>
          <p:nvPr/>
        </p:nvSpPr>
        <p:spPr>
          <a:xfrm>
            <a:off x="5943600" y="2148840"/>
            <a:ext cx="210312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4" name="S27_badge_13"/>
          <p:cNvSpPr/>
          <p:nvPr/>
        </p:nvSpPr>
        <p:spPr>
          <a:xfrm>
            <a:off x="6035040" y="2240280"/>
            <a:ext cx="365760" cy="36576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3</a:t>
            </a:r>
            <a:endParaRPr lang="en-US" sz="1600" dirty="0"/>
          </a:p>
        </p:txBody>
      </p:sp>
      <p:sp>
        <p:nvSpPr>
          <p:cNvPr id="15" name="S27_loop_label_14"/>
          <p:cNvSpPr txBox="1"/>
          <p:nvPr/>
        </p:nvSpPr>
        <p:spPr>
          <a:xfrm>
            <a:off x="6446520" y="2194560"/>
            <a:ext cx="1554480" cy="9144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Information</a:t>
            </a:r>
            <a:endParaRPr lang="en-US" sz="2000" dirty="0"/>
          </a:p>
        </p:txBody>
      </p:sp>
      <p:sp>
        <p:nvSpPr>
          <p:cNvPr id="16" name="S27_loop_node_15"/>
          <p:cNvSpPr/>
          <p:nvPr/>
        </p:nvSpPr>
        <p:spPr>
          <a:xfrm>
            <a:off x="5943600" y="4023360"/>
            <a:ext cx="210312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7" name="S27_badge_16"/>
          <p:cNvSpPr/>
          <p:nvPr/>
        </p:nvSpPr>
        <p:spPr>
          <a:xfrm>
            <a:off x="6035040" y="4114800"/>
            <a:ext cx="365760" cy="36576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4</a:t>
            </a:r>
            <a:endParaRPr lang="en-US" sz="1600" dirty="0"/>
          </a:p>
        </p:txBody>
      </p:sp>
      <p:sp>
        <p:nvSpPr>
          <p:cNvPr id="18" name="S27_loop_label_17"/>
          <p:cNvSpPr txBox="1"/>
          <p:nvPr/>
        </p:nvSpPr>
        <p:spPr>
          <a:xfrm>
            <a:off x="6446520" y="4069080"/>
            <a:ext cx="1554480" cy="9144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Insight</a:t>
            </a:r>
            <a:endParaRPr lang="en-US" sz="2000" dirty="0"/>
          </a:p>
        </p:txBody>
      </p:sp>
      <p:sp>
        <p:nvSpPr>
          <p:cNvPr id="19" name="S27_loop_node_18"/>
          <p:cNvSpPr/>
          <p:nvPr/>
        </p:nvSpPr>
        <p:spPr>
          <a:xfrm>
            <a:off x="3337560" y="4023360"/>
            <a:ext cx="210312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0" name="S27_badge_19"/>
          <p:cNvSpPr/>
          <p:nvPr/>
        </p:nvSpPr>
        <p:spPr>
          <a:xfrm>
            <a:off x="3429000" y="4114800"/>
            <a:ext cx="365760" cy="36576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5</a:t>
            </a:r>
            <a:endParaRPr lang="en-US" sz="1600" dirty="0"/>
          </a:p>
        </p:txBody>
      </p:sp>
      <p:sp>
        <p:nvSpPr>
          <p:cNvPr id="21" name="S27_loop_label_20"/>
          <p:cNvSpPr txBox="1"/>
          <p:nvPr/>
        </p:nvSpPr>
        <p:spPr>
          <a:xfrm>
            <a:off x="3840480" y="4069080"/>
            <a:ext cx="1554480" cy="9144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Decision</a:t>
            </a:r>
            <a:endParaRPr lang="en-US" sz="2000" dirty="0"/>
          </a:p>
        </p:txBody>
      </p:sp>
      <p:sp>
        <p:nvSpPr>
          <p:cNvPr id="22" name="S27_loop_node_21"/>
          <p:cNvSpPr/>
          <p:nvPr/>
        </p:nvSpPr>
        <p:spPr>
          <a:xfrm>
            <a:off x="640080" y="4023360"/>
            <a:ext cx="2103120" cy="100584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3" name="S27_badge_22"/>
          <p:cNvSpPr/>
          <p:nvPr/>
        </p:nvSpPr>
        <p:spPr>
          <a:xfrm>
            <a:off x="731520" y="4114800"/>
            <a:ext cx="365760" cy="365760"/>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6</a:t>
            </a:r>
            <a:endParaRPr lang="en-US" sz="1600" dirty="0"/>
          </a:p>
        </p:txBody>
      </p:sp>
      <p:sp>
        <p:nvSpPr>
          <p:cNvPr id="24" name="S27_loop_label_23"/>
          <p:cNvSpPr txBox="1"/>
          <p:nvPr/>
        </p:nvSpPr>
        <p:spPr>
          <a:xfrm>
            <a:off x="1143000" y="4069080"/>
            <a:ext cx="1554480" cy="914400"/>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Outcome / feedback</a:t>
            </a:r>
            <a:endParaRPr lang="en-US" sz="2000" dirty="0"/>
          </a:p>
        </p:txBody>
      </p:sp>
      <p:sp>
        <p:nvSpPr>
          <p:cNvPr id="25" name="S27_anchor_tag_24"/>
          <p:cNvSpPr txBox="1"/>
          <p:nvPr/>
        </p:nvSpPr>
        <p:spPr>
          <a:xfrm>
            <a:off x="548640" y="2926080"/>
            <a:ext cx="2286000" cy="329184"/>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ANCHOR</a:t>
            </a:r>
            <a:endParaRPr lang="en-US" sz="1600" dirty="0"/>
          </a:p>
        </p:txBody>
      </p:sp>
      <p:cxnSp>
        <p:nvCxnSpPr>
          <p:cNvPr id="26" name="S27_conn_25">
            <a:extLst>
              <a:ext uri="{C183D7F6-B498-43B3-948B-1728B52AA6E4}">
                <adec:decorative xmlns:adec="http://schemas.microsoft.com/office/drawing/2017/decorative" val="1"/>
              </a:ext>
            </a:extLst>
          </p:cNvPr>
          <p:cNvCxnSpPr/>
          <p:nvPr/>
        </p:nvCxnSpPr>
        <p:spPr>
          <a:xfrm>
            <a:off x="2862072" y="2651760"/>
            <a:ext cx="448056" cy="0"/>
          </a:xfrm>
          <a:prstGeom prst="line">
            <a:avLst/>
          </a:prstGeom>
          <a:ln w="31750">
            <a:solidFill>
              <a:schemeClr val="tx1"/>
            </a:solidFill>
            <a:round/>
            <a:tailEnd type="triangle" w="med" len="med"/>
          </a:ln>
        </p:spPr>
      </p:cxnSp>
      <p:cxnSp>
        <p:nvCxnSpPr>
          <p:cNvPr id="27" name="S27_conn_26">
            <a:extLst>
              <a:ext uri="{C183D7F6-B498-43B3-948B-1728B52AA6E4}">
                <adec:decorative xmlns:adec="http://schemas.microsoft.com/office/drawing/2017/decorative" val="1"/>
              </a:ext>
            </a:extLst>
          </p:cNvPr>
          <p:cNvCxnSpPr/>
          <p:nvPr/>
        </p:nvCxnSpPr>
        <p:spPr>
          <a:xfrm>
            <a:off x="5468112" y="2651760"/>
            <a:ext cx="448056" cy="0"/>
          </a:xfrm>
          <a:prstGeom prst="line">
            <a:avLst/>
          </a:prstGeom>
          <a:ln w="31750">
            <a:solidFill>
              <a:schemeClr val="tx1"/>
            </a:solidFill>
            <a:round/>
            <a:tailEnd type="triangle" w="med" len="med"/>
          </a:ln>
        </p:spPr>
      </p:cxnSp>
      <p:cxnSp>
        <p:nvCxnSpPr>
          <p:cNvPr id="28" name="S27_conn_27">
            <a:extLst>
              <a:ext uri="{C183D7F6-B498-43B3-948B-1728B52AA6E4}">
                <adec:decorative xmlns:adec="http://schemas.microsoft.com/office/drawing/2017/decorative" val="1"/>
              </a:ext>
            </a:extLst>
          </p:cNvPr>
          <p:cNvCxnSpPr/>
          <p:nvPr/>
        </p:nvCxnSpPr>
        <p:spPr>
          <a:xfrm>
            <a:off x="6995160" y="3182112"/>
            <a:ext cx="0" cy="813816"/>
          </a:xfrm>
          <a:prstGeom prst="line">
            <a:avLst/>
          </a:prstGeom>
          <a:ln w="31750">
            <a:solidFill>
              <a:schemeClr val="tx1"/>
            </a:solidFill>
            <a:round/>
            <a:tailEnd type="triangle" w="med" len="med"/>
          </a:ln>
        </p:spPr>
      </p:cxnSp>
      <p:cxnSp>
        <p:nvCxnSpPr>
          <p:cNvPr id="29" name="S27_conn_28">
            <a:extLst>
              <a:ext uri="{C183D7F6-B498-43B3-948B-1728B52AA6E4}">
                <adec:decorative xmlns:adec="http://schemas.microsoft.com/office/drawing/2017/decorative" val="1"/>
              </a:ext>
            </a:extLst>
          </p:cNvPr>
          <p:cNvCxnSpPr/>
          <p:nvPr/>
        </p:nvCxnSpPr>
        <p:spPr>
          <a:xfrm flipH="1">
            <a:off x="5468112" y="4526280"/>
            <a:ext cx="448056" cy="0"/>
          </a:xfrm>
          <a:prstGeom prst="line">
            <a:avLst/>
          </a:prstGeom>
          <a:ln w="31750">
            <a:solidFill>
              <a:schemeClr val="tx1"/>
            </a:solidFill>
            <a:round/>
            <a:tailEnd type="triangle" w="med" len="med"/>
          </a:ln>
        </p:spPr>
      </p:cxnSp>
      <p:cxnSp>
        <p:nvCxnSpPr>
          <p:cNvPr id="30" name="S27_conn_29">
            <a:extLst>
              <a:ext uri="{C183D7F6-B498-43B3-948B-1728B52AA6E4}">
                <adec:decorative xmlns:adec="http://schemas.microsoft.com/office/drawing/2017/decorative" val="1"/>
              </a:ext>
            </a:extLst>
          </p:cNvPr>
          <p:cNvCxnSpPr/>
          <p:nvPr/>
        </p:nvCxnSpPr>
        <p:spPr>
          <a:xfrm flipH="1">
            <a:off x="2770632" y="4526280"/>
            <a:ext cx="539496" cy="0"/>
          </a:xfrm>
          <a:prstGeom prst="line">
            <a:avLst/>
          </a:prstGeom>
          <a:ln w="31750">
            <a:solidFill>
              <a:schemeClr val="tx1"/>
            </a:solidFill>
            <a:round/>
            <a:tailEnd type="triangle" w="med" len="med"/>
          </a:ln>
        </p:spPr>
      </p:cxnSp>
      <p:cxnSp>
        <p:nvCxnSpPr>
          <p:cNvPr id="31" name="S27_conn_30">
            <a:extLst>
              <a:ext uri="{C183D7F6-B498-43B3-948B-1728B52AA6E4}">
                <adec:decorative xmlns:adec="http://schemas.microsoft.com/office/drawing/2017/decorative" val="1"/>
              </a:ext>
            </a:extLst>
          </p:cNvPr>
          <p:cNvCxnSpPr/>
          <p:nvPr/>
        </p:nvCxnSpPr>
        <p:spPr>
          <a:xfrm flipV="1">
            <a:off x="1691640" y="3364992"/>
            <a:ext cx="0" cy="630936"/>
          </a:xfrm>
          <a:prstGeom prst="line">
            <a:avLst/>
          </a:prstGeom>
          <a:ln w="31750">
            <a:solidFill>
              <a:schemeClr val="tx1"/>
            </a:solidFill>
            <a:round/>
            <a:tailEnd type="triangle" w="med" len="med"/>
          </a:ln>
        </p:spPr>
      </p:cxnSp>
      <p:sp>
        <p:nvSpPr>
          <p:cNvPr id="32" name="S27_feedback_label_31"/>
          <p:cNvSpPr txBox="1"/>
          <p:nvPr/>
        </p:nvSpPr>
        <p:spPr>
          <a:xfrm>
            <a:off x="1783080" y="3611880"/>
            <a:ext cx="1737360" cy="310896"/>
          </a:xfrm>
          <a:prstGeom prst="rect">
            <a:avLst/>
          </a:prstGeom>
          <a:noFill/>
          <a:ln>
            <a:noFill/>
          </a:ln>
        </p:spPr>
        <p:txBody>
          <a:bodyPr wrap="square" lIns="45720" tIns="27432" rIns="45720" bIns="27432" rtlCol="0" anchor="ctr">
            <a:noAutofit/>
          </a:bodyPr>
          <a:lstStyle/>
          <a:p>
            <a:pPr algn="l" marL="0" indent="0">
              <a:lnSpc>
                <a:spcPct val="100000"/>
              </a:lnSpc>
              <a:spcBef>
                <a:spcPts val="0"/>
              </a:spcBef>
              <a:spcAft>
                <a:spcPts val="0"/>
              </a:spcAft>
              <a:buNone/>
            </a:pPr>
            <a:r>
              <a:rPr lang="en-US" sz="1600" b="1" i="1" dirty="0">
                <a:solidFill>
                  <a:schemeClr val="tx1"/>
                </a:solidFill>
                <a:latin typeface="Arial"/>
                <a:cs typeface="Arial"/>
              </a:rPr>
              <a:t>feedback</a:t>
            </a:r>
            <a:endParaRPr lang="en-US" sz="1600" dirty="0"/>
          </a:p>
        </p:txBody>
      </p:sp>
      <p:sp>
        <p:nvSpPr>
          <p:cNvPr id="33" name="S27_note_32"/>
          <p:cNvSpPr txBox="1"/>
          <p:nvPr/>
        </p:nvSpPr>
        <p:spPr>
          <a:xfrm>
            <a:off x="548640" y="5257800"/>
            <a:ext cx="7498080" cy="7315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1600" b="0" i="1" dirty="0">
                <a:solidFill>
                  <a:schemeClr val="accent3"/>
                </a:solidFill>
                <a:latin typeface="Arial"/>
                <a:cs typeface="Arial"/>
              </a:rPr>
              <a:t>Data vs. information is on the earlier slide; this slide is about what comes after information.</a:t>
            </a:r>
            <a:endParaRPr lang="en-US" sz="1600" dirty="0"/>
          </a:p>
        </p:txBody>
      </p:sp>
      <p:sp>
        <p:nvSpPr>
          <p:cNvPr id="34" name="S27_insight_def_33"/>
          <p:cNvSpPr/>
          <p:nvPr/>
        </p:nvSpPr>
        <p:spPr>
          <a:xfrm>
            <a:off x="8275320" y="1828800"/>
            <a:ext cx="3364992" cy="4114800"/>
          </a:xfrm>
          <a:prstGeom prst="rect">
            <a:avLst/>
          </a:prstGeom>
          <a:solidFill>
            <a:schemeClr val="bg1"/>
          </a:solidFill>
          <a:ln w="25400">
            <a:solidFill>
              <a:schemeClr val="accent1"/>
            </a:solidFill>
            <a:round/>
          </a:ln>
        </p:spPr>
        <p:txBody>
          <a:bodyPr wrap="square" lIns="137160" tIns="109728" rIns="137160" bIns="91440" rtlCol="0" anchor="t">
            <a:noAutofit/>
          </a:bodyPr>
          <a:lstStyle/>
          <a:p>
            <a:pPr algn="l" marL="0" indent="0">
              <a:lnSpc>
                <a:spcPct val="100000"/>
              </a:lnSpc>
              <a:spcBef>
                <a:spcPts val="0"/>
              </a:spcBef>
              <a:spcAft>
                <a:spcPts val="600"/>
              </a:spcAft>
              <a:buNone/>
            </a:pPr>
            <a:r>
              <a:rPr lang="en-US" sz="2200" b="1" dirty="0">
                <a:solidFill>
                  <a:schemeClr val="tx1"/>
                </a:solidFill>
                <a:latin typeface="Arial"/>
                <a:cs typeface="Arial"/>
              </a:rPr>
              <a:t>Insight</a:t>
            </a:r>
            <a:endParaRPr lang="en-US" sz="2200" dirty="0"/>
          </a:p>
          <a:p>
            <a:pPr algn="l" marL="0" indent="0">
              <a:lnSpc>
                <a:spcPct val="100000"/>
              </a:lnSpc>
              <a:spcBef>
                <a:spcPts val="0"/>
              </a:spcBef>
              <a:spcAft>
                <a:spcPts val="0"/>
              </a:spcAft>
              <a:buNone/>
            </a:pPr>
            <a:r>
              <a:rPr lang="en-US" sz="1800" b="0" dirty="0">
                <a:solidFill>
                  <a:schemeClr val="tx1"/>
                </a:solidFill>
                <a:latin typeface="Arial"/>
                <a:cs typeface="Arial"/>
              </a:rPr>
              <a:t>An understanding of the business situation that can inform a decision. A good decision is judged by a measurable outcome consistent with the organization’s goals, and it should help close the gap between the current and desired state.</a:t>
            </a:r>
            <a:endParaRPr lang="en-US" sz="1800" dirty="0"/>
          </a:p>
        </p:txBody>
      </p:sp>
      <p:sp>
        <p:nvSpPr>
          <p:cNvPr id="35" name="S27_slide_number_34"/>
          <p:cNvSpPr>
            <a:spLocks noGrp="1"/>
          </p:cNvSpPr>
          <p:nvPr>
            <p:ph type="sldNum" sz="quarter" idx="12"/>
          </p:nvPr>
        </p:nvSpPr>
        <p:spPr/>
        <p:txBody>
          <a:bodyPr/>
          <a:lstStyle/>
          <a:p>
            <a:fld id="{B6F15528-21DE-4FAA-801E-634DDDAF4B2B}" type="slidenum">
              <a:rPr lang="en-US" sz="1200" dirty="0">
                <a:latin typeface="Arial"/>
              </a:r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8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From finding to action: candidate actions to test</a:t>
            </a:r>
            <a:endParaRPr lang="en-US" sz="2800" dirty="0"/>
          </a:p>
        </p:txBody>
      </p:sp>
      <p:sp>
        <p:nvSpPr>
          <p:cNvPr id="3" name="S28_lead_2"/>
          <p:cNvSpPr txBox="1"/>
          <p:nvPr/>
        </p:nvSpPr>
        <p:spPr>
          <a:xfrm>
            <a:off x="548640" y="1737360"/>
            <a:ext cx="11091672" cy="77724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0" dirty="0">
                <a:solidFill>
                  <a:schemeClr val="tx1"/>
                </a:solidFill>
                <a:latin typeface="Arial"/>
                <a:cs typeface="Arial"/>
              </a:rPr>
              <a:t>Predictions and patterns do not automatically determine the action. Treat outputs as </a:t>
            </a:r>
            <a:r>
              <a:rPr lang="en-US" sz="2400" b="1" dirty="0">
                <a:solidFill>
                  <a:schemeClr val="tx1"/>
                </a:solidFill>
                <a:latin typeface="Arial"/>
                <a:cs typeface="Arial"/>
              </a:rPr>
              <a:t>candidate actions to evaluate:</a:t>
            </a:r>
            <a:endParaRPr lang="en-US" sz="2400" dirty="0"/>
          </a:p>
        </p:txBody>
      </p:sp>
      <p:sp>
        <p:nvSpPr>
          <p:cNvPr id="4" name="S28_flow_node_3"/>
          <p:cNvSpPr/>
          <p:nvPr/>
        </p:nvSpPr>
        <p:spPr>
          <a:xfrm>
            <a:off x="548640" y="2743200"/>
            <a:ext cx="1828800" cy="12801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5" name="S28_badge_4"/>
          <p:cNvSpPr/>
          <p:nvPr/>
        </p:nvSpPr>
        <p:spPr>
          <a:xfrm>
            <a:off x="640080" y="2816352"/>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1</a:t>
            </a:r>
            <a:endParaRPr lang="en-US" sz="1600" dirty="0"/>
          </a:p>
        </p:txBody>
      </p:sp>
      <p:sp>
        <p:nvSpPr>
          <p:cNvPr id="6" name="S28_flow_label_5"/>
          <p:cNvSpPr txBox="1"/>
          <p:nvPr/>
        </p:nvSpPr>
        <p:spPr>
          <a:xfrm>
            <a:off x="594360" y="3200400"/>
            <a:ext cx="1737360" cy="77724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Finding / prediction</a:t>
            </a:r>
            <a:endParaRPr lang="en-US" sz="2000" dirty="0"/>
          </a:p>
        </p:txBody>
      </p:sp>
      <p:cxnSp>
        <p:nvCxnSpPr>
          <p:cNvPr id="7" name="S28_conn_6">
            <a:extLst>
              <a:ext uri="{C183D7F6-B498-43B3-948B-1728B52AA6E4}">
                <adec:decorative xmlns:adec="http://schemas.microsoft.com/office/drawing/2017/decorative" val="1"/>
              </a:ext>
            </a:extLst>
          </p:cNvPr>
          <p:cNvCxnSpPr/>
          <p:nvPr/>
        </p:nvCxnSpPr>
        <p:spPr>
          <a:xfrm>
            <a:off x="2414016" y="3383280"/>
            <a:ext cx="413766" cy="0"/>
          </a:xfrm>
          <a:prstGeom prst="line">
            <a:avLst/>
          </a:prstGeom>
          <a:ln w="31750">
            <a:solidFill>
              <a:schemeClr val="tx1"/>
            </a:solidFill>
            <a:round/>
            <a:tailEnd type="triangle" w="med" len="med"/>
          </a:ln>
        </p:spPr>
      </p:cxnSp>
      <p:sp>
        <p:nvSpPr>
          <p:cNvPr id="8" name="S28_flow_node_7"/>
          <p:cNvSpPr/>
          <p:nvPr/>
        </p:nvSpPr>
        <p:spPr>
          <a:xfrm>
            <a:off x="2864358" y="2743200"/>
            <a:ext cx="1828800" cy="12801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9" name="S28_badge_8"/>
          <p:cNvSpPr/>
          <p:nvPr/>
        </p:nvSpPr>
        <p:spPr>
          <a:xfrm>
            <a:off x="2955798" y="2816352"/>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2</a:t>
            </a:r>
            <a:endParaRPr lang="en-US" sz="1600" dirty="0"/>
          </a:p>
        </p:txBody>
      </p:sp>
      <p:sp>
        <p:nvSpPr>
          <p:cNvPr id="10" name="S28_flow_label_9"/>
          <p:cNvSpPr txBox="1"/>
          <p:nvPr/>
        </p:nvSpPr>
        <p:spPr>
          <a:xfrm>
            <a:off x="2910078" y="3200400"/>
            <a:ext cx="1737360" cy="77724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Candidate action</a:t>
            </a:r>
            <a:endParaRPr lang="en-US" sz="2000" dirty="0"/>
          </a:p>
        </p:txBody>
      </p:sp>
      <p:cxnSp>
        <p:nvCxnSpPr>
          <p:cNvPr id="11" name="S28_conn_10">
            <a:extLst>
              <a:ext uri="{C183D7F6-B498-43B3-948B-1728B52AA6E4}">
                <adec:decorative xmlns:adec="http://schemas.microsoft.com/office/drawing/2017/decorative" val="1"/>
              </a:ext>
            </a:extLst>
          </p:cNvPr>
          <p:cNvCxnSpPr/>
          <p:nvPr/>
        </p:nvCxnSpPr>
        <p:spPr>
          <a:xfrm>
            <a:off x="4729734" y="3383280"/>
            <a:ext cx="413766" cy="0"/>
          </a:xfrm>
          <a:prstGeom prst="line">
            <a:avLst/>
          </a:prstGeom>
          <a:ln w="31750">
            <a:solidFill>
              <a:schemeClr val="tx1"/>
            </a:solidFill>
            <a:round/>
            <a:tailEnd type="triangle" w="med" len="med"/>
          </a:ln>
        </p:spPr>
      </p:cxnSp>
      <p:sp>
        <p:nvSpPr>
          <p:cNvPr id="12" name="S28_flow_node_11"/>
          <p:cNvSpPr/>
          <p:nvPr/>
        </p:nvSpPr>
        <p:spPr>
          <a:xfrm>
            <a:off x="5180076" y="2743200"/>
            <a:ext cx="1828800" cy="12801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3" name="S28_badge_12"/>
          <p:cNvSpPr/>
          <p:nvPr/>
        </p:nvSpPr>
        <p:spPr>
          <a:xfrm>
            <a:off x="5271516" y="2816352"/>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3</a:t>
            </a:r>
            <a:endParaRPr lang="en-US" sz="1600" dirty="0"/>
          </a:p>
        </p:txBody>
      </p:sp>
      <p:sp>
        <p:nvSpPr>
          <p:cNvPr id="14" name="S28_flow_label_13"/>
          <p:cNvSpPr txBox="1"/>
          <p:nvPr/>
        </p:nvSpPr>
        <p:spPr>
          <a:xfrm>
            <a:off x="5225796" y="3200400"/>
            <a:ext cx="1737360" cy="77724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Test or compare</a:t>
            </a:r>
            <a:endParaRPr lang="en-US" sz="2000" dirty="0"/>
          </a:p>
        </p:txBody>
      </p:sp>
      <p:cxnSp>
        <p:nvCxnSpPr>
          <p:cNvPr id="15" name="S28_conn_14">
            <a:extLst>
              <a:ext uri="{C183D7F6-B498-43B3-948B-1728B52AA6E4}">
                <adec:decorative xmlns:adec="http://schemas.microsoft.com/office/drawing/2017/decorative" val="1"/>
              </a:ext>
            </a:extLst>
          </p:cNvPr>
          <p:cNvCxnSpPr/>
          <p:nvPr/>
        </p:nvCxnSpPr>
        <p:spPr>
          <a:xfrm>
            <a:off x="7045452" y="3383280"/>
            <a:ext cx="413766" cy="0"/>
          </a:xfrm>
          <a:prstGeom prst="line">
            <a:avLst/>
          </a:prstGeom>
          <a:ln w="31750">
            <a:solidFill>
              <a:schemeClr val="tx1"/>
            </a:solidFill>
            <a:round/>
            <a:tailEnd type="triangle" w="med" len="med"/>
          </a:ln>
        </p:spPr>
      </p:cxnSp>
      <p:sp>
        <p:nvSpPr>
          <p:cNvPr id="16" name="S28_flow_node_15"/>
          <p:cNvSpPr/>
          <p:nvPr/>
        </p:nvSpPr>
        <p:spPr>
          <a:xfrm>
            <a:off x="7495794" y="2743200"/>
            <a:ext cx="1828800" cy="12801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17" name="S28_badge_16"/>
          <p:cNvSpPr/>
          <p:nvPr/>
        </p:nvSpPr>
        <p:spPr>
          <a:xfrm>
            <a:off x="7587234" y="2816352"/>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4</a:t>
            </a:r>
            <a:endParaRPr lang="en-US" sz="1600" dirty="0"/>
          </a:p>
        </p:txBody>
      </p:sp>
      <p:sp>
        <p:nvSpPr>
          <p:cNvPr id="18" name="S28_flow_label_17"/>
          <p:cNvSpPr txBox="1"/>
          <p:nvPr/>
        </p:nvSpPr>
        <p:spPr>
          <a:xfrm>
            <a:off x="7541514" y="3200400"/>
            <a:ext cx="1737360" cy="77724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Measure outcome</a:t>
            </a:r>
            <a:endParaRPr lang="en-US" sz="2000" dirty="0"/>
          </a:p>
        </p:txBody>
      </p:sp>
      <p:cxnSp>
        <p:nvCxnSpPr>
          <p:cNvPr id="19" name="S28_conn_18">
            <a:extLst>
              <a:ext uri="{C183D7F6-B498-43B3-948B-1728B52AA6E4}">
                <adec:decorative xmlns:adec="http://schemas.microsoft.com/office/drawing/2017/decorative" val="1"/>
              </a:ext>
            </a:extLst>
          </p:cNvPr>
          <p:cNvCxnSpPr/>
          <p:nvPr/>
        </p:nvCxnSpPr>
        <p:spPr>
          <a:xfrm>
            <a:off x="9361170" y="3383280"/>
            <a:ext cx="413766" cy="0"/>
          </a:xfrm>
          <a:prstGeom prst="line">
            <a:avLst/>
          </a:prstGeom>
          <a:ln w="31750">
            <a:solidFill>
              <a:schemeClr val="tx1"/>
            </a:solidFill>
            <a:round/>
            <a:tailEnd type="triangle" w="med" len="med"/>
          </a:ln>
        </p:spPr>
      </p:cxnSp>
      <p:sp>
        <p:nvSpPr>
          <p:cNvPr id="20" name="S28_flow_node_19"/>
          <p:cNvSpPr/>
          <p:nvPr/>
        </p:nvSpPr>
        <p:spPr>
          <a:xfrm>
            <a:off x="9811512" y="2743200"/>
            <a:ext cx="1828800" cy="1280160"/>
          </a:xfrm>
          <a:prstGeom prst="roundRect">
            <a:avLst>
              <a:gd name="adj" fmla="val 12000"/>
            </a:avLst>
          </a:prstGeom>
          <a:solidFill>
            <a:schemeClr val="bg2"/>
          </a:solidFill>
          <a:ln w="25400">
            <a:solidFill>
              <a:schemeClr val="accent1"/>
            </a:solidFill>
            <a:round/>
          </a:ln>
        </p:spPr>
        <p:txBody>
          <a:bodyPr wrap="square" lIns="109728" tIns="54864" rIns="109728" bIns="54864" rtlCol="0" anchor="ctr">
            <a:noAutofit/>
          </a:bodyPr>
          <a:lstStyle/>
          <a:p>
            <a:endParaRPr lang="en-US" dirty="0"/>
          </a:p>
        </p:txBody>
      </p:sp>
      <p:sp>
        <p:nvSpPr>
          <p:cNvPr id="21" name="S28_badge_20"/>
          <p:cNvSpPr/>
          <p:nvPr/>
        </p:nvSpPr>
        <p:spPr>
          <a:xfrm>
            <a:off x="9902952" y="2816352"/>
            <a:ext cx="384048" cy="384048"/>
          </a:xfrm>
          <a:prstGeom prst="ellipse">
            <a:avLst/>
          </a:prstGeom>
          <a:solidFill>
            <a:schemeClr val="accent1"/>
          </a:solidFill>
          <a:ln w="25400">
            <a:solidFill>
              <a:schemeClr val="accent1"/>
            </a:solidFill>
            <a:round/>
          </a:ln>
        </p:spPr>
        <p:txBody>
          <a:bodyPr wrap="square" lIns="0" tIns="0" rIns="0" bIns="0" rtlCol="0" anchor="ctr">
            <a:noAutofit/>
          </a:bodyPr>
          <a:lstStyle/>
          <a:p>
            <a:pPr algn="ctr" marL="0" indent="0">
              <a:lnSpc>
                <a:spcPct val="100000"/>
              </a:lnSpc>
              <a:spcBef>
                <a:spcPts val="0"/>
              </a:spcBef>
              <a:spcAft>
                <a:spcPts val="0"/>
              </a:spcAft>
              <a:buNone/>
            </a:pPr>
            <a:r>
              <a:rPr lang="en-US" sz="1600" b="1" dirty="0">
                <a:solidFill>
                  <a:schemeClr val="bg1"/>
                </a:solidFill>
                <a:latin typeface="Arial"/>
                <a:cs typeface="Arial"/>
              </a:rPr>
              <a:t>5</a:t>
            </a:r>
            <a:endParaRPr lang="en-US" sz="1600" dirty="0"/>
          </a:p>
        </p:txBody>
      </p:sp>
      <p:sp>
        <p:nvSpPr>
          <p:cNvPr id="22" name="S28_flow_label_21"/>
          <p:cNvSpPr txBox="1"/>
          <p:nvPr/>
        </p:nvSpPr>
        <p:spPr>
          <a:xfrm>
            <a:off x="9857232" y="3200400"/>
            <a:ext cx="1737360" cy="777240"/>
          </a:xfrm>
          <a:prstGeom prst="rect">
            <a:avLst/>
          </a:prstGeom>
          <a:noFill/>
          <a:ln>
            <a:noFill/>
          </a:ln>
        </p:spPr>
        <p:txBody>
          <a:bodyPr wrap="square" lIns="45720" tIns="27432" rIns="45720" bIns="27432"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Revise decision</a:t>
            </a:r>
            <a:endParaRPr lang="en-US" sz="2000" dirty="0"/>
          </a:p>
        </p:txBody>
      </p:sp>
      <p:sp>
        <p:nvSpPr>
          <p:cNvPr id="23" name="S28_path_22">
            <a:extLst>
              <a:ext uri="{C183D7F6-B498-43B3-948B-1728B52AA6E4}">
                <adec:decorative xmlns:adec="http://schemas.microsoft.com/office/drawing/2017/decorative" val="1"/>
              </a:ext>
            </a:extLst>
          </p:cNvPr>
          <p:cNvSpPr/>
          <p:nvPr/>
        </p:nvSpPr>
        <p:spPr>
          <a:xfrm>
            <a:off x="3778758" y="4050792"/>
            <a:ext cx="6947154" cy="475488"/>
          </a:xfrm>
          <a:custGeom>
            <a:avLst/>
            <a:gdLst/>
            <a:ahLst/>
            <a:cxnLst/>
            <a:rect l="0" t="0" r="r" b="b"/>
            <a:pathLst>
              <a:path w="6947154" h="475488" fill="none">
                <a:moveTo>
                  <a:pt x="6947154" y="0"/>
                </a:moveTo>
                <a:lnTo>
                  <a:pt x="6947154" y="475488"/>
                </a:lnTo>
                <a:lnTo>
                  <a:pt x="0" y="475488"/>
                </a:lnTo>
                <a:lnTo>
                  <a:pt x="0" y="18288"/>
                </a:lnTo>
              </a:path>
            </a:pathLst>
          </a:custGeom>
          <a:noFill/>
          <a:ln w="31750">
            <a:solidFill>
              <a:schemeClr val="tx1"/>
            </a:solidFill>
            <a:round/>
            <a:tailEnd type="triangle" w="med" len="med"/>
          </a:ln>
        </p:spPr>
        <p:txBody>
          <a:bodyPr/>
          <a:lstStyle/>
          <a:p>
            <a:endParaRPr lang="en-US"/>
          </a:p>
        </p:txBody>
      </p:sp>
      <p:sp>
        <p:nvSpPr>
          <p:cNvPr id="24" name="S28_feedback_label_23"/>
          <p:cNvSpPr/>
          <p:nvPr/>
        </p:nvSpPr>
        <p:spPr>
          <a:xfrm>
            <a:off x="6003036" y="4343400"/>
            <a:ext cx="1463040" cy="365760"/>
          </a:xfrm>
          <a:prstGeom prst="rect">
            <a:avLst/>
          </a:prstGeom>
          <a:solidFill>
            <a:schemeClr val="bg1"/>
          </a:solidFill>
          <a:ln>
            <a:noFill/>
          </a:ln>
        </p:spPr>
        <p:txBody>
          <a:bodyPr wrap="square" lIns="18288" tIns="18288" rIns="18288" bIns="18288" rtlCol="0" anchor="ctr">
            <a:noAutofit/>
          </a:bodyPr>
          <a:lstStyle/>
          <a:p>
            <a:pPr algn="ctr" marL="0" indent="0">
              <a:lnSpc>
                <a:spcPct val="100000"/>
              </a:lnSpc>
              <a:spcBef>
                <a:spcPts val="0"/>
              </a:spcBef>
              <a:spcAft>
                <a:spcPts val="0"/>
              </a:spcAft>
              <a:buNone/>
            </a:pPr>
            <a:r>
              <a:rPr lang="en-US" sz="1800" b="1" i="1" dirty="0">
                <a:solidFill>
                  <a:schemeClr val="tx1"/>
                </a:solidFill>
                <a:latin typeface="Arial"/>
                <a:cs typeface="Arial"/>
              </a:rPr>
              <a:t>repeat</a:t>
            </a:r>
            <a:endParaRPr lang="en-US" sz="1800" dirty="0"/>
          </a:p>
        </p:txBody>
      </p:sp>
      <p:sp>
        <p:nvSpPr>
          <p:cNvPr id="25" name="S28_closing_24"/>
          <p:cNvSpPr txBox="1"/>
          <p:nvPr/>
        </p:nvSpPr>
        <p:spPr>
          <a:xfrm>
            <a:off x="548640" y="4937760"/>
            <a:ext cx="11091672" cy="9144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Apply this to the three questions on the earlier slide.</a:t>
            </a:r>
            <a:endParaRPr lang="en-US" sz="2200" dirty="0"/>
          </a:p>
        </p:txBody>
      </p:sp>
      <p:sp>
        <p:nvSpPr>
          <p:cNvPr id="26" name="S28_slide_number_25"/>
          <p:cNvSpPr>
            <a:spLocks noGrp="1"/>
          </p:cNvSpPr>
          <p:nvPr>
            <p:ph type="sldNum" sz="quarter" idx="12"/>
          </p:nvPr>
        </p:nvSpPr>
        <p:spPr/>
        <p:txBody>
          <a:bodyPr/>
          <a:lstStyle/>
          <a:p>
            <a:fld id="{B6F15528-21DE-4FAA-801E-634DDDAF4B2B}" type="slidenum">
              <a:rPr lang="en-US" sz="1200" dirty="0">
                <a:latin typeface="Arial"/>
              </a:r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9_title_1"/>
          <p:cNvSpPr>
            <a:spLocks noGrp="1"/>
          </p:cNvSpPr>
          <p:nvPr>
            <p:ph type="title"/>
          </p:nvPr>
        </p:nvSpPr>
        <p:spPr/>
        <p:txBody>
          <a:bodyPr/>
          <a:lstStyle/>
          <a:p>
            <a:pPr algn="l" marL="0" indent="0">
              <a:lnSpc>
                <a:spcPct val="100000"/>
              </a:lnSpc>
              <a:spcBef>
                <a:spcPts val="0"/>
              </a:spcBef>
              <a:spcAft>
                <a:spcPts val="0"/>
              </a:spcAft>
              <a:buNone/>
            </a:pPr>
            <a:r>
              <a:rPr lang="en-US" sz="2800" b="1" dirty="0">
                <a:solidFill>
                  <a:schemeClr val="accent1"/>
                </a:solidFill>
                <a:latin typeface="Arial"/>
                <a:cs typeface="Arial"/>
              </a:rPr>
              <a:t>What business analytics can support</a:t>
            </a:r>
            <a:br>
              <a:rPr lang="en-US" sz="2800" dirty="0"/>
            </a:br>
            <a:r>
              <a:rPr lang="en-US" sz="2800" b="1" dirty="0">
                <a:solidFill>
                  <a:schemeClr val="accent1"/>
                </a:solidFill>
                <a:latin typeface="Arial"/>
                <a:cs typeface="Arial"/>
              </a:rPr>
              <a:t>— and what it cannot guarantee</a:t>
            </a:r>
            <a:endParaRPr lang="en-US" sz="2800" dirty="0"/>
          </a:p>
        </p:txBody>
      </p:sp>
      <p:sp>
        <p:nvSpPr>
          <p:cNvPr id="3" name="S29_col_can_2"/>
          <p:cNvSpPr/>
          <p:nvPr/>
        </p:nvSpPr>
        <p:spPr>
          <a:xfrm>
            <a:off x="548640" y="1737360"/>
            <a:ext cx="5440680" cy="3520440"/>
          </a:xfrm>
          <a:prstGeom prst="rect">
            <a:avLst/>
          </a:prstGeom>
          <a:solidFill>
            <a:schemeClr val="bg1"/>
          </a:solidFill>
          <a:ln w="38100">
            <a:solidFill>
              <a:schemeClr val="accent1"/>
            </a:solidFill>
            <a:round/>
          </a:ln>
        </p:spPr>
        <p:txBody>
          <a:bodyPr wrap="square" lIns="109728" tIns="54864" rIns="109728" bIns="54864" rtlCol="0" anchor="ctr">
            <a:noAutofit/>
          </a:bodyPr>
          <a:lstStyle/>
          <a:p>
            <a:endParaRPr lang="en-US" dirty="0"/>
          </a:p>
        </p:txBody>
      </p:sp>
      <p:sp>
        <p:nvSpPr>
          <p:cNvPr id="4" name="S29_col_head_3"/>
          <p:cNvSpPr/>
          <p:nvPr/>
        </p:nvSpPr>
        <p:spPr>
          <a:xfrm>
            <a:off x="548640" y="1737360"/>
            <a:ext cx="5440680" cy="548640"/>
          </a:xfrm>
          <a:prstGeom prst="rect">
            <a:avLst/>
          </a:prstGeom>
          <a:solidFill>
            <a:schemeClr val="accent1"/>
          </a:solidFill>
          <a:ln w="38100">
            <a:solidFill>
              <a:schemeClr val="accent1"/>
            </a:solidFill>
            <a:round/>
          </a:ln>
        </p:spPr>
        <p:txBody>
          <a:bodyPr wrap="square" lIns="685800" tIns="18288" rIns="91440" bIns="18288" rtlCol="0" anchor="ctr">
            <a:noAutofit/>
          </a:bodyPr>
          <a:lstStyle/>
          <a:p>
            <a:pPr algn="l" marL="0" indent="0">
              <a:lnSpc>
                <a:spcPct val="100000"/>
              </a:lnSpc>
              <a:spcBef>
                <a:spcPts val="0"/>
              </a:spcBef>
              <a:spcAft>
                <a:spcPts val="0"/>
              </a:spcAft>
              <a:buNone/>
            </a:pPr>
            <a:r>
              <a:rPr lang="en-US" sz="2200" b="1" dirty="0">
                <a:solidFill>
                  <a:schemeClr val="bg1"/>
                </a:solidFill>
                <a:latin typeface="Arial"/>
                <a:cs typeface="Arial"/>
              </a:rPr>
              <a:t>CAN SUPPORT</a:t>
            </a:r>
            <a:endParaRPr lang="en-US" sz="2200" dirty="0"/>
          </a:p>
        </p:txBody>
      </p:sp>
      <p:sp>
        <p:nvSpPr>
          <p:cNvPr id="5" name="S29_path_4">
            <a:extLst>
              <a:ext uri="{C183D7F6-B498-43B3-948B-1728B52AA6E4}">
                <adec:decorative xmlns:adec="http://schemas.microsoft.com/office/drawing/2017/decorative" val="1"/>
              </a:ext>
            </a:extLst>
          </p:cNvPr>
          <p:cNvSpPr/>
          <p:nvPr/>
        </p:nvSpPr>
        <p:spPr>
          <a:xfrm>
            <a:off x="731520" y="1856232"/>
            <a:ext cx="365760" cy="292608"/>
          </a:xfrm>
          <a:custGeom>
            <a:avLst/>
            <a:gdLst/>
            <a:ahLst/>
            <a:cxnLst/>
            <a:rect l="0" t="0" r="r" b="b"/>
            <a:pathLst>
              <a:path w="365760" h="292608" fill="none">
                <a:moveTo>
                  <a:pt x="0" y="155448"/>
                </a:moveTo>
                <a:lnTo>
                  <a:pt x="137160" y="292608"/>
                </a:lnTo>
                <a:lnTo>
                  <a:pt x="365760" y="0"/>
                </a:lnTo>
              </a:path>
            </a:pathLst>
          </a:custGeom>
          <a:noFill/>
          <a:ln w="50800">
            <a:solidFill>
              <a:schemeClr val="bg1"/>
            </a:solidFill>
            <a:round/>
          </a:ln>
        </p:spPr>
        <p:txBody>
          <a:bodyPr/>
          <a:lstStyle/>
          <a:p>
            <a:endParaRPr lang="en-US"/>
          </a:p>
        </p:txBody>
      </p:sp>
      <p:sp>
        <p:nvSpPr>
          <p:cNvPr id="6" name="S29_col_items_5"/>
          <p:cNvSpPr txBox="1"/>
          <p:nvPr/>
        </p:nvSpPr>
        <p:spPr>
          <a:xfrm>
            <a:off x="685800" y="2377440"/>
            <a:ext cx="5212080" cy="2834640"/>
          </a:xfrm>
          <a:prstGeom prst="rect">
            <a:avLst/>
          </a:prstGeom>
          <a:noFill/>
          <a:ln>
            <a:noFill/>
          </a:ln>
        </p:spPr>
        <p:txBody>
          <a:bodyPr wrap="square" lIns="45720" tIns="27432" rIns="45720" bIns="27432" rtlCol="0" anchor="t">
            <a:noAutofit/>
          </a:bodyPr>
          <a:lstStyle/>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Describe what happened</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Identify patterns</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Estimate likely outcomes</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Compare options</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Inform operational and strategic decisions</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Contribute to competitive advantage when used well</a:t>
            </a:r>
            <a:endParaRPr lang="en-US" sz="2000" dirty="0"/>
          </a:p>
        </p:txBody>
      </p:sp>
      <p:sp>
        <p:nvSpPr>
          <p:cNvPr id="7" name="S29_col_cannot_6"/>
          <p:cNvSpPr/>
          <p:nvPr/>
        </p:nvSpPr>
        <p:spPr>
          <a:xfrm>
            <a:off x="6199632" y="1737360"/>
            <a:ext cx="5440680" cy="3520440"/>
          </a:xfrm>
          <a:prstGeom prst="rect">
            <a:avLst/>
          </a:prstGeom>
          <a:solidFill>
            <a:schemeClr val="bg1"/>
          </a:solidFill>
          <a:ln w="38100">
            <a:solidFill>
              <a:schemeClr val="accent1"/>
            </a:solidFill>
            <a:prstDash val="dash"/>
            <a:round/>
          </a:ln>
        </p:spPr>
        <p:txBody>
          <a:bodyPr wrap="square" lIns="109728" tIns="54864" rIns="109728" bIns="54864" rtlCol="0" anchor="ctr">
            <a:noAutofit/>
          </a:bodyPr>
          <a:lstStyle/>
          <a:p>
            <a:endParaRPr lang="en-US" dirty="0"/>
          </a:p>
        </p:txBody>
      </p:sp>
      <p:sp>
        <p:nvSpPr>
          <p:cNvPr id="8" name="S29_col_head_7"/>
          <p:cNvSpPr/>
          <p:nvPr/>
        </p:nvSpPr>
        <p:spPr>
          <a:xfrm>
            <a:off x="6199632" y="1737360"/>
            <a:ext cx="5440680" cy="548640"/>
          </a:xfrm>
          <a:prstGeom prst="rect">
            <a:avLst/>
          </a:prstGeom>
          <a:solidFill>
            <a:schemeClr val="bg2"/>
          </a:solidFill>
          <a:ln w="38100">
            <a:solidFill>
              <a:schemeClr val="accent1"/>
            </a:solidFill>
            <a:prstDash val="dash"/>
            <a:round/>
          </a:ln>
        </p:spPr>
        <p:txBody>
          <a:bodyPr wrap="square" lIns="685800" tIns="18288" rIns="91440" bIns="18288" rtlCol="0" anchor="ctr">
            <a:noAutofit/>
          </a:bodyPr>
          <a:lstStyle/>
          <a:p>
            <a:pPr algn="l" marL="0" indent="0">
              <a:lnSpc>
                <a:spcPct val="100000"/>
              </a:lnSpc>
              <a:spcBef>
                <a:spcPts val="0"/>
              </a:spcBef>
              <a:spcAft>
                <a:spcPts val="0"/>
              </a:spcAft>
              <a:buNone/>
            </a:pPr>
            <a:r>
              <a:rPr lang="en-US" sz="2200" b="1" dirty="0">
                <a:solidFill>
                  <a:schemeClr val="tx1"/>
                </a:solidFill>
                <a:latin typeface="Arial"/>
                <a:cs typeface="Arial"/>
              </a:rPr>
              <a:t>CANNOT GUARANTEE</a:t>
            </a:r>
            <a:endParaRPr lang="en-US" sz="2200" dirty="0"/>
          </a:p>
        </p:txBody>
      </p:sp>
      <p:sp>
        <p:nvSpPr>
          <p:cNvPr id="9" name="S29_warn_icon_8">
            <a:extLst>
              <a:ext uri="{C183D7F6-B498-43B3-948B-1728B52AA6E4}">
                <adec:decorative xmlns:adec="http://schemas.microsoft.com/office/drawing/2017/decorative" val="1"/>
              </a:ext>
            </a:extLst>
          </p:cNvPr>
          <p:cNvSpPr/>
          <p:nvPr/>
        </p:nvSpPr>
        <p:spPr>
          <a:xfrm>
            <a:off x="6355080" y="1828800"/>
            <a:ext cx="365760" cy="365760"/>
          </a:xfrm>
          <a:prstGeom prst="triangle">
            <a:avLst/>
          </a:prstGeom>
          <a:solidFill>
            <a:schemeClr val="bg1"/>
          </a:solidFill>
          <a:ln w="25400">
            <a:solidFill>
              <a:schemeClr val="accent1"/>
            </a:solidFill>
            <a:round/>
          </a:ln>
        </p:spPr>
        <p:txBody>
          <a:bodyPr wrap="square" lIns="0" tIns="82296" rIns="0" bIns="0" rtlCol="0" anchor="ctr">
            <a:noAutofit/>
          </a:bodyPr>
          <a:lstStyle/>
          <a:p>
            <a:pPr algn="ctr" marL="0" indent="0">
              <a:lnSpc>
                <a:spcPct val="100000"/>
              </a:lnSpc>
              <a:spcBef>
                <a:spcPts val="0"/>
              </a:spcBef>
              <a:spcAft>
                <a:spcPts val="0"/>
              </a:spcAft>
              <a:buNone/>
            </a:pPr>
            <a:r>
              <a:rPr lang="en-US" sz="1600" b="1" dirty="0">
                <a:solidFill>
                  <a:schemeClr val="tx1"/>
                </a:solidFill>
                <a:latin typeface="Arial"/>
                <a:cs typeface="Arial"/>
              </a:rPr>
              <a:t>!</a:t>
            </a:r>
            <a:endParaRPr lang="en-US" sz="1600" dirty="0"/>
          </a:p>
        </p:txBody>
      </p:sp>
      <p:sp>
        <p:nvSpPr>
          <p:cNvPr id="10" name="S29_col_items_9"/>
          <p:cNvSpPr txBox="1"/>
          <p:nvPr/>
        </p:nvSpPr>
        <p:spPr>
          <a:xfrm>
            <a:off x="6336792" y="2377440"/>
            <a:ext cx="5212080" cy="2834640"/>
          </a:xfrm>
          <a:prstGeom prst="rect">
            <a:avLst/>
          </a:prstGeom>
          <a:noFill/>
          <a:ln>
            <a:noFill/>
          </a:ln>
        </p:spPr>
        <p:txBody>
          <a:bodyPr wrap="square" lIns="45720" tIns="27432" rIns="45720" bIns="27432" rtlCol="0" anchor="t">
            <a:noAutofit/>
          </a:bodyPr>
          <a:lstStyle/>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That the data are trustworthy</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That correlation is causation</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That a model that worked before will keep working</a:t>
            </a:r>
            <a:endParaRPr lang="en-US" sz="2000" dirty="0"/>
          </a:p>
          <a:p>
            <a:pPr algn="l" marL="342900" indent="-342900">
              <a:lnSpc>
                <a:spcPct val="100000"/>
              </a:lnSpc>
              <a:spcBef>
                <a:spcPts val="0"/>
              </a:spcBef>
              <a:spcAft>
                <a:spcPts val="400"/>
              </a:spcAft>
              <a:buFont typeface="Arial"/>
              <a:buChar char="•"/>
            </a:pPr>
            <a:r>
              <a:rPr lang="en-US" sz="2000" b="0" dirty="0">
                <a:solidFill>
                  <a:schemeClr val="tx1"/>
                </a:solidFill>
                <a:latin typeface="Arial"/>
                <a:cs typeface="Arial"/>
              </a:rPr>
              <a:t>That a recommendation will improve the outcome</a:t>
            </a:r>
            <a:endParaRPr lang="en-US" sz="2000" dirty="0"/>
          </a:p>
        </p:txBody>
      </p:sp>
      <p:sp>
        <p:nvSpPr>
          <p:cNvPr id="11" name="S29_closing_bar_10"/>
          <p:cNvSpPr/>
          <p:nvPr/>
        </p:nvSpPr>
        <p:spPr>
          <a:xfrm>
            <a:off x="548640" y="5321808"/>
            <a:ext cx="11091672" cy="713232"/>
          </a:xfrm>
          <a:prstGeom prst="rect">
            <a:avLst/>
          </a:prstGeom>
          <a:solidFill>
            <a:schemeClr val="bg2"/>
          </a:solidFill>
          <a:ln w="25400">
            <a:solidFill>
              <a:schemeClr val="accent1"/>
            </a:solidFill>
            <a:round/>
          </a:ln>
        </p:spPr>
        <p:txBody>
          <a:bodyPr wrap="square" lIns="109728" tIns="54864" rIns="109728" bIns="54864" rtlCol="0" anchor="ctr">
            <a:noAutofit/>
          </a:bodyPr>
          <a:lstStyle/>
          <a:p>
            <a:pPr algn="l" marL="0" indent="0">
              <a:lnSpc>
                <a:spcPct val="100000"/>
              </a:lnSpc>
              <a:spcBef>
                <a:spcPts val="0"/>
              </a:spcBef>
              <a:spcAft>
                <a:spcPts val="0"/>
              </a:spcAft>
              <a:buNone/>
            </a:pPr>
            <a:r>
              <a:rPr lang="en-US" sz="2000" b="1" dirty="0">
                <a:solidFill>
                  <a:schemeClr val="tx1"/>
                </a:solidFill>
                <a:latin typeface="Arial"/>
                <a:cs typeface="Arial"/>
              </a:rPr>
              <a:t>The value of analytics depends on the question, the data, the method, and verification.</a:t>
            </a:r>
            <a:endParaRPr lang="en-US" sz="2000" dirty="0"/>
          </a:p>
        </p:txBody>
      </p:sp>
      <p:sp>
        <p:nvSpPr>
          <p:cNvPr id="12" name="S29_slide_number_11"/>
          <p:cNvSpPr>
            <a:spLocks noGrp="1"/>
          </p:cNvSpPr>
          <p:nvPr>
            <p:ph type="sldNum" sz="quarter" idx="12"/>
          </p:nvPr>
        </p:nvSpPr>
        <p:spPr/>
        <p:txBody>
          <a:bodyPr/>
          <a:lstStyle/>
          <a:p>
            <a:fld id="{B6F15528-21DE-4FAA-801E-634DDDAF4B2B}" type="slidenum">
              <a:rPr lang="en-US" sz="1200" dirty="0">
                <a:latin typeface="Arial"/>
              </a:r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30_title_1"/>
          <p:cNvSpPr>
            <a:spLocks noGrp="1"/>
          </p:cNvSpPr>
          <p:nvPr>
            <p:ph type="title"/>
          </p:nvPr>
        </p:nvSpPr>
        <p:spPr/>
        <p:txBody>
          <a:bodyPr/>
          <a:lstStyle/>
          <a:p>
            <a:pPr algn="l" marL="0" indent="0">
              <a:lnSpc>
                <a:spcPct val="100000"/>
              </a:lnSpc>
              <a:spcBef>
                <a:spcPts val="0"/>
              </a:spcBef>
              <a:spcAft>
                <a:spcPts val="0"/>
              </a:spcAft>
              <a:buNone/>
            </a:pPr>
            <a:r>
              <a:rPr lang="en-US" sz="3200" b="1" dirty="0">
                <a:solidFill>
                  <a:schemeClr val="accent1"/>
                </a:solidFill>
                <a:latin typeface="Arial"/>
                <a:cs typeface="Arial"/>
              </a:rPr>
              <a:t>What’s next…</a:t>
            </a:r>
            <a:endParaRPr lang="en-US" sz="3200" dirty="0"/>
          </a:p>
        </p:txBody>
      </p:sp>
      <p:sp>
        <p:nvSpPr>
          <p:cNvPr id="3" name="S30_headline_2"/>
          <p:cNvSpPr txBox="1"/>
          <p:nvPr/>
        </p:nvSpPr>
        <p:spPr>
          <a:xfrm>
            <a:off x="548640" y="1828800"/>
            <a:ext cx="11091672" cy="73152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3200" b="1" dirty="0">
                <a:solidFill>
                  <a:schemeClr val="accent1"/>
                </a:solidFill>
                <a:latin typeface="Arial"/>
                <a:cs typeface="Arial"/>
              </a:rPr>
              <a:t>Next: Data structures and basics in R</a:t>
            </a:r>
            <a:endParaRPr lang="en-US" sz="3200" dirty="0"/>
          </a:p>
        </p:txBody>
      </p:sp>
      <p:sp>
        <p:nvSpPr>
          <p:cNvPr id="4" name="S30_habit_label_3"/>
          <p:cNvSpPr txBox="1"/>
          <p:nvPr/>
        </p:nvSpPr>
        <p:spPr>
          <a:xfrm>
            <a:off x="548640" y="2880360"/>
            <a:ext cx="11091672" cy="457200"/>
          </a:xfrm>
          <a:prstGeom prst="rect">
            <a:avLst/>
          </a:prstGeom>
          <a:noFill/>
          <a:ln>
            <a:noFill/>
          </a:ln>
        </p:spPr>
        <p:txBody>
          <a:bodyPr wrap="square" lIns="45720" tIns="27432" rIns="45720" bIns="27432" rtlCol="0" anchor="t">
            <a:noAutofit/>
          </a:bodyPr>
          <a:lstStyle/>
          <a:p>
            <a:pPr algn="l" marL="0" indent="0">
              <a:lnSpc>
                <a:spcPct val="100000"/>
              </a:lnSpc>
              <a:spcBef>
                <a:spcPts val="0"/>
              </a:spcBef>
              <a:spcAft>
                <a:spcPts val="0"/>
              </a:spcAft>
              <a:buNone/>
            </a:pPr>
            <a:r>
              <a:rPr lang="en-US" sz="2400" b="1" dirty="0">
                <a:solidFill>
                  <a:schemeClr val="tx1"/>
                </a:solidFill>
                <a:latin typeface="Arial"/>
                <a:cs typeface="Arial"/>
              </a:rPr>
              <a:t>Our habit from here:</a:t>
            </a:r>
            <a:endParaRPr lang="en-US" sz="2400" dirty="0"/>
          </a:p>
        </p:txBody>
      </p:sp>
      <p:sp>
        <p:nvSpPr>
          <p:cNvPr id="5" name="S30_habit_step_4"/>
          <p:cNvSpPr/>
          <p:nvPr/>
        </p:nvSpPr>
        <p:spPr>
          <a:xfrm>
            <a:off x="548640" y="3520440"/>
            <a:ext cx="2743200" cy="1280160"/>
          </a:xfrm>
          <a:prstGeom prst="homePlate">
            <a:avLst>
              <a:gd name="adj" fmla="val 25000"/>
            </a:avLst>
          </a:prstGeom>
          <a:solidFill>
            <a:schemeClr val="bg2"/>
          </a:solidFill>
          <a:ln w="25400">
            <a:solidFill>
              <a:schemeClr val="accent1"/>
            </a:solidFill>
            <a:round/>
          </a:ln>
        </p:spPr>
        <p:txBody>
          <a:bodyPr wrap="square" lIns="182880" tIns="45720" rIns="182880" bIns="45720"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1  Predict it</a:t>
            </a:r>
            <a:endParaRPr lang="en-US" sz="2000" dirty="0"/>
          </a:p>
        </p:txBody>
      </p:sp>
      <p:sp>
        <p:nvSpPr>
          <p:cNvPr id="6" name="S30_habit_step_5"/>
          <p:cNvSpPr/>
          <p:nvPr/>
        </p:nvSpPr>
        <p:spPr>
          <a:xfrm>
            <a:off x="3328416" y="3520440"/>
            <a:ext cx="2743200" cy="1280160"/>
          </a:xfrm>
          <a:prstGeom prst="chevron">
            <a:avLst>
              <a:gd name="adj" fmla="val 25000"/>
            </a:avLst>
          </a:prstGeom>
          <a:solidFill>
            <a:schemeClr val="bg2"/>
          </a:solidFill>
          <a:ln w="25400">
            <a:solidFill>
              <a:schemeClr val="accent1"/>
            </a:solidFill>
            <a:round/>
          </a:ln>
        </p:spPr>
        <p:txBody>
          <a:bodyPr wrap="square" lIns="182880" tIns="45720" rIns="182880" bIns="45720"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2  Work it out</a:t>
            </a:r>
            <a:endParaRPr lang="en-US" sz="2000" dirty="0"/>
          </a:p>
        </p:txBody>
      </p:sp>
      <p:sp>
        <p:nvSpPr>
          <p:cNvPr id="7" name="S30_habit_step_6"/>
          <p:cNvSpPr/>
          <p:nvPr/>
        </p:nvSpPr>
        <p:spPr>
          <a:xfrm>
            <a:off x="6108192" y="3520440"/>
            <a:ext cx="2743200" cy="1280160"/>
          </a:xfrm>
          <a:prstGeom prst="chevron">
            <a:avLst>
              <a:gd name="adj" fmla="val 25000"/>
            </a:avLst>
          </a:prstGeom>
          <a:solidFill>
            <a:schemeClr val="bg2"/>
          </a:solidFill>
          <a:ln w="25400">
            <a:solidFill>
              <a:schemeClr val="accent1"/>
            </a:solidFill>
            <a:round/>
          </a:ln>
        </p:spPr>
        <p:txBody>
          <a:bodyPr wrap="square" lIns="182880" tIns="45720" rIns="182880" bIns="45720"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3  Run it</a:t>
            </a:r>
            <a:endParaRPr lang="en-US" sz="2000" dirty="0"/>
          </a:p>
        </p:txBody>
      </p:sp>
      <p:sp>
        <p:nvSpPr>
          <p:cNvPr id="8" name="S30_habit_step_7"/>
          <p:cNvSpPr/>
          <p:nvPr/>
        </p:nvSpPr>
        <p:spPr>
          <a:xfrm>
            <a:off x="8887968" y="3520440"/>
            <a:ext cx="2743200" cy="1280160"/>
          </a:xfrm>
          <a:prstGeom prst="chevron">
            <a:avLst>
              <a:gd name="adj" fmla="val 25000"/>
            </a:avLst>
          </a:prstGeom>
          <a:solidFill>
            <a:schemeClr val="bg2"/>
          </a:solidFill>
          <a:ln w="25400">
            <a:solidFill>
              <a:schemeClr val="accent1"/>
            </a:solidFill>
            <a:round/>
          </a:ln>
        </p:spPr>
        <p:txBody>
          <a:bodyPr wrap="square" lIns="182880" tIns="45720" rIns="182880" bIns="45720" rtlCol="0" anchor="ctr">
            <a:noAutofit/>
          </a:bodyPr>
          <a:lstStyle/>
          <a:p>
            <a:pPr algn="ctr" marL="0" indent="0">
              <a:lnSpc>
                <a:spcPct val="100000"/>
              </a:lnSpc>
              <a:spcBef>
                <a:spcPts val="0"/>
              </a:spcBef>
              <a:spcAft>
                <a:spcPts val="0"/>
              </a:spcAft>
              <a:buNone/>
            </a:pPr>
            <a:r>
              <a:rPr lang="en-US" sz="2000" b="1" dirty="0">
                <a:solidFill>
                  <a:schemeClr val="tx1"/>
                </a:solidFill>
                <a:latin typeface="Arial"/>
                <a:cs typeface="Arial"/>
              </a:rPr>
              <a:t>4  Compare</a:t>
            </a:r>
            <a:endParaRPr lang="en-US" sz="2000" dirty="0"/>
          </a:p>
        </p:txBody>
      </p:sp>
      <p:sp>
        <p:nvSpPr>
          <p:cNvPr id="9" name="S30_slide_number_8"/>
          <p:cNvSpPr>
            <a:spLocks noGrp="1"/>
          </p:cNvSpPr>
          <p:nvPr>
            <p:ph type="sldNum" sz="quarter" idx="12"/>
          </p:nvPr>
        </p:nvSpPr>
        <p:spPr/>
        <p:txBody>
          <a:bodyPr/>
          <a:lstStyle/>
          <a:p>
            <a:fld id="{B6F15528-21DE-4FAA-801E-634DDDAF4B2B}" type="slidenum">
              <a:rPr lang="en-US" sz="1200" dirty="0">
                <a:latin typeface="Arial"/>
              </a:rPr>
              <a:t>30</a:t>
            </a:fld>
            <a:endParaRPr lang="en-US" dirty="0"/>
          </a:p>
        </p:txBody>
      </p:sp>
    </p:spTree>
  </p:cSld>
  <p:clrMapOvr>
    <a:masterClrMapping/>
  </p:clrMapOvr>
</p:sld>
</file>

<file path=ppt/theme/theme1.xml><?xml version="1.0" encoding="utf-8"?>
<a:theme xmlns:a="http://schemas.openxmlformats.org/drawingml/2006/main" name="BUSS256-2027-Working">
  <a:themeElements>
    <a:clrScheme name="BUSS256-2027-Tokens">
      <a:dk1>
        <a:srgbClr val="1A1A1A"/>
      </a:dk1>
      <a:lt1>
        <a:srgbClr val="FFFFFF"/>
      </a:lt1>
      <a:dk2>
        <a:srgbClr val="1F3864"/>
      </a:dk2>
      <a:lt2>
        <a:srgbClr val="F2F2F2"/>
      </a:lt2>
      <a:accent1>
        <a:srgbClr val="1F3864"/>
      </a:accent1>
      <a:accent2>
        <a:srgbClr val="9E1B32"/>
      </a:accent2>
      <a:accent3>
        <a:srgbClr val="595959"/>
      </a:accent3>
      <a:accent4>
        <a:srgbClr val="A6A6A6"/>
      </a:accent4>
      <a:accent5>
        <a:srgbClr val="7F7F7F"/>
      </a:accent5>
      <a:accent6>
        <a:srgbClr val="404040"/>
      </a:accent6>
      <a:hlink>
        <a:srgbClr val="1F3864"/>
      </a:hlink>
      <a:folHlink>
        <a:srgbClr val="595959"/>
      </a:folHlink>
    </a:clrScheme>
    <a:fontScheme name="BUSS256-Arial">
      <a:majorFont>
        <a:latin typeface="Arial"/>
        <a:ea typeface=""/>
        <a:cs typeface="Arial"/>
      </a:majorFont>
      <a:minorFont>
        <a:latin typeface="Arial"/>
        <a:ea typeface=""/>
        <a:cs typeface="Arial"/>
      </a:minorFont>
    </a:fontScheme>
    <a:fmtScheme name="Plain">
      <a:fillStyleLst>
        <a:solidFill>
          <a:schemeClr val="phClr"/>
        </a:solidFill>
        <a:solidFill>
          <a:schemeClr val="phClr"/>
        </a:solidFill>
        <a:solidFill>
          <a:schemeClr val="phClr"/>
        </a:solidFill>
      </a:fillStyleLst>
      <a:lnStyleLst>
        <a:ln w="9525">
          <a:solidFill>
            <a:schemeClr val="phClr"/>
          </a:solidFill>
        </a:ln>
        <a:ln w="19050">
          <a:solidFill>
            <a:schemeClr val="phClr"/>
          </a:solidFill>
        </a:ln>
        <a:ln w="2857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30</Slides>
</Properties>
</file>

<file path=docProps/core.xml><?xml version="1.0" encoding="utf-8"?>
<cp:coreProperties xmlns:cp="http://schemas.openxmlformats.org/package/2006/metadata/core-properties" xmlns:dc="http://purl.org/dc/elements/1.1/" xmlns:dcterms="http://purl.org/dc/terms/" xmlns:xsi="http://www.w3.org/2001/XMLSchema-instance">
  <dc:title>BUSS256 M6-R1 2027 Build v1 (candidate)</dc:title>
  <dc:creator>BUSS256</dc:creator>
  <dcterms:created xsi:type="dcterms:W3CDTF">2026-10-07T00:00:00Z</dcterms:created>
  <dcterms:modified xsi:type="dcterms:W3CDTF">2026-10-07T00:00:00Z</dcterms:modified>
</cp:coreProperties>
</file>