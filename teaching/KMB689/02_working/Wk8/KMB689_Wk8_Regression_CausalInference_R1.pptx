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35b2e582b4c9d" /><Relationship Type="http://schemas.openxmlformats.org/officeDocument/2006/relationships/extended-properties" Target="/docProps/app.xml" Id="Rc21e1a4e327244cd" /><Relationship Type="http://schemas.openxmlformats.org/officeDocument/2006/relationships/officeDocument" Target="/ppt/presentation.xml" Id="R348dfe954384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8ca35a94694802"/>
  </p:sldMasterIdLst>
  <p:notesMasterIdLst>
    <p:notesMasterId xmlns:r="http://schemas.openxmlformats.org/officeDocument/2006/relationships" r:id="Rd3f81817a12a48f1"/>
  </p:notesMasterIdLst>
  <p:sldIdLst>
    <p:sldId xmlns:r="http://schemas.openxmlformats.org/officeDocument/2006/relationships" id="256" r:id="R854370f3b5d34839"/>
    <p:sldId xmlns:r="http://schemas.openxmlformats.org/officeDocument/2006/relationships" id="257" r:id="R86a466433e50424f"/>
    <p:sldId xmlns:r="http://schemas.openxmlformats.org/officeDocument/2006/relationships" id="258" r:id="Rffdb0d107b3b4486"/>
    <p:sldId xmlns:r="http://schemas.openxmlformats.org/officeDocument/2006/relationships" id="259" r:id="R98aa58b716db4e7c"/>
    <p:sldId xmlns:r="http://schemas.openxmlformats.org/officeDocument/2006/relationships" id="260" r:id="Re5b932c5d47746e7"/>
    <p:sldId xmlns:r="http://schemas.openxmlformats.org/officeDocument/2006/relationships" id="261" r:id="Rc751432b695e4d14"/>
    <p:sldId xmlns:r="http://schemas.openxmlformats.org/officeDocument/2006/relationships" id="262" r:id="R3725c1d5e40a47e3"/>
    <p:sldId xmlns:r="http://schemas.openxmlformats.org/officeDocument/2006/relationships" id="263" r:id="R202d2ee936a44834"/>
    <p:sldId xmlns:r="http://schemas.openxmlformats.org/officeDocument/2006/relationships" id="264" r:id="R24b062466ad84190"/>
    <p:sldId xmlns:r="http://schemas.openxmlformats.org/officeDocument/2006/relationships" id="265" r:id="Rbfdaca50261547ae"/>
    <p:sldId xmlns:r="http://schemas.openxmlformats.org/officeDocument/2006/relationships" id="266" r:id="R11290b8137b843b5"/>
    <p:sldId xmlns:r="http://schemas.openxmlformats.org/officeDocument/2006/relationships" id="267" r:id="Rbb8c50a6a3df4bd3"/>
    <p:sldId xmlns:r="http://schemas.openxmlformats.org/officeDocument/2006/relationships" id="268" r:id="R2bd2fa5867fa4db5"/>
    <p:sldId xmlns:r="http://schemas.openxmlformats.org/officeDocument/2006/relationships" id="269" r:id="Reccf920220984dee"/>
    <p:sldId xmlns:r="http://schemas.openxmlformats.org/officeDocument/2006/relationships" id="270" r:id="R06c50d6cfdab42d0"/>
    <p:sldId xmlns:r="http://schemas.openxmlformats.org/officeDocument/2006/relationships" id="271" r:id="R47441592a3154e8f"/>
    <p:sldId xmlns:r="http://schemas.openxmlformats.org/officeDocument/2006/relationships" id="272" r:id="Rc3410556e47242f3"/>
    <p:sldId xmlns:r="http://schemas.openxmlformats.org/officeDocument/2006/relationships" id="273" r:id="Rca8276bc99a34aca"/>
    <p:sldId xmlns:r="http://schemas.openxmlformats.org/officeDocument/2006/relationships" id="274" r:id="Re8550b0b00a4479f"/>
    <p:sldId xmlns:r="http://schemas.openxmlformats.org/officeDocument/2006/relationships" id="275" r:id="R79415a9f75744f9b"/>
    <p:sldId xmlns:r="http://schemas.openxmlformats.org/officeDocument/2006/relationships" id="276" r:id="Rcf683f8c5d5a4d0e"/>
    <p:sldId xmlns:r="http://schemas.openxmlformats.org/officeDocument/2006/relationships" id="277" r:id="Rb51f153b19bb49a1"/>
    <p:sldId xmlns:r="http://schemas.openxmlformats.org/officeDocument/2006/relationships" id="278" r:id="R2f8c93eb0c9b44a0"/>
    <p:sldId xmlns:r="http://schemas.openxmlformats.org/officeDocument/2006/relationships" id="279" r:id="Ra249f2ff83804acb"/>
    <p:sldId xmlns:r="http://schemas.openxmlformats.org/officeDocument/2006/relationships" id="280" r:id="R31f1ab74bccf43ec"/>
    <p:sldId xmlns:r="http://schemas.openxmlformats.org/officeDocument/2006/relationships" id="281" r:id="R5dd2874486a744a0"/>
    <p:sldId xmlns:r="http://schemas.openxmlformats.org/officeDocument/2006/relationships" id="282" r:id="R1f04152b8067436a"/>
    <p:sldId xmlns:r="http://schemas.openxmlformats.org/officeDocument/2006/relationships" id="283" r:id="Rc5dd76efbde24512"/>
    <p:sldId xmlns:r="http://schemas.openxmlformats.org/officeDocument/2006/relationships" id="284" r:id="R9069c47ef376458f"/>
    <p:sldId xmlns:r="http://schemas.openxmlformats.org/officeDocument/2006/relationships" id="285" r:id="R489c458fc583458b"/>
    <p:sldId xmlns:r="http://schemas.openxmlformats.org/officeDocument/2006/relationships" id="286" r:id="Rcd25ec947c1b4eb8"/>
    <p:sldId xmlns:r="http://schemas.openxmlformats.org/officeDocument/2006/relationships" id="287" r:id="R40609337e116414f"/>
    <p:sldId xmlns:r="http://schemas.openxmlformats.org/officeDocument/2006/relationships" id="288" r:id="R71f0765743364d44"/>
    <p:sldId xmlns:r="http://schemas.openxmlformats.org/officeDocument/2006/relationships" id="289" r:id="Rf52748138f544ccd"/>
    <p:sldId xmlns:r="http://schemas.openxmlformats.org/officeDocument/2006/relationships" id="290" r:id="R762e7a0033924605"/>
    <p:sldId xmlns:r="http://schemas.openxmlformats.org/officeDocument/2006/relationships" id="291" r:id="R9131eb5f9ea344f7"/>
    <p:sldId xmlns:r="http://schemas.openxmlformats.org/officeDocument/2006/relationships" id="292" r:id="R4829caff357d427b"/>
    <p:sldId xmlns:r="http://schemas.openxmlformats.org/officeDocument/2006/relationships" id="293" r:id="Rd5032ef7188d43e2"/>
    <p:sldId xmlns:r="http://schemas.openxmlformats.org/officeDocument/2006/relationships" id="294" r:id="Rc54489241b724750"/>
    <p:sldId xmlns:r="http://schemas.openxmlformats.org/officeDocument/2006/relationships" id="295" r:id="R2cb19e9241ec42ac"/>
    <p:sldId xmlns:r="http://schemas.openxmlformats.org/officeDocument/2006/relationships" id="296" r:id="R293161545d3b4a3d"/>
    <p:sldId xmlns:r="http://schemas.openxmlformats.org/officeDocument/2006/relationships" id="297" r:id="R9fc6b71c270c46d1"/>
    <p:sldId xmlns:r="http://schemas.openxmlformats.org/officeDocument/2006/relationships" id="298" r:id="Rc2b5d063a42f47c9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0ce5c2e8094399" /><Relationship Type="http://schemas.openxmlformats.org/officeDocument/2006/relationships/slideMaster" Target="/ppt/slideMasters/slideMaster1.xml" Id="R4c8ca35a94694802" /><Relationship Type="http://schemas.openxmlformats.org/officeDocument/2006/relationships/notesMaster" Target="/ppt/notesMasters/notesMaster1.xml" Id="Rd3f81817a12a48f1" /><Relationship Type="http://schemas.openxmlformats.org/officeDocument/2006/relationships/presProps" Target="/ppt/presProps.xml" Id="R3c3f0f89173a4eda" /><Relationship Type="http://schemas.openxmlformats.org/officeDocument/2006/relationships/viewProps" Target="/ppt/viewProps.xml" Id="R814b2b6d012f46f1" /><Relationship Type="http://schemas.openxmlformats.org/officeDocument/2006/relationships/tableStyles" Target="/ppt/tableStyles.xml" Id="Rd9e244870a9d45bd" /><Relationship Type="http://schemas.openxmlformats.org/officeDocument/2006/relationships/slide" Target="/ppt/slides/slide1.xml" Id="R854370f3b5d34839" /><Relationship Type="http://schemas.openxmlformats.org/officeDocument/2006/relationships/slide" Target="/ppt/slides/slide2.xml" Id="R86a466433e50424f" /><Relationship Type="http://schemas.openxmlformats.org/officeDocument/2006/relationships/slide" Target="/ppt/slides/slide3.xml" Id="Rffdb0d107b3b4486" /><Relationship Type="http://schemas.openxmlformats.org/officeDocument/2006/relationships/slide" Target="/ppt/slides/slide4.xml" Id="R98aa58b716db4e7c" /><Relationship Type="http://schemas.openxmlformats.org/officeDocument/2006/relationships/slide" Target="/ppt/slides/slide5.xml" Id="Re5b932c5d47746e7" /><Relationship Type="http://schemas.openxmlformats.org/officeDocument/2006/relationships/slide" Target="/ppt/slides/slide6.xml" Id="Rc751432b695e4d14" /><Relationship Type="http://schemas.openxmlformats.org/officeDocument/2006/relationships/slide" Target="/ppt/slides/slide7.xml" Id="R3725c1d5e40a47e3" /><Relationship Type="http://schemas.openxmlformats.org/officeDocument/2006/relationships/slide" Target="/ppt/slides/slide8.xml" Id="R202d2ee936a44834" /><Relationship Type="http://schemas.openxmlformats.org/officeDocument/2006/relationships/slide" Target="/ppt/slides/slide9.xml" Id="R24b062466ad84190" /><Relationship Type="http://schemas.openxmlformats.org/officeDocument/2006/relationships/slide" Target="/ppt/slides/slide10.xml" Id="Rbfdaca50261547ae" /><Relationship Type="http://schemas.openxmlformats.org/officeDocument/2006/relationships/slide" Target="/ppt/slides/slide11.xml" Id="R11290b8137b843b5" /><Relationship Type="http://schemas.openxmlformats.org/officeDocument/2006/relationships/slide" Target="/ppt/slides/slide12.xml" Id="Rbb8c50a6a3df4bd3" /><Relationship Type="http://schemas.openxmlformats.org/officeDocument/2006/relationships/slide" Target="/ppt/slides/slide13.xml" Id="R2bd2fa5867fa4db5" /><Relationship Type="http://schemas.openxmlformats.org/officeDocument/2006/relationships/slide" Target="/ppt/slides/slide14.xml" Id="Reccf920220984dee" /><Relationship Type="http://schemas.openxmlformats.org/officeDocument/2006/relationships/slide" Target="/ppt/slides/slide15.xml" Id="R06c50d6cfdab42d0" /><Relationship Type="http://schemas.openxmlformats.org/officeDocument/2006/relationships/slide" Target="/ppt/slides/slide16.xml" Id="R47441592a3154e8f" /><Relationship Type="http://schemas.openxmlformats.org/officeDocument/2006/relationships/slide" Target="/ppt/slides/slide17.xml" Id="Rc3410556e47242f3" /><Relationship Type="http://schemas.openxmlformats.org/officeDocument/2006/relationships/slide" Target="/ppt/slides/slide18.xml" Id="Rca8276bc99a34aca" /><Relationship Type="http://schemas.openxmlformats.org/officeDocument/2006/relationships/slide" Target="/ppt/slides/slide19.xml" Id="Re8550b0b00a4479f" /><Relationship Type="http://schemas.openxmlformats.org/officeDocument/2006/relationships/slide" Target="/ppt/slides/slide20.xml" Id="R79415a9f75744f9b" /><Relationship Type="http://schemas.openxmlformats.org/officeDocument/2006/relationships/slide" Target="/ppt/slides/slide21.xml" Id="Rcf683f8c5d5a4d0e" /><Relationship Type="http://schemas.openxmlformats.org/officeDocument/2006/relationships/slide" Target="/ppt/slides/slide22.xml" Id="Rb51f153b19bb49a1" /><Relationship Type="http://schemas.openxmlformats.org/officeDocument/2006/relationships/slide" Target="/ppt/slides/slide23.xml" Id="R2f8c93eb0c9b44a0" /><Relationship Type="http://schemas.openxmlformats.org/officeDocument/2006/relationships/slide" Target="/ppt/slides/slide24.xml" Id="Ra249f2ff83804acb" /><Relationship Type="http://schemas.openxmlformats.org/officeDocument/2006/relationships/slide" Target="/ppt/slides/slide25.xml" Id="R31f1ab74bccf43ec" /><Relationship Type="http://schemas.openxmlformats.org/officeDocument/2006/relationships/slide" Target="/ppt/slides/slide26.xml" Id="R5dd2874486a744a0" /><Relationship Type="http://schemas.openxmlformats.org/officeDocument/2006/relationships/slide" Target="/ppt/slides/slide27.xml" Id="R1f04152b8067436a" /><Relationship Type="http://schemas.openxmlformats.org/officeDocument/2006/relationships/slide" Target="/ppt/slides/slide28.xml" Id="Rc5dd76efbde24512" /><Relationship Type="http://schemas.openxmlformats.org/officeDocument/2006/relationships/slide" Target="/ppt/slides/slide29.xml" Id="R9069c47ef376458f" /><Relationship Type="http://schemas.openxmlformats.org/officeDocument/2006/relationships/slide" Target="/ppt/slides/slide30.xml" Id="R489c458fc583458b" /><Relationship Type="http://schemas.openxmlformats.org/officeDocument/2006/relationships/slide" Target="/ppt/slides/slide31.xml" Id="Rcd25ec947c1b4eb8" /><Relationship Type="http://schemas.openxmlformats.org/officeDocument/2006/relationships/slide" Target="/ppt/slides/slide32.xml" Id="R40609337e116414f" /><Relationship Type="http://schemas.openxmlformats.org/officeDocument/2006/relationships/slide" Target="/ppt/slides/slide33.xml" Id="R71f0765743364d44" /><Relationship Type="http://schemas.openxmlformats.org/officeDocument/2006/relationships/slide" Target="/ppt/slides/slide34.xml" Id="Rf52748138f544ccd" /><Relationship Type="http://schemas.openxmlformats.org/officeDocument/2006/relationships/slide" Target="/ppt/slides/slide35.xml" Id="R762e7a0033924605" /><Relationship Type="http://schemas.openxmlformats.org/officeDocument/2006/relationships/slide" Target="/ppt/slides/slide36.xml" Id="R9131eb5f9ea344f7" /><Relationship Type="http://schemas.openxmlformats.org/officeDocument/2006/relationships/slide" Target="/ppt/slides/slide37.xml" Id="R4829caff357d427b" /><Relationship Type="http://schemas.openxmlformats.org/officeDocument/2006/relationships/slide" Target="/ppt/slides/slide38.xml" Id="Rd5032ef7188d43e2" /><Relationship Type="http://schemas.openxmlformats.org/officeDocument/2006/relationships/slide" Target="/ppt/slides/slide39.xml" Id="Rc54489241b724750" /><Relationship Type="http://schemas.openxmlformats.org/officeDocument/2006/relationships/slide" Target="/ppt/slides/slide40.xml" Id="R2cb19e9241ec42ac" /><Relationship Type="http://schemas.openxmlformats.org/officeDocument/2006/relationships/slide" Target="/ppt/slides/slide41.xml" Id="R293161545d3b4a3d" /><Relationship Type="http://schemas.openxmlformats.org/officeDocument/2006/relationships/slide" Target="/ppt/slides/slide42.xml" Id="R9fc6b71c270c46d1" /><Relationship Type="http://schemas.openxmlformats.org/officeDocument/2006/relationships/slide" Target="/ppt/slides/slide43.xml" Id="Rc2b5d063a42f47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598f8258a048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TUPowerpointTemplate_Aug2010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2af37285174d36" /><Relationship Type="http://schemas.openxmlformats.org/officeDocument/2006/relationships/notesMaster" Target="/ppt/notesMasters/notesMaster1.xml" Id="Rb71bc949dd21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fac8e9a5164cec" /><Relationship Type="http://schemas.openxmlformats.org/officeDocument/2006/relationships/notesMaster" Target="/ppt/notesMasters/notesMaster1.xml" Id="Rb7d845983c5a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9ecb9eae5443ce" /><Relationship Type="http://schemas.openxmlformats.org/officeDocument/2006/relationships/notesMaster" Target="/ppt/notesMasters/notesMaster1.xml" Id="R1fcab406506d45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3ffeef644495d" /><Relationship Type="http://schemas.openxmlformats.org/officeDocument/2006/relationships/notesMaster" Target="/ppt/notesMasters/notesMaster1.xml" Id="R90bd7bb49d5347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422bce99c84449" /><Relationship Type="http://schemas.openxmlformats.org/officeDocument/2006/relationships/notesMaster" Target="/ppt/notesMasters/notesMaster1.xml" Id="R5157546bad64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6e5f1a58734098" /><Relationship Type="http://schemas.openxmlformats.org/officeDocument/2006/relationships/notesMaster" Target="/ppt/notesMasters/notesMaster1.xml" Id="Rd9bf0f1d49134e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2d39d7c9864106" /><Relationship Type="http://schemas.openxmlformats.org/officeDocument/2006/relationships/notesMaster" Target="/ppt/notesMasters/notesMaster1.xml" Id="Rb91dc4cc43a7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99d6b8f36142ae" /><Relationship Type="http://schemas.openxmlformats.org/officeDocument/2006/relationships/notesMaster" Target="/ppt/notesMasters/notesMaster1.xml" Id="Rfb14590d5c4648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b3390e181b4c73" /><Relationship Type="http://schemas.openxmlformats.org/officeDocument/2006/relationships/notesMaster" Target="/ppt/notesMasters/notesMaster1.xml" Id="Rf8329b1d0e964f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9d9ed10f404abc" /><Relationship Type="http://schemas.openxmlformats.org/officeDocument/2006/relationships/notesMaster" Target="/ppt/notesMasters/notesMaster1.xml" Id="Rff0f5fe891c54f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a025a999964634" /><Relationship Type="http://schemas.openxmlformats.org/officeDocument/2006/relationships/notesMaster" Target="/ppt/notesMasters/notesMaster1.xml" Id="Rbfdad254922849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e951761d284d15" /><Relationship Type="http://schemas.openxmlformats.org/officeDocument/2006/relationships/notesMaster" Target="/ppt/notesMasters/notesMaster1.xml" Id="Rc75877b270324e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becd2aece14119" /><Relationship Type="http://schemas.openxmlformats.org/officeDocument/2006/relationships/notesMaster" Target="/ppt/notesMasters/notesMaster1.xml" Id="R5b46172195c347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ddb50ef76b4711" /><Relationship Type="http://schemas.openxmlformats.org/officeDocument/2006/relationships/notesMaster" Target="/ppt/notesMasters/notesMaster1.xml" Id="R27be0a698bbb4a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7e2132f8cf4e60" /><Relationship Type="http://schemas.openxmlformats.org/officeDocument/2006/relationships/notesMaster" Target="/ppt/notesMasters/notesMaster1.xml" Id="R53132b27d59d40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7d8920827b421b" /><Relationship Type="http://schemas.openxmlformats.org/officeDocument/2006/relationships/notesMaster" Target="/ppt/notesMasters/notesMaster1.xml" Id="R97f948e5994b47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41324516d94dae" /><Relationship Type="http://schemas.openxmlformats.org/officeDocument/2006/relationships/notesMaster" Target="/ppt/notesMasters/notesMaster1.xml" Id="R2f80883c12fa4e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7b0dc1d6114a1d" /><Relationship Type="http://schemas.openxmlformats.org/officeDocument/2006/relationships/notesMaster" Target="/ppt/notesMasters/notesMaster1.xml" Id="R59b52566354c4d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acc457f1f54717" /><Relationship Type="http://schemas.openxmlformats.org/officeDocument/2006/relationships/notesMaster" Target="/ppt/notesMasters/notesMaster1.xml" Id="R2816d20c00384d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f6cb3b28954cc3" /><Relationship Type="http://schemas.openxmlformats.org/officeDocument/2006/relationships/notesMaster" Target="/ppt/notesMasters/notesMaster1.xml" Id="Rd95b7c26a1b546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a60355778c4857" /><Relationship Type="http://schemas.openxmlformats.org/officeDocument/2006/relationships/notesMaster" Target="/ppt/notesMasters/notesMaster1.xml" Id="Rd5d49753559a43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6f7a57c31f4eeb" /><Relationship Type="http://schemas.openxmlformats.org/officeDocument/2006/relationships/notesMaster" Target="/ppt/notesMasters/notesMaster1.xml" Id="Re0d716eca30e46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b707260b474315" /><Relationship Type="http://schemas.openxmlformats.org/officeDocument/2006/relationships/notesMaster" Target="/ppt/notesMasters/notesMaster1.xml" Id="R2cd1cf958a0849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b317f694c74ec3" /><Relationship Type="http://schemas.openxmlformats.org/officeDocument/2006/relationships/notesMaster" Target="/ppt/notesMasters/notesMaster1.xml" Id="R6d2efe7dff7f4b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44d417dda0498c" /><Relationship Type="http://schemas.openxmlformats.org/officeDocument/2006/relationships/notesMaster" Target="/ppt/notesMasters/notesMaster1.xml" Id="Rfbe2ae18a64647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d791969c454674" /><Relationship Type="http://schemas.openxmlformats.org/officeDocument/2006/relationships/notesMaster" Target="/ppt/notesMasters/notesMaster1.xml" Id="R76365c20b6be45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0b276b8b5d4c93" /><Relationship Type="http://schemas.openxmlformats.org/officeDocument/2006/relationships/notesMaster" Target="/ppt/notesMasters/notesMaster1.xml" Id="R72a5d2efd6d646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547711ea6b4e21" /><Relationship Type="http://schemas.openxmlformats.org/officeDocument/2006/relationships/notesMaster" Target="/ppt/notesMasters/notesMaster1.xml" Id="Raa1cb45f68c24fd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68c97fcbc749f0" /><Relationship Type="http://schemas.openxmlformats.org/officeDocument/2006/relationships/notesMaster" Target="/ppt/notesMasters/notesMaster1.xml" Id="R6cb0adf33d3d47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49fc5f78f7445a" /><Relationship Type="http://schemas.openxmlformats.org/officeDocument/2006/relationships/notesMaster" Target="/ppt/notesMasters/notesMaster1.xml" Id="R7aec1cb986d14ba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01618f9b579421a" /><Relationship Type="http://schemas.openxmlformats.org/officeDocument/2006/relationships/notesMaster" Target="/ppt/notesMasters/notesMaster1.xml" Id="Rbc3ec49bb17f4e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bf375393812437d" /><Relationship Type="http://schemas.openxmlformats.org/officeDocument/2006/relationships/notesMaster" Target="/ppt/notesMasters/notesMaster1.xml" Id="Rf6124c46edf64a0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aff0069a36e430b" /><Relationship Type="http://schemas.openxmlformats.org/officeDocument/2006/relationships/notesMaster" Target="/ppt/notesMasters/notesMaster1.xml" Id="R562059e48ff846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1087e108434e18" /><Relationship Type="http://schemas.openxmlformats.org/officeDocument/2006/relationships/notesMaster" Target="/ppt/notesMasters/notesMaster1.xml" Id="R9136276434a4469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cbd487c325d4a6b" /><Relationship Type="http://schemas.openxmlformats.org/officeDocument/2006/relationships/notesMaster" Target="/ppt/notesMasters/notesMaster1.xml" Id="Rd958b8a0a6154a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762a0857c734386" /><Relationship Type="http://schemas.openxmlformats.org/officeDocument/2006/relationships/notesMaster" Target="/ppt/notesMasters/notesMaster1.xml" Id="R818aef9c9394482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41081636b0d4ddb" /><Relationship Type="http://schemas.openxmlformats.org/officeDocument/2006/relationships/notesMaster" Target="/ppt/notesMasters/notesMaster1.xml" Id="Rcbd425f9529e46d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aeaf12c37014110" /><Relationship Type="http://schemas.openxmlformats.org/officeDocument/2006/relationships/notesMaster" Target="/ppt/notesMasters/notesMaster1.xml" Id="R6dd909e5eaf045f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a1fecaadd3f4fd5" /><Relationship Type="http://schemas.openxmlformats.org/officeDocument/2006/relationships/notesMaster" Target="/ppt/notesMasters/notesMaster1.xml" Id="R27a362a562484a2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a2637fbfa54706" /><Relationship Type="http://schemas.openxmlformats.org/officeDocument/2006/relationships/notesMaster" Target="/ppt/notesMasters/notesMaster1.xml" Id="R875d979fb59349e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deb8e22ceb14d91" /><Relationship Type="http://schemas.openxmlformats.org/officeDocument/2006/relationships/notesMaster" Target="/ppt/notesMasters/notesMaster1.xml" Id="R65f068e6637a473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b62875de225413b" /><Relationship Type="http://schemas.openxmlformats.org/officeDocument/2006/relationships/notesMaster" Target="/ppt/notesMasters/notesMaster1.xml" Id="R6970fb1fc1c0423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25a65a8e83d4843" /><Relationship Type="http://schemas.openxmlformats.org/officeDocument/2006/relationships/notesMaster" Target="/ppt/notesMasters/notesMaster1.xml" Id="R6c2c4ed07c1e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 | mapping: R1 | class: revise | bussSlides: 1 | sourceRefs: BUSS,KMB,DESIGN,S_B1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 | mapping: N2 | class: new | bussSlides: none | sourceRefs: DESIGN,S_B1,S_CASE,I_SCRIPT,I_DISC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 | mapping: N3 | class: new | bussSlides: none | sourceRefs: W1,S_B1 | reveal: W1-X canonical exposure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4 | mapping: N4 | class: new | bussSlides: none | sourceRefs: S_B1,DESIGN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5 | mapping: N5 | class: new | bussSlides: none | sourceRefs: 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6 | mapping: R6 | class: revise | bussSlides: 3,4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7 | mapping: R7 | class: revise | bussSlides: 4,5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8 | mapping: R8 | class: revise | bussSlides: 7,8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tx1"/>
                </a:solidFill>
                <a:latin typeface="Arial"/>
                <a:ea typeface="Arial"/>
                <a:cs typeface="Arial"/>
              </a:rPr>
              <a:t>KMB689 Wk8 | slide: 9 | mapping: R9 | class: reposition | bussSlides: 6 | sourceRefs: BUSS,KMB | reveal: source full text retained except page number</a:t>
            </a:r>
            <a:endParaRPr sz="1200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tx1"/>
                </a:solidFill>
                <a:latin typeface="Arial"/>
                <a:ea typeface="Arial"/>
                <a:cs typeface="Arial"/>
              </a:rPr>
              <a:t>KMB689 Wk8 | slide: 10 | mapping: R10 | class: reposition | bussSlides: 10 | sourceRefs: BUSS,KMB | reveal: source full text retained except page number</a:t>
            </a:r>
            <a:endParaRPr sz="1200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11 | mapping: R11 | class: revise | bussSlides: 30,31,32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12 | mapping: R12 | class: revise | bussSlides: 22,23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13 | mapping: R13 | class: revise | bussSlides: 33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KMB689 Wk8 | slide: 14 | mapping: R14 | class: reposition | bussSlides: 41,43 | sourceRefs: BUSS,KMB,S_B1 | reveal: source slide 41 retained; slide 43 supplies the 70/30 reading example</a:t>
            </a:r>
            <a:endParaRPr b="1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15 | mapping: N15 | class: new | bussSlides: none | sourceRefs: S_B1,I_SCRIPT | reveal: general lure only; no SmartAds answer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16 | mapping: R16 | class: revise | bussSlides: 71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Wk8 | slide: 17 | mapping: R17 | class: reposition | bussSlides: 71 | sourceRefs: BUSS,S_B1 | reveal: source full text retained except page number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18 | mapping: R18 | class: revise | bussSlides: 72 | sourceRefs: BUSS,S_B1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19 | mapping: R19 | class: revise | bussSlides: 72 | sourceRefs: BUSS,S_B1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20 | mapping: R20 | class: revise | bussSlides: 72 | sourceRefs: BUSS,S_B1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21 | mapping: R21 | class: revise | bussSlides: 58,59,60 | sourceRefs: BUSS,KMB,S_B1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22 | mapping: R22 | class: revise | bussSlides: 72 | sourceRefs: BUSS,S_B1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23 | mapping: R23 | class: revise | bussSlides: 72 | sourceRefs: BUSS,S_B1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24 | mapping: R24 | class: revise | bussSlides: 65,72 | sourceRefs: BUSS,S_B1,S_E1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25 | mapping: N25 | class: new | bussSlides: none | sourceRefs: S_B1,I_SCRIPT | reveal: tool only; no case answer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26 | mapping: N26 | class: new | bussSlides: none | sourceRefs: S_B1,S_E2,S_WS | reveal: general identity only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27 | mapping: N27 | class: new | bussSlides: none | sourceRefs: S_B1 | reveal: generic examples, not SmartAds values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28 | mapping: N28 | class: new | bussSlides: none | sourceRefs: S_B1,I_SCRIPT | reveal: question only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29 | mapping: N29 | class: new | bussSlides: none | sourceRefs: S_B1,S_E1 | reveal: general comparison trap only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30 | mapping: N30 | class: new | bussSlides: none | sourceRefs: S_B1,I_DISC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31 | mapping: N31 | class: new | bussSlides: none | sourceRefs: 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32 | mapping: N32 | class: new | bussSlides: none | sourceRefs: 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33 | mapping: N33 | class: new | bussSlides: none | sourceRefs: S_B1 | reveal: normal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34 | mapping: N34 | class: new | bussSlides: none | sourceRefs: S_B1,I_SCRIPT | reveal: questions only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35 | mapping: N35 | class: new | bussSlides: none | sourceRefs: S_B1,S_CASE | reveal: case named; no result or answer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36 | mapping: N36 | class: new | bussSlides: none | sourceRefs: S_CASE | reveal: case setup only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37 | mapping: N37 | class: new | bussSlides: none | sourceRefs: S_E1,S_CASE | reveal: surface values only; students inspect pre-period gap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38 | mapping: N38 | class: new | bussSlides: none | sourceRefs: S_AI,S_E1,I_SCRIPT | reveal: AI claim displayed as verification target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39 | mapping: N39 | class: new | bussSlides: none | sourceRefs: I_SCRIPT,S_AI | reveal: smell only; actual direction withheld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40 | mapping: N40 | class: new | bussSlides: none | sourceRefs: S_WS,S_E2,I_SCRIPT | reveal: student discovery; no answer on screen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41 | mapping: N41 | class: new | bussSlides: none | sourceRefs: S_E2,S_WS,I_DISC | reveal: first actual mechanism reveal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42 | mapping: N42 | class: new | bussSlides: none | sourceRefs: S_E1,S_E2,S_AI,I_AI,I_DISC | reveal: post-activity answer and interpretation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KMB689 Wk8 | slide: 43 | mapping: N43 | class: new | bussSlides: none | sourceRefs: S_WS,S_E2,I_DISC | reveal: decision after reveal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e49f1f94d42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e26550f1742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25c65c2ca4b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5804a724043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68551e9174e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3cbe648c1490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b43688a574b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e0cfd57c046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bd027be884e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067c2be1743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ac73b426e4a7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8AA399-7B4D-43FB-902E-E6B0CB7EC2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474E9-8BB0-47DF-BF25-185A228DA7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95B837-FA97-4F23-8661-597402919D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994E38A-441D-4DED-945C-3C150D308A07}" type="datetime1">
              <a:t>11/16/2025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C54DA7-E215-4AD2-A6DB-81503B6D35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324FC4-9AE0-4315-8813-F63FB85FF0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F80D49F-B9E2-41E5-B112-DE020076C26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21BF39-4102-42FB-BBD1-AE8CAAD94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DA0828-E3BD-4F41-8D27-7D9E24B8CA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>
                <a:latin typeface="Times New Roman"/>
                <a:ea typeface="Times New Roman"/>
                <a:cs typeface="Times New Roman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494455-AD69-4990-A042-8147952230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9929C47-F865-40DF-8D29-1D78E9CC3513}" type="datetime1">
              <a:t>11/16/2025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9453158-E962-45BF-95D3-8C2E522343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59EBD0-1F3E-4218-A95E-06BD21B132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538439-05E3-433D-90D4-ED8F2F49424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996D42-7B3B-45B6-A010-49EC8B7BF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534E1D-92C0-4B6F-93BB-84098922D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A098DB2-792D-4597-8031-8EDC10F7C9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AF6B742-E39F-4AE8-9CED-E0A2DD74C09D}" type="datetime1">
              <a:t>11/16/2025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9A3585-CB72-43AC-8958-5CED8931E6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704B700-9B02-4D75-94C8-C4890B6572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6D1E24D-201D-4C06-93E5-DFDF815767A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7A7E1-0A77-4403-A261-6E56C7390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01B1B0-8371-4D07-92BF-9FA26A938C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D90EA9F-6445-4AD2-9FB4-E6248203B7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3C6387-27A7-427F-9463-65F57CA7A7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7BF3113-D164-4015-B29F-C3AEAEE83B93}" type="datetime1">
              <a:t>11/16/2025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8518F8A-8362-4D5D-B617-D53B49D0FD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933FAA2-BAD4-4D45-A202-C3A1CBA03C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A4ECCBD5-675D-42AC-AAFD-2C20384C38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FF03D-D985-4B8D-9837-D63812B0C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A6522DB-209D-42C8-BEEB-26490BD39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DEDE6E0-BC29-431E-8BDF-16BA560CD4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281E454-3B74-4515-941F-E6C83FA353A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8BDEF9C-B6AE-4481-92F2-CF01D20F49B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30A1C0-66F5-4DBB-8994-2317FBED0A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09A9BB0-46AE-4321-93BD-0A6B70A2EF62}" type="datetime1">
              <a:t>11/16/2025</a:t>
            </a:fld>
            <a:endParaRPr/>
          </a:p>
        </p:txBody>
      </p:sp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8AA7F7C-E76A-41C4-8034-508396201E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2486A0F-87A1-4A89-BE8E-81F19F83C5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7E64133-F073-4E1B-9731-A7DB12B51A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BC008F-EDC1-43CA-9441-06C2CB505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3EC6AC-29E9-4E99-AC3B-66BDA9667B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A226955-18FE-4500-B06F-C3E7A2FEAB8C}" type="datetime1">
              <a:t>11/16/2025</a:t>
            </a:fld>
            <a:endParaRPr/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78FF10-6185-4C76-AB36-18A1B5279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0FF090-D204-4770-9748-D343E22CC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53C0370-6065-4E13-BA86-F767384FEDE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409E15-261E-43FE-A436-9FEF1361A0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9EB6522-C523-4F4F-8C15-DED3DF9FBD3E}" type="datetime1">
              <a:t>11/16/2025</a:t>
            </a:fld>
            <a:endParaRPr/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EFB8A0-E37F-408C-8068-991D1910D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BFA1EAA-D906-4AF7-8A31-4644EE1223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C8ADE44-0999-487E-B9A3-3E1EB2E5AAD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F6DD0-162B-460A-A1DF-C6313864B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E56ED4-87C9-479D-855C-3E9C28A201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47123AC-72E8-49BB-8A0C-567A109BE5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7E9EE14-28C5-40F5-A790-53E1F9CE46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A1E72AC-D983-4447-994A-7520C379C305}" type="datetime1">
              <a:t>11/16/2025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49F864E-3753-4B8B-A3B8-7DD0E269C1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A9D54B-EA5F-4214-8B3B-0B68D1C4CF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4B4F6E7-3978-4AE9-A3E5-299CD0FCDC0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6355A9-A475-4AF6-B041-34B54BB5A5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3215C77-013D-46CA-9611-62933F61CB2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746ED9-9560-47C5-9931-8718012F25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55CB52E-CCBA-4CB2-BFBB-9B8A64B67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F9CCE3F-3D0E-4106-AE67-69A114D85790}" type="datetime1">
              <a:t>11/16/2025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970595-556F-49B3-BB2F-08D7349E58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6420229-EB42-45A5-A350-1A3487476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A8F5068-B618-4ED1-8476-5C963667BEF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1487C7-DBD4-4D56-BE17-07FA5AE7B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293CEE-346B-4B60-A067-1E7B305313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CCCBF8-F5A9-4CB5-8F28-A24A18CB6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1C6CC58-10C0-4E12-9F88-CFAAFE080F62}" type="datetime1">
              <a:t>11/16/2025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2CF7EA6-2705-4DBE-86C4-207359F02B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E2248FC-6A14-4DDB-A0F2-01985AA204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0E224D7-7DD9-4AAF-9B0D-DF625D33CB4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3EB5CD0-BE19-452A-8264-75D4DF4EB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15100" y="609600"/>
            <a:ext cx="19431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116259-71D4-4779-85E6-AAD0A85F7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609600"/>
            <a:ext cx="56769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DF8520-9277-4577-831E-82BF84F6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5726D9C-B298-44E0-A59F-D5E8DD1CBF40}" type="datetime1">
              <a:t>11/16/2025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5F616D-7A0A-4CAA-B376-3CC78F4AC0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68015C0-2B3A-4662-8A44-EBE40D09AB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C33FF5-821C-492F-82D2-FA4ABB9EB02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9ba8e66d0f74874" /><Relationship Type="http://schemas.openxmlformats.org/officeDocument/2006/relationships/theme" Target="/ppt/slideMasters/theme/theme2.xml" Id="R0b86919af230451d" /><Relationship Type="http://schemas.openxmlformats.org/officeDocument/2006/relationships/slideLayout" Target="/ppt/slideLayouts/slideLayout1.xml" Id="R514016faa4c44cb1" /><Relationship Type="http://schemas.openxmlformats.org/officeDocument/2006/relationships/slideLayout" Target="/ppt/slideLayouts/slideLayout2.xml" Id="R9ec3926d5c1b45bc" /><Relationship Type="http://schemas.openxmlformats.org/officeDocument/2006/relationships/slideLayout" Target="/ppt/slideLayouts/slideLayout3.xml" Id="R7f7106a289cf48f9" /><Relationship Type="http://schemas.openxmlformats.org/officeDocument/2006/relationships/slideLayout" Target="/ppt/slideLayouts/slideLayout4.xml" Id="R97d70173e9244802" /><Relationship Type="http://schemas.openxmlformats.org/officeDocument/2006/relationships/slideLayout" Target="/ppt/slideLayouts/slideLayout5.xml" Id="R785459c24d644c62" /><Relationship Type="http://schemas.openxmlformats.org/officeDocument/2006/relationships/slideLayout" Target="/ppt/slideLayouts/slideLayout6.xml" Id="R82c07e3cb1fa4f7e" /><Relationship Type="http://schemas.openxmlformats.org/officeDocument/2006/relationships/slideLayout" Target="/ppt/slideLayouts/slideLayout7.xml" Id="Rc6ef128f0d1a4f87" /><Relationship Type="http://schemas.openxmlformats.org/officeDocument/2006/relationships/slideLayout" Target="/ppt/slideLayouts/slideLayout8.xml" Id="R3eff5a83adae459d" /><Relationship Type="http://schemas.openxmlformats.org/officeDocument/2006/relationships/slideLayout" Target="/ppt/slideLayouts/slideLayout9.xml" Id="Re6f16e07d4a3498c" /><Relationship Type="http://schemas.openxmlformats.org/officeDocument/2006/relationships/slideLayout" Target="/ppt/slideLayouts/slideLayout10.xml" Id="R60bb47d44f8f492f" /><Relationship Type="http://schemas.openxmlformats.org/officeDocument/2006/relationships/slideLayout" Target="/ppt/slideLayouts/slideLayout11.xml" Id="R3a1233a6130d471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52673D-C415-43EF-8C36-E909B7547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09600"/>
            <a:ext cx="7772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601F25-382E-49D1-A2CB-510FB42B4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81200"/>
            <a:ext cx="7772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8CB0EDC-535E-4567-85D1-D8AB4D811F0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5800" y="6248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fld id="{016C02DA-53E4-4119-9BA6-C55A23448B40}" type="datetime1">
              <a:t>11/16/2025</a:t>
            </a:fld>
            <a:endParaRPr/>
          </a:p>
        </p:txBody>
      </p:sp>
      <p:sp>
        <p:nvSpPr>
          <p:cNvPr id="10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9234748-02A9-447A-B3BD-DF0219939F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667000" y="62484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69921FD-689F-42AE-98F2-31C4B41CC2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19800" y="62484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fld id="{FF40D387-18BB-4915-B95C-3C5F0931D198}" type="slidenum">
              <a:t>‹#›</a:t>
            </a:fld>
            <a:endParaRPr/>
          </a:p>
        </p:txBody>
      </p:sp>
      <p:pic>
        <p:nvPicPr>
          <p:cNvPr id="10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a8e66d0f748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3888" y="6189663"/>
            <a:ext cx="728662" cy="6111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016faa4c44cb1"/>
    <p:sldLayoutId xmlns:r="http://schemas.openxmlformats.org/officeDocument/2006/relationships" id="2147483650" r:id="R9ec3926d5c1b45bc"/>
    <p:sldLayoutId xmlns:r="http://schemas.openxmlformats.org/officeDocument/2006/relationships" id="2147483651" r:id="R7f7106a289cf48f9"/>
    <p:sldLayoutId xmlns:r="http://schemas.openxmlformats.org/officeDocument/2006/relationships" id="2147483652" r:id="R97d70173e9244802"/>
    <p:sldLayoutId xmlns:r="http://schemas.openxmlformats.org/officeDocument/2006/relationships" id="2147483653" r:id="R785459c24d644c62"/>
    <p:sldLayoutId xmlns:r="http://schemas.openxmlformats.org/officeDocument/2006/relationships" id="2147483654" r:id="R82c07e3cb1fa4f7e"/>
    <p:sldLayoutId xmlns:r="http://schemas.openxmlformats.org/officeDocument/2006/relationships" id="2147483655" r:id="Rc6ef128f0d1a4f87"/>
    <p:sldLayoutId xmlns:r="http://schemas.openxmlformats.org/officeDocument/2006/relationships" id="2147483656" r:id="R3eff5a83adae459d"/>
    <p:sldLayoutId xmlns:r="http://schemas.openxmlformats.org/officeDocument/2006/relationships" id="2147483657" r:id="Re6f16e07d4a3498c"/>
    <p:sldLayoutId xmlns:r="http://schemas.openxmlformats.org/officeDocument/2006/relationships" id="2147483658" r:id="R60bb47d44f8f492f"/>
    <p:sldLayoutId xmlns:r="http://schemas.openxmlformats.org/officeDocument/2006/relationships" id="2147483659" r:id="R3a1233a6130d4715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ts val="600"/>
        </a:spcAft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NTUPowerpointTemplate_Aug2010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a61b6989f4562" /><Relationship Type="http://schemas.openxmlformats.org/officeDocument/2006/relationships/notesSlide" Target="/ppt/notesSlides/notesSlide1.xml" Id="R05735b0bb8a6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52fa9e74447de" /><Relationship Type="http://schemas.openxmlformats.org/officeDocument/2006/relationships/notesSlide" Target="/ppt/notesSlides/notesSlide2.xml" Id="Re14bbcc4f53d4a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4921754dc4457" /><Relationship Type="http://schemas.openxmlformats.org/officeDocument/2006/relationships/notesSlide" Target="/ppt/notesSlides/notesSlide3.xml" Id="R8b3bb34e143448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4b8befcfe4179" /><Relationship Type="http://schemas.openxmlformats.org/officeDocument/2006/relationships/notesSlide" Target="/ppt/notesSlides/notesSlide4.xml" Id="R1a5c1d62f0f642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e2b5f7aba41d3" /><Relationship Type="http://schemas.openxmlformats.org/officeDocument/2006/relationships/notesSlide" Target="/ppt/notesSlides/notesSlide5.xml" Id="R0a63d331bc3943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e7bf07b8c4141" /><Relationship Type="http://schemas.openxmlformats.org/officeDocument/2006/relationships/notesSlide" Target="/ppt/notesSlides/notesSlide6.xml" Id="R328675dbcf93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5d5168ad44b69" /><Relationship Type="http://schemas.openxmlformats.org/officeDocument/2006/relationships/notesSlide" Target="/ppt/notesSlides/notesSlide7.xml" Id="Rc3b47c7d1a6d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0e493b2364a76" /><Relationship Type="http://schemas.openxmlformats.org/officeDocument/2006/relationships/notesSlide" Target="/ppt/notesSlides/notesSlide8.xml" Id="R02b1ec2e44bb4e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798eb3573343b2" /><Relationship Type="http://schemas.openxmlformats.org/officeDocument/2006/relationships/notesSlide" Target="/ppt/notesSlides/notesSlide9.xml" Id="Rbd42af08519a47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2914941f224c9c" /><Relationship Type="http://schemas.openxmlformats.org/officeDocument/2006/relationships/notesSlide" Target="/ppt/notesSlides/notesSlide10.xml" Id="R440e0132377946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00294a94f458b" /><Relationship Type="http://schemas.openxmlformats.org/officeDocument/2006/relationships/notesSlide" Target="/ppt/notesSlides/notesSlide11.xml" Id="Rb1ceff58f63b42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4c2de4d914ed1" /><Relationship Type="http://schemas.openxmlformats.org/officeDocument/2006/relationships/notesSlide" Target="/ppt/notesSlides/notesSlide12.xml" Id="R4c333899d2bc46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8c8d06d414d93" /><Relationship Type="http://schemas.openxmlformats.org/officeDocument/2006/relationships/notesSlide" Target="/ppt/notesSlides/notesSlide13.xml" Id="R5338cd4b7afb4b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f4ac7a29ca4a0b" /><Relationship Type="http://schemas.openxmlformats.org/officeDocument/2006/relationships/notesSlide" Target="/ppt/notesSlides/notesSlide14.xml" Id="R651b80505b1641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89d5ae7244119" /><Relationship Type="http://schemas.openxmlformats.org/officeDocument/2006/relationships/notesSlide" Target="/ppt/notesSlides/notesSlide15.xml" Id="R87b1cf51b9c145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06a04785042ee" /><Relationship Type="http://schemas.openxmlformats.org/officeDocument/2006/relationships/notesSlide" Target="/ppt/notesSlides/notesSlide16.xml" Id="R463560b4d49646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4f7d90ef874f03" /><Relationship Type="http://schemas.openxmlformats.org/officeDocument/2006/relationships/image" Target="/ppt/media/image2.png" Id="R1a03ec74e1054da3" /><Relationship Type="http://schemas.openxmlformats.org/officeDocument/2006/relationships/notesSlide" Target="/ppt/notesSlides/notesSlide17.xml" Id="R339ac37da8a444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d838b4a474172" /><Relationship Type="http://schemas.openxmlformats.org/officeDocument/2006/relationships/notesSlide" Target="/ppt/notesSlides/notesSlide18.xml" Id="R6874d56d3f6f49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90e0a82bb4393" /><Relationship Type="http://schemas.openxmlformats.org/officeDocument/2006/relationships/notesSlide" Target="/ppt/notesSlides/notesSlide19.xml" Id="Rcffd7d7fac604a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417bd2fa24172" /><Relationship Type="http://schemas.openxmlformats.org/officeDocument/2006/relationships/notesSlide" Target="/ppt/notesSlides/notesSlide20.xml" Id="Raa018bfac40543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5fab85095476a" /><Relationship Type="http://schemas.openxmlformats.org/officeDocument/2006/relationships/notesSlide" Target="/ppt/notesSlides/notesSlide21.xml" Id="R88039d1222b04b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902e7c9cd455a" /><Relationship Type="http://schemas.openxmlformats.org/officeDocument/2006/relationships/notesSlide" Target="/ppt/notesSlides/notesSlide22.xml" Id="R91ad35c6b3fe4c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76abf3a4d4776" /><Relationship Type="http://schemas.openxmlformats.org/officeDocument/2006/relationships/notesSlide" Target="/ppt/notesSlides/notesSlide23.xml" Id="R96313e3a1a9543e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2f24bc22243a3" /><Relationship Type="http://schemas.openxmlformats.org/officeDocument/2006/relationships/notesSlide" Target="/ppt/notesSlides/notesSlide24.xml" Id="R699cb91ce45642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6dc2acae248a8" /><Relationship Type="http://schemas.openxmlformats.org/officeDocument/2006/relationships/notesSlide" Target="/ppt/notesSlides/notesSlide25.xml" Id="R748a47c56e2f45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85e9265b14a9b" /><Relationship Type="http://schemas.openxmlformats.org/officeDocument/2006/relationships/notesSlide" Target="/ppt/notesSlides/notesSlide26.xml" Id="R04c482a86b2443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e354fb08a45a0" /><Relationship Type="http://schemas.openxmlformats.org/officeDocument/2006/relationships/notesSlide" Target="/ppt/notesSlides/notesSlide27.xml" Id="R6f368c53abff4ad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e17940e194115" /><Relationship Type="http://schemas.openxmlformats.org/officeDocument/2006/relationships/notesSlide" Target="/ppt/notesSlides/notesSlide28.xml" Id="Rff8b3695bfc745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826a537bb4b31" /><Relationship Type="http://schemas.openxmlformats.org/officeDocument/2006/relationships/notesSlide" Target="/ppt/notesSlides/notesSlide29.xml" Id="R5f9d2e14138046b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bd686ed5c4650" /><Relationship Type="http://schemas.openxmlformats.org/officeDocument/2006/relationships/notesSlide" Target="/ppt/notesSlides/notesSlide30.xml" Id="R83b292d132ec4cc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0605d89154c43" /><Relationship Type="http://schemas.openxmlformats.org/officeDocument/2006/relationships/notesSlide" Target="/ppt/notesSlides/notesSlide31.xml" Id="R1d0182696f2f48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24c2c2f194ab9" /><Relationship Type="http://schemas.openxmlformats.org/officeDocument/2006/relationships/notesSlide" Target="/ppt/notesSlides/notesSlide32.xml" Id="R0ad21122dfe44b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ed625552b4342" /><Relationship Type="http://schemas.openxmlformats.org/officeDocument/2006/relationships/notesSlide" Target="/ppt/notesSlides/notesSlide33.xml" Id="R4d4c7aabcd534e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13aff751642c9" /><Relationship Type="http://schemas.openxmlformats.org/officeDocument/2006/relationships/notesSlide" Target="/ppt/notesSlides/notesSlide34.xml" Id="R1723bbc6c9664b2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a758223ae24e71" /><Relationship Type="http://schemas.openxmlformats.org/officeDocument/2006/relationships/notesSlide" Target="/ppt/notesSlides/notesSlide35.xml" Id="R204ce9a6e28b4e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68c810d514beb" /><Relationship Type="http://schemas.openxmlformats.org/officeDocument/2006/relationships/notesSlide" Target="/ppt/notesSlides/notesSlide36.xml" Id="Reb389cc53514446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af006cf9c4e1c" /><Relationship Type="http://schemas.openxmlformats.org/officeDocument/2006/relationships/notesSlide" Target="/ppt/notesSlides/notesSlide37.xml" Id="R093268ff33304b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17cf0a7ad426c" /><Relationship Type="http://schemas.openxmlformats.org/officeDocument/2006/relationships/notesSlide" Target="/ppt/notesSlides/notesSlide38.xml" Id="Rd959c71c79c4411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718f224f4474e" /><Relationship Type="http://schemas.openxmlformats.org/officeDocument/2006/relationships/notesSlide" Target="/ppt/notesSlides/notesSlide39.xml" Id="R2747fe04a980450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ca729f6d04ab4" /><Relationship Type="http://schemas.openxmlformats.org/officeDocument/2006/relationships/notesSlide" Target="/ppt/notesSlides/notesSlide40.xml" Id="Ra90cce4893f84f9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03117b75a4386" /><Relationship Type="http://schemas.openxmlformats.org/officeDocument/2006/relationships/notesSlide" Target="/ppt/notesSlides/notesSlide41.xml" Id="Rd9f837eef2da465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96fc68a9d4542" /><Relationship Type="http://schemas.openxmlformats.org/officeDocument/2006/relationships/notesSlide" Target="/ppt/notesSlides/notesSlide42.xml" Id="R45901a28599f460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3d00840bc4475" /><Relationship Type="http://schemas.openxmlformats.org/officeDocument/2006/relationships/notesSlide" Target="/ppt/notesSlides/notesSlide43.xml" Id="R18eee05f268c49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1">
            <a:extLst xmlns:a="http://schemas.openxmlformats.org/drawingml/2006/main">
              <a:ext uri="{FF2B5EF4-FFF2-40B4-BE49-F238E27FC236}">
                <a16:creationId xmlns:a16="http://schemas.microsoft.com/office/drawing/2014/main" id="{9C286822-61BB-409D-B249-E2C6C46B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KMB689 · SEMINAR 8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79EAE9CD-D7A8-4D7D-9887-9BEC5F8D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회귀분석과 인과추론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A2C2CDCA-D617-45B3-ABA2-EAD5F6D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cover">
            <a:extLst xmlns:a="http://schemas.openxmlformats.org/drawingml/2006/main">
              <a:ext uri="{FF2B5EF4-FFF2-40B4-BE49-F238E27FC236}">
                <a16:creationId xmlns:a16="http://schemas.microsoft.com/office/drawing/2014/main" id="{A69AAF07-3A50-4BBA-9D9C-C85DA53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Linear Regression Model</a:t>
            </a:r>
          </a:p>
        </p:txBody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FD39C8C1-C52A-4EE8-A8E5-F87F35EA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회귀분석으로 무엇이 성과를 만드는지 읽는다</a:t>
            </a:r>
          </a:p>
        </p:txBody>
      </p:sp>
      <p:sp>
        <p:nvSpPr>
          <p:cNvPr id="6" name="school">
            <a:extLst xmlns:a="http://schemas.openxmlformats.org/drawingml/2006/main">
              <a:ext uri="{FF2B5EF4-FFF2-40B4-BE49-F238E27FC236}">
                <a16:creationId xmlns:a16="http://schemas.microsoft.com/office/drawing/2014/main" id="{DA07C8B9-A1BB-48BC-AD4C-DC7C2EC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Korea University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B34B6161-957F-4191-AC95-F68412E1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6EA0C79-3F3F-49BF-BA52-8DDCD42E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오늘의 두 블록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0952F9AB-BC44-475B-9136-800B307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74295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</a:tblGrid>
              <a:tr h="1476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1블록 · 75분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2블록 · 약 70분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476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회귀 출력 읽기</a:t>
                      </a:r>
                    </a:p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분해·자기선택 판단 도구</a:t>
                      </a:r>
                    </a:p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회귀 검증 5문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SmartAds 사례</a:t>
                      </a:r>
                    </a:p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강사 시범</a:t>
                      </a:r>
                    </a:p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검증과 토론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ime-note">
            <a:extLst xmlns:a="http://schemas.openxmlformats.org/drawingml/2006/main">
              <a:ext uri="{FF2B5EF4-FFF2-40B4-BE49-F238E27FC236}">
                <a16:creationId xmlns:a16="http://schemas.microsoft.com/office/drawing/2014/main" id="{34994359-6C0E-435A-97AD-A1564DE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자료에 별도 지정이 없는 5분은 운영 여유로 남긴다.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">
            <a:extLst xmlns:a="http://schemas.openxmlformats.org/drawingml/2006/main">
              <a:ext uri="{FF2B5EF4-FFF2-40B4-BE49-F238E27FC236}">
                <a16:creationId xmlns:a16="http://schemas.microsoft.com/office/drawing/2014/main" id="{B141B8B9-1830-46C0-9941-0A98B5F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SUPERVISION CREED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EA50FAF-2601-4B16-9F76-6B191452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감독 신조 recap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D5EE95E6-64D9-488C-9200-A6993244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creed">
            <a:extLst xmlns:a="http://schemas.openxmlformats.org/drawingml/2006/main">
              <a:ext uri="{FF2B5EF4-FFF2-40B4-BE49-F238E27FC236}">
                <a16:creationId xmlns:a16="http://schemas.microsoft.com/office/drawing/2014/main" id="{3436E5DE-6C6D-476B-90E4-19C6E16F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기준을 세운다 → AI에게 시킨다 → 검증한다 → 결정한다.</a:t>
            </a:r>
          </a:p>
        </p:txBody>
      </p:sp>
      <p:sp>
        <p:nvSpPr>
          <p:cNvPr id="5" name="creed-detail">
            <a:extLst xmlns:a="http://schemas.openxmlformats.org/drawingml/2006/main">
              <a:ext uri="{FF2B5EF4-FFF2-40B4-BE49-F238E27FC236}">
                <a16:creationId xmlns:a16="http://schemas.microsoft.com/office/drawing/2014/main" id="{0E5E85D0-F809-42AE-B8F6-31651406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분석을 직접 하지 말고, 결과를 읽고 검증한 뒤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4">
            <a:extLst xmlns:a="http://schemas.openxmlformats.org/drawingml/2006/main">
              <a:ext uri="{FF2B5EF4-FFF2-40B4-BE49-F238E27FC236}">
                <a16:creationId xmlns:a16="http://schemas.microsoft.com/office/drawing/2014/main" id="{42113A7C-9D64-4464-89A7-BEC31585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ROLE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3404C26-9254-43BE-B0D6-841BE47C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관리자의 역할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4DEC020A-AD48-439E-BC29-3649384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role">
            <a:extLst xmlns:a="http://schemas.openxmlformats.org/drawingml/2006/main">
              <a:ext uri="{FF2B5EF4-FFF2-40B4-BE49-F238E27FC236}">
                <a16:creationId xmlns:a16="http://schemas.microsoft.com/office/drawing/2014/main" id="{CE9C764A-81E4-4C52-A52B-019CC3C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714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회귀 코드를 직접 작성하는 자리가 아니다.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출력표에서 계수·유의성·결정계수를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분석의 비교와 분해가 결론을 지지하는지 평가한다.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사업 결정에 필요한 추가 분석을 요구한다.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5">
            <a:extLst xmlns:a="http://schemas.openxmlformats.org/drawingml/2006/main">
              <a:ext uri="{FF2B5EF4-FFF2-40B4-BE49-F238E27FC236}">
                <a16:creationId xmlns:a16="http://schemas.microsoft.com/office/drawing/2014/main" id="{42835E1C-7E31-463F-88A3-64951C7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OBJECTIVES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B027DBC-64CC-4A35-9800-2D0894B6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오늘의 목표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D5FB8071-A53B-4551-A4EC-30C2D3B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objectives">
            <a:extLst xmlns:a="http://schemas.openxmlformats.org/drawingml/2006/main">
              <a:ext uri="{FF2B5EF4-FFF2-40B4-BE49-F238E27FC236}">
                <a16:creationId xmlns:a16="http://schemas.microsoft.com/office/drawing/2014/main" id="{3DEC15F6-78DC-4F27-B2BB-0A795F4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714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회귀분석 출력표에서 계수·유의성·결정계수를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계수를 다른 조건을 통제한 상태의 관계로 해석한다.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하나의 종합 숫자가 숨기는 경로를 분해한다.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6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도입자 비교에서 자발적 선택 가능성을 묻는다.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6">
            <a:extLst xmlns:a="http://schemas.openxmlformats.org/drawingml/2006/main">
              <a:ext uri="{FF2B5EF4-FFF2-40B4-BE49-F238E27FC236}">
                <a16:creationId xmlns:a16="http://schemas.microsoft.com/office/drawing/2014/main" id="{F23A32F6-B3A6-45C0-B688-B417BCC9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READING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5823777-46E2-40D8-9D68-C18C3EC2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회귀분석의 역할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709CFBF8-3D04-45B2-8371-BDEBEDDE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324EA785-B799-4BFB-BBC3-8212D21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Regression analysis is a probabilistic model</a:t>
            </a:r>
          </a:p>
        </p:txBody>
      </p:sp>
      <p:sp>
        <p:nvSpPr>
          <p:cNvPr id="5" name="definition-detail">
            <a:extLst xmlns:a="http://schemas.openxmlformats.org/drawingml/2006/main">
              <a:ext uri="{FF2B5EF4-FFF2-40B4-BE49-F238E27FC236}">
                <a16:creationId xmlns:a16="http://schemas.microsoft.com/office/drawing/2014/main" id="{D4F413A4-4F72-4082-B4A7-99F44D7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회귀분석은 관측할 수 없는 오차를 남긴 채 변수 사이의 관계를 설명한다.</a:t>
            </a:r>
          </a:p>
        </p:txBody>
      </p:sp>
      <p:sp>
        <p:nvSpPr>
          <p:cNvPr id="6" name="formula-examples">
            <a:extLst xmlns:a="http://schemas.openxmlformats.org/drawingml/2006/main">
              <a:ext uri="{FF2B5EF4-FFF2-40B4-BE49-F238E27FC236}">
                <a16:creationId xmlns:a16="http://schemas.microsoft.com/office/drawing/2014/main" id="{1267B667-85D7-4945-9D04-91CCC85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매출 = f(가격, 광고비, 인지도, …) + 오차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7">
            <a:extLst xmlns:a="http://schemas.openxmlformats.org/drawingml/2006/main">
              <a:ext uri="{FF2B5EF4-FFF2-40B4-BE49-F238E27FC236}">
                <a16:creationId xmlns:a16="http://schemas.microsoft.com/office/drawing/2014/main" id="{8165A062-2C02-4E7C-A9C4-EFEA8B5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READING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B084B02-93EE-461B-8B58-4596595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종속변수와 독립변수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7C2F997C-76DF-4A9D-89B9-74F5351A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76250" y="1809750"/>
          <a:ext xmlns:a="http://schemas.openxmlformats.org/drawingml/2006/main" cx="8191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428875"/>
                <a:gridCol w="2619375"/>
              </a:tblGrid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BUSS256 원문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KMB689 용어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오늘의 예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Dependent/Response/Target/Outcome Variable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종속변수(결과변수, Y)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순위 점수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Independent/Explanatory Variables/Predictors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독립변수(설명변수, X)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가격·리뷰 수·카테고리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term-note">
            <a:extLst xmlns:a="http://schemas.openxmlformats.org/drawingml/2006/main">
              <a:ext uri="{FF2B5EF4-FFF2-40B4-BE49-F238E27FC236}">
                <a16:creationId xmlns:a16="http://schemas.microsoft.com/office/drawing/2014/main" id="{22A1F2A7-B0F2-4720-983A-A57D6F1B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KMB689 판의 종속변수·독립변수를 기본 용어로 쓰고, MBA_S8의 결과변수·설명변수를 괄호에 병기한다.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8">
            <a:extLst xmlns:a="http://schemas.openxmlformats.org/drawingml/2006/main">
              <a:ext uri="{FF2B5EF4-FFF2-40B4-BE49-F238E27FC236}">
                <a16:creationId xmlns:a16="http://schemas.microsoft.com/office/drawing/2014/main" id="{8CEE1B0D-425B-4EBF-AF5A-F9E6F35E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READING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F10A585-D09A-4072-B2E9-9D8E175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절편과 기울기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2A2853E2-8BFF-4BD7-9511-44F9BBA5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CF224C3C-C73D-4DFF-B2E5-BA2DD0A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7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y = a + bx</a:t>
            </a:r>
          </a:p>
        </p:txBody>
      </p:sp>
      <p:sp>
        <p:nvSpPr>
          <p:cNvPr id="5" name="line-detail">
            <a:extLst xmlns:a="http://schemas.openxmlformats.org/drawingml/2006/main">
              <a:ext uri="{FF2B5EF4-FFF2-40B4-BE49-F238E27FC236}">
                <a16:creationId xmlns:a16="http://schemas.microsoft.com/office/drawing/2014/main" id="{2C07A256-D104-4B8B-BB24-D6A093E2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Intercept는 X=0일 때의 출발점, Slope는 X가 1단위 변할 때 Y가 움직이는 정도다.</a:t>
            </a:r>
          </a:p>
        </p:txBody>
      </p:sp>
      <p:sp>
        <p:nvSpPr>
          <p:cNvPr id="6" name="labels">
            <a:extLst xmlns:a="http://schemas.openxmlformats.org/drawingml/2006/main">
              <a:ext uri="{FF2B5EF4-FFF2-40B4-BE49-F238E27FC236}">
                <a16:creationId xmlns:a16="http://schemas.microsoft.com/office/drawing/2014/main" id="{7BED02A0-88A4-4C8D-BA45-F9E69A34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01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Intercept    ·    Slope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AB1A52-9C43-412A-8775-9E6B20888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Correlation vs. Regression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A5A954A-7879-432F-8ACA-081831FB245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Tahoma"/>
                <a:ea typeface="Tahoma"/>
                <a:cs typeface="Tahoma"/>
              </a:rPr>
              <a:t>In correlation, the two variables are treated as equals.  </a:t>
            </a:r>
          </a:p>
          <a:p xmlns:a="http://schemas.openxmlformats.org/drawingml/2006/main">
            <a:pPr lvl="1">
              <a:buNone/>
            </a:pPr>
            <a:r>
              <a:rPr>
                <a:latin typeface="Tahoma"/>
                <a:ea typeface="Tahoma"/>
                <a:cs typeface="Tahoma"/>
              </a:rPr>
              <a:t>As </a:t>
            </a:r>
            <a:r>
              <a:rPr>
                <a:solidFill>
                  <a:srgbClr val="C00000"/>
                </a:solidFill>
                <a:latin typeface="Tahoma"/>
                <a:ea typeface="Tahoma"/>
                <a:cs typeface="Tahoma"/>
              </a:rPr>
              <a:t>Price</a:t>
            </a:r>
            <a:r>
              <a:rPr>
                <a:latin typeface="Tahoma"/>
                <a:ea typeface="Tahoma"/>
                <a:cs typeface="Tahoma"/>
              </a:rPr>
              <a:t> increases, </a:t>
            </a:r>
            <a:r>
              <a:rPr>
                <a:solidFill>
                  <a:srgbClr val="000099"/>
                </a:solidFill>
                <a:latin typeface="Tahoma"/>
                <a:ea typeface="Tahoma"/>
                <a:cs typeface="Tahoma"/>
              </a:rPr>
              <a:t>Sales</a:t>
            </a:r>
            <a:r>
              <a:rPr>
                <a:latin typeface="Tahoma"/>
                <a:ea typeface="Tahoma"/>
                <a:cs typeface="Tahoma"/>
              </a:rPr>
              <a:t> decreases</a:t>
            </a:r>
          </a:p>
          <a:p xmlns:a="http://schemas.openxmlformats.org/drawingml/2006/main">
            <a:pPr lvl="1">
              <a:buNone/>
            </a:pPr>
            <a:r>
              <a:rPr>
                <a:latin typeface="Tahoma"/>
                <a:ea typeface="Tahoma"/>
                <a:cs typeface="Tahoma"/>
              </a:rPr>
              <a:t>As </a:t>
            </a:r>
            <a:r>
              <a:rPr>
                <a:solidFill>
                  <a:srgbClr val="000099"/>
                </a:solidFill>
                <a:latin typeface="Tahoma"/>
                <a:ea typeface="Tahoma"/>
                <a:cs typeface="Tahoma"/>
              </a:rPr>
              <a:t>Sales</a:t>
            </a:r>
            <a:r>
              <a:rPr>
                <a:latin typeface="Tahoma"/>
                <a:ea typeface="Tahoma"/>
                <a:cs typeface="Tahoma"/>
              </a:rPr>
              <a:t> increases, </a:t>
            </a:r>
            <a:r>
              <a:rPr>
                <a:solidFill>
                  <a:srgbClr val="C00000"/>
                </a:solidFill>
                <a:latin typeface="Tahoma"/>
                <a:ea typeface="Tahoma"/>
                <a:cs typeface="Tahoma"/>
              </a:rPr>
              <a:t>Price</a:t>
            </a:r>
            <a:r>
              <a:rPr>
                <a:latin typeface="Tahoma"/>
                <a:ea typeface="Tahoma"/>
                <a:cs typeface="Tahoma"/>
              </a:rPr>
              <a:t> decreases </a:t>
            </a:r>
          </a:p>
          <a:p xmlns:a="http://schemas.openxmlformats.org/drawingml/2006/main">
            <a:pPr>
              <a:buNone/>
            </a:pPr>
            <a:r>
              <a:rPr>
                <a:latin typeface="Tahoma"/>
                <a:ea typeface="Tahoma"/>
                <a:cs typeface="Tahoma"/>
              </a:rPr>
              <a:t>In regression, one variable is considered independent (=predictor) variable (</a:t>
            </a:r>
            <a:r>
              <a:rPr i="1">
                <a:latin typeface="Tahoma"/>
                <a:ea typeface="Tahoma"/>
                <a:cs typeface="Tahoma"/>
              </a:rPr>
              <a:t>X </a:t>
            </a:r>
            <a:r>
              <a:rPr>
                <a:latin typeface="Tahoma"/>
                <a:ea typeface="Tahoma"/>
                <a:cs typeface="Tahoma"/>
              </a:rPr>
              <a:t>) and the other the dependent (=outcome) variable </a:t>
            </a:r>
            <a:r>
              <a:rPr i="1">
                <a:latin typeface="Tahoma"/>
                <a:ea typeface="Tahoma"/>
                <a:cs typeface="Tahoma"/>
              </a:rPr>
              <a:t>Y</a:t>
            </a:r>
            <a:r>
              <a:rPr>
                <a:latin typeface="Tahoma"/>
                <a:ea typeface="Tahoma"/>
                <a:cs typeface="Tahoma"/>
              </a:rPr>
              <a:t>. </a:t>
            </a:r>
          </a:p>
          <a:p xmlns:a="http://schemas.openxmlformats.org/drawingml/2006/main">
            <a:pPr lvl="1">
              <a:buNone/>
            </a:pPr>
            <a:r>
              <a:rPr>
                <a:latin typeface="Tahoma"/>
                <a:ea typeface="Tahoma"/>
                <a:cs typeface="Tahoma"/>
              </a:rPr>
              <a:t>The impact of </a:t>
            </a:r>
            <a:r>
              <a:rPr>
                <a:solidFill>
                  <a:srgbClr val="C00000"/>
                </a:solidFill>
                <a:latin typeface="Tahoma"/>
                <a:ea typeface="Tahoma"/>
                <a:cs typeface="Tahoma"/>
              </a:rPr>
              <a:t>Price </a:t>
            </a:r>
            <a:r>
              <a:rPr>
                <a:latin typeface="Tahoma"/>
                <a:ea typeface="Tahoma"/>
                <a:cs typeface="Tahoma"/>
              </a:rPr>
              <a:t>on </a:t>
            </a:r>
            <a:r>
              <a:rPr>
                <a:solidFill>
                  <a:srgbClr val="000099"/>
                </a:solidFill>
                <a:latin typeface="Tahoma"/>
                <a:ea typeface="Tahoma"/>
                <a:cs typeface="Tahoma"/>
              </a:rPr>
              <a:t>Sales</a:t>
            </a:r>
          </a:p>
          <a:p xmlns:a="http://schemas.openxmlformats.org/drawingml/2006/main">
            <a:pPr lvl="1">
              <a:buNone/>
            </a:pPr>
            <a:endParaRPr>
              <a:latin typeface="Tahoma"/>
              <a:ea typeface="Tahoma"/>
              <a:cs typeface="Tahoma"/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3BEFFFF-52CF-4624-9227-45A8A6C195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" name="korean-footer-9">
            <a:extLst xmlns:a="http://schemas.openxmlformats.org/drawingml/2006/main">
              <a:ext uri="{FF2B5EF4-FFF2-40B4-BE49-F238E27FC236}">
                <a16:creationId xmlns:a16="http://schemas.microsoft.com/office/drawing/2014/main" id="{735905EC-2CB7-4976-82CB-C6D8D54C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KMB689 용어: 상관분석은 두 변수를 동등하게 보고, 회귀분석은 X와 Y의 역할을 정해 관계를 읽는다.</a:t>
            </a:r>
          </a:p>
        </p:txBody>
      </p:sp>
    </p:spTree>
    <p:extLst>
      <p:ext uri="{BB962C8B-B14F-4D97-AF65-F5344CB8AC3E}">
        <p14:creationId xmlns:p14="http://schemas.microsoft.com/office/powerpoint/2010/main" val="3334394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807AD7-A31D-4FB4-9B1E-2834696F2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Regression Models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D9AB7C-9C25-44DF-B93A-5BEC459DD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87325" indent="-187325">
              <a:lnSpc>
                <a:spcPct val="90000"/>
              </a:lnSpc>
              <a:buNone/>
            </a:pPr>
            <a:r>
              <a:rPr sz="2400">
                <a:latin typeface="Book Antiqua"/>
                <a:ea typeface="Book Antiqua"/>
                <a:cs typeface="Book Antiqua"/>
              </a:rPr>
              <a:t>A </a:t>
            </a:r>
            <a:r>
              <a:rPr sz="2400" i="1">
                <a:solidFill>
                  <a:srgbClr val="C60C30"/>
                </a:solidFill>
                <a:latin typeface="Book Antiqua"/>
                <a:ea typeface="Book Antiqua"/>
                <a:cs typeface="Book Antiqua"/>
              </a:rPr>
              <a:t>simple regression </a:t>
            </a:r>
            <a:r>
              <a:rPr sz="2400">
                <a:latin typeface="Book Antiqua"/>
                <a:ea typeface="Book Antiqua"/>
                <a:cs typeface="Book Antiqua"/>
              </a:rPr>
              <a:t>model</a:t>
            </a:r>
          </a:p>
          <a:p xmlns:a="http://schemas.openxmlformats.org/drawingml/2006/main">
            <a:pPr marL="587375" lvl="1" indent="-187325">
              <a:lnSpc>
                <a:spcPct val="90000"/>
              </a:lnSpc>
              <a:buNone/>
            </a:pPr>
            <a:r>
              <a:rPr sz="2000">
                <a:latin typeface="Book Antiqua"/>
                <a:ea typeface="Book Antiqua"/>
                <a:cs typeface="Book Antiqua"/>
              </a:rPr>
              <a:t>A model with only </a:t>
            </a:r>
            <a:r>
              <a:rPr sz="2000">
                <a:solidFill>
                  <a:srgbClr val="C60C30"/>
                </a:solidFill>
                <a:latin typeface="Book Antiqua"/>
                <a:ea typeface="Book Antiqua"/>
                <a:cs typeface="Book Antiqua"/>
              </a:rPr>
              <a:t>one independent variable</a:t>
            </a:r>
          </a:p>
          <a:p xmlns:a="http://schemas.openxmlformats.org/drawingml/2006/main">
            <a:pPr marL="987425" lvl="2" indent="-187325">
              <a:lnSpc>
                <a:spcPct val="90000"/>
              </a:lnSpc>
              <a:buNone/>
            </a:pPr>
            <a:r>
              <a:rPr sz="1600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App Sales = f(</a:t>
            </a:r>
            <a:r>
              <a:rPr sz="1600" i="1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Price</a:t>
            </a:r>
            <a:r>
              <a:rPr sz="1600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) </a:t>
            </a:r>
          </a:p>
          <a:p xmlns:a="http://schemas.openxmlformats.org/drawingml/2006/main">
            <a:pPr marL="0" indent="0">
              <a:lnSpc>
                <a:spcPct val="90000"/>
              </a:lnSpc>
              <a:buNone/>
            </a:pPr>
            <a:endParaRPr sz="2400">
              <a:latin typeface="Book Antiqua"/>
              <a:ea typeface="Book Antiqua"/>
              <a:cs typeface="Book Antiqua"/>
            </a:endParaRPr>
          </a:p>
          <a:p xmlns:a="http://schemas.openxmlformats.org/drawingml/2006/main">
            <a:pPr marL="187325" indent="-187325">
              <a:lnSpc>
                <a:spcPct val="90000"/>
              </a:lnSpc>
              <a:buNone/>
            </a:pPr>
            <a:r>
              <a:rPr sz="2400">
                <a:latin typeface="Book Antiqua"/>
                <a:ea typeface="Book Antiqua"/>
                <a:cs typeface="Book Antiqua"/>
              </a:rPr>
              <a:t>A </a:t>
            </a:r>
            <a:r>
              <a:rPr sz="2400" i="1">
                <a:solidFill>
                  <a:srgbClr val="C60C30"/>
                </a:solidFill>
                <a:latin typeface="Book Antiqua"/>
                <a:ea typeface="Book Antiqua"/>
                <a:cs typeface="Book Antiqua"/>
              </a:rPr>
              <a:t>multiple regression</a:t>
            </a:r>
            <a:r>
              <a:rPr sz="2400">
                <a:solidFill>
                  <a:srgbClr val="C60C30"/>
                </a:solidFill>
                <a:latin typeface="Book Antiqua"/>
                <a:ea typeface="Book Antiqua"/>
                <a:cs typeface="Book Antiqua"/>
              </a:rPr>
              <a:t> </a:t>
            </a:r>
            <a:r>
              <a:rPr sz="2400">
                <a:latin typeface="Book Antiqua"/>
                <a:ea typeface="Book Antiqua"/>
                <a:cs typeface="Book Antiqua"/>
              </a:rPr>
              <a:t>model</a:t>
            </a:r>
          </a:p>
          <a:p xmlns:a="http://schemas.openxmlformats.org/drawingml/2006/main">
            <a:pPr marL="587375" lvl="1" indent="-187325">
              <a:lnSpc>
                <a:spcPct val="90000"/>
              </a:lnSpc>
              <a:buNone/>
            </a:pPr>
            <a:r>
              <a:rPr sz="2000">
                <a:latin typeface="Book Antiqua"/>
                <a:ea typeface="Book Antiqua"/>
                <a:cs typeface="Book Antiqua"/>
              </a:rPr>
              <a:t> A model with </a:t>
            </a:r>
            <a:r>
              <a:rPr sz="2000">
                <a:solidFill>
                  <a:srgbClr val="C60C30"/>
                </a:solidFill>
                <a:latin typeface="Book Antiqua"/>
                <a:ea typeface="Book Antiqua"/>
                <a:cs typeface="Book Antiqua"/>
              </a:rPr>
              <a:t>multiple independent variables</a:t>
            </a:r>
          </a:p>
          <a:p xmlns:a="http://schemas.openxmlformats.org/drawingml/2006/main">
            <a:pPr marL="987425" lvl="2" indent="-187325">
              <a:lnSpc>
                <a:spcPct val="90000"/>
              </a:lnSpc>
              <a:buNone/>
            </a:pPr>
            <a:r>
              <a:rPr sz="1600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App Sales = f(</a:t>
            </a:r>
            <a:r>
              <a:rPr sz="1600" i="1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Price, </a:t>
            </a:r>
            <a:r>
              <a:rPr sz="1600" i="1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Review_Score</a:t>
            </a:r>
            <a:r>
              <a:rPr sz="1600" i="1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, </a:t>
            </a:r>
            <a:r>
              <a:rPr sz="1600" i="1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Review_Volume</a:t>
            </a:r>
            <a:r>
              <a:rPr sz="1600" i="1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, </a:t>
            </a:r>
            <a:r>
              <a:rPr sz="1600">
                <a:solidFill>
                  <a:srgbClr val="000099"/>
                </a:solidFill>
                <a:latin typeface="Book Antiqua"/>
                <a:ea typeface="Book Antiqua"/>
                <a:cs typeface="Book Antiqua"/>
              </a:rPr>
              <a:t>…)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9DDCFCB-FD19-4D8B-ABB9-B549A493D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" name="korean-footer-10">
            <a:extLst xmlns:a="http://schemas.openxmlformats.org/drawingml/2006/main">
              <a:ext uri="{FF2B5EF4-FFF2-40B4-BE49-F238E27FC236}">
                <a16:creationId xmlns:a16="http://schemas.microsoft.com/office/drawing/2014/main" id="{93BF0A4D-13AE-494A-A578-328634B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KMB689 용어: 단순회귀 모형은 독립변수 1개, 다중회귀 모형은 독립변수 여러 개를 둔다.</a:t>
            </a:r>
          </a:p>
        </p:txBody>
      </p:sp>
    </p:spTree>
    <p:extLst>
      <p:ext uri="{BB962C8B-B14F-4D97-AF65-F5344CB8AC3E}">
        <p14:creationId xmlns:p14="http://schemas.microsoft.com/office/powerpoint/2010/main" val="3472991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11">
            <a:extLst xmlns:a="http://schemas.openxmlformats.org/drawingml/2006/main">
              <a:ext uri="{FF2B5EF4-FFF2-40B4-BE49-F238E27FC236}">
                <a16:creationId xmlns:a16="http://schemas.microsoft.com/office/drawing/2014/main" id="{605C0EE9-A1F9-49DC-B99D-A6EB81BA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READING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9579EC03-0EE2-4882-AAF4-CF0DFA5C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계수 읽기</a:t>
            </a:r>
          </a:p>
        </p:txBody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657D2497-DA6C-4108-9421-43A3A56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9057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00250"/>
                <a:gridCol w="1809750"/>
                <a:gridCol w="2095500"/>
              </a:tblGrid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Estimate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Standard Error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 Value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P-value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계수의 부호·크기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추정의 불확실성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계수/표준오차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우연과 구분할 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efficient-question">
            <a:extLst xmlns:a="http://schemas.openxmlformats.org/drawingml/2006/main">
              <a:ext uri="{FF2B5EF4-FFF2-40B4-BE49-F238E27FC236}">
                <a16:creationId xmlns:a16="http://schemas.microsoft.com/office/drawing/2014/main" id="{E647A83D-A236-4662-9E89-B78A4766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714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먼저 부호를 읽고, 그다음 유의성을 확인한다</a:t>
            </a:r>
          </a:p>
        </p:txBody>
      </p:sp>
      <p:sp>
        <p:nvSpPr>
          <p:cNvPr id="6" name="coefficient-question-detail">
            <a:extLst xmlns:a="http://schemas.openxmlformats.org/drawingml/2006/main">
              <a:ext uri="{FF2B5EF4-FFF2-40B4-BE49-F238E27FC236}">
                <a16:creationId xmlns:a16="http://schemas.microsoft.com/office/drawing/2014/main" id="{3226A093-B2FC-4A38-BF7E-B20590EC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부호가 사업 상식에 맞는가. 우연이 아니라고 볼 근거가 있는가.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2">
            <a:extLst xmlns:a="http://schemas.openxmlformats.org/drawingml/2006/main">
              <a:ext uri="{FF2B5EF4-FFF2-40B4-BE49-F238E27FC236}">
                <a16:creationId xmlns:a16="http://schemas.microsoft.com/office/drawing/2014/main" id="{C43743FA-20AF-425B-A88A-68F94592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READING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1307428-2C3A-4C7A-86B8-115605D8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p-value와 유의수준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003F4261-ABE4-48E2-BE41-6FFE30FE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62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p-value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Significance Level (α)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관측한 결과가 우연한 잡음만으로 나올 가능성을 읽는 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 전에 정하는 판단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작을수록 귀무가설과 양립하기 어려움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흔히 α = 0.05를 사용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pvalue-caution">
            <a:extLst xmlns:a="http://schemas.openxmlformats.org/drawingml/2006/main">
              <a:ext uri="{FF2B5EF4-FFF2-40B4-BE49-F238E27FC236}">
                <a16:creationId xmlns:a16="http://schemas.microsoft.com/office/drawing/2014/main" id="{6BCA6075-5DDC-447B-BA47-1EAD123D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p-value는 효과의 크기나 사업 가치를 대신하지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3">
            <a:extLst xmlns:a="http://schemas.openxmlformats.org/drawingml/2006/main">
              <a:ext uri="{FF2B5EF4-FFF2-40B4-BE49-F238E27FC236}">
                <a16:creationId xmlns:a16="http://schemas.microsoft.com/office/drawing/2014/main" id="{D5D32C8D-76E8-43C2-BBA4-B0E96DD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READING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4CF56679-957D-455B-9833-09F5B264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별표와 n.s.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FED0842B-DDAD-42F2-BAFD-E5F5F6E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238250" y="152400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286000"/>
                <a:gridCol w="1809750"/>
              </a:tblGrid>
              <a:tr h="6858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p-value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유의수준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표기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6858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 ≤ 0.001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0.001 &lt; p ≤ 0.01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6858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0.01 &lt; p ≤ 0.05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 &lt; p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유의하지 않음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n.s.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tars-source">
            <a:extLst xmlns:a="http://schemas.openxmlformats.org/drawingml/2006/main">
              <a:ext uri="{FF2B5EF4-FFF2-40B4-BE49-F238E27FC236}">
                <a16:creationId xmlns:a16="http://schemas.microsoft.com/office/drawing/2014/main" id="{11AB6535-A777-4B9D-9E9C-33800837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*** = 0.1%, ** = 1%, * = 5%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80BA0B-0A76-45B4-879B-C633EC256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8032" y="44624"/>
            <a:ext cx="7772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R-squared Value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8304DD7-DE1A-427D-A123-BAF8DB79F1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1784" y="1063824"/>
            <a:ext cx="8134672" cy="4813448"/>
          </a:xfrm>
        </p:spPr>
        <p:txBody>
          <a:bodyPr xmlns:a="http://schemas.openxmlformats.org/drawingml/2006/main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t>Identify </a:t>
            </a:r>
            <a:r>
              <a:rPr u="sng"/>
              <a:t>how well the model represent a relationship between the DV and IV</a:t>
            </a:r>
          </a:p>
          <a:p xmlns:a="http://schemas.openxmlformats.org/drawingml/2006/main">
            <a:r>
              <a:rPr i="1"/>
              <a:t>R</a:t>
            </a:r>
            <a:r>
              <a:t>2</a:t>
            </a:r>
            <a:r>
              <a:t> is called the coefficient of determination.</a:t>
            </a:r>
          </a:p>
          <a:p xmlns:a="http://schemas.openxmlformats.org/drawingml/2006/main">
            <a:pPr lvl="1">
              <a:buNone/>
            </a:pPr>
            <a:r>
              <a:rPr>
                <a:solidFill>
                  <a:srgbClr val="FF0000"/>
                </a:solidFill>
              </a:rPr>
              <a:t>Measures how the estimated coefficients can determine  the relationship between the DV and IV </a:t>
            </a:r>
          </a:p>
          <a:p xmlns:a="http://schemas.openxmlformats.org/drawingml/2006/main">
            <a:pPr lvl="1">
              <a:buNone/>
            </a:pPr>
            <a:r>
              <a:rPr>
                <a:solidFill>
                  <a:srgbClr val="FF0000"/>
                </a:solidFill>
              </a:rPr>
              <a:t>Indicates the portion of the variance in the dependant variable that is predictable from the independent variable(s)</a:t>
            </a:r>
          </a:p>
          <a:p xmlns:a="http://schemas.openxmlformats.org/drawingml/2006/main">
            <a:r>
              <a:rPr i="1"/>
              <a:t>R</a:t>
            </a:r>
            <a:r>
              <a:rPr i="1"/>
              <a:t>2</a:t>
            </a:r>
            <a:r>
              <a:t> </a:t>
            </a:r>
            <a:r>
              <a:t>measures </a:t>
            </a:r>
            <a:r>
              <a:t>how close the data is to the fitted regression line. </a:t>
            </a:r>
            <a:endParaRPr/>
          </a:p>
          <a:p xmlns:a="http://schemas.openxmlformats.org/drawingml/2006/main">
            <a:r>
              <a:rPr i="1"/>
              <a:t>R</a:t>
            </a:r>
            <a:r>
              <a:rPr i="1"/>
              <a:t>2</a:t>
            </a:r>
            <a:r>
              <a:t> </a:t>
            </a:r>
            <a:r>
              <a:t>takes on any value between zero and one.</a:t>
            </a:r>
          </a:p>
          <a:p xmlns:a="http://schemas.openxmlformats.org/drawingml/2006/main">
            <a:pPr lvl="1">
              <a:buFontTx/>
              <a:buNone/>
            </a:pPr>
            <a:r>
              <a:rPr i="1"/>
              <a:t>R</a:t>
            </a:r>
            <a:r>
              <a:rPr i="1"/>
              <a:t>2</a:t>
            </a:r>
            <a:r>
              <a:rPr i="1"/>
              <a:t> </a:t>
            </a:r>
            <a:r>
              <a:t>= 1: Perfect match between the line and the data points.</a:t>
            </a:r>
          </a:p>
          <a:p xmlns:a="http://schemas.openxmlformats.org/drawingml/2006/main">
            <a:pPr lvl="1">
              <a:buFontTx/>
              <a:buNone/>
            </a:pPr>
            <a:r>
              <a:rPr i="1"/>
              <a:t>R</a:t>
            </a:r>
            <a:r>
              <a:rPr i="1"/>
              <a:t>2</a:t>
            </a:r>
            <a:r>
              <a:rPr i="1"/>
              <a:t> </a:t>
            </a:r>
            <a:r>
              <a:t>= 0: There are no linear relationship between x and y.</a:t>
            </a:r>
          </a:p>
          <a:p xmlns:a="http://schemas.openxmlformats.org/drawingml/2006/main">
            <a:endParaRPr/>
          </a:p>
        </p:txBody>
      </p:sp>
      <p:sp>
        <p:nvSpPr>
          <p:cNvPr id="4" name="number-14">
            <a:extLst xmlns:a="http://schemas.openxmlformats.org/drawingml/2006/main">
              <a:ext uri="{FF2B5EF4-FFF2-40B4-BE49-F238E27FC236}">
                <a16:creationId xmlns:a16="http://schemas.microsoft.com/office/drawing/2014/main" id="{34FB27E1-D6CD-4BA8-9D60-BB7A1974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korean-footer-14">
            <a:extLst xmlns:a="http://schemas.openxmlformats.org/drawingml/2006/main">
              <a:ext uri="{FF2B5EF4-FFF2-40B4-BE49-F238E27FC236}">
                <a16:creationId xmlns:a16="http://schemas.microsoft.com/office/drawing/2014/main" id="{5C83A2D6-18B6-4FCC-99B0-2DF003FA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70%Explained by IV’s · 30%Not explained by IV’s · KMB689 용어: 결정계수</a:t>
            </a:r>
          </a:p>
        </p:txBody>
      </p:sp>
    </p:spTree>
    <p:extLst>
      <p:ext uri="{BB962C8B-B14F-4D97-AF65-F5344CB8AC3E}">
        <p14:creationId xmlns:p14="http://schemas.microsoft.com/office/powerpoint/2010/main" val="35480753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5">
            <a:extLst xmlns:a="http://schemas.openxmlformats.org/drawingml/2006/main">
              <a:ext uri="{FF2B5EF4-FFF2-40B4-BE49-F238E27FC236}">
                <a16:creationId xmlns:a16="http://schemas.microsoft.com/office/drawing/2014/main" id="{0A39B6D3-7EA1-41B5-A19F-C7558AA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LURE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88A9829B-AF66-4F42-B5BC-CEF08D15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R²가 높은 분석</a:t>
            </a:r>
          </a:p>
        </p:txBody>
      </p:sp>
      <p:sp>
        <p:nvSpPr>
          <p:cNvPr id="3" name="number-15">
            <a:extLst xmlns:a="http://schemas.openxmlformats.org/drawingml/2006/main">
              <a:ext uri="{FF2B5EF4-FFF2-40B4-BE49-F238E27FC236}">
                <a16:creationId xmlns:a16="http://schemas.microsoft.com/office/drawing/2014/main" id="{9A3DBE5E-2354-4D85-88FB-CA8D0B6B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r2-lure">
            <a:extLst xmlns:a="http://schemas.openxmlformats.org/drawingml/2006/main">
              <a:ext uri="{FF2B5EF4-FFF2-40B4-BE49-F238E27FC236}">
                <a16:creationId xmlns:a16="http://schemas.microsoft.com/office/drawing/2014/main" id="{441F2F3C-8C69-403D-9E18-BC11129B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C49000"/>
                </a:solidFill>
                <a:latin typeface="Apple SD Gothic Neo"/>
                <a:ea typeface="Apple SD Gothic Neo"/>
                <a:cs typeface="Apple SD Gothic Neo"/>
              </a:rPr>
              <a:t>R²가 높다</a:t>
            </a:r>
          </a:p>
        </p:txBody>
      </p:sp>
      <p:sp>
        <p:nvSpPr>
          <p:cNvPr id="5" name="r2-lure-detail">
            <a:extLst xmlns:a="http://schemas.openxmlformats.org/drawingml/2006/main">
              <a:ext uri="{FF2B5EF4-FFF2-40B4-BE49-F238E27FC236}">
                <a16:creationId xmlns:a16="http://schemas.microsoft.com/office/drawing/2014/main" id="{1FD6CBBD-FDBF-4A87-96EA-05A7FAE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설명력이 높다는 뜻이다. 비교가 적절한지, 종합 숫자를 분해했는지까지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16">
            <a:extLst xmlns:a="http://schemas.openxmlformats.org/drawingml/2006/main">
              <a:ext uri="{FF2B5EF4-FFF2-40B4-BE49-F238E27FC236}">
                <a16:creationId xmlns:a16="http://schemas.microsoft.com/office/drawing/2014/main" id="{5E87CBDA-6B5A-4C75-AA32-78A91DB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EXAMPLE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6C14C2CB-5C0E-46B5-BA5D-D65BDE55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MobileApp 읽기 예시</a:t>
            </a:r>
          </a:p>
        </p:txBody>
      </p:sp>
      <p:sp>
        <p:nvSpPr>
          <p:cNvPr id="3" name="number-16">
            <a:extLst xmlns:a="http://schemas.openxmlformats.org/drawingml/2006/main">
              <a:ext uri="{FF2B5EF4-FFF2-40B4-BE49-F238E27FC236}">
                <a16:creationId xmlns:a16="http://schemas.microsoft.com/office/drawing/2014/main" id="{40A22453-31FA-41B0-9F06-DBE503D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9D119E0-4D63-40E8-B488-2EF8A0B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062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Multiple Liner Regression Model on Mobile App Sales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7620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11906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종속변수(결과변수)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독립변수(설명변수)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906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순위가 좋을수록 큰 값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−log(Rank)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Price · Screenshots · Rating_Score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log(Rating_Num) · Category dummies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xample-rule">
            <a:extLst xmlns:a="http://schemas.openxmlformats.org/drawingml/2006/main">
              <a:ext uri="{FF2B5EF4-FFF2-40B4-BE49-F238E27FC236}">
                <a16:creationId xmlns:a16="http://schemas.microsoft.com/office/drawing/2014/main" id="{48E3D2B1-D0F4-4001-B960-A205BD0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코드를 쓰지 않고 출력표의 부호·유의성·결정계수를 읽는다.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979766C-D57E-47AB-869F-65A25D4813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32256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4BCFCF-6BE5-415A-A714-501545CFE759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180404" y="692658"/>
            <a:ext cx="8961120" cy="288036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514350" indent="-457200">
              <a:buNone/>
            </a:pPr>
            <a:r>
              <a:rPr sz="2000"/>
              <a:t>Regression Model </a:t>
            </a:r>
          </a:p>
          <a:p xmlns:a="http://schemas.openxmlformats.org/drawingml/2006/main">
            <a:pPr marL="457200" lvl="1" indent="0">
              <a:buNone/>
            </a:pPr>
            <a:r>
              <a:rPr sz="2400"/>
              <a:t>-log(</a:t>
            </a:r>
            <a:r>
              <a:rPr sz="2400" i="1"/>
              <a:t>Rank</a:t>
            </a:r>
            <a:r>
              <a:rPr sz="2400"/>
              <a:t>) = β</a:t>
            </a:r>
            <a:r>
              <a:rPr sz="2400"/>
              <a:t>0</a:t>
            </a:r>
            <a:r>
              <a:rPr sz="2400"/>
              <a:t> + β</a:t>
            </a:r>
            <a:r>
              <a:rPr sz="2400"/>
              <a:t>1</a:t>
            </a:r>
            <a:r>
              <a:rPr sz="2400" i="1"/>
              <a:t>Price</a:t>
            </a:r>
            <a:r>
              <a:rPr sz="2400"/>
              <a:t>+ β</a:t>
            </a:r>
            <a:r>
              <a:rPr sz="2400"/>
              <a:t>2</a:t>
            </a:r>
            <a:r>
              <a:rPr sz="2400" i="1"/>
              <a:t>Screenshots</a:t>
            </a:r>
            <a:r>
              <a:rPr sz="2400"/>
              <a:t> </a:t>
            </a:r>
          </a:p>
          <a:p xmlns:a="http://schemas.openxmlformats.org/drawingml/2006/main">
            <a:pPr marL="0" lvl="0" indent="0">
              <a:buNone/>
            </a:pPr>
            <a:r>
              <a:rPr sz="2400"/>
              <a:t>                            + β</a:t>
            </a:r>
            <a:r>
              <a:rPr sz="2400"/>
              <a:t>3</a:t>
            </a:r>
            <a:r>
              <a:rPr sz="2400" i="1"/>
              <a:t>Rating_Score </a:t>
            </a:r>
            <a:r>
              <a:rPr sz="2400"/>
              <a:t>+ β</a:t>
            </a:r>
            <a:r>
              <a:rPr sz="2400"/>
              <a:t>4</a:t>
            </a:r>
            <a:r>
              <a:rPr sz="2400"/>
              <a:t>log(</a:t>
            </a:r>
            <a:r>
              <a:rPr sz="2400" i="1"/>
              <a:t>Rating_Num</a:t>
            </a:r>
            <a:r>
              <a:rPr sz="2400"/>
              <a:t>) </a:t>
            </a:r>
          </a:p>
          <a:p xmlns:a="http://schemas.openxmlformats.org/drawingml/2006/main">
            <a:pPr marL="0" lvl="0" indent="0">
              <a:buNone/>
            </a:pPr>
            <a:r>
              <a:rPr sz="2400"/>
              <a:t>                            + β</a:t>
            </a:r>
            <a:r>
              <a:rPr sz="2400"/>
              <a:t>5</a:t>
            </a:r>
            <a:r>
              <a:rPr sz="2400" i="1"/>
              <a:t>Business</a:t>
            </a:r>
            <a:r>
              <a:rPr sz="2400"/>
              <a:t> + β</a:t>
            </a:r>
            <a:r>
              <a:rPr sz="2400"/>
              <a:t>6</a:t>
            </a:r>
            <a:r>
              <a:rPr sz="2400" i="1"/>
              <a:t>Finance</a:t>
            </a:r>
            <a:r>
              <a:rPr sz="2400"/>
              <a:t> + β</a:t>
            </a:r>
            <a:r>
              <a:rPr sz="2400"/>
              <a:t>7</a:t>
            </a:r>
            <a:r>
              <a:rPr sz="2400" i="1"/>
              <a:t>Health </a:t>
            </a:r>
            <a:r>
              <a:rPr sz="2400"/>
              <a:t>+ β</a:t>
            </a:r>
            <a:r>
              <a:rPr sz="2400"/>
              <a:t>8</a:t>
            </a:r>
            <a:r>
              <a:rPr sz="2400" i="1"/>
              <a:t>Utlilities</a:t>
            </a:r>
            <a:r>
              <a:rPr sz="2400"/>
              <a:t> </a:t>
            </a:r>
          </a:p>
          <a:p xmlns:a="http://schemas.openxmlformats.org/drawingml/2006/main">
            <a:pPr marL="0" lvl="0" indent="0">
              <a:buNone/>
            </a:pPr>
            <a:r>
              <a:rPr sz="2400"/>
              <a:t>                            + </a:t>
            </a:r>
            <a:r>
              <a:rPr sz="2400" i="1"/>
              <a:t>ε </a:t>
            </a:r>
          </a:p>
          <a:p xmlns:a="http://schemas.openxmlformats.org/drawingml/2006/main">
            <a:pPr marL="514350" lvl="0" indent="-457200">
              <a:buNone/>
            </a:pPr>
            <a:r>
              <a:rPr sz="2000"/>
              <a:t>Estimation Output</a:t>
            </a:r>
          </a:p>
          <a:p xmlns:a="http://schemas.openxmlformats.org/drawingml/2006/main">
            <a:pPr marL="0" lvl="0" indent="0">
              <a:buNone/>
            </a:pPr>
            <a:endParaRPr sz="2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>
              <a:buNone/>
            </a:pPr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7C8B900-4DDE-4B01-8FDC-81875621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8" y="116632"/>
            <a:ext cx="8795320" cy="650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spcBef>
                <a:spcPct val="0"/>
              </a:spcBef>
              <a:spcAft>
                <a:spcPct val="0"/>
              </a:spcAft>
              <a:buNone/>
              <a:defRPr sz="3600" b="1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defRPr>
            </a:lvl5pPr>
            <a:lvl6pPr marL="4572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6pPr>
            <a:lvl7pPr marL="9144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7pPr>
            <a:lvl8pPr marL="13716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8pPr>
            <a:lvl9pPr marL="1828800" algn="l">
              <a:spcBef>
                <a:spcPct val="0"/>
              </a:spcBef>
              <a:spcAft>
                <a:spcPct val="0"/>
              </a:spcAft>
              <a:buNone/>
              <a:defRPr sz="3200" b="1">
                <a:solidFill>
                  <a:schemeClr val="tx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rPr sz="2800"/>
              <a:t>Multiple Liner Regression Model on </a:t>
            </a:r>
            <a:r>
              <a:rPr sz="2800" i="1"/>
              <a:t>Mobile App Sales</a:t>
            </a:r>
            <a:br/>
            <a:endParaRPr sz="2800" kern="0" baseline="0"/>
          </a:p>
        </p:txBody>
      </p:sp>
      <p:pic>
        <p:nvPicPr>
          <p:cNvPr id="32256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3ec74e1054d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323" y="3501008"/>
            <a:ext cx="6704013" cy="273630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27834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8">
            <a:extLst xmlns:a="http://schemas.openxmlformats.org/drawingml/2006/main">
              <a:ext uri="{FF2B5EF4-FFF2-40B4-BE49-F238E27FC236}">
                <a16:creationId xmlns:a16="http://schemas.microsoft.com/office/drawing/2014/main" id="{0CB53437-BC38-4523-9677-FCD10E08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EXAMPLE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C38EBB70-E968-49F0-A375-D4613DAB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MobileApp 계수의 부호</a:t>
            </a:r>
          </a:p>
        </p:txBody>
      </p:sp>
      <p:sp>
        <p:nvSpPr>
          <p:cNvPr id="3" name="number-18">
            <a:extLst xmlns:a="http://schemas.openxmlformats.org/drawingml/2006/main">
              <a:ext uri="{FF2B5EF4-FFF2-40B4-BE49-F238E27FC236}">
                <a16:creationId xmlns:a16="http://schemas.microsoft.com/office/drawing/2014/main" id="{1111044E-C4A7-46B9-8B3C-95F8BF8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model-line">
            <a:extLst xmlns:a="http://schemas.openxmlformats.org/drawingml/2006/main">
              <a:ext uri="{FF2B5EF4-FFF2-40B4-BE49-F238E27FC236}">
                <a16:creationId xmlns:a16="http://schemas.microsoft.com/office/drawing/2014/main" id="{72CA9AEF-E4D3-4EB3-BACF-9C7A5DD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620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-ln(Rank) = -6.556***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8096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428750"/>
                <a:gridCol w="1238250"/>
                <a:gridCol w="3429000"/>
              </a:tblGrid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설명변수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별표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첫 읽기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−0.009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n.s.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뚜렷한 관계를 말하기 어려움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Screenshots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+0.084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스크린샷 수와 순위 점수의 양의 관계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Rating_Score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+0.038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n.s.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평점만의 효과를 말하기 어려움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log(Rating_Num)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+0.152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리뷰 수와 순위 점수의 양의 관계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19">
            <a:extLst xmlns:a="http://schemas.openxmlformats.org/drawingml/2006/main">
              <a:ext uri="{FF2B5EF4-FFF2-40B4-BE49-F238E27FC236}">
                <a16:creationId xmlns:a16="http://schemas.microsoft.com/office/drawing/2014/main" id="{D3803FA3-BE9F-4C58-A151-29177CCC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EXAMPLE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82F291F1-93FC-4902-AC3E-C428EB18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유의하지 않은 변수</a:t>
            </a:r>
          </a:p>
        </p:txBody>
      </p:sp>
      <p:sp>
        <p:nvSpPr>
          <p:cNvPr id="3" name="number-19">
            <a:extLst xmlns:a="http://schemas.openxmlformats.org/drawingml/2006/main">
              <a:ext uri="{FF2B5EF4-FFF2-40B4-BE49-F238E27FC236}">
                <a16:creationId xmlns:a16="http://schemas.microsoft.com/office/drawing/2014/main" id="{D87F5DAF-DCE5-4C82-BCD8-B534D62B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28625" y="1714500"/>
          <a:ext xmlns:a="http://schemas.openxmlformats.org/drawingml/2006/main" cx="82867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619250"/>
                <a:gridCol w="2524125"/>
                <a:gridCol w="2524125"/>
              </a:tblGrid>
              <a:tr h="10001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출력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허용되는 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허용되지 않는 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001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−0.009 · n.s.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가격 효과를 말할 근거가 부족하다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가격을 낮추면 순위가 오른다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Rating_Score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+0.038 · p≈0.14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평점만의 효과를 말하기 어렵다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평점을 올리면 순위가 오른다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ns-rule">
            <a:extLst xmlns:a="http://schemas.openxmlformats.org/drawingml/2006/main">
              <a:ext uri="{FF2B5EF4-FFF2-40B4-BE49-F238E27FC236}">
                <a16:creationId xmlns:a16="http://schemas.microsoft.com/office/drawing/2014/main" id="{1F37FA54-3EFD-443E-88E7-B0C1ECDD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n.s.이면 효과가 있다고 말할 수 없다</a:t>
            </a:r>
          </a:p>
        </p:txBody>
      </p:sp>
      <p:sp>
        <p:nvSpPr>
          <p:cNvPr id="6" name="ns-rule-detail">
            <a:extLst xmlns:a="http://schemas.openxmlformats.org/drawingml/2006/main">
              <a:ext uri="{FF2B5EF4-FFF2-40B4-BE49-F238E27FC236}">
                <a16:creationId xmlns:a16="http://schemas.microsoft.com/office/drawing/2014/main" id="{1C8439BF-D0EE-4EF5-9FA5-D5CBE6F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0이라는 뜻도 아니다. 현재 출력으로 효과를 주장할 근거가 부족하다는 뜻이다.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20">
            <a:extLst xmlns:a="http://schemas.openxmlformats.org/drawingml/2006/main">
              <a:ext uri="{FF2B5EF4-FFF2-40B4-BE49-F238E27FC236}">
                <a16:creationId xmlns:a16="http://schemas.microsoft.com/office/drawing/2014/main" id="{42F6E9A6-2562-4340-8D87-CD5039B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EXAMPLE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B034D04B-6CB0-4E91-9C02-0727126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R² ≈ 0.14</a:t>
            </a:r>
          </a:p>
        </p:txBody>
      </p:sp>
      <p:sp>
        <p:nvSpPr>
          <p:cNvPr id="3" name="number-20">
            <a:extLst xmlns:a="http://schemas.openxmlformats.org/drawingml/2006/main">
              <a:ext uri="{FF2B5EF4-FFF2-40B4-BE49-F238E27FC236}">
                <a16:creationId xmlns:a16="http://schemas.microsoft.com/office/drawing/2014/main" id="{71F18265-635F-4324-BCDC-00522A2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r2-value">
            <a:extLst xmlns:a="http://schemas.openxmlformats.org/drawingml/2006/main">
              <a:ext uri="{FF2B5EF4-FFF2-40B4-BE49-F238E27FC236}">
                <a16:creationId xmlns:a16="http://schemas.microsoft.com/office/drawing/2014/main" id="{844CE23E-7CE8-42F9-ADC1-EF2DD9E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14% 설명</a:t>
            </a:r>
          </a:p>
        </p:txBody>
      </p:sp>
      <p:sp>
        <p:nvSpPr>
          <p:cNvPr id="5" name="r2-value-detail">
            <a:extLst xmlns:a="http://schemas.openxmlformats.org/drawingml/2006/main">
              <a:ext uri="{FF2B5EF4-FFF2-40B4-BE49-F238E27FC236}">
                <a16:creationId xmlns:a16="http://schemas.microsoft.com/office/drawing/2014/main" id="{8F331B70-9C10-464B-9977-7D5028F7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나머지 86%는 모형 밖 요인에 남는다. ‘모형이 14%만 맞다’는 뜻이 아니다.</a:t>
            </a:r>
          </a:p>
        </p:txBody>
      </p:sp>
      <p:sp>
        <p:nvSpPr>
          <p:cNvPr id="6" name="source-token">
            <a:extLst xmlns:a="http://schemas.openxmlformats.org/drawingml/2006/main">
              <a:ext uri="{FF2B5EF4-FFF2-40B4-BE49-F238E27FC236}">
                <a16:creationId xmlns:a16="http://schemas.microsoft.com/office/drawing/2014/main" id="{7F8E660A-588D-4AB2-A9AD-8791751A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Predicted Model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21">
            <a:extLst xmlns:a="http://schemas.openxmlformats.org/drawingml/2006/main">
              <a:ext uri="{FF2B5EF4-FFF2-40B4-BE49-F238E27FC236}">
                <a16:creationId xmlns:a16="http://schemas.microsoft.com/office/drawing/2014/main" id="{33707C51-C1E8-417B-8DFE-3A5AFF5D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MULTIPLE REGRESSION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4EBB19D5-19F0-4394-83F4-E4AFDEC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다중회귀 모형</a:t>
            </a:r>
          </a:p>
        </p:txBody>
      </p:sp>
      <p:sp>
        <p:nvSpPr>
          <p:cNvPr id="3" name="number-21">
            <a:extLst xmlns:a="http://schemas.openxmlformats.org/drawingml/2006/main">
              <a:ext uri="{FF2B5EF4-FFF2-40B4-BE49-F238E27FC236}">
                <a16:creationId xmlns:a16="http://schemas.microsoft.com/office/drawing/2014/main" id="{F8BBF113-C59C-42F8-9E5F-DCFE88C2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holding-constant">
            <a:extLst xmlns:a="http://schemas.openxmlformats.org/drawingml/2006/main">
              <a:ext uri="{FF2B5EF4-FFF2-40B4-BE49-F238E27FC236}">
                <a16:creationId xmlns:a16="http://schemas.microsoft.com/office/drawing/2014/main" id="{EC268734-7741-4196-BBC8-3A15ED49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3478"/>
                </a:solidFill>
                <a:latin typeface="Helvetica Neue"/>
                <a:ea typeface="Helvetica Neue"/>
                <a:cs typeface="Helvetica Neue"/>
              </a:rPr>
              <a:t>if all other variables in the model are held constant.</a:t>
            </a:r>
          </a:p>
        </p:txBody>
      </p:sp>
      <p:sp>
        <p:nvSpPr>
          <p:cNvPr id="5" name="holding-constant-detail">
            <a:extLst xmlns:a="http://schemas.openxmlformats.org/drawingml/2006/main">
              <a:ext uri="{FF2B5EF4-FFF2-40B4-BE49-F238E27FC236}">
                <a16:creationId xmlns:a16="http://schemas.microsoft.com/office/drawing/2014/main" id="{69580165-7FC7-4564-9237-E4684B86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다른 독립변수의 값을 같게 둔 상태에서 한 계수의 관계를 읽는다.</a:t>
            </a:r>
          </a:p>
        </p:txBody>
      </p:sp>
      <p:sp>
        <p:nvSpPr>
          <p:cNvPr id="6" name="multiple-formula">
            <a:extLst xmlns:a="http://schemas.openxmlformats.org/drawingml/2006/main">
              <a:ext uri="{FF2B5EF4-FFF2-40B4-BE49-F238E27FC236}">
                <a16:creationId xmlns:a16="http://schemas.microsoft.com/office/drawing/2014/main" id="{5E536D87-A652-47DA-9136-6ABDCB52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Y = β₀ + β₁X + β₂W + β₃Z + ε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2">
            <a:extLst xmlns:a="http://schemas.openxmlformats.org/drawingml/2006/main">
              <a:ext uri="{FF2B5EF4-FFF2-40B4-BE49-F238E27FC236}">
                <a16:creationId xmlns:a16="http://schemas.microsoft.com/office/drawing/2014/main" id="{1428375B-8FD4-4069-AE8D-687DF88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BASELINE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E0B0B41F-CBC8-45EF-A3F4-F9174FB7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더미변수와 기준 범주</a:t>
            </a:r>
          </a:p>
        </p:txBody>
      </p:sp>
      <p:sp>
        <p:nvSpPr>
          <p:cNvPr id="3" name="number-22">
            <a:extLst xmlns:a="http://schemas.openxmlformats.org/drawingml/2006/main">
              <a:ext uri="{FF2B5EF4-FFF2-40B4-BE49-F238E27FC236}">
                <a16:creationId xmlns:a16="http://schemas.microsoft.com/office/drawing/2014/main" id="{9042A0E3-B7FB-47DC-B8FD-E568D24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47750" y="1666875"/>
          <a:ext xmlns:a="http://schemas.openxmlformats.org/drawingml/2006/main" cx="704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381250"/>
                <a:gridCol w="2571750"/>
              </a:tblGrid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범주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더미 값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회귀표에서의 역할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모든 category dummy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 범주(baseline)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Business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Business = 1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 대비 차이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33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Utilities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Utilities =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 대비 차이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0F9EB775-4E20-41C4-B107-101DE92C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기준이 무엇인지 모르면 카테고리 계수를 잘못 읽는다.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3">
            <a:extLst xmlns:a="http://schemas.openxmlformats.org/drawingml/2006/main">
              <a:ext uri="{FF2B5EF4-FFF2-40B4-BE49-F238E27FC236}">
                <a16:creationId xmlns:a16="http://schemas.microsoft.com/office/drawing/2014/main" id="{AF6B200B-C707-4129-8DFD-6D8B0FAC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BASELINE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5709B1F6-D1B1-44FF-9F09-AF126D2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기준 대비 차이</a:t>
            </a:r>
          </a:p>
        </p:txBody>
      </p:sp>
      <p:sp>
        <p:nvSpPr>
          <p:cNvPr id="3" name="number-23">
            <a:extLst xmlns:a="http://schemas.openxmlformats.org/drawingml/2006/main">
              <a:ext uri="{FF2B5EF4-FFF2-40B4-BE49-F238E27FC236}">
                <a16:creationId xmlns:a16="http://schemas.microsoft.com/office/drawing/2014/main" id="{68FB6BA4-6890-40FC-BBE3-2D85732C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571625" y="1476375"/>
          <a:ext xmlns:a="http://schemas.openxmlformats.org/drawingml/2006/main" cx="6000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809750"/>
                <a:gridCol w="1809750"/>
              </a:tblGrid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카테고리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Business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+0.678 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 대비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Finance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+0.638 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 대비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Health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+0.491 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 대비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Utilities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+0.518 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Games 대비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category-read">
            <a:extLst xmlns:a="http://schemas.openxmlformats.org/drawingml/2006/main">
              <a:ext uri="{FF2B5EF4-FFF2-40B4-BE49-F238E27FC236}">
                <a16:creationId xmlns:a16="http://schemas.microsoft.com/office/drawing/2014/main" id="{3F6E280E-BBEA-4AF7-8150-220F177E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같은 조건에서 해당 카테고리의 순위 점수가 Games와 얼마나 다른지 읽는다.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4">
            <a:extLst xmlns:a="http://schemas.openxmlformats.org/drawingml/2006/main">
              <a:ext uri="{FF2B5EF4-FFF2-40B4-BE49-F238E27FC236}">
                <a16:creationId xmlns:a16="http://schemas.microsoft.com/office/drawing/2014/main" id="{3B64118B-1615-422E-BD80-59CABDF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LOG COEFFICIENT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E15E178C-F1E8-4C1A-B4F3-1C7878D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로그 계수 읽기</a:t>
            </a:r>
          </a:p>
        </p:txBody>
      </p:sp>
      <p:sp>
        <p:nvSpPr>
          <p:cNvPr id="3" name="number-24">
            <a:extLst xmlns:a="http://schemas.openxmlformats.org/drawingml/2006/main">
              <a:ext uri="{FF2B5EF4-FFF2-40B4-BE49-F238E27FC236}">
                <a16:creationId xmlns:a16="http://schemas.microsoft.com/office/drawing/2014/main" id="{BC5CACE2-4CF7-44DB-9320-74BE38E3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28625" y="1666875"/>
          <a:ext xmlns:a="http://schemas.openxmlformats.org/drawingml/2006/main" cx="82867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000250"/>
                <a:gridCol w="1714500"/>
                <a:gridCol w="2762250"/>
              </a:tblGrid>
              <a:tr h="984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종속변수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독립변수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BUSS256 예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읽는 법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84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Log(Sales)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- 0.045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Price 1단위 증가와 Sales 약 4.5% 감소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84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−log(Rank)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log(Rating_Num)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+0.152 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리뷰 수 1% 증가와 순위 점수 약 0.152% 증가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log-correction">
            <a:extLst xmlns:a="http://schemas.openxmlformats.org/drawingml/2006/main">
              <a:ext uri="{FF2B5EF4-FFF2-40B4-BE49-F238E27FC236}">
                <a16:creationId xmlns:a16="http://schemas.microsoft.com/office/drawing/2014/main" id="{999AC4DC-F8E1-434B-A198-3AC09FD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MobileApp의 +0.152는 이 예시의 계수다. 뒤 사례의 계수와 섞지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5">
            <a:extLst xmlns:a="http://schemas.openxmlformats.org/drawingml/2006/main">
              <a:ext uri="{FF2B5EF4-FFF2-40B4-BE49-F238E27FC236}">
                <a16:creationId xmlns:a16="http://schemas.microsoft.com/office/drawing/2014/main" id="{C803F2A1-8AB2-48D2-881E-2CE05A35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TWO JUDGMENTS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4E376E40-AF61-4C5E-B3D8-34BFA6C0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출력표와 인과 판단</a:t>
            </a:r>
          </a:p>
        </p:txBody>
      </p:sp>
      <p:sp>
        <p:nvSpPr>
          <p:cNvPr id="3" name="number-25">
            <a:extLst xmlns:a="http://schemas.openxmlformats.org/drawingml/2006/main">
              <a:ext uri="{FF2B5EF4-FFF2-40B4-BE49-F238E27FC236}">
                <a16:creationId xmlns:a16="http://schemas.microsoft.com/office/drawing/2014/main" id="{9F2257AD-2049-4928-B772-2E68CDD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09625" y="1857375"/>
          <a:ext xmlns:a="http://schemas.openxmlformats.org/drawingml/2006/main" cx="7524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143375"/>
              </a:tblGrid>
              <a:tr h="920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출력표가 주는 것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관리자가 더 물을 것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20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계수·p-value·R²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종합 효과가 어느 경로에서 왔는가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0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관측된 관계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비교한 집단이 원래 달랐는가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judgment-scope">
            <a:extLst xmlns:a="http://schemas.openxmlformats.org/drawingml/2006/main">
              <a:ext uri="{FF2B5EF4-FFF2-40B4-BE49-F238E27FC236}">
                <a16:creationId xmlns:a16="http://schemas.microsoft.com/office/drawing/2014/main" id="{B07F443D-AA29-42D0-A376-7BF154BF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1블록에서는 질문하는 도구만 세운다. 사례의 답은 아직 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6">
            <a:extLst xmlns:a="http://schemas.openxmlformats.org/drawingml/2006/main">
              <a:ext uri="{FF2B5EF4-FFF2-40B4-BE49-F238E27FC236}">
                <a16:creationId xmlns:a16="http://schemas.microsoft.com/office/drawing/2014/main" id="{5E8BF055-387A-462E-8D0E-F7B60A03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DECOMPOSITION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90D56BD0-127B-45CE-85F5-756796B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매출 분해</a:t>
            </a:r>
          </a:p>
        </p:txBody>
      </p:sp>
      <p:sp>
        <p:nvSpPr>
          <p:cNvPr id="3" name="number-26">
            <a:extLst xmlns:a="http://schemas.openxmlformats.org/drawingml/2006/main">
              <a:ext uri="{FF2B5EF4-FFF2-40B4-BE49-F238E27FC236}">
                <a16:creationId xmlns:a16="http://schemas.microsoft.com/office/drawing/2014/main" id="{92E73219-F9EB-4FCE-B26E-BED9CB7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gmv-identity">
            <a:extLst xmlns:a="http://schemas.openxmlformats.org/drawingml/2006/main">
              <a:ext uri="{FF2B5EF4-FFF2-40B4-BE49-F238E27FC236}">
                <a16:creationId xmlns:a16="http://schemas.microsoft.com/office/drawing/2014/main" id="{F63B4EF7-0C05-4837-8368-714ADA4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매출(GMV) = 방문자 수 × 전환율 × 객단가</a:t>
            </a:r>
          </a:p>
        </p:txBody>
      </p:sp>
      <p:sp>
        <p:nvSpPr>
          <p:cNvPr id="5" name="gmv-identity-detail">
            <a:extLst xmlns:a="http://schemas.openxmlformats.org/drawingml/2006/main">
              <a:ext uri="{FF2B5EF4-FFF2-40B4-BE49-F238E27FC236}">
                <a16:creationId xmlns:a16="http://schemas.microsoft.com/office/drawing/2014/main" id="{5232A80C-6804-4C81-AE01-C769E11B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종합 숫자를 세 채널로 열어야 매출이 왜 움직였는지 알 수 있다.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7">
            <a:extLst xmlns:a="http://schemas.openxmlformats.org/drawingml/2006/main">
              <a:ext uri="{FF2B5EF4-FFF2-40B4-BE49-F238E27FC236}">
                <a16:creationId xmlns:a16="http://schemas.microsoft.com/office/drawing/2014/main" id="{7389C4CA-0C8C-4F95-A3AE-7A62C0B5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DECOMPOSITION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54AFFD4A-5FFA-4405-8837-DFF0D935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같은 매출 증가, 다른 경로</a:t>
            </a:r>
          </a:p>
        </p:txBody>
      </p:sp>
      <p:sp>
        <p:nvSpPr>
          <p:cNvPr id="3" name="number-27">
            <a:extLst xmlns:a="http://schemas.openxmlformats.org/drawingml/2006/main">
              <a:ext uri="{FF2B5EF4-FFF2-40B4-BE49-F238E27FC236}">
                <a16:creationId xmlns:a16="http://schemas.microsoft.com/office/drawing/2014/main" id="{5DB273CF-5628-4F4F-BFCA-137650A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8096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762125"/>
                <a:gridCol w="1762125"/>
                <a:gridCol w="1762125"/>
                <a:gridCol w="1666875"/>
              </a:tblGrid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가상 경로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방문자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전환율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객단가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GMV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+15%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 없음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+15%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 없음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+15%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path-question">
            <a:extLst xmlns:a="http://schemas.openxmlformats.org/drawingml/2006/main">
              <a:ext uri="{FF2B5EF4-FFF2-40B4-BE49-F238E27FC236}">
                <a16:creationId xmlns:a16="http://schemas.microsoft.com/office/drawing/2014/main" id="{9C5ACBF5-1563-44A9-86EE-C3FA957C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같은 +15%라도 다음 행동은 같지 않다. 어느 채널을 바꿔야 하는가?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8">
            <a:extLst xmlns:a="http://schemas.openxmlformats.org/drawingml/2006/main">
              <a:ext uri="{FF2B5EF4-FFF2-40B4-BE49-F238E27FC236}">
                <a16:creationId xmlns:a16="http://schemas.microsoft.com/office/drawing/2014/main" id="{632450ED-CDF9-4474-BEA0-AA6CB2A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DECOMPOSITION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DFD12939-EAED-42A0-9782-1286FB7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분해 뒤의 질문</a:t>
            </a:r>
          </a:p>
        </p:txBody>
      </p:sp>
      <p:sp>
        <p:nvSpPr>
          <p:cNvPr id="3" name="number-28">
            <a:extLst xmlns:a="http://schemas.openxmlformats.org/drawingml/2006/main">
              <a:ext uri="{FF2B5EF4-FFF2-40B4-BE49-F238E27FC236}">
                <a16:creationId xmlns:a16="http://schemas.microsoft.com/office/drawing/2014/main" id="{1806D76C-B86F-43C0-BC1A-D2E608F7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4" name="decomp-question">
            <a:extLst xmlns:a="http://schemas.openxmlformats.org/drawingml/2006/main">
              <a:ext uri="{FF2B5EF4-FFF2-40B4-BE49-F238E27FC236}">
                <a16:creationId xmlns:a16="http://schemas.microsoft.com/office/drawing/2014/main" id="{F9D1404B-C9E8-4B21-A54C-1C92A39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셋 중 어디서 움직였는가</a:t>
            </a:r>
          </a:p>
        </p:txBody>
      </p:sp>
      <p:sp>
        <p:nvSpPr>
          <p:cNvPr id="5" name="decomp-question-detail">
            <a:extLst xmlns:a="http://schemas.openxmlformats.org/drawingml/2006/main">
              <a:ext uri="{FF2B5EF4-FFF2-40B4-BE49-F238E27FC236}">
                <a16:creationId xmlns:a16="http://schemas.microsoft.com/office/drawing/2014/main" id="{EA272E3A-E75F-41E9-86CD-E2D86019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방문자가 움직였는가. 전환율이 움직였는가. 객단가가 움직였는가.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그 답이 투자와 메시지를 바꾼다.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29">
            <a:extLst xmlns:a="http://schemas.openxmlformats.org/drawingml/2006/main">
              <a:ext uri="{FF2B5EF4-FFF2-40B4-BE49-F238E27FC236}">
                <a16:creationId xmlns:a16="http://schemas.microsoft.com/office/drawing/2014/main" id="{9A82E4B8-65A1-453B-B152-890D9F91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COMPARISON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26D6E440-27A1-411F-B079-82BC5DF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도입자와 비도입자 비교</a:t>
            </a:r>
          </a:p>
        </p:txBody>
      </p:sp>
      <p:sp>
        <p:nvSpPr>
          <p:cNvPr id="3" name="number-29">
            <a:extLst xmlns:a="http://schemas.openxmlformats.org/drawingml/2006/main">
              <a:ext uri="{FF2B5EF4-FFF2-40B4-BE49-F238E27FC236}">
                <a16:creationId xmlns:a16="http://schemas.microsoft.com/office/drawing/2014/main" id="{4C93D3E8-E5B9-4BEE-9F0B-DD7869A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190625" y="1952625"/>
          <a:ext xmlns:a="http://schemas.openxmlformats.org/drawingml/2006/main" cx="67627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619500"/>
              </a:tblGrid>
              <a:tr h="10001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바로 말할 수 있는가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001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도입자의 성과가 더 높다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도구가 성과를 높였다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mparison-question">
            <a:extLst xmlns:a="http://schemas.openxmlformats.org/drawingml/2006/main">
              <a:ext uri="{FF2B5EF4-FFF2-40B4-BE49-F238E27FC236}">
                <a16:creationId xmlns:a16="http://schemas.microsoft.com/office/drawing/2014/main" id="{250E4051-4867-404B-918E-CFA89D10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도입 전에도 달랐는가</a:t>
            </a:r>
          </a:p>
        </p:txBody>
      </p:sp>
      <p:sp>
        <p:nvSpPr>
          <p:cNvPr id="6" name="comparison-question-detail">
            <a:extLst xmlns:a="http://schemas.openxmlformats.org/drawingml/2006/main">
              <a:ext uri="{FF2B5EF4-FFF2-40B4-BE49-F238E27FC236}">
                <a16:creationId xmlns:a16="http://schemas.microsoft.com/office/drawing/2014/main" id="{07AC2B25-110E-4AE7-A750-4E7EBC8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단순 비교는 도구 효과와 원래 차이를 섞을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0">
            <a:extLst xmlns:a="http://schemas.openxmlformats.org/drawingml/2006/main">
              <a:ext uri="{FF2B5EF4-FFF2-40B4-BE49-F238E27FC236}">
                <a16:creationId xmlns:a16="http://schemas.microsoft.com/office/drawing/2014/main" id="{4C0CBCF1-EFA2-472E-812D-BAB4E2AF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SELF-SELECTION</a:t>
            </a:r>
          </a:p>
        </p:txBody>
      </p:sp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128001E7-E8A9-4CA6-98A8-DFD21077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자발적 선택</a:t>
            </a:r>
          </a:p>
        </p:txBody>
      </p:sp>
      <p:sp>
        <p:nvSpPr>
          <p:cNvPr id="3" name="number-30">
            <a:extLst xmlns:a="http://schemas.openxmlformats.org/drawingml/2006/main">
              <a:ext uri="{FF2B5EF4-FFF2-40B4-BE49-F238E27FC236}">
                <a16:creationId xmlns:a16="http://schemas.microsoft.com/office/drawing/2014/main" id="{14020AC5-1F4F-4391-B58A-6155AAE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4" name="selection">
            <a:extLst xmlns:a="http://schemas.openxmlformats.org/drawingml/2006/main">
              <a:ext uri="{FF2B5EF4-FFF2-40B4-BE49-F238E27FC236}">
                <a16:creationId xmlns:a16="http://schemas.microsoft.com/office/drawing/2014/main" id="{0A30ED1D-9214-44BD-BE32-58F0D169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어떤 판매자가 먼저 도입했는가</a:t>
            </a:r>
          </a:p>
        </p:txBody>
      </p:sp>
      <p:sp>
        <p:nvSpPr>
          <p:cNvPr id="5" name="selection-detail">
            <a:extLst xmlns:a="http://schemas.openxmlformats.org/drawingml/2006/main">
              <a:ext uri="{FF2B5EF4-FFF2-40B4-BE49-F238E27FC236}">
                <a16:creationId xmlns:a16="http://schemas.microsoft.com/office/drawing/2014/main" id="{5EEEB092-D3A7-4D83-9E44-5768CF5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이미 성장세가 높거나 마케팅 역량과 예산이 큰 판매자가 신도구를 먼저 선택할 수 있다.</a:t>
            </a:r>
          </a:p>
        </p:txBody>
      </p:sp>
      <p:sp>
        <p:nvSpPr>
          <p:cNvPr id="6" name="selection-rule">
            <a:extLst xmlns:a="http://schemas.openxmlformats.org/drawingml/2006/main">
              <a:ext uri="{FF2B5EF4-FFF2-40B4-BE49-F238E27FC236}">
                <a16:creationId xmlns:a16="http://schemas.microsoft.com/office/drawing/2014/main" id="{28E055C9-7FB9-4F49-B877-31B372D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도입 후 격차만으로는 도구가 더한 몫을 분리할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1">
            <a:extLst xmlns:a="http://schemas.openxmlformats.org/drawingml/2006/main">
              <a:ext uri="{FF2B5EF4-FFF2-40B4-BE49-F238E27FC236}">
                <a16:creationId xmlns:a16="http://schemas.microsoft.com/office/drawing/2014/main" id="{E34D4C6C-DED7-4229-A929-5E9F5657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COMPARISON TOOL</a:t>
            </a:r>
          </a:p>
        </p:txBody>
      </p:sp>
      <p:sp>
        <p:nvSpPr>
          <p:cNvPr id="2" name="title-31">
            <a:extLst xmlns:a="http://schemas.openxmlformats.org/drawingml/2006/main">
              <a:ext uri="{FF2B5EF4-FFF2-40B4-BE49-F238E27FC236}">
                <a16:creationId xmlns:a16="http://schemas.microsoft.com/office/drawing/2014/main" id="{1000CAE3-D166-450E-B2AB-DAD91A9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차이-내-차이(DID)</a:t>
            </a:r>
          </a:p>
        </p:txBody>
      </p:sp>
      <p:sp>
        <p:nvSpPr>
          <p:cNvPr id="3" name="number-31">
            <a:extLst xmlns:a="http://schemas.openxmlformats.org/drawingml/2006/main">
              <a:ext uri="{FF2B5EF4-FFF2-40B4-BE49-F238E27FC236}">
                <a16:creationId xmlns:a16="http://schemas.microsoft.com/office/drawing/2014/main" id="{31303018-8B9B-4620-A051-8CABA40F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77152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714500"/>
                <a:gridCol w="1714500"/>
                <a:gridCol w="2286000"/>
              </a:tblGrid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그룹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그룹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A₁ − A₀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비도입 그룹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B₁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B₁ − B₀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45344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도구가 더한 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(A₁ − A₀) − (B₁ − B₀)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id-rule">
            <a:extLst xmlns:a="http://schemas.openxmlformats.org/drawingml/2006/main">
              <a:ext uri="{FF2B5EF4-FFF2-40B4-BE49-F238E27FC236}">
                <a16:creationId xmlns:a16="http://schemas.microsoft.com/office/drawing/2014/main" id="{C11B5A67-E8B0-45D9-B669-CE09F9E6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38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직접 계산하지 않는다. 전·후 변화의 차이를 요구할 수 있으면 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2">
            <a:extLst xmlns:a="http://schemas.openxmlformats.org/drawingml/2006/main">
              <a:ext uri="{FF2B5EF4-FFF2-40B4-BE49-F238E27FC236}">
                <a16:creationId xmlns:a16="http://schemas.microsoft.com/office/drawing/2014/main" id="{FC96F361-DD64-481D-8AA4-6FC2141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COMPARISON TOOL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396769E7-EDF0-490B-91D8-E7551FD1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매칭</a:t>
            </a:r>
          </a:p>
        </p:txBody>
      </p:sp>
      <p:sp>
        <p:nvSpPr>
          <p:cNvPr id="3" name="number-32">
            <a:extLst xmlns:a="http://schemas.openxmlformats.org/drawingml/2006/main">
              <a:ext uri="{FF2B5EF4-FFF2-40B4-BE49-F238E27FC236}">
                <a16:creationId xmlns:a16="http://schemas.microsoft.com/office/drawing/2014/main" id="{344DCE49-2C55-4636-96F7-97382647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238250" y="1571625"/>
          <a:ext xmlns:a="http://schemas.openxmlformats.org/drawingml/2006/main" cx="66675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43125"/>
                <a:gridCol w="2143125"/>
              </a:tblGrid>
              <a:tr h="821531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전 조건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판매자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비도입 판매자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21531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규모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비슷한 수준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비슷한 수준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1531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광고비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비슷한 수준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비슷한 수준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21531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성장 추세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비슷한 수준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비슷한 수준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atching-rule">
            <a:extLst xmlns:a="http://schemas.openxmlformats.org/drawingml/2006/main">
              <a:ext uri="{FF2B5EF4-FFF2-40B4-BE49-F238E27FC236}">
                <a16:creationId xmlns:a16="http://schemas.microsoft.com/office/drawing/2014/main" id="{FC8B8C0B-6903-40CF-B8F8-10A1DFF0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사과는 사과끼리</a:t>
            </a:r>
          </a:p>
        </p:txBody>
      </p:sp>
      <p:sp>
        <p:nvSpPr>
          <p:cNvPr id="6" name="matching-rule-detail">
            <a:extLst xmlns:a="http://schemas.openxmlformats.org/drawingml/2006/main">
              <a:ext uri="{FF2B5EF4-FFF2-40B4-BE49-F238E27FC236}">
                <a16:creationId xmlns:a16="http://schemas.microsoft.com/office/drawing/2014/main" id="{46840C5D-C996-43B9-B421-A32FCF0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도입 전 조건이 비슷한 판매자끼리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3">
            <a:extLst xmlns:a="http://schemas.openxmlformats.org/drawingml/2006/main">
              <a:ext uri="{FF2B5EF4-FFF2-40B4-BE49-F238E27FC236}">
                <a16:creationId xmlns:a16="http://schemas.microsoft.com/office/drawing/2014/main" id="{33391041-EDED-4035-9913-B61B9E1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VERIFICATION</a:t>
            </a:r>
          </a:p>
        </p:txBody>
      </p:sp>
      <p:sp>
        <p:nvSpPr>
          <p:cNvPr id="2" name="title-33">
            <a:extLst xmlns:a="http://schemas.openxmlformats.org/drawingml/2006/main">
              <a:ext uri="{FF2B5EF4-FFF2-40B4-BE49-F238E27FC236}">
                <a16:creationId xmlns:a16="http://schemas.microsoft.com/office/drawing/2014/main" id="{E081FF4F-5363-469E-81C9-A64FEF90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회귀 검증 5문 (1–3)</a:t>
            </a:r>
          </a:p>
        </p:txBody>
      </p:sp>
      <p:sp>
        <p:nvSpPr>
          <p:cNvPr id="3" name="number-33">
            <a:extLst xmlns:a="http://schemas.openxmlformats.org/drawingml/2006/main">
              <a:ext uri="{FF2B5EF4-FFF2-40B4-BE49-F238E27FC236}">
                <a16:creationId xmlns:a16="http://schemas.microsoft.com/office/drawing/2014/main" id="{8FF62C1E-F643-4E53-A1D2-7D628AB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95375" y="1714500"/>
          <a:ext xmlns:a="http://schemas.openxmlformats.org/drawingml/2006/main" cx="6953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</a:tblGrid>
              <a:tr h="7858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번호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관리자의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7858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부호가 사업 상식에 맞는가?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유의한가?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7858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R²을 오해하지 않았는가?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hecks-123-note">
            <a:extLst xmlns:a="http://schemas.openxmlformats.org/drawingml/2006/main">
              <a:ext uri="{FF2B5EF4-FFF2-40B4-BE49-F238E27FC236}">
                <a16:creationId xmlns:a16="http://schemas.microsoft.com/office/drawing/2014/main" id="{541E070F-9BE0-47D0-B691-C5CC761D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계산값을 읽은 뒤, 그 숫자가 주장에 충분한지 묻는다.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4">
            <a:extLst xmlns:a="http://schemas.openxmlformats.org/drawingml/2006/main">
              <a:ext uri="{FF2B5EF4-FFF2-40B4-BE49-F238E27FC236}">
                <a16:creationId xmlns:a16="http://schemas.microsoft.com/office/drawing/2014/main" id="{E7160104-4F6D-4FE4-95BC-3E382E06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VERIFICATION</a:t>
            </a:r>
          </a:p>
        </p:txBody>
      </p:sp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760A9DE1-EDEE-4919-A143-166113A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회귀 검증 5문 (4–5)</a:t>
            </a:r>
          </a:p>
        </p:txBody>
      </p:sp>
      <p:sp>
        <p:nvSpPr>
          <p:cNvPr id="3" name="number-34">
            <a:extLst xmlns:a="http://schemas.openxmlformats.org/drawingml/2006/main">
              <a:ext uri="{FF2B5EF4-FFF2-40B4-BE49-F238E27FC236}">
                <a16:creationId xmlns:a16="http://schemas.microsoft.com/office/drawing/2014/main" id="{9585A47B-1C48-4C0D-BCD2-C8902398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095375" y="1952625"/>
          <a:ext xmlns:a="http://schemas.openxmlformats.org/drawingml/2006/main" cx="69532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</a:tblGrid>
              <a:tr h="825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번호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관리자의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25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그룹이 올바른가?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하나의 종합 숫자를 분해했는가?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checks-45-note">
            <a:extLst xmlns:a="http://schemas.openxmlformats.org/drawingml/2006/main">
              <a:ext uri="{FF2B5EF4-FFF2-40B4-BE49-F238E27FC236}">
                <a16:creationId xmlns:a16="http://schemas.microsoft.com/office/drawing/2014/main" id="{77AECFC4-73BF-4A2E-B062-62F841B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2블록에서는 5번 분해를 먼저, 4번 비교를 다음에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5">
            <a:extLst xmlns:a="http://schemas.openxmlformats.org/drawingml/2006/main">
              <a:ext uri="{FF2B5EF4-FFF2-40B4-BE49-F238E27FC236}">
                <a16:creationId xmlns:a16="http://schemas.microsoft.com/office/drawing/2014/main" id="{6AC4885A-0FB6-4503-B71C-59B9D89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BRIDGE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22D8AD49-D3BA-42FD-B49C-8E0B135E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사례 검증으로 전환</a:t>
            </a:r>
          </a:p>
        </p:txBody>
      </p:sp>
      <p:sp>
        <p:nvSpPr>
          <p:cNvPr id="3" name="number-35">
            <a:extLst xmlns:a="http://schemas.openxmlformats.org/drawingml/2006/main">
              <a:ext uri="{FF2B5EF4-FFF2-40B4-BE49-F238E27FC236}">
                <a16:creationId xmlns:a16="http://schemas.microsoft.com/office/drawing/2014/main" id="{12B678FC-F741-48F7-900F-E6D49CDE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4" name="bridge">
            <a:extLst xmlns:a="http://schemas.openxmlformats.org/drawingml/2006/main">
              <a:ext uri="{FF2B5EF4-FFF2-40B4-BE49-F238E27FC236}">
                <a16:creationId xmlns:a16="http://schemas.microsoft.com/office/drawing/2014/main" id="{8F156733-7E73-42AA-A9B9-CD790F26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AI가 내놓은 SmartAds 분석은 다섯 질문을 통과하는가</a:t>
            </a:r>
          </a:p>
        </p:txBody>
      </p:sp>
      <p:sp>
        <p:nvSpPr>
          <p:cNvPr id="5" name="bridge-detail">
            <a:extLst xmlns:a="http://schemas.openxmlformats.org/drawingml/2006/main">
              <a:ext uri="{FF2B5EF4-FFF2-40B4-BE49-F238E27FC236}">
                <a16:creationId xmlns:a16="http://schemas.microsoft.com/office/drawing/2014/main" id="{BBFFF308-110A-4705-907A-E2189F0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1블록의 도구를 그대로 들고 2블록에서 직접 판정한다.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6">
            <a:extLst xmlns:a="http://schemas.openxmlformats.org/drawingml/2006/main">
              <a:ext uri="{FF2B5EF4-FFF2-40B4-BE49-F238E27FC236}">
                <a16:creationId xmlns:a16="http://schemas.microsoft.com/office/drawing/2014/main" id="{E25C13CF-9A02-4677-AD3E-FF2DA30E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CASE · 15 MIN</a:t>
            </a:r>
          </a:p>
        </p:txBody>
      </p:sp>
      <p:sp>
        <p:nvSpPr>
          <p:cNvPr id="2" name="title-36">
            <a:extLst xmlns:a="http://schemas.openxmlformats.org/drawingml/2006/main">
              <a:ext uri="{FF2B5EF4-FFF2-40B4-BE49-F238E27FC236}">
                <a16:creationId xmlns:a16="http://schemas.microsoft.com/office/drawing/2014/main" id="{A6806B42-E583-4C48-AB5E-1439BDC4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SmartAds 사례</a:t>
            </a:r>
          </a:p>
        </p:txBody>
      </p:sp>
      <p:sp>
        <p:nvSpPr>
          <p:cNvPr id="3" name="number-36">
            <a:extLst xmlns:a="http://schemas.openxmlformats.org/drawingml/2006/main">
              <a:ext uri="{FF2B5EF4-FFF2-40B4-BE49-F238E27FC236}">
                <a16:creationId xmlns:a16="http://schemas.microsoft.com/office/drawing/2014/main" id="{6FCA0E0C-2E10-4AD8-8E73-E2E3E30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4" name="case-hook">
            <a:extLst xmlns:a="http://schemas.openxmlformats.org/drawingml/2006/main">
              <a:ext uri="{FF2B5EF4-FFF2-40B4-BE49-F238E27FC236}">
                <a16:creationId xmlns:a16="http://schemas.microsoft.com/office/drawing/2014/main" id="{7330AB03-CD44-4781-A481-F58B9E4F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7810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매출은 분명히 늘었다. 그런데 왜 늘었는지 아무도 확신하지 못했다.</a:t>
            </a:r>
          </a:p>
        </p:txBody>
      </p:sp>
      <p:sp>
        <p:nvSpPr>
          <p:cNvPr id="5" name="case-hook-detail">
            <a:extLst xmlns:a="http://schemas.openxmlformats.org/drawingml/2006/main">
              <a:ext uri="{FF2B5EF4-FFF2-40B4-BE49-F238E27FC236}">
                <a16:creationId xmlns:a16="http://schemas.microsoft.com/office/drawing/2014/main" id="{7FF5B827-2793-4183-BE86-ADA5885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이지수는 6개월 성과를 이사회에 보고하고, 상품 로드맵과 자원 배분을 정해야 한다.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714750"/>
          <a:ext xmlns:a="http://schemas.openxmlformats.org/drawingml/2006/main" cx="800100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381250"/>
                <a:gridCol w="3714750"/>
              </a:tblGrid>
              <a:tr h="88106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단위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규모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8106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판매자 1명의 1주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189,942개 관측치</a:t>
                      </a:r>
                    </a:p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2,060명 × 104주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GMV 증가는 방문자·전환율·객단가 중 어디서 왔는가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7">
            <a:extLst xmlns:a="http://schemas.openxmlformats.org/drawingml/2006/main">
              <a:ext uri="{FF2B5EF4-FFF2-40B4-BE49-F238E27FC236}">
                <a16:creationId xmlns:a16="http://schemas.microsoft.com/office/drawing/2014/main" id="{0AEC1307-359C-4830-B24C-ADE22662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EXHIBIT 1</a:t>
            </a:r>
          </a:p>
        </p:txBody>
      </p:sp>
      <p:sp>
        <p:nvSpPr>
          <p:cNvPr id="2" name="title-37">
            <a:extLst xmlns:a="http://schemas.openxmlformats.org/drawingml/2006/main">
              <a:ext uri="{FF2B5EF4-FFF2-40B4-BE49-F238E27FC236}">
                <a16:creationId xmlns:a16="http://schemas.microsoft.com/office/drawing/2014/main" id="{DF6879AB-4D89-4FE6-99B8-0BA92A39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도입 전·후와 그룹 비교</a:t>
            </a:r>
          </a:p>
        </p:txBody>
      </p:sp>
      <p:sp>
        <p:nvSpPr>
          <p:cNvPr id="3" name="number-37">
            <a:extLst xmlns:a="http://schemas.openxmlformats.org/drawingml/2006/main">
              <a:ext uri="{FF2B5EF4-FFF2-40B4-BE49-F238E27FC236}">
                <a16:creationId xmlns:a16="http://schemas.microsoft.com/office/drawing/2014/main" id="{3E4BAC37-CF0F-46AE-B773-4CCB21E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28625" y="1428750"/>
          <a:ext xmlns:a="http://schemas.openxmlformats.org/drawingml/2006/main" cx="82867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952625"/>
                <a:gridCol w="1952625"/>
                <a:gridCol w="1905000"/>
              </a:tblGrid>
              <a:tr h="777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그룹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전 평균 GMV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후 평균 GMV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증감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777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SmartAds 도입 판매자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12,400,000원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13,900,000원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+약 12%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비도입 판매자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11,600,000원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11,600,000원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+약 0%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4000500"/>
          <a:ext xmlns:a="http://schemas.openxmlformats.org/drawingml/2006/main" cx="7905750" cy="1285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000250"/>
                <a:gridCol w="1714500"/>
                <a:gridCol w="1857375"/>
              </a:tblGrid>
              <a:tr h="6429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Adopted 계수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유의성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6429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+0.150 (≈ GMV +15%)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 (p &lt; 0.001)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189,942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≈ 0.62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xhibit1-question">
            <a:extLst xmlns:a="http://schemas.openxmlformats.org/drawingml/2006/main">
              <a:ext uri="{FF2B5EF4-FFF2-40B4-BE49-F238E27FC236}">
                <a16:creationId xmlns:a16="http://schemas.microsoft.com/office/drawing/2014/main" id="{50CF7E0E-8C4C-440B-98A1-1BE7F429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표를 가로와 세로로 읽을 때 어떤 차이가 이미 보이는가?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8">
            <a:extLst xmlns:a="http://schemas.openxmlformats.org/drawingml/2006/main">
              <a:ext uri="{FF2B5EF4-FFF2-40B4-BE49-F238E27FC236}">
                <a16:creationId xmlns:a16="http://schemas.microsoft.com/office/drawing/2014/main" id="{EEF4506F-CDBD-46CA-AA73-9D2A226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2.2 · INSTRUCTOR DEMO · ABOUT 20 MIN</a:t>
            </a:r>
          </a:p>
        </p:txBody>
      </p:sp>
      <p:sp>
        <p:nvSpPr>
          <p:cNvPr id="2" name="title-38">
            <a:extLst xmlns:a="http://schemas.openxmlformats.org/drawingml/2006/main">
              <a:ext uri="{FF2B5EF4-FFF2-40B4-BE49-F238E27FC236}">
                <a16:creationId xmlns:a16="http://schemas.microsoft.com/office/drawing/2014/main" id="{A8A14B0C-E42F-4709-9B34-07297810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 분석 보고서</a:t>
            </a:r>
          </a:p>
        </p:txBody>
      </p:sp>
      <p:sp>
        <p:nvSpPr>
          <p:cNvPr id="3" name="number-38">
            <a:extLst xmlns:a="http://schemas.openxmlformats.org/drawingml/2006/main">
              <a:ext uri="{FF2B5EF4-FFF2-40B4-BE49-F238E27FC236}">
                <a16:creationId xmlns:a16="http://schemas.microsoft.com/office/drawing/2014/main" id="{7244F4A8-F608-4EB1-896F-A78C73F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4" name="ai-claim">
            <a:extLst xmlns:a="http://schemas.openxmlformats.org/drawingml/2006/main">
              <a:ext uri="{FF2B5EF4-FFF2-40B4-BE49-F238E27FC236}">
                <a16:creationId xmlns:a16="http://schemas.microsoft.com/office/drawing/2014/main" id="{EBCEC230-065A-427A-9EF5-3214FD40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771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“SmartAds는 타겟팅을 정교화하여 매출을 15% 끌어올립니다.”</a:t>
            </a:r>
          </a:p>
        </p:txBody>
      </p:sp>
      <p:sp>
        <p:nvSpPr>
          <p:cNvPr id="5" name="ai-claim-detail">
            <a:extLst xmlns:a="http://schemas.openxmlformats.org/drawingml/2006/main">
              <a:ext uri="{FF2B5EF4-FFF2-40B4-BE49-F238E27FC236}">
                <a16:creationId xmlns:a16="http://schemas.microsoft.com/office/drawing/2014/main" id="{42E5ABCF-153C-4D87-8F76-B4F6CDF1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AI가 제시한 결론이다. 아직 채택하거나 반박하지 않는다.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04875" y="2714625"/>
          <a:ext xmlns:a="http://schemas.openxmlformats.org/drawingml/2006/main" cx="7334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619250"/>
                <a:gridCol w="1619250"/>
                <a:gridCol w="1714500"/>
              </a:tblGrid>
              <a:tr h="5905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표준오차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유의성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5905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Adopted(도입=1)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+0.150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 (p&lt;0.001)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log(광고비)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+0.412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0.010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5905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판매자등급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+0.088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입점기간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+0.006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0.002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9">
            <a:extLst xmlns:a="http://schemas.openxmlformats.org/drawingml/2006/main">
              <a:ext uri="{FF2B5EF4-FFF2-40B4-BE49-F238E27FC236}">
                <a16:creationId xmlns:a16="http://schemas.microsoft.com/office/drawing/2014/main" id="{F6B8A323-EC43-4A09-AB5B-B126781C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2.2 · INSTRUCTOR DEMO</a:t>
            </a:r>
          </a:p>
        </p:txBody>
      </p:sp>
      <p:sp>
        <p:nvSpPr>
          <p:cNvPr id="2" name="title-39">
            <a:extLst xmlns:a="http://schemas.openxmlformats.org/drawingml/2006/main">
              <a:ext uri="{FF2B5EF4-FFF2-40B4-BE49-F238E27FC236}">
                <a16:creationId xmlns:a16="http://schemas.microsoft.com/office/drawing/2014/main" id="{7A76D719-FFC2-4499-A9E9-56911B7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두 질문에서 멈춘다</a:t>
            </a:r>
          </a:p>
        </p:txBody>
      </p:sp>
      <p:sp>
        <p:nvSpPr>
          <p:cNvPr id="3" name="number-39">
            <a:extLst xmlns:a="http://schemas.openxmlformats.org/drawingml/2006/main">
              <a:ext uri="{FF2B5EF4-FFF2-40B4-BE49-F238E27FC236}">
                <a16:creationId xmlns:a16="http://schemas.microsoft.com/office/drawing/2014/main" id="{69761787-0EEE-412E-908D-9418526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810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953000"/>
              </a:tblGrid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주장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강사가 소리 내어 묻는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GMV 약 +15%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방문자·전환율·객단가 중 어디서 왔는가?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도입자 GMV 약 +20%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전에도 같은 판매자였는가?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top-rule">
            <a:extLst xmlns:a="http://schemas.openxmlformats.org/drawingml/2006/main">
              <a:ext uri="{FF2B5EF4-FFF2-40B4-BE49-F238E27FC236}">
                <a16:creationId xmlns:a16="http://schemas.microsoft.com/office/drawing/2014/main" id="{FF882EB6-045B-4A2A-88FE-0588965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여기서 멈춘다</a:t>
            </a:r>
          </a:p>
        </p:txBody>
      </p:sp>
      <p:sp>
        <p:nvSpPr>
          <p:cNvPr id="6" name="stop-rule-detail">
            <a:extLst xmlns:a="http://schemas.openxmlformats.org/drawingml/2006/main">
              <a:ext uri="{FF2B5EF4-FFF2-40B4-BE49-F238E27FC236}">
                <a16:creationId xmlns:a16="http://schemas.microsoft.com/office/drawing/2014/main" id="{5619E1FE-99B0-46FF-A1D3-41FCAAA5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054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강사는 실제 방향과 최종 판정을 말하지 않는다. 다음 장부터 학생이 검증한다.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0">
            <a:extLst xmlns:a="http://schemas.openxmlformats.org/drawingml/2006/main">
              <a:ext uri="{FF2B5EF4-FFF2-40B4-BE49-F238E27FC236}">
                <a16:creationId xmlns:a16="http://schemas.microsoft.com/office/drawing/2014/main" id="{F7D7E58C-4693-455A-82BC-87F68266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2.3 · GUIDED VERIFY · ABOUT 20 MIN</a:t>
            </a:r>
          </a:p>
        </p:txBody>
      </p:sp>
      <p:sp>
        <p:nvSpPr>
          <p:cNvPr id="2" name="title-40">
            <a:extLst xmlns:a="http://schemas.openxmlformats.org/drawingml/2006/main">
              <a:ext uri="{FF2B5EF4-FFF2-40B4-BE49-F238E27FC236}">
                <a16:creationId xmlns:a16="http://schemas.microsoft.com/office/drawing/2014/main" id="{2BC29E5F-5634-4B07-828C-7012F0A5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조별 검증</a:t>
            </a:r>
          </a:p>
        </p:txBody>
      </p:sp>
      <p:sp>
        <p:nvSpPr>
          <p:cNvPr id="3" name="number-40">
            <a:extLst xmlns:a="http://schemas.openxmlformats.org/drawingml/2006/main">
              <a:ext uri="{FF2B5EF4-FFF2-40B4-BE49-F238E27FC236}">
                <a16:creationId xmlns:a16="http://schemas.microsoft.com/office/drawing/2014/main" id="{E13EF784-D9C9-41B6-9458-6557B99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4" name="verify-steps">
            <a:extLst xmlns:a="http://schemas.openxmlformats.org/drawingml/2006/main">
              <a:ext uri="{FF2B5EF4-FFF2-40B4-BE49-F238E27FC236}">
                <a16:creationId xmlns:a16="http://schemas.microsoft.com/office/drawing/2014/main" id="{67B305ED-7852-4203-8F99-8FC04F7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723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두 명이 한 조가 되어 AI 분석과 워크시트를 함께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Exhibit 2에서 세 채널의 부호와 시간 추세를 옮겨 적는다.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도입자 비교가 인과 효과인지 검증 4번으로 확인한다.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이사회 메시지와 후속 투자 우선순위를 한 문장으로 정한다.</a:t>
            </a:r>
          </a:p>
        </p:txBody>
      </p:sp>
      <p:sp>
        <p:nvSpPr>
          <p:cNvPr id="5" name="verify-boundary">
            <a:extLst xmlns:a="http://schemas.openxmlformats.org/drawingml/2006/main">
              <a:ext uri="{FF2B5EF4-FFF2-40B4-BE49-F238E27FC236}">
                <a16:creationId xmlns:a16="http://schemas.microsoft.com/office/drawing/2014/main" id="{9134D016-A03D-4527-B546-7D2C285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화면에는 정답값을 띄우지 않는다. Exhibit와 워크시트에서 직접 찾는다.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1">
            <a:extLst xmlns:a="http://schemas.openxmlformats.org/drawingml/2006/main">
              <a:ext uri="{FF2B5EF4-FFF2-40B4-BE49-F238E27FC236}">
                <a16:creationId xmlns:a16="http://schemas.microsoft.com/office/drawing/2014/main" id="{B0D71584-BBF4-4930-9EAD-1415C4A8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2.4 · DEBRIEF · ABOUT 15 MIN</a:t>
            </a:r>
          </a:p>
        </p:txBody>
      </p:sp>
      <p:sp>
        <p:nvSpPr>
          <p:cNvPr id="2" name="title-41">
            <a:extLst xmlns:a="http://schemas.openxmlformats.org/drawingml/2006/main">
              <a:ext uri="{FF2B5EF4-FFF2-40B4-BE49-F238E27FC236}">
                <a16:creationId xmlns:a16="http://schemas.microsoft.com/office/drawing/2014/main" id="{897381DA-F5B0-45D6-92D4-FEA2709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동적 분해표</a:t>
            </a:r>
          </a:p>
        </p:txBody>
      </p:sp>
      <p:sp>
        <p:nvSpPr>
          <p:cNvPr id="3" name="number-41">
            <a:extLst xmlns:a="http://schemas.openxmlformats.org/drawingml/2006/main">
              <a:ext uri="{FF2B5EF4-FFF2-40B4-BE49-F238E27FC236}">
                <a16:creationId xmlns:a16="http://schemas.microsoft.com/office/drawing/2014/main" id="{A9DB2FBC-20C5-46AD-ACCB-5A20C022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285750" y="1381125"/>
          <a:ext xmlns:a="http://schemas.openxmlformats.org/drawingml/2006/main" cx="8572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57375"/>
                <a:gridCol w="1619250"/>
                <a:gridCol w="1714500"/>
                <a:gridCol w="1952625"/>
              </a:tblGrid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방문자(도달)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전환율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객단가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GMV 순효과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0–3개월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+9% 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−1% (n.s.)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+0% (n.s.)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≈ +8%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4–6개월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+15% 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−2% 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+0% (n.s.)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≈ +13%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7–9개월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+20% 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−3% 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−0% (n.s.)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≈ +17%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10–12개월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+24% ***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−4% **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+0% (n.s.)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≈ +20%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exhibit2-note">
            <a:extLst xmlns:a="http://schemas.openxmlformats.org/drawingml/2006/main">
              <a:ext uri="{FF2B5EF4-FFF2-40B4-BE49-F238E27FC236}">
                <a16:creationId xmlns:a16="http://schemas.microsoft.com/office/drawing/2014/main" id="{325217BF-F872-4817-85EF-2B9AEE78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열 ①+②+③ ≈ GMV 순효과(로그 근사). 셀 값은 구조를 보여 주는 예시다.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2">
            <a:extLst xmlns:a="http://schemas.openxmlformats.org/drawingml/2006/main">
              <a:ext uri="{FF2B5EF4-FFF2-40B4-BE49-F238E27FC236}">
                <a16:creationId xmlns:a16="http://schemas.microsoft.com/office/drawing/2014/main" id="{3FED2050-EFF8-4CC7-A581-F22F2154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2.4 · DEBRIEF</a:t>
            </a:r>
          </a:p>
        </p:txBody>
      </p:sp>
      <p:sp>
        <p:nvSpPr>
          <p:cNvPr id="2" name="title-42">
            <a:extLst xmlns:a="http://schemas.openxmlformats.org/drawingml/2006/main">
              <a:ext uri="{FF2B5EF4-FFF2-40B4-BE49-F238E27FC236}">
                <a16:creationId xmlns:a16="http://schemas.microsoft.com/office/drawing/2014/main" id="{D159E37C-C20D-473F-95CB-F4EF60B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검증 결과</a:t>
            </a:r>
          </a:p>
        </p:txBody>
      </p:sp>
      <p:sp>
        <p:nvSpPr>
          <p:cNvPr id="3" name="number-42">
            <a:extLst xmlns:a="http://schemas.openxmlformats.org/drawingml/2006/main">
              <a:ext uri="{FF2B5EF4-FFF2-40B4-BE49-F238E27FC236}">
                <a16:creationId xmlns:a16="http://schemas.microsoft.com/office/drawing/2014/main" id="{AC1D0B1B-4AB1-4619-880A-CD8A725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80962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429000"/>
                <a:gridCol w="2857500"/>
              </a:tblGrid>
              <a:tr h="1158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항목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데이터가 말한 것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주장 판정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58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방문자(도달)가 증가를 주도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전환율은 정체 또는 소폭 감소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객단가는 변화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전환율 향상 주장은 기각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도입 판매자는 도입 전에도 달랐음</a:t>
                      </a:r>
                    </a:p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DID·매칭 요구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20% 단순 비교는 인과 근거가 아님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verified-lesson">
            <a:extLst xmlns:a="http://schemas.openxmlformats.org/drawingml/2006/main">
              <a:ext uri="{FF2B5EF4-FFF2-40B4-BE49-F238E27FC236}">
                <a16:creationId xmlns:a16="http://schemas.microsoft.com/office/drawing/2014/main" id="{6F42B4BC-6791-41AC-A246-DFA65817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틀린 계산이 아니라 덜 쪼갠 해석과 잘못된 비교였다.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3">
            <a:extLst xmlns:a="http://schemas.openxmlformats.org/drawingml/2006/main">
              <a:ext uri="{FF2B5EF4-FFF2-40B4-BE49-F238E27FC236}">
                <a16:creationId xmlns:a16="http://schemas.microsoft.com/office/drawing/2014/main" id="{CD4DED39-5F21-499B-BA7A-C95F3A7D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2.4 · DECISION</a:t>
            </a:r>
          </a:p>
        </p:txBody>
      </p:sp>
      <p:sp>
        <p:nvSpPr>
          <p:cNvPr id="2" name="title-43">
            <a:extLst xmlns:a="http://schemas.openxmlformats.org/drawingml/2006/main">
              <a:ext uri="{FF2B5EF4-FFF2-40B4-BE49-F238E27FC236}">
                <a16:creationId xmlns:a16="http://schemas.microsoft.com/office/drawing/2014/main" id="{5A52F950-3B14-4316-85A5-EA65239D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이사회 보고와 다음 투자</a:t>
            </a:r>
          </a:p>
        </p:txBody>
      </p:sp>
      <p:sp>
        <p:nvSpPr>
          <p:cNvPr id="3" name="number-43">
            <a:extLst xmlns:a="http://schemas.openxmlformats.org/drawingml/2006/main">
              <a:ext uri="{FF2B5EF4-FFF2-40B4-BE49-F238E27FC236}">
                <a16:creationId xmlns:a16="http://schemas.microsoft.com/office/drawing/2014/main" id="{7C56A44A-1E5B-4A44-AA04-B480143E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76250" y="1571625"/>
          <a:ext xmlns:a="http://schemas.openxmlformats.org/drawingml/2006/main" cx="81915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000375"/>
                <a:gridCol w="3381375"/>
              </a:tblGrid>
              <a:tr h="869156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결정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제안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뒤 선택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69156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커뮤니케이션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타겟팅으로 전환율·매출 향상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 확장으로 매출 증가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상품 로드맵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타겟팅 알고리즘 고도화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노출 지면·재고·도달 품질 검토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69156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 분석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결론 확정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DID·매칭으로 도구의 추가분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ecision-close">
            <a:extLst xmlns:a="http://schemas.openxmlformats.org/drawingml/2006/main">
              <a:ext uri="{FF2B5EF4-FFF2-40B4-BE49-F238E27FC236}">
                <a16:creationId xmlns:a16="http://schemas.microsoft.com/office/drawing/2014/main" id="{3405D226-674D-49CC-8A6E-FEB68A32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숫자를 열어 본 뒤 사업 메시지와 투자를 고친다</a:t>
            </a:r>
          </a:p>
        </p:txBody>
      </p:sp>
    </p:spTree>
    <p:extLst>
      <p:ext uri="{BB962C8B-B14F-4D97-AF65-F5344CB8AC3E}">
        <p14:creationId xmlns:p14="http://schemas.microsoft.com/office/powerpoint/2010/main" val="1497908982"/>
      </p:ext>
    </p:extLst>
  </p:cSld>
</p:sld>
</file>

<file path=ppt/theme/theme1.xml><?xml version="1.0" encoding="utf-8"?>
<a:theme xmlns:a="http://schemas.openxmlformats.org/drawingml/2006/main" name="NTUPowerpointTemplate_Aug2010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2026-09-11T07:05:01.6140000Z</dcterms:created>
  <dcterms:modified xsi:type="dcterms:W3CDTF">2026-09-11T07:05:01.6140000Z</dcterms:modified>
</coreProperties>
</file>