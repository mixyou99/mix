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9dabf8ec5ac4e69" /><Relationship Type="http://schemas.openxmlformats.org/officeDocument/2006/relationships/extended-properties" Target="/docProps/app.xml" Id="Rd1d10ef24e4d4465" /><Relationship Type="http://schemas.openxmlformats.org/officeDocument/2006/relationships/officeDocument" Target="/ppt/presentation.xml" Id="Rd3a3a92dce2348c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a5e986e1ba542d0"/>
  </p:sldMasterIdLst>
  <p:notesMasterIdLst>
    <p:notesMasterId xmlns:r="http://schemas.openxmlformats.org/officeDocument/2006/relationships" r:id="R338e012d959a4ef0"/>
  </p:notesMasterIdLst>
  <p:sldIdLst>
    <p:sldId xmlns:r="http://schemas.openxmlformats.org/officeDocument/2006/relationships" id="256" r:id="R0b25a5dd2f2f4efb"/>
    <p:sldId xmlns:r="http://schemas.openxmlformats.org/officeDocument/2006/relationships" id="257" r:id="Rdb6ebedbbf524c4c"/>
    <p:sldId xmlns:r="http://schemas.openxmlformats.org/officeDocument/2006/relationships" id="258" r:id="R8abd952cf37e408f"/>
    <p:sldId xmlns:r="http://schemas.openxmlformats.org/officeDocument/2006/relationships" id="259" r:id="Rbfb93a181ecb4130"/>
    <p:sldId xmlns:r="http://schemas.openxmlformats.org/officeDocument/2006/relationships" id="260" r:id="Reca8d02573d0457c"/>
    <p:sldId xmlns:r="http://schemas.openxmlformats.org/officeDocument/2006/relationships" id="261" r:id="R6e9e684675484a73"/>
    <p:sldId xmlns:r="http://schemas.openxmlformats.org/officeDocument/2006/relationships" id="262" r:id="R51a8df7532f44144"/>
    <p:sldId xmlns:r="http://schemas.openxmlformats.org/officeDocument/2006/relationships" id="263" r:id="R1e6cb8adc4a148e3"/>
    <p:sldId xmlns:r="http://schemas.openxmlformats.org/officeDocument/2006/relationships" id="264" r:id="R9f0941c578ac469e"/>
    <p:sldId xmlns:r="http://schemas.openxmlformats.org/officeDocument/2006/relationships" id="265" r:id="R91c17cfa1807434e"/>
    <p:sldId xmlns:r="http://schemas.openxmlformats.org/officeDocument/2006/relationships" id="266" r:id="R2511b611f5dc4943"/>
    <p:sldId xmlns:r="http://schemas.openxmlformats.org/officeDocument/2006/relationships" id="267" r:id="R8d07391e187d48bc"/>
    <p:sldId xmlns:r="http://schemas.openxmlformats.org/officeDocument/2006/relationships" id="268" r:id="Rec3cbc4bf4584c52"/>
    <p:sldId xmlns:r="http://schemas.openxmlformats.org/officeDocument/2006/relationships" id="269" r:id="R9867ee51e41544bc"/>
    <p:sldId xmlns:r="http://schemas.openxmlformats.org/officeDocument/2006/relationships" id="270" r:id="R4285a8dac55a47c6"/>
    <p:sldId xmlns:r="http://schemas.openxmlformats.org/officeDocument/2006/relationships" id="271" r:id="R0cb8857af00249d3"/>
    <p:sldId xmlns:r="http://schemas.openxmlformats.org/officeDocument/2006/relationships" id="272" r:id="R20d8a114c61144f6"/>
    <p:sldId xmlns:r="http://schemas.openxmlformats.org/officeDocument/2006/relationships" id="273" r:id="R5bd2a6f44f5f44f0"/>
    <p:sldId xmlns:r="http://schemas.openxmlformats.org/officeDocument/2006/relationships" id="274" r:id="R57759e787cad43ca"/>
    <p:sldId xmlns:r="http://schemas.openxmlformats.org/officeDocument/2006/relationships" id="275" r:id="Rc33dfc007f214d5d"/>
    <p:sldId xmlns:r="http://schemas.openxmlformats.org/officeDocument/2006/relationships" id="276" r:id="R8b4176295c0b4cda"/>
    <p:sldId xmlns:r="http://schemas.openxmlformats.org/officeDocument/2006/relationships" id="277" r:id="R446d377439d244d9"/>
    <p:sldId xmlns:r="http://schemas.openxmlformats.org/officeDocument/2006/relationships" id="278" r:id="R0d0a345169c242dd"/>
    <p:sldId xmlns:r="http://schemas.openxmlformats.org/officeDocument/2006/relationships" id="279" r:id="Rd4887dcfc332457a"/>
    <p:sldId xmlns:r="http://schemas.openxmlformats.org/officeDocument/2006/relationships" id="280" r:id="Rc2ea3939e8964b93"/>
    <p:sldId xmlns:r="http://schemas.openxmlformats.org/officeDocument/2006/relationships" id="281" r:id="R1ef71f4571cf4e36"/>
    <p:sldId xmlns:r="http://schemas.openxmlformats.org/officeDocument/2006/relationships" id="282" r:id="R1bfb1bba13da4468"/>
    <p:sldId xmlns:r="http://schemas.openxmlformats.org/officeDocument/2006/relationships" id="283" r:id="R94a3b66dc8534880"/>
    <p:sldId xmlns:r="http://schemas.openxmlformats.org/officeDocument/2006/relationships" id="284" r:id="R38d4f52a6a4d44f2"/>
    <p:sldId xmlns:r="http://schemas.openxmlformats.org/officeDocument/2006/relationships" id="285" r:id="Rb08050348df74b6f"/>
    <p:sldId xmlns:r="http://schemas.openxmlformats.org/officeDocument/2006/relationships" id="286" r:id="R59e9674319894a74"/>
    <p:sldId xmlns:r="http://schemas.openxmlformats.org/officeDocument/2006/relationships" id="287" r:id="Rd012bd392d23441c"/>
    <p:sldId xmlns:r="http://schemas.openxmlformats.org/officeDocument/2006/relationships" id="288" r:id="Redee98661ab24ae7"/>
    <p:sldId xmlns:r="http://schemas.openxmlformats.org/officeDocument/2006/relationships" id="289" r:id="R65c2cbed1bb94f33"/>
    <p:sldId xmlns:r="http://schemas.openxmlformats.org/officeDocument/2006/relationships" id="290" r:id="Rd97af12e44da4f01"/>
  </p:sldIdLst>
  <p:sldSz cx="9144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p="http://schemas.openxmlformats.org/presentationml/2006/main"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c50a585124b4461" /><Relationship Type="http://schemas.openxmlformats.org/officeDocument/2006/relationships/slideMaster" Target="/ppt/slideMasters/slideMaster1.xml" Id="Raa5e986e1ba542d0" /><Relationship Type="http://schemas.openxmlformats.org/officeDocument/2006/relationships/notesMaster" Target="/ppt/notesMasters/notesMaster1.xml" Id="R338e012d959a4ef0" /><Relationship Type="http://schemas.openxmlformats.org/officeDocument/2006/relationships/presProps" Target="/ppt/presProps.xml" Id="R322234030bbf4e42" /><Relationship Type="http://schemas.openxmlformats.org/officeDocument/2006/relationships/viewProps" Target="/ppt/viewProps.xml" Id="R7765a06c55514c89" /><Relationship Type="http://schemas.openxmlformats.org/officeDocument/2006/relationships/tableStyles" Target="/ppt/tableStyles.xml" Id="Rfaec03d648204b0f" /><Relationship Type="http://schemas.openxmlformats.org/officeDocument/2006/relationships/slide" Target="/ppt/slides/slide1.xml" Id="R0b25a5dd2f2f4efb" /><Relationship Type="http://schemas.openxmlformats.org/officeDocument/2006/relationships/slide" Target="/ppt/slides/slide2.xml" Id="Rdb6ebedbbf524c4c" /><Relationship Type="http://schemas.openxmlformats.org/officeDocument/2006/relationships/slide" Target="/ppt/slides/slide3.xml" Id="R8abd952cf37e408f" /><Relationship Type="http://schemas.openxmlformats.org/officeDocument/2006/relationships/slide" Target="/ppt/slides/slide4.xml" Id="Rbfb93a181ecb4130" /><Relationship Type="http://schemas.openxmlformats.org/officeDocument/2006/relationships/slide" Target="/ppt/slides/slide5.xml" Id="Reca8d02573d0457c" /><Relationship Type="http://schemas.openxmlformats.org/officeDocument/2006/relationships/slide" Target="/ppt/slides/slide6.xml" Id="R6e9e684675484a73" /><Relationship Type="http://schemas.openxmlformats.org/officeDocument/2006/relationships/slide" Target="/ppt/slides/slide7.xml" Id="R51a8df7532f44144" /><Relationship Type="http://schemas.openxmlformats.org/officeDocument/2006/relationships/slide" Target="/ppt/slides/slide8.xml" Id="R1e6cb8adc4a148e3" /><Relationship Type="http://schemas.openxmlformats.org/officeDocument/2006/relationships/slide" Target="/ppt/slides/slide9.xml" Id="R9f0941c578ac469e" /><Relationship Type="http://schemas.openxmlformats.org/officeDocument/2006/relationships/slide" Target="/ppt/slides/slide10.xml" Id="R91c17cfa1807434e" /><Relationship Type="http://schemas.openxmlformats.org/officeDocument/2006/relationships/slide" Target="/ppt/slides/slide11.xml" Id="R2511b611f5dc4943" /><Relationship Type="http://schemas.openxmlformats.org/officeDocument/2006/relationships/slide" Target="/ppt/slides/slide12.xml" Id="R8d07391e187d48bc" /><Relationship Type="http://schemas.openxmlformats.org/officeDocument/2006/relationships/slide" Target="/ppt/slides/slide13.xml" Id="Rec3cbc4bf4584c52" /><Relationship Type="http://schemas.openxmlformats.org/officeDocument/2006/relationships/slide" Target="/ppt/slides/slide14.xml" Id="R9867ee51e41544bc" /><Relationship Type="http://schemas.openxmlformats.org/officeDocument/2006/relationships/slide" Target="/ppt/slides/slide15.xml" Id="R4285a8dac55a47c6" /><Relationship Type="http://schemas.openxmlformats.org/officeDocument/2006/relationships/slide" Target="/ppt/slides/slide16.xml" Id="R0cb8857af00249d3" /><Relationship Type="http://schemas.openxmlformats.org/officeDocument/2006/relationships/slide" Target="/ppt/slides/slide17.xml" Id="R20d8a114c61144f6" /><Relationship Type="http://schemas.openxmlformats.org/officeDocument/2006/relationships/slide" Target="/ppt/slides/slide18.xml" Id="R5bd2a6f44f5f44f0" /><Relationship Type="http://schemas.openxmlformats.org/officeDocument/2006/relationships/slide" Target="/ppt/slides/slide19.xml" Id="R57759e787cad43ca" /><Relationship Type="http://schemas.openxmlformats.org/officeDocument/2006/relationships/slide" Target="/ppt/slides/slide20.xml" Id="Rc33dfc007f214d5d" /><Relationship Type="http://schemas.openxmlformats.org/officeDocument/2006/relationships/slide" Target="/ppt/slides/slide21.xml" Id="R8b4176295c0b4cda" /><Relationship Type="http://schemas.openxmlformats.org/officeDocument/2006/relationships/slide" Target="/ppt/slides/slide22.xml" Id="R446d377439d244d9" /><Relationship Type="http://schemas.openxmlformats.org/officeDocument/2006/relationships/slide" Target="/ppt/slides/slide23.xml" Id="R0d0a345169c242dd" /><Relationship Type="http://schemas.openxmlformats.org/officeDocument/2006/relationships/slide" Target="/ppt/slides/slide24.xml" Id="Rd4887dcfc332457a" /><Relationship Type="http://schemas.openxmlformats.org/officeDocument/2006/relationships/slide" Target="/ppt/slides/slide25.xml" Id="Rc2ea3939e8964b93" /><Relationship Type="http://schemas.openxmlformats.org/officeDocument/2006/relationships/slide" Target="/ppt/slides/slide26.xml" Id="R1ef71f4571cf4e36" /><Relationship Type="http://schemas.openxmlformats.org/officeDocument/2006/relationships/slide" Target="/ppt/slides/slide27.xml" Id="R1bfb1bba13da4468" /><Relationship Type="http://schemas.openxmlformats.org/officeDocument/2006/relationships/slide" Target="/ppt/slides/slide28.xml" Id="R94a3b66dc8534880" /><Relationship Type="http://schemas.openxmlformats.org/officeDocument/2006/relationships/slide" Target="/ppt/slides/slide29.xml" Id="R38d4f52a6a4d44f2" /><Relationship Type="http://schemas.openxmlformats.org/officeDocument/2006/relationships/slide" Target="/ppt/slides/slide30.xml" Id="Rb08050348df74b6f" /><Relationship Type="http://schemas.openxmlformats.org/officeDocument/2006/relationships/slide" Target="/ppt/slides/slide31.xml" Id="R59e9674319894a74" /><Relationship Type="http://schemas.openxmlformats.org/officeDocument/2006/relationships/slide" Target="/ppt/slides/slide32.xml" Id="Rd012bd392d23441c" /><Relationship Type="http://schemas.openxmlformats.org/officeDocument/2006/relationships/slide" Target="/ppt/slides/slide33.xml" Id="Redee98661ab24ae7" /><Relationship Type="http://schemas.openxmlformats.org/officeDocument/2006/relationships/slide" Target="/ppt/slides/slide34.xml" Id="R65c2cbed1bb94f33" /><Relationship Type="http://schemas.openxmlformats.org/officeDocument/2006/relationships/slide" Target="/ppt/slides/slide35.xml" Id="Rd97af12e44da4f0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a76444b654b441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Theme1">
  <a:themeElements>
    <a:clrScheme name="NTU Corp Colors (Deep Red)">
      <a:dk1>
        <a:srgbClr val="262626"/>
      </a:dk1>
      <a:lt1>
        <a:sysClr val="window" lastClr="FFFFFF"/>
      </a:lt1>
      <a:dk2>
        <a:srgbClr val="1F497D"/>
      </a:dk2>
      <a:lt2>
        <a:srgbClr val="C7C7C7"/>
      </a:lt2>
      <a:accent1>
        <a:srgbClr val="C60C30"/>
      </a:accent1>
      <a:accent2>
        <a:srgbClr val="003478"/>
      </a:accent2>
      <a:accent3>
        <a:srgbClr val="C49000"/>
      </a:accent3>
      <a:accent4>
        <a:srgbClr val="7A071E"/>
      </a:accent4>
      <a:accent5>
        <a:srgbClr val="0055C4"/>
      </a:accent5>
      <a:accent6>
        <a:srgbClr val="786C00"/>
      </a:accent6>
      <a:hlink>
        <a:srgbClr val="FFFF00"/>
      </a:hlink>
      <a:folHlink>
        <a:srgbClr val="002060"/>
      </a:folHlink>
    </a:clrScheme>
    <a:fontScheme name="Blank Presentation">
      <a:majorFont>
        <a:latin typeface="Helvetica Neue"/>
        <a:ea typeface="ＭＳ Ｐゴシック"/>
        <a:cs typeface=""/>
      </a:majorFont>
      <a:minorFont>
        <a:latin typeface="Helvetica Neue Light"/>
        <a:ea typeface="ＭＳ Ｐゴシック"/>
        <a:cs typeface=""/>
      </a:minorFont>
    </a:fontScheme>
    <a:fmtScheme name="NTU Corp Colors (Deep Red)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f7508d645654781" /><Relationship Type="http://schemas.openxmlformats.org/officeDocument/2006/relationships/notesMaster" Target="/ppt/notesMasters/notesMaster1.xml" Id="R7fc2b94b4192408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4fbc174e096439f" /><Relationship Type="http://schemas.openxmlformats.org/officeDocument/2006/relationships/notesMaster" Target="/ppt/notesMasters/notesMaster1.xml" Id="R0f06ae69bb5341b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ac6393f06094a56" /><Relationship Type="http://schemas.openxmlformats.org/officeDocument/2006/relationships/notesMaster" Target="/ppt/notesMasters/notesMaster1.xml" Id="R52bf7e63794d49f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1c7bdf63c1d427e" /><Relationship Type="http://schemas.openxmlformats.org/officeDocument/2006/relationships/notesMaster" Target="/ppt/notesMasters/notesMaster1.xml" Id="R06ef71cf4707402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0bdb5eff67341a0" /><Relationship Type="http://schemas.openxmlformats.org/officeDocument/2006/relationships/notesMaster" Target="/ppt/notesMasters/notesMaster1.xml" Id="R42aca2686a334fd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6390e72d48647db" /><Relationship Type="http://schemas.openxmlformats.org/officeDocument/2006/relationships/notesMaster" Target="/ppt/notesMasters/notesMaster1.xml" Id="Rc2136e15c876401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f7f202f3b8a464a" /><Relationship Type="http://schemas.openxmlformats.org/officeDocument/2006/relationships/notesMaster" Target="/ppt/notesMasters/notesMaster1.xml" Id="Rbbc9d87215734a5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0edb592f0bf4e1d" /><Relationship Type="http://schemas.openxmlformats.org/officeDocument/2006/relationships/notesMaster" Target="/ppt/notesMasters/notesMaster1.xml" Id="R772c7809caa24ce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1eec9d105e24669" /><Relationship Type="http://schemas.openxmlformats.org/officeDocument/2006/relationships/notesMaster" Target="/ppt/notesMasters/notesMaster1.xml" Id="R07ad9f14975d4f9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b2968aa01204703" /><Relationship Type="http://schemas.openxmlformats.org/officeDocument/2006/relationships/notesMaster" Target="/ppt/notesMasters/notesMaster1.xml" Id="R54849806df67404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ea763f469084b42" /><Relationship Type="http://schemas.openxmlformats.org/officeDocument/2006/relationships/notesMaster" Target="/ppt/notesMasters/notesMaster1.xml" Id="R24cd77e4dfad413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b7752b69b664fbd" /><Relationship Type="http://schemas.openxmlformats.org/officeDocument/2006/relationships/notesMaster" Target="/ppt/notesMasters/notesMaster1.xml" Id="R60a974bd229949e9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874df76f63f844fe" /><Relationship Type="http://schemas.openxmlformats.org/officeDocument/2006/relationships/notesMaster" Target="/ppt/notesMasters/notesMaster1.xml" Id="Re31a0015d4424229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48a215e71a264609" /><Relationship Type="http://schemas.openxmlformats.org/officeDocument/2006/relationships/notesMaster" Target="/ppt/notesMasters/notesMaster1.xml" Id="R9618494c674b47f8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0c96fd87430e4f67" /><Relationship Type="http://schemas.openxmlformats.org/officeDocument/2006/relationships/notesMaster" Target="/ppt/notesMasters/notesMaster1.xml" Id="R92e8c5e1ac484b93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69eb1e755a964eb8" /><Relationship Type="http://schemas.openxmlformats.org/officeDocument/2006/relationships/notesMaster" Target="/ppt/notesMasters/notesMaster1.xml" Id="Re7fa4434b26b4780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e0479601080a43e6" /><Relationship Type="http://schemas.openxmlformats.org/officeDocument/2006/relationships/notesMaster" Target="/ppt/notesMasters/notesMaster1.xml" Id="R2fedaa00789b4218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77c205121be14184" /><Relationship Type="http://schemas.openxmlformats.org/officeDocument/2006/relationships/notesMaster" Target="/ppt/notesMasters/notesMaster1.xml" Id="Ra23e6192e0f94858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83fe3edf90f6418a" /><Relationship Type="http://schemas.openxmlformats.org/officeDocument/2006/relationships/notesMaster" Target="/ppt/notesMasters/notesMaster1.xml" Id="Rc3c60bb5d65c4cde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b4aac2928f954721" /><Relationship Type="http://schemas.openxmlformats.org/officeDocument/2006/relationships/notesMaster" Target="/ppt/notesMasters/notesMaster1.xml" Id="Rbe162ec15e5b41c3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b41f0c736e184149" /><Relationship Type="http://schemas.openxmlformats.org/officeDocument/2006/relationships/notesMaster" Target="/ppt/notesMasters/notesMaster1.xml" Id="R9968656da6fa4930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fe6d82510e214516" /><Relationship Type="http://schemas.openxmlformats.org/officeDocument/2006/relationships/notesMaster" Target="/ppt/notesMasters/notesMaster1.xml" Id="R62c6b023a1064433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201bd6e36e3747fc" /><Relationship Type="http://schemas.openxmlformats.org/officeDocument/2006/relationships/notesMaster" Target="/ppt/notesMasters/notesMaster1.xml" Id="Rfc2c26aeb2664f4b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bea7a3c4f52b4e7d" /><Relationship Type="http://schemas.openxmlformats.org/officeDocument/2006/relationships/notesMaster" Target="/ppt/notesMasters/notesMaster1.xml" Id="Rb7b9c72d176e439b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d7f1313c2c064293" /><Relationship Type="http://schemas.openxmlformats.org/officeDocument/2006/relationships/notesMaster" Target="/ppt/notesMasters/notesMaster1.xml" Id="R57cddb74cc5a424f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6a47f5475fcd4133" /><Relationship Type="http://schemas.openxmlformats.org/officeDocument/2006/relationships/notesMaster" Target="/ppt/notesMasters/notesMaster1.xml" Id="Rb56bd9a78130456f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4322289c8c024416" /><Relationship Type="http://schemas.openxmlformats.org/officeDocument/2006/relationships/notesMaster" Target="/ppt/notesMasters/notesMaster1.xml" Id="Rb1691d08d7dc411b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3665278320b64ae5" /><Relationship Type="http://schemas.openxmlformats.org/officeDocument/2006/relationships/notesMaster" Target="/ppt/notesMasters/notesMaster1.xml" Id="R292eabf06d134aae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a57a642619cb4812" /><Relationship Type="http://schemas.openxmlformats.org/officeDocument/2006/relationships/notesMaster" Target="/ppt/notesMasters/notesMaster1.xml" Id="R47ba0e03508c4057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28135be01f644dee" /><Relationship Type="http://schemas.openxmlformats.org/officeDocument/2006/relationships/notesMaster" Target="/ppt/notesMasters/notesMaster1.xml" Id="R8eff8c00ea1b4311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94b095464a9a41e9" /><Relationship Type="http://schemas.openxmlformats.org/officeDocument/2006/relationships/notesMaster" Target="/ppt/notesMasters/notesMaster1.xml" Id="Re1911290b37f40f6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96443a8194fe4b5f" /><Relationship Type="http://schemas.openxmlformats.org/officeDocument/2006/relationships/notesMaster" Target="/ppt/notesMasters/notesMaster1.xml" Id="Rfc407e23243446d7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3eb0983e66794713" /><Relationship Type="http://schemas.openxmlformats.org/officeDocument/2006/relationships/notesMaster" Target="/ppt/notesMasters/notesMaster1.xml" Id="R3b7464dc41fc4215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3c4f8b96160e4555" /><Relationship Type="http://schemas.openxmlformats.org/officeDocument/2006/relationships/notesMaster" Target="/ppt/notesMasters/notesMaster1.xml" Id="R543b51ca450946cd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424bf4d1da1f4001" /><Relationship Type="http://schemas.openxmlformats.org/officeDocument/2006/relationships/notesMaster" Target="/ppt/notesMasters/notesMaster1.xml" Id="Ra669ebecae474c9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KMB689 Wk10 Block 1 | mapping: R1 | source: BUSS256 source slide 1; KMB689 source slide 1 branding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KMB689 Wk10 Block 1 | mapping: R2 | source: BUSS256 source slide 2; Wk10 deck plan §4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KMB689 Wk10 Block 1 | mapping: R5+R6 | source: BUSS256 source slides 5 and 6; exact source strings retained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spcBef>
                <a:spcPct val="0"/>
              </a:spcBef>
              <a:buNone/>
            </a:pPr>
            <a:r>
              <a:t>KMB689 Wk10 Block 1 | mapping: N1 | source: MBA_S10_Block1_LectureNotes_KR.md §1.1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spcBef>
                <a:spcPct val="0"/>
              </a:spcBef>
              <a:buNone/>
            </a:pPr>
            <a:r>
              <a:t>KMB689 Wk10 Block 1 | mapping: N2 | source: MBA_S10_Block1_LectureNotes_KR.md §1.1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spcBef>
                <a:spcPct val="0"/>
              </a:spcBef>
              <a:buNone/>
            </a:pPr>
            <a:r>
              <a:t>KMB689 Wk10 Block 1 | mapping: N3 | source: MBA_S10_Block1_LectureNotes_KR.md §1.1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KMB689 Wk10 Block 1 | mapping: R4 | source: BUSS256 source slide 4; exact source slide retained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KMB689 Wk10 Block 1 | mapping: R9 | source: BUSS256 source slide 9; exact source slide retained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KMB689 Wk10 Block 1 | mapping: R10 | source: BUSS256 source slide 10; exact source slide retained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KMB689 Wk10 Block 1 | mapping: R11 | source: BUSS256 source slide 11; exact source slide retained</a:t>
            </a:r>
            <a:endParaRPr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KMB689 Wk10 Block 1 | mapping: R12+R13 | source: BUSS256 source slides 12 and 13; source strings retained verbatim</a:t>
            </a:r>
            <a:endParaRPr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KMB689 Wk10 Block 1 | mapping: R15 | source: BUSS256 source slide 15; source strings retained verbatim</a:t>
            </a:r>
            <a:endParaRPr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>
              <a:buFont typeface="Wingdings 2"/>
              <a:buNone/>
            </a:pPr>
            <a:r>
              <a:rPr b="1"/>
              <a:t>KMB689 Wk10 Block 1 | mapping: R17+R20 | source: BUSS256 source slides 17 and 20; source strings retained verbatim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KMB689 Wk10 Block 1 | mapping: R18 | source: BUSS256 source slide 18; exact source slide retained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KMB689 Wk10 Block 1 | mapping: R19 | source: BUSS256 source slide 19; exact source slide retained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spcBef>
                <a:spcPct val="0"/>
              </a:spcBef>
              <a:buNone/>
            </a:pPr>
            <a:r>
              <a:t>KMB689 Wk10 Block 1 | mapping: R24+R25 | source: BUSS256 source slides 24 and 25; source strings retained verbatim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spcBef>
                <a:spcPct val="0"/>
              </a:spcBef>
              <a:buNone/>
            </a:pPr>
            <a:r>
              <a:t>KMB689 Wk10 Block 1 | mapping: N4 | source: MBA_S10_Block1_LectureNotes_KR.md §1.2; 신규 — 포크 원본 부재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KMB689 Wk10 Block 1 | mapping: R23 | source: BUSS256 source slide 23; DBSCAN added from S10 blueprint §1.3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spcBef>
                <a:spcPct val="0"/>
              </a:spcBef>
              <a:buNone/>
            </a:pPr>
            <a:r>
              <a:t>KMB689 Wk10 Block 1 | mapping: R53+R56+R60 | source: BUSS256 source slides 53, 56 and 60; exact source strings retained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spcBef>
                <a:spcPct val="0"/>
              </a:spcBef>
              <a:buNone/>
            </a:pPr>
            <a:r>
              <a:t>KMB689 Wk10 Block 1 | mapping: N5 | source: MBA_S10_Block1_LectureNotes_KR.md §1.3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spcBef>
                <a:spcPct val="0"/>
              </a:spcBef>
              <a:buNone/>
            </a:pPr>
            <a:r>
              <a:t>KMB689 Wk10 Block 1 | mapping: N6 | source: MBA_S10_Clustering_blueprint.md §1.3; editable native concept diagram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spcBef>
                <a:spcPct val="0"/>
              </a:spcBef>
              <a:buNone/>
            </a:pPr>
            <a:r>
              <a:t>KMB689 Wk10 Block 1 | mapping: N7 | source: MBA_S10_Block1_LectureNotes_KR.md §1.3; BUSS256 source slides 53 and 60 contrast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spcBef>
                <a:spcPct val="0"/>
              </a:spcBef>
              <a:buNone/>
            </a:pPr>
            <a:r>
              <a:t>KMB689 Wk10 Block 1 | mapping: N8 | source: MBA_S10_Block1_LectureNotes_KR.md §1.3 and §1.4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spcBef>
                <a:spcPct val="0"/>
              </a:spcBef>
              <a:buNone/>
            </a:pPr>
            <a:r>
              <a:t>KMB689 Wk10 Block 1 | mapping: N9 | source: MBA_S10_Block1_LectureNotes_KR.md §1.3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KMB689 Wk10 Block 1 | mapping: R50+R63 | source: BUSS256 source slides 50 and 63; exact source strings retained verbatim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spcBef>
                <a:spcPct val="0"/>
              </a:spcBef>
              <a:buNone/>
            </a:pPr>
            <a:r>
              <a:t>KMB689 Wk10 Block 1 | mapping: R62 | source: BUSS256 source slide 62; exact source slide retained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spcBef>
                <a:spcPct val="0"/>
              </a:spcBef>
              <a:buNone/>
            </a:pPr>
            <a:r>
              <a:t>KMB689 Wk10 Block 1 | mapping: N10 | source: MBA_S10_Block1_LectureNotes_KR.md §1.4(가)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spcBef>
                <a:spcPct val="0"/>
              </a:spcBef>
              <a:buNone/>
            </a:pPr>
            <a:r>
              <a:t>KMB689 Wk10 Block 1 | mapping: N11 | source: MBA_S10_Block1_LectureNotes_KR.md §1.2 and §1.4(나)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spcBef>
                <a:spcPct val="0"/>
              </a:spcBef>
              <a:buNone/>
            </a:pPr>
            <a:r>
              <a:t>KMB689 Wk10 Block 1 | mapping: N12 | source: MBA_S10_Block1_LectureNotes_KR.md §1.4(나)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spcBef>
                <a:spcPct val="0"/>
              </a:spcBef>
              <a:buNone/>
            </a:pPr>
            <a:r>
              <a:t>KMB689 Wk10 Block 1 | mapping: N13 | source: MBA_S10_Block1_LectureNotes_KR.md §1.4 균형점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spcBef>
                <a:spcPct val="0"/>
              </a:spcBef>
              <a:buNone/>
            </a:pPr>
            <a:r>
              <a:t>KMB689 Wk10 Block 1 | mapping: R61 | source: BUSS256 source slide 61; title retained verbatim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spcBef>
                <a:spcPct val="0"/>
              </a:spcBef>
              <a:buNone/>
            </a:pPr>
            <a:r>
              <a:t>KMB689 Wk10 Block 1 | mapping: N14 | source: MBA_S10_Block1_LectureNotes_KR.md §1.5; approved two-stage profile-reading questions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spcBef>
                <a:spcPct val="0"/>
              </a:spcBef>
              <a:buNone/>
            </a:pPr>
            <a:r>
              <a:t>KMB689 Wk10 Block 1 | mapping: N15 | source: MBA_S10_Block1_LectureNotes_KR.md §1.5; MBA_S10_Clustering_blueprint.md §5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spcBef>
                <a:spcPct val="0"/>
              </a:spcBef>
              <a:buNone/>
            </a:pPr>
            <a:r>
              <a:t>KMB689 Wk10 Block 1 | mapping: N16 | source: MBA_S10_Block1_LectureNotes_KR.md §1.5 closing bridge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spcBef>
                <a:spcPct val="0"/>
              </a:spcBef>
              <a:buNone/>
            </a:pPr>
            <a:r>
              <a:t>KMB689 Wk10 Block 1 | mapping: R64 | source: BUSS256 source slide 64; source strings retained verbatim; S10 lecture notes balance point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5701d01d5d7410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e838f226b9741c4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7247ea6a8d643ea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ca51ea82be14257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230b3e861924c7c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7321749812b410f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1bdacaee44b4dba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9dea7ad52ee4b83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56ac909a0464f0a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37c4b617af24b16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9be4593ff0e426a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f3c4d14fb67407f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3c570f2143a4a89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E88AAA0-7D0E-4CCB-89A1-B4F8453EF8F5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69409011-7EAC-434F-8C43-68E794F67FFD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  <p:sp>
        <p:nvSpPr>
          <p:cNvPr id="4" name="Rectangle 4">
            <a:extLst xmlns:a="http://schemas.openxmlformats.org/drawingml/2006/main">
              <a:ext uri="{FF2B5EF4-FFF2-40B4-BE49-F238E27FC236}">
                <a16:creationId xmlns:a16="http://schemas.microsoft.com/office/drawing/2014/main" id="{7858D43C-3937-47C0-9378-BC57269562E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fld id="{B705AE00-62F9-4143-993B-1863C8C022E8}" type="datetime1">
              <a:t>11/24/2025</a:t>
            </a:fld>
            <a:endParaRPr/>
          </a:p>
        </p:txBody>
      </p:sp>
      <p:sp>
        <p:nvSpPr>
          <p:cNvPr id="5" name="Rectangle 5">
            <a:extLst xmlns:a="http://schemas.openxmlformats.org/drawingml/2006/main">
              <a:ext uri="{FF2B5EF4-FFF2-40B4-BE49-F238E27FC236}">
                <a16:creationId xmlns:a16="http://schemas.microsoft.com/office/drawing/2014/main" id="{B0F2A3E2-B5EF-4FE0-B61B-5B7B8903BBD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Rectangle 6">
            <a:extLst xmlns:a="http://schemas.openxmlformats.org/drawingml/2006/main">
              <a:ext uri="{FF2B5EF4-FFF2-40B4-BE49-F238E27FC236}">
                <a16:creationId xmlns:a16="http://schemas.microsoft.com/office/drawing/2014/main" id="{2498110A-2D22-4527-9899-85AE3CBDFE4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fld id="{5C28E9E4-895D-4670-9E80-3D9F25DEC05A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C585256-349C-48B4-A61D-5F29B926A20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 algn="ctr">
              <a:buNone/>
              <a:defRPr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166CB7A8-CF16-44E8-8964-7F2367A83D4C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latin typeface="Times New Roman"/>
                <a:ea typeface="Times New Roman"/>
                <a:cs typeface="Times New Roman"/>
              </a:defRPr>
            </a:lvl1pPr>
            <a:lvl2pPr>
              <a:buNone/>
              <a:defRPr>
                <a:latin typeface="Times New Roman"/>
                <a:ea typeface="Times New Roman"/>
                <a:cs typeface="Times New Roman"/>
              </a:defRPr>
            </a:lvl2pPr>
            <a:lvl3pPr>
              <a:buNone/>
              <a:defRPr>
                <a:latin typeface="Times New Roman"/>
                <a:ea typeface="Times New Roman"/>
                <a:cs typeface="Times New Roman"/>
              </a:defRPr>
            </a:lvl3pPr>
            <a:lvl4pPr>
              <a:buNone/>
              <a:defRPr>
                <a:latin typeface="Times New Roman"/>
                <a:ea typeface="Times New Roman"/>
                <a:cs typeface="Times New Roman"/>
              </a:defRPr>
            </a:lvl4pPr>
            <a:lvl5pPr>
              <a:buNone/>
              <a:defRPr>
                <a:latin typeface="Times New Roman"/>
                <a:ea typeface="Times New Roman"/>
                <a:cs typeface="Times New Roman"/>
              </a:defRPr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Rectangle 4">
            <a:extLst xmlns:a="http://schemas.openxmlformats.org/drawingml/2006/main">
              <a:ext uri="{FF2B5EF4-FFF2-40B4-BE49-F238E27FC236}">
                <a16:creationId xmlns:a16="http://schemas.microsoft.com/office/drawing/2014/main" id="{C8341DA2-BFA5-446E-9DC5-1DC6D955FE4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fld id="{88D0D81E-17DE-448F-8B6C-A479E395BFD4}" type="datetime1">
              <a:t>11/24/2025</a:t>
            </a:fld>
            <a:endParaRPr/>
          </a:p>
        </p:txBody>
      </p:sp>
      <p:sp>
        <p:nvSpPr>
          <p:cNvPr id="5" name="Rectangle 5">
            <a:extLst xmlns:a="http://schemas.openxmlformats.org/drawingml/2006/main">
              <a:ext uri="{FF2B5EF4-FFF2-40B4-BE49-F238E27FC236}">
                <a16:creationId xmlns:a16="http://schemas.microsoft.com/office/drawing/2014/main" id="{3293E8AE-35E4-4C95-9970-C31703208EC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Rectangle 6">
            <a:extLst xmlns:a="http://schemas.openxmlformats.org/drawingml/2006/main">
              <a:ext uri="{FF2B5EF4-FFF2-40B4-BE49-F238E27FC236}">
                <a16:creationId xmlns:a16="http://schemas.microsoft.com/office/drawing/2014/main" id="{F886A685-A824-4D19-B4FD-43B54A5F3BE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fld id="{671E1124-AAFE-4B32-88E7-E05AC4DCCFCB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16D952F-F4C0-4D3F-964A-3C4EDD241A1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2313" y="4406900"/>
            <a:ext cx="7772400" cy="136207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4000" b="1" cap="all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9214D8DD-91A0-4F35-9250-DA84FFF3F09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2313" y="2906713"/>
            <a:ext cx="7772400" cy="1500187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Rectangle 4">
            <a:extLst xmlns:a="http://schemas.openxmlformats.org/drawingml/2006/main">
              <a:ext uri="{FF2B5EF4-FFF2-40B4-BE49-F238E27FC236}">
                <a16:creationId xmlns:a16="http://schemas.microsoft.com/office/drawing/2014/main" id="{02B79D58-C97F-48A9-A326-816ABB22EA5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fld id="{C1423F2F-C7EB-46D3-BBD9-C5D0D0E50C64}" type="datetime1">
              <a:t>11/24/2025</a:t>
            </a:fld>
            <a:endParaRPr/>
          </a:p>
        </p:txBody>
      </p:sp>
      <p:sp>
        <p:nvSpPr>
          <p:cNvPr id="5" name="Rectangle 5">
            <a:extLst xmlns:a="http://schemas.openxmlformats.org/drawingml/2006/main">
              <a:ext uri="{FF2B5EF4-FFF2-40B4-BE49-F238E27FC236}">
                <a16:creationId xmlns:a16="http://schemas.microsoft.com/office/drawing/2014/main" id="{7EB9E341-FEA5-4AE1-A4E8-6A0AA9AE70C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Rectangle 6">
            <a:extLst xmlns:a="http://schemas.openxmlformats.org/drawingml/2006/main">
              <a:ext uri="{FF2B5EF4-FFF2-40B4-BE49-F238E27FC236}">
                <a16:creationId xmlns:a16="http://schemas.microsoft.com/office/drawing/2014/main" id="{CBEBFC25-B664-494C-A465-A7133A0CE6C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fld id="{7B5C51C9-2712-4E97-A7FF-63EFF4854C80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1020904-92B0-4E14-A6DB-6CA8E714C5A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40D104B2-13BD-4131-8644-BC583B068C1A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85800" y="1981200"/>
            <a:ext cx="3810000" cy="4114800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F4CDD71B-98B5-48FC-9DD4-10B3AA9EAE40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648200" y="1981200"/>
            <a:ext cx="3810000" cy="4114800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45A73E36-7D7E-4563-9738-8D40D6B408A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fld id="{44D10BC0-9F06-40AD-B43C-7E5F01932528}" type="datetime1">
              <a:t>11/24/2025</a:t>
            </a:fld>
            <a:endParaRPr/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7DFE2D99-340A-4CC8-BB1B-CEB34EEEFB9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37B1A00E-FB8F-4E54-9D11-9831F7FA86A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fld id="{904F8522-CE31-448D-B08A-6F6EE6C3EC6E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BFB7DA7-B3EA-41B3-B78D-F41CD7A6186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38"/>
            <a:ext cx="8229600" cy="1143000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AFA8791A-574E-446E-B006-328CE75AFA7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35113"/>
            <a:ext cx="4040188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5C7C0A5C-FB26-41E4-8DAC-D94C198DAF4F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57200" y="2174875"/>
            <a:ext cx="4040188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24C4E83E-01EC-4B02-93BD-3311D03E476F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45025" y="1535113"/>
            <a:ext cx="4041775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9C4D4720-4824-44B5-B395-E77F1E5FA587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4645025" y="2174875"/>
            <a:ext cx="4041775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7" name="Rectangle 4">
            <a:extLst xmlns:a="http://schemas.openxmlformats.org/drawingml/2006/main">
              <a:ext uri="{FF2B5EF4-FFF2-40B4-BE49-F238E27FC236}">
                <a16:creationId xmlns:a16="http://schemas.microsoft.com/office/drawing/2014/main" id="{CE92F4F4-99AF-4055-B002-9FFDB853E4F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fld id="{F2382B94-6D91-414F-8EDA-6FF84FC5DAB8}" type="datetime1">
              <a:t>11/24/2025</a:t>
            </a:fld>
            <a:endParaRPr/>
          </a:p>
        </p:txBody>
      </p:sp>
      <p:sp>
        <p:nvSpPr>
          <p:cNvPr id="8" name="Rectangle 5">
            <a:extLst xmlns:a="http://schemas.openxmlformats.org/drawingml/2006/main">
              <a:ext uri="{FF2B5EF4-FFF2-40B4-BE49-F238E27FC236}">
                <a16:creationId xmlns:a16="http://schemas.microsoft.com/office/drawing/2014/main" id="{DE30D4F7-20A5-4C33-9432-53BA1BB305B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9" name="Rectangle 6">
            <a:extLst xmlns:a="http://schemas.openxmlformats.org/drawingml/2006/main">
              <a:ext uri="{FF2B5EF4-FFF2-40B4-BE49-F238E27FC236}">
                <a16:creationId xmlns:a16="http://schemas.microsoft.com/office/drawing/2014/main" id="{090A6B7A-B85B-409B-AFB3-8C473A97F5E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fld id="{BA6D487E-BDEE-4851-86A5-17A3311FDCC2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ECFCA73-E16E-4FC1-B3A3-0648F5E579A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Rectangle 4">
            <a:extLst xmlns:a="http://schemas.openxmlformats.org/drawingml/2006/main">
              <a:ext uri="{FF2B5EF4-FFF2-40B4-BE49-F238E27FC236}">
                <a16:creationId xmlns:a16="http://schemas.microsoft.com/office/drawing/2014/main" id="{3FBEEB17-856C-452C-B3DC-C204F20B77D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fld id="{A19C79D2-A963-4E0F-A1FB-31B269CC0109}" type="datetime1">
              <a:t>11/24/2025</a:t>
            </a:fld>
            <a:endParaRPr/>
          </a:p>
        </p:txBody>
      </p:sp>
      <p:sp>
        <p:nvSpPr>
          <p:cNvPr id="4" name="Rectangle 5">
            <a:extLst xmlns:a="http://schemas.openxmlformats.org/drawingml/2006/main">
              <a:ext uri="{FF2B5EF4-FFF2-40B4-BE49-F238E27FC236}">
                <a16:creationId xmlns:a16="http://schemas.microsoft.com/office/drawing/2014/main" id="{4AB308B1-04B2-4F66-8681-0276D320FC7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5" name="Rectangle 6">
            <a:extLst xmlns:a="http://schemas.openxmlformats.org/drawingml/2006/main">
              <a:ext uri="{FF2B5EF4-FFF2-40B4-BE49-F238E27FC236}">
                <a16:creationId xmlns:a16="http://schemas.microsoft.com/office/drawing/2014/main" id="{5884CAA5-0EAD-4825-8084-56B5EA8ACED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fld id="{C828D00C-05D5-46F6-B663-D90FF7CE71DF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4">
            <a:extLst xmlns:a="http://schemas.openxmlformats.org/drawingml/2006/main">
              <a:ext uri="{FF2B5EF4-FFF2-40B4-BE49-F238E27FC236}">
                <a16:creationId xmlns:a16="http://schemas.microsoft.com/office/drawing/2014/main" id="{AB5B046A-70FD-4A25-9D4E-3DBB6FB6A8A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fld id="{BCDF9E83-24E7-45DD-98B5-550F253CB679}" type="datetime1">
              <a:t>11/24/2025</a:t>
            </a:fld>
            <a:endParaRPr/>
          </a:p>
        </p:txBody>
      </p:sp>
      <p:sp>
        <p:nvSpPr>
          <p:cNvPr id="3" name="Rectangle 5">
            <a:extLst xmlns:a="http://schemas.openxmlformats.org/drawingml/2006/main">
              <a:ext uri="{FF2B5EF4-FFF2-40B4-BE49-F238E27FC236}">
                <a16:creationId xmlns:a16="http://schemas.microsoft.com/office/drawing/2014/main" id="{725FA8F3-6BEE-4DDB-843E-0E44411E12B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4" name="Rectangle 6">
            <a:extLst xmlns:a="http://schemas.openxmlformats.org/drawingml/2006/main">
              <a:ext uri="{FF2B5EF4-FFF2-40B4-BE49-F238E27FC236}">
                <a16:creationId xmlns:a16="http://schemas.microsoft.com/office/drawing/2014/main" id="{467B67F5-F0B9-4F5C-92CA-D7696B99A7B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fld id="{9F00D36F-BE95-4673-AB59-2082A0514CDC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6FAB38B-8B3C-4379-8F8B-75CD1ECE323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3050"/>
            <a:ext cx="3008313" cy="11620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BCF39BD8-3974-4DEC-990B-E7C72023235B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575050" y="273050"/>
            <a:ext cx="5111750" cy="585311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EF3B9D9-C6CD-49D3-8699-A12CA269C738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57200" y="1435100"/>
            <a:ext cx="3008313" cy="4691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122C49A2-AECE-4042-9426-F315EA6AD28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fld id="{5FE4C570-C314-4DC3-9E5C-FCE90EB939F7}" type="datetime1">
              <a:t>11/24/2025</a:t>
            </a:fld>
            <a:endParaRPr/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A269BF8B-863C-43D2-BCAD-0831EB6631F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4D915523-ED4E-4E90-8071-750DD5AB14A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fld id="{5D385BBD-D4B0-49A5-BBD8-AE5B5D692CA9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D57774F-7231-4983-B36E-59851090073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792288" y="4800600"/>
            <a:ext cx="5486400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6E4D15AD-09A6-4F3C-8E9F-F84AFC3BF831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1792288" y="612775"/>
            <a:ext cx="5486400" cy="41148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icon to add picture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385E254B-DAF8-4C97-AE85-2A97C597769D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792288" y="5367338"/>
            <a:ext cx="5486400" cy="80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E533081E-8B44-47D0-998B-7ABA9E5E3E9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fld id="{62374550-06E6-4808-B1F6-E1B604477A26}" type="datetime1">
              <a:t>11/24/2025</a:t>
            </a:fld>
            <a:endParaRPr/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BAAAE63E-0085-48FF-B63E-C77BF215AC4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A9DEA781-BDDC-4477-9D0C-AF009695627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fld id="{0FF0854A-3F07-4B4E-9E99-DDEEDBA0C1DD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F006999-A3AE-4205-8039-CC95CEB9751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E7DEB085-8F22-4D68-B61B-AB12E469070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Rectangle 4">
            <a:extLst xmlns:a="http://schemas.openxmlformats.org/drawingml/2006/main">
              <a:ext uri="{FF2B5EF4-FFF2-40B4-BE49-F238E27FC236}">
                <a16:creationId xmlns:a16="http://schemas.microsoft.com/office/drawing/2014/main" id="{E9D88886-5FDE-40BA-A00E-2E862EC75CB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fld id="{7092444D-9CB4-46D2-97C9-D32E3340B2C9}" type="datetime1">
              <a:t>11/24/2025</a:t>
            </a:fld>
            <a:endParaRPr/>
          </a:p>
        </p:txBody>
      </p:sp>
      <p:sp>
        <p:nvSpPr>
          <p:cNvPr id="5" name="Rectangle 5">
            <a:extLst xmlns:a="http://schemas.openxmlformats.org/drawingml/2006/main">
              <a:ext uri="{FF2B5EF4-FFF2-40B4-BE49-F238E27FC236}">
                <a16:creationId xmlns:a16="http://schemas.microsoft.com/office/drawing/2014/main" id="{A5DCA3CA-23DC-4817-83C4-4D66F74FB23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Rectangle 6">
            <a:extLst xmlns:a="http://schemas.openxmlformats.org/drawingml/2006/main">
              <a:ext uri="{FF2B5EF4-FFF2-40B4-BE49-F238E27FC236}">
                <a16:creationId xmlns:a16="http://schemas.microsoft.com/office/drawing/2014/main" id="{73B47A4D-C0E9-44D6-8552-F7BB460EAAF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fld id="{18142467-FF3D-4801-90BD-851D69D8B16E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11AD43CE-D867-4BAC-881B-0A032298475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515100" y="609600"/>
            <a:ext cx="1943100" cy="5486400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A91CA3FF-83BC-44B8-B93F-72BB668AC74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609600"/>
            <a:ext cx="5676900" cy="5486400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Rectangle 4">
            <a:extLst xmlns:a="http://schemas.openxmlformats.org/drawingml/2006/main">
              <a:ext uri="{FF2B5EF4-FFF2-40B4-BE49-F238E27FC236}">
                <a16:creationId xmlns:a16="http://schemas.microsoft.com/office/drawing/2014/main" id="{28E954F6-03DB-4142-BC61-55FDFC855FE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fld id="{0C4AFD5A-FCDE-446B-AE9D-4074EBFE56A7}" type="datetime1">
              <a:t>11/24/2025</a:t>
            </a:fld>
            <a:endParaRPr/>
          </a:p>
        </p:txBody>
      </p:sp>
      <p:sp>
        <p:nvSpPr>
          <p:cNvPr id="5" name="Rectangle 5">
            <a:extLst xmlns:a="http://schemas.openxmlformats.org/drawingml/2006/main">
              <a:ext uri="{FF2B5EF4-FFF2-40B4-BE49-F238E27FC236}">
                <a16:creationId xmlns:a16="http://schemas.microsoft.com/office/drawing/2014/main" id="{2619298F-0ABF-4929-871A-0A79D89CB68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Rectangle 6">
            <a:extLst xmlns:a="http://schemas.openxmlformats.org/drawingml/2006/main">
              <a:ext uri="{FF2B5EF4-FFF2-40B4-BE49-F238E27FC236}">
                <a16:creationId xmlns:a16="http://schemas.microsoft.com/office/drawing/2014/main" id="{A61B9363-1BDA-401F-9C54-3497C42A8B2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fld id="{CF4057F2-67D6-40D1-805F-9945AC9DB925}" type="slidenum">
              <a:t>‹#›</a:t>
            </a:fld>
            <a:endParaRPr/>
          </a:p>
        </p:txBody>
      </p:sp>
    </p:spTree>
  </p:cSld>
</p:sldLayout>
</file>

<file path=ppt/slideLayouts/slideLayout12.xml><?xml version="1.0" encoding="utf-8"?>
<p:sldLayout xmlns:p="http://schemas.openxmlformats.org/presentationml/2006/main">
  <p:cSld name="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6C2FDC3-B00A-482C-8955-3084E856798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AB8FEA2C-918A-443C-9666-57259AE9F8F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F5F77792-60C5-423F-A0DF-A75069C71436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>
          <a:xfrm xmlns:a="http://schemas.openxmlformats.org/drawingml/2006/main">
            <a:off x="0" y="6770688"/>
            <a:ext cx="98425" cy="8731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A5E2A42-B0FD-4EF1-B58B-4BFEA430D3C6}" type="slidenum">
              <a:t>‹#›</a:t>
            </a:fld>
            <a:endParaRPr/>
          </a:p>
        </p:txBody>
      </p:sp>
    </p:spTree>
  </p:cSld>
</p:sldLayout>
</file>

<file path=ppt/slideLayouts/slideLayout13.xml><?xml version="1.0" encoding="utf-8"?>
<p:sldLayout xmlns:p="http://schemas.openxmlformats.org/presentationml/2006/main">
  <p:cSld name="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Rectangle 44">
            <a:extLst xmlns:a="http://schemas.openxmlformats.org/drawingml/2006/main">
              <a:ext uri="{FF2B5EF4-FFF2-40B4-BE49-F238E27FC236}">
                <a16:creationId xmlns:a16="http://schemas.microsoft.com/office/drawing/2014/main" id="{74060935-1875-4A18-A24C-8F5505B8E9C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457200"/>
            <a:ext cx="8458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title style</a:t>
            </a:r>
            <a:endParaRPr/>
          </a:p>
        </p:txBody>
      </p:sp>
      <p:sp>
        <p:nvSpPr>
          <p:cNvPr id="6" name="Rectangle 45">
            <a:extLst xmlns:a="http://schemas.openxmlformats.org/drawingml/2006/main">
              <a:ext uri="{FF2B5EF4-FFF2-40B4-BE49-F238E27FC236}">
                <a16:creationId xmlns:a16="http://schemas.microsoft.com/office/drawing/2014/main" id="{5D833E6A-9BFC-46C6-BE6B-973BCF9DE140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85800" y="1078992"/>
            <a:ext cx="78486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baseline="0">
                <a:solidFill>
                  <a:srgbClr val="000000"/>
                </a:solidFill>
              </a:defRPr>
            </a:lvl1pPr>
            <a:lvl2pPr>
              <a:buNone/>
              <a:defRPr baseline="0">
                <a:solidFill>
                  <a:srgbClr val="000000"/>
                </a:solidFill>
              </a:defRPr>
            </a:lvl2pPr>
            <a:lvl3pPr>
              <a:buNone/>
              <a:defRPr baseline="0">
                <a:solidFill>
                  <a:srgbClr val="000000"/>
                </a:solidFill>
              </a:defRPr>
            </a:lvl3pPr>
            <a:lvl4pPr>
              <a:buNone/>
              <a:defRPr baseline="0">
                <a:solidFill>
                  <a:srgbClr val="000000"/>
                </a:solidFill>
              </a:defRPr>
            </a:lvl4pPr>
            <a:lvl5pPr>
              <a:buNone/>
              <a:defRPr baseline="0">
                <a:solidFill>
                  <a:srgbClr val="000000"/>
                </a:solidFill>
              </a:defRPr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image" Target="/ppt/media/image.png" Id="R891b97d9ee5042f7" /><Relationship Type="http://schemas.openxmlformats.org/officeDocument/2006/relationships/theme" Target="/ppt/slideMasters/theme/theme2.xml" Id="R7ce43a3f76364993" /><Relationship Type="http://schemas.openxmlformats.org/officeDocument/2006/relationships/slideLayout" Target="/ppt/slideLayouts/slideLayout1.xml" Id="R218ee467f9f34870" /><Relationship Type="http://schemas.openxmlformats.org/officeDocument/2006/relationships/slideLayout" Target="/ppt/slideLayouts/slideLayout2.xml" Id="R93cc1179019b4527" /><Relationship Type="http://schemas.openxmlformats.org/officeDocument/2006/relationships/slideLayout" Target="/ppt/slideLayouts/slideLayout3.xml" Id="R1dc963eee36f4fdd" /><Relationship Type="http://schemas.openxmlformats.org/officeDocument/2006/relationships/slideLayout" Target="/ppt/slideLayouts/slideLayout4.xml" Id="R111c87d30d95457a" /><Relationship Type="http://schemas.openxmlformats.org/officeDocument/2006/relationships/slideLayout" Target="/ppt/slideLayouts/slideLayout5.xml" Id="Rf9a65a0ea0674266" /><Relationship Type="http://schemas.openxmlformats.org/officeDocument/2006/relationships/slideLayout" Target="/ppt/slideLayouts/slideLayout6.xml" Id="R31218f7395bf44a2" /><Relationship Type="http://schemas.openxmlformats.org/officeDocument/2006/relationships/slideLayout" Target="/ppt/slideLayouts/slideLayout7.xml" Id="Rcb759ad86c354e10" /><Relationship Type="http://schemas.openxmlformats.org/officeDocument/2006/relationships/slideLayout" Target="/ppt/slideLayouts/slideLayout8.xml" Id="R326c61a4bfc24d91" /><Relationship Type="http://schemas.openxmlformats.org/officeDocument/2006/relationships/slideLayout" Target="/ppt/slideLayouts/slideLayout9.xml" Id="R907d7fb7ad1a4450" /><Relationship Type="http://schemas.openxmlformats.org/officeDocument/2006/relationships/slideLayout" Target="/ppt/slideLayouts/slideLayout10.xml" Id="R48717f8dc5dc4477" /><Relationship Type="http://schemas.openxmlformats.org/officeDocument/2006/relationships/slideLayout" Target="/ppt/slideLayouts/slideLayout11.xml" Id="Re31dfa78bef04240" /><Relationship Type="http://schemas.openxmlformats.org/officeDocument/2006/relationships/slideLayout" Target="/ppt/slideLayouts/slideLayout12.xml" Id="R4f5de5c5e0874111" /><Relationship Type="http://schemas.openxmlformats.org/officeDocument/2006/relationships/slideLayout" Target="/ppt/slideLayouts/slideLayout13.xml" Id="R01f7857d761f4f27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26" name="Rectangle 2">
            <a:extLst xmlns:a="http://schemas.openxmlformats.org/drawingml/2006/main">
              <a:ext uri="{FF2B5EF4-FFF2-40B4-BE49-F238E27FC236}">
                <a16:creationId xmlns:a16="http://schemas.microsoft.com/office/drawing/2014/main" id="{328D5D66-96A6-4CFA-9E33-3BB1F499F89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609600"/>
            <a:ext cx="77724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ctr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title style</a:t>
            </a:r>
          </a:p>
        </p:txBody>
      </p:sp>
      <p:sp>
        <p:nvSpPr>
          <p:cNvPr id="1027" name="Rectangle 3">
            <a:extLst xmlns:a="http://schemas.openxmlformats.org/drawingml/2006/main">
              <a:ext uri="{FF2B5EF4-FFF2-40B4-BE49-F238E27FC236}">
                <a16:creationId xmlns:a16="http://schemas.microsoft.com/office/drawing/2014/main" id="{B63D17BB-B6C6-4D9D-9E7E-5C9317DC3F3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81200"/>
            <a:ext cx="7772400" cy="411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028" name="Rectangle 4">
            <a:extLst xmlns:a="http://schemas.openxmlformats.org/drawingml/2006/main">
              <a:ext uri="{FF2B5EF4-FFF2-40B4-BE49-F238E27FC236}">
                <a16:creationId xmlns:a16="http://schemas.microsoft.com/office/drawing/2014/main" id="{11621761-6442-4D9B-83DC-8F6AD3C2417A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685800" y="6248400"/>
            <a:ext cx="190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>
            <a:lvl1pPr>
              <a:buNone/>
              <a:defRPr sz="1400" baseline="0">
                <a:latin typeface="Helvetica Neue Light"/>
                <a:ea typeface="Helvetica Neue Light"/>
                <a:cs typeface="Helvetica Neue Light"/>
              </a:defRPr>
            </a:lvl1pPr>
          </a:lstStyle>
          <a:p xmlns:a="http://schemas.openxmlformats.org/drawingml/2006/main">
            <a:pPr>
              <a:buNone/>
            </a:pPr>
            <a:fld id="{82D9017C-BF38-4B2C-9089-C6E23524F360}" type="datetime1">
              <a:t>11/24/2025</a:t>
            </a:fld>
            <a:endParaRPr/>
          </a:p>
        </p:txBody>
      </p:sp>
      <p:sp>
        <p:nvSpPr>
          <p:cNvPr id="1029" name="Rectangle 5">
            <a:extLst xmlns:a="http://schemas.openxmlformats.org/drawingml/2006/main">
              <a:ext uri="{FF2B5EF4-FFF2-40B4-BE49-F238E27FC236}">
                <a16:creationId xmlns:a16="http://schemas.microsoft.com/office/drawing/2014/main" id="{31378B15-8DE6-4E74-87DB-FEF6B421A930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2667000" y="6248400"/>
            <a:ext cx="335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>
            <a:lvl1pPr algn="ctr">
              <a:buNone/>
              <a:defRPr sz="1400" baseline="0">
                <a:latin typeface="Helvetica Neue Light"/>
                <a:ea typeface="Helvetica Neue Light"/>
                <a:cs typeface="Helvetica Neue Light"/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1030" name="Rectangle 6">
            <a:extLst xmlns:a="http://schemas.openxmlformats.org/drawingml/2006/main">
              <a:ext uri="{FF2B5EF4-FFF2-40B4-BE49-F238E27FC236}">
                <a16:creationId xmlns:a16="http://schemas.microsoft.com/office/drawing/2014/main" id="{B6A978DB-35A8-47CF-9F3F-9412FA0F51A4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6019800" y="6248400"/>
            <a:ext cx="838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>
            <a:lvl1pPr algn="r">
              <a:buNone/>
              <a:defRPr sz="1400" baseline="0">
                <a:latin typeface="Helvetica Neue Light"/>
                <a:ea typeface="Helvetica Neue Light"/>
                <a:cs typeface="Helvetica Neue Light"/>
              </a:defRPr>
            </a:lvl1pPr>
          </a:lstStyle>
          <a:p xmlns:a="http://schemas.openxmlformats.org/drawingml/2006/main">
            <a:pPr>
              <a:buNone/>
            </a:pPr>
            <a:fld id="{18540362-08EC-4306-AD82-9A254CBD4EAB}" type="slidenum">
              <a:t>‹#›</a:t>
            </a:fld>
            <a:endParaRPr/>
          </a:p>
        </p:txBody>
      </p:sp>
      <p:pic>
        <p:nvPicPr>
          <p:cNvPr id="1037" name="Picture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1b97d9ee5042f7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243888" y="6189663"/>
            <a:ext cx="728662" cy="611187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18ee467f9f34870"/>
    <p:sldLayoutId xmlns:r="http://schemas.openxmlformats.org/officeDocument/2006/relationships" id="2147483650" r:id="R93cc1179019b4527"/>
    <p:sldLayoutId xmlns:r="http://schemas.openxmlformats.org/officeDocument/2006/relationships" id="2147483651" r:id="R1dc963eee36f4fdd"/>
    <p:sldLayoutId xmlns:r="http://schemas.openxmlformats.org/officeDocument/2006/relationships" id="2147483652" r:id="R111c87d30d95457a"/>
    <p:sldLayoutId xmlns:r="http://schemas.openxmlformats.org/officeDocument/2006/relationships" id="2147483653" r:id="Rf9a65a0ea0674266"/>
    <p:sldLayoutId xmlns:r="http://schemas.openxmlformats.org/officeDocument/2006/relationships" id="2147483654" r:id="R31218f7395bf44a2"/>
    <p:sldLayoutId xmlns:r="http://schemas.openxmlformats.org/officeDocument/2006/relationships" id="2147483655" r:id="Rcb759ad86c354e10"/>
    <p:sldLayoutId xmlns:r="http://schemas.openxmlformats.org/officeDocument/2006/relationships" id="2147483656" r:id="R326c61a4bfc24d91"/>
    <p:sldLayoutId xmlns:r="http://schemas.openxmlformats.org/officeDocument/2006/relationships" id="2147483657" r:id="R907d7fb7ad1a4450"/>
    <p:sldLayoutId xmlns:r="http://schemas.openxmlformats.org/officeDocument/2006/relationships" id="2147483658" r:id="R48717f8dc5dc4477"/>
    <p:sldLayoutId xmlns:r="http://schemas.openxmlformats.org/officeDocument/2006/relationships" id="2147483659" r:id="Re31dfa78bef04240"/>
    <p:sldLayoutId xmlns:r="http://schemas.openxmlformats.org/officeDocument/2006/relationships" id="2147483660" r:id="R4f5de5c5e0874111"/>
    <p:sldLayoutId xmlns:r="http://schemas.openxmlformats.org/officeDocument/2006/relationships" id="2147483661" r:id="R01f7857d761f4f27"/>
  </p:sldLayoutIdLst>
  <p:hf hdr="0" ftr="0" dt="0"/>
  <p:txStyles>
    <p:titleStyle>
      <a:lvl1pPr xmlns:a="http://schemas.openxmlformats.org/drawingml/2006/main" algn="ctr">
        <a:spcBef>
          <a:spcPct val="0"/>
        </a:spcBef>
        <a:spcAft>
          <a:spcPct val="0"/>
        </a:spcAft>
        <a:buNone/>
        <a:defRPr sz="3600" b="1">
          <a:solidFill>
            <a:schemeClr val="tx2"/>
          </a:solidFill>
          <a:latin typeface="Times New Roman"/>
          <a:ea typeface="Times New Roman"/>
          <a:cs typeface="Times New Roman"/>
        </a:defRPr>
      </a:lvl1pPr>
      <a:lvl2pPr xmlns:a="http://schemas.openxmlformats.org/drawingml/2006/main" algn="ctr">
        <a:spcBef>
          <a:spcPct val="0"/>
        </a:spcBef>
        <a:spcAft>
          <a:spcPct val="0"/>
        </a:spcAft>
        <a:buNone/>
        <a:defRPr sz="3600" b="1">
          <a:solidFill>
            <a:schemeClr val="tx2"/>
          </a:solidFill>
          <a:latin typeface="Times New Roman"/>
          <a:ea typeface="Times New Roman"/>
          <a:cs typeface="Times New Roman"/>
        </a:defRPr>
      </a:lvl2pPr>
      <a:lvl3pPr xmlns:a="http://schemas.openxmlformats.org/drawingml/2006/main" algn="ctr">
        <a:spcBef>
          <a:spcPct val="0"/>
        </a:spcBef>
        <a:spcAft>
          <a:spcPct val="0"/>
        </a:spcAft>
        <a:buNone/>
        <a:defRPr sz="3600" b="1">
          <a:solidFill>
            <a:schemeClr val="tx2"/>
          </a:solidFill>
          <a:latin typeface="Times New Roman"/>
          <a:ea typeface="Times New Roman"/>
          <a:cs typeface="Times New Roman"/>
        </a:defRPr>
      </a:lvl3pPr>
      <a:lvl4pPr xmlns:a="http://schemas.openxmlformats.org/drawingml/2006/main" algn="ctr">
        <a:spcBef>
          <a:spcPct val="0"/>
        </a:spcBef>
        <a:spcAft>
          <a:spcPct val="0"/>
        </a:spcAft>
        <a:buNone/>
        <a:defRPr sz="3600" b="1">
          <a:solidFill>
            <a:schemeClr val="tx2"/>
          </a:solidFill>
          <a:latin typeface="Times New Roman"/>
          <a:ea typeface="Times New Roman"/>
          <a:cs typeface="Times New Roman"/>
        </a:defRPr>
      </a:lvl4pPr>
      <a:lvl5pPr xmlns:a="http://schemas.openxmlformats.org/drawingml/2006/main" algn="ctr">
        <a:spcBef>
          <a:spcPct val="0"/>
        </a:spcBef>
        <a:spcAft>
          <a:spcPct val="0"/>
        </a:spcAft>
        <a:buNone/>
        <a:defRPr sz="3600" b="1">
          <a:solidFill>
            <a:schemeClr val="tx2"/>
          </a:solidFill>
          <a:latin typeface="Times New Roman"/>
          <a:ea typeface="Times New Roman"/>
          <a:cs typeface="Times New Roman"/>
        </a:defRPr>
      </a:lvl5pPr>
      <a:lvl6pPr xmlns:a="http://schemas.openxmlformats.org/drawingml/2006/main" marL="457200" algn="l">
        <a:spcBef>
          <a:spcPct val="0"/>
        </a:spcBef>
        <a:spcAft>
          <a:spcPct val="0"/>
        </a:spcAft>
        <a:buNone/>
        <a:defRPr sz="3200" b="1">
          <a:solidFill>
            <a:schemeClr val="tx2"/>
          </a:solidFill>
          <a:latin typeface="Helvetica Neue"/>
          <a:ea typeface="Helvetica Neue"/>
          <a:cs typeface="Helvetica Neue"/>
        </a:defRPr>
      </a:lvl6pPr>
      <a:lvl7pPr xmlns:a="http://schemas.openxmlformats.org/drawingml/2006/main" marL="914400" algn="l">
        <a:spcBef>
          <a:spcPct val="0"/>
        </a:spcBef>
        <a:spcAft>
          <a:spcPct val="0"/>
        </a:spcAft>
        <a:buNone/>
        <a:defRPr sz="3200" b="1">
          <a:solidFill>
            <a:schemeClr val="tx2"/>
          </a:solidFill>
          <a:latin typeface="Helvetica Neue"/>
          <a:ea typeface="Helvetica Neue"/>
          <a:cs typeface="Helvetica Neue"/>
        </a:defRPr>
      </a:lvl7pPr>
      <a:lvl8pPr xmlns:a="http://schemas.openxmlformats.org/drawingml/2006/main" marL="1371600" algn="l">
        <a:spcBef>
          <a:spcPct val="0"/>
        </a:spcBef>
        <a:spcAft>
          <a:spcPct val="0"/>
        </a:spcAft>
        <a:buNone/>
        <a:defRPr sz="3200" b="1">
          <a:solidFill>
            <a:schemeClr val="tx2"/>
          </a:solidFill>
          <a:latin typeface="Helvetica Neue"/>
          <a:ea typeface="Helvetica Neue"/>
          <a:cs typeface="Helvetica Neue"/>
        </a:defRPr>
      </a:lvl8pPr>
      <a:lvl9pPr xmlns:a="http://schemas.openxmlformats.org/drawingml/2006/main" marL="1828800" algn="l">
        <a:spcBef>
          <a:spcPct val="0"/>
        </a:spcBef>
        <a:spcAft>
          <a:spcPct val="0"/>
        </a:spcAft>
        <a:buNone/>
        <a:defRPr sz="3200" b="1">
          <a:solidFill>
            <a:schemeClr val="tx2"/>
          </a:solidFill>
          <a:latin typeface="Helvetica Neue"/>
          <a:ea typeface="Helvetica Neue"/>
          <a:cs typeface="Helvetica Neue"/>
        </a:defRPr>
      </a:lvl9pPr>
    </p:titleStyle>
    <p:bodyStyle>
      <a:lvl1pPr xmlns:a="http://schemas.openxmlformats.org/drawingml/2006/main" marL="342900" indent="-342900" algn="l">
        <a:spcBef>
          <a:spcPct val="20000"/>
        </a:spcBef>
        <a:spcAft>
          <a:spcPts val="600"/>
        </a:spcAft>
        <a:buChar char="•"/>
        <a:defRPr sz="2800">
          <a:solidFill>
            <a:schemeClr val="tx1"/>
          </a:solidFill>
          <a:latin typeface="Times New Roman"/>
          <a:ea typeface="Times New Roman"/>
          <a:cs typeface="Times New Roman"/>
        </a:defRPr>
      </a:lvl1pPr>
      <a:lvl2pPr xmlns:a="http://schemas.openxmlformats.org/drawingml/2006/main" marL="742950" indent="-285750" algn="l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Times New Roman"/>
          <a:ea typeface="Times New Roman"/>
          <a:cs typeface="Times New Roman"/>
        </a:defRPr>
      </a:lvl2pPr>
      <a:lvl3pPr xmlns:a="http://schemas.openxmlformats.org/drawingml/2006/main" marL="1143000" indent="-228600" algn="l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Times New Roman"/>
          <a:ea typeface="Times New Roman"/>
          <a:cs typeface="Times New Roman"/>
        </a:defRPr>
      </a:lvl3pPr>
      <a:lvl4pPr xmlns:a="http://schemas.openxmlformats.org/drawingml/2006/main" marL="1600200" indent="-228600" algn="l">
        <a:spcBef>
          <a:spcPct val="20000"/>
        </a:spcBef>
        <a:spcAft>
          <a:spcPct val="0"/>
        </a:spcAft>
        <a:buChar char="–"/>
        <a:defRPr>
          <a:solidFill>
            <a:schemeClr val="tx1"/>
          </a:solidFill>
          <a:latin typeface="Times New Roman"/>
          <a:ea typeface="Times New Roman"/>
          <a:cs typeface="Times New Roman"/>
        </a:defRPr>
      </a:lvl4pPr>
      <a:lvl5pPr xmlns:a="http://schemas.openxmlformats.org/drawingml/2006/main" marL="2057400" indent="-228600" algn="l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Theme1">
  <a:themeElements>
    <a:clrScheme name="NTU Corp Colors (Deep Red)">
      <a:dk1>
        <a:srgbClr val="262626"/>
      </a:dk1>
      <a:lt1>
        <a:sysClr val="window" lastClr="FFFFFF"/>
      </a:lt1>
      <a:dk2>
        <a:srgbClr val="1F497D"/>
      </a:dk2>
      <a:lt2>
        <a:srgbClr val="C7C7C7"/>
      </a:lt2>
      <a:accent1>
        <a:srgbClr val="C60C30"/>
      </a:accent1>
      <a:accent2>
        <a:srgbClr val="003478"/>
      </a:accent2>
      <a:accent3>
        <a:srgbClr val="C49000"/>
      </a:accent3>
      <a:accent4>
        <a:srgbClr val="7A071E"/>
      </a:accent4>
      <a:accent5>
        <a:srgbClr val="0055C4"/>
      </a:accent5>
      <a:accent6>
        <a:srgbClr val="786C00"/>
      </a:accent6>
      <a:hlink>
        <a:srgbClr val="FFFF00"/>
      </a:hlink>
      <a:folHlink>
        <a:srgbClr val="002060"/>
      </a:folHlink>
    </a:clrScheme>
    <a:fontScheme name="Blank Presentation">
      <a:majorFont>
        <a:latin typeface="Helvetica Neue"/>
        <a:ea typeface="ＭＳ Ｐゴシック"/>
        <a:cs typeface=""/>
      </a:majorFont>
      <a:minorFont>
        <a:latin typeface="Helvetica Neue Light"/>
        <a:ea typeface="ＭＳ Ｐゴシック"/>
        <a:cs typeface=""/>
      </a:minorFont>
    </a:fontScheme>
    <a:fmtScheme name="NTU Corp Colors (Deep Red)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905f8cfebcf04900" /><Relationship Type="http://schemas.openxmlformats.org/officeDocument/2006/relationships/image" Target="/ppt/media/image2.png" Id="Rb0cb58bcd2014e66" /><Relationship Type="http://schemas.openxmlformats.org/officeDocument/2006/relationships/notesSlide" Target="/ppt/notesSlides/notesSlide1.xml" Id="R42549ff28a5b450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cd6bb688ef004061" /><Relationship Type="http://schemas.openxmlformats.org/officeDocument/2006/relationships/notesSlide" Target="/ppt/notesSlides/notesSlide2.xml" Id="Rda67ecab1b014a9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f274d21f7c34a5d" /><Relationship Type="http://schemas.openxmlformats.org/officeDocument/2006/relationships/image" Target="/ppt/media/image.jpeg" Id="Rfc50fbc24d944a9e" /><Relationship Type="http://schemas.openxmlformats.org/officeDocument/2006/relationships/image" Target="/ppt/media/image3.png" Id="R526a8bba521a4333" /><Relationship Type="http://schemas.openxmlformats.org/officeDocument/2006/relationships/notesSlide" Target="/ppt/notesSlides/notesSlide3.xml" Id="R522d5b1ed71d4c6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c59c32012574edd" /><Relationship Type="http://schemas.openxmlformats.org/officeDocument/2006/relationships/notesSlide" Target="/ppt/notesSlides/notesSlide4.xml" Id="R9e7197856afb440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2dfcb6c76a04f96" /><Relationship Type="http://schemas.openxmlformats.org/officeDocument/2006/relationships/notesSlide" Target="/ppt/notesSlides/notesSlide5.xml" Id="Rf81dac4f7222419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5b9296ee4254790" /><Relationship Type="http://schemas.openxmlformats.org/officeDocument/2006/relationships/notesSlide" Target="/ppt/notesSlides/notesSlide6.xml" Id="R0a845092cb61439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6c3ddc0637e42b6" /><Relationship Type="http://schemas.openxmlformats.org/officeDocument/2006/relationships/notesSlide" Target="/ppt/notesSlides/notesSlide7.xml" Id="R0fb0b9b91a4844b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3.xml" Id="R8bd0c3a94c0240bd" /><Relationship Type="http://schemas.openxmlformats.org/officeDocument/2006/relationships/image" Target="/ppt/media/image4.png" Id="R99ad082026214abe" /><Relationship Type="http://schemas.openxmlformats.org/officeDocument/2006/relationships/image" Target="/ppt/media/image5.png" Id="Rcb5d7ef53a074db5" /><Relationship Type="http://schemas.openxmlformats.org/officeDocument/2006/relationships/image" Target="/ppt/media/image6.png" Id="R13dcccd7971641ea" /><Relationship Type="http://schemas.openxmlformats.org/officeDocument/2006/relationships/notesSlide" Target="/ppt/notesSlides/notesSlide8.xml" Id="R360ca931806645d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3.xml" Id="Rc3cbd83fc4b1496a" /><Relationship Type="http://schemas.openxmlformats.org/officeDocument/2006/relationships/notesSlide" Target="/ppt/notesSlides/notesSlide9.xml" Id="R1685891a627f4e7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3.xml" Id="Rf775c8efeab44b62" /><Relationship Type="http://schemas.openxmlformats.org/officeDocument/2006/relationships/notesSlide" Target="/ppt/notesSlides/notesSlide10.xml" Id="Racf2dbc6440b487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3.xml" Id="Ra707a9e820eb462d" /><Relationship Type="http://schemas.openxmlformats.org/officeDocument/2006/relationships/image" Target="/ppt/media/image7.png" Id="Re82858ff587f4d99" /><Relationship Type="http://schemas.openxmlformats.org/officeDocument/2006/relationships/notesSlide" Target="/ppt/notesSlides/notesSlide11.xml" Id="R871003589e99444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d639a0963f449cc" /><Relationship Type="http://schemas.openxmlformats.org/officeDocument/2006/relationships/notesSlide" Target="/ppt/notesSlides/notesSlide12.xml" Id="R1557f532207a4bae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7958ccc891df4aad" /><Relationship Type="http://schemas.openxmlformats.org/officeDocument/2006/relationships/notesSlide" Target="/ppt/notesSlides/notesSlide13.xml" Id="R618a69d5606e4ce2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451353e667634e26" /><Relationship Type="http://schemas.openxmlformats.org/officeDocument/2006/relationships/notesSlide" Target="/ppt/notesSlides/notesSlide14.xml" Id="R833edf6f84724e06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128feebba4a44096" /><Relationship Type="http://schemas.openxmlformats.org/officeDocument/2006/relationships/image" Target="/ppt/media/image8.png" Id="R60a0738104794115" /><Relationship Type="http://schemas.openxmlformats.org/officeDocument/2006/relationships/image" Target="/ppt/media/image9.png" Id="R85b098d69f5549a5" /><Relationship Type="http://schemas.openxmlformats.org/officeDocument/2006/relationships/notesSlide" Target="/ppt/notesSlides/notesSlide15.xml" Id="R847d3c6181fd4d3a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9d5077533214204" /><Relationship Type="http://schemas.openxmlformats.org/officeDocument/2006/relationships/image" Target="/ppt/media/image10.png" Id="R839fc7ea48bb4a3b" /><Relationship Type="http://schemas.openxmlformats.org/officeDocument/2006/relationships/image" Target="/ppt/media/image11.png" Id="R4f29b768c4104752" /><Relationship Type="http://schemas.openxmlformats.org/officeDocument/2006/relationships/notesSlide" Target="/ppt/notesSlides/notesSlide16.xml" Id="R24847413d9a34f5f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c18e21890e54294" /><Relationship Type="http://schemas.openxmlformats.org/officeDocument/2006/relationships/notesSlide" Target="/ppt/notesSlides/notesSlide17.xml" Id="R18c12c6c60664bd2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3.xml" Id="R2bf97f34a80a4e37" /><Relationship Type="http://schemas.openxmlformats.org/officeDocument/2006/relationships/notesSlide" Target="/ppt/notesSlides/notesSlide18.xml" Id="R37d3d2fd2ae340c9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1cf3e20762c4f37" /><Relationship Type="http://schemas.openxmlformats.org/officeDocument/2006/relationships/image" Target="/ppt/media/image12.png" Id="R9829a5d42e2a47ab" /><Relationship Type="http://schemas.openxmlformats.org/officeDocument/2006/relationships/image" Target="/ppt/media/image13.png" Id="Rf947b1ec61da4fc4" /><Relationship Type="http://schemas.openxmlformats.org/officeDocument/2006/relationships/image" Target="/ppt/media/image14.png" Id="Ra14a58cbbdf44fd6" /><Relationship Type="http://schemas.openxmlformats.org/officeDocument/2006/relationships/image" Target="/ppt/media/image15.png" Id="Rc90ff0f648cd452f" /><Relationship Type="http://schemas.openxmlformats.org/officeDocument/2006/relationships/image" Target="/ppt/media/image2.jpeg" Id="Rb7d3a0da8051461b" /><Relationship Type="http://schemas.openxmlformats.org/officeDocument/2006/relationships/image" Target="/ppt/media/image16.png" Id="R0fac05a2a720431e" /><Relationship Type="http://schemas.openxmlformats.org/officeDocument/2006/relationships/notesSlide" Target="/ppt/notesSlides/notesSlide19.xml" Id="R6e2d48da007a4bdd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499f5ee465346f0" /><Relationship Type="http://schemas.openxmlformats.org/officeDocument/2006/relationships/notesSlide" Target="/ppt/notesSlides/notesSlide20.xml" Id="R635ba0dbb9aa4e9a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da10d3de2f54cb6" /><Relationship Type="http://schemas.openxmlformats.org/officeDocument/2006/relationships/notesSlide" Target="/ppt/notesSlides/notesSlide21.xml" Id="Reae4393a62a8404d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259471002944679" /><Relationship Type="http://schemas.openxmlformats.org/officeDocument/2006/relationships/notesSlide" Target="/ppt/notesSlides/notesSlide22.xml" Id="R985db30c91ae4cea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9bb71ca34614e55" /><Relationship Type="http://schemas.openxmlformats.org/officeDocument/2006/relationships/notesSlide" Target="/ppt/notesSlides/notesSlide23.xml" Id="Rc15ba746f29c4657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623f511224d416a" /><Relationship Type="http://schemas.openxmlformats.org/officeDocument/2006/relationships/notesSlide" Target="/ppt/notesSlides/notesSlide24.xml" Id="R333bc922fe9341f3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5837399d55b47b5" /><Relationship Type="http://schemas.openxmlformats.org/officeDocument/2006/relationships/notesSlide" Target="/ppt/notesSlides/notesSlide25.xml" Id="Rc99425c5fbba4b3e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9d7d3cd41b94d1b" /><Relationship Type="http://schemas.openxmlformats.org/officeDocument/2006/relationships/notesSlide" Target="/ppt/notesSlides/notesSlide26.xml" Id="Rc1e1bbdf50eb4260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780f83dc43e41c5" /><Relationship Type="http://schemas.openxmlformats.org/officeDocument/2006/relationships/notesSlide" Target="/ppt/notesSlides/notesSlide27.xml" Id="Re1e9845b8aea4fba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f2fec11e90843c5" /><Relationship Type="http://schemas.openxmlformats.org/officeDocument/2006/relationships/notesSlide" Target="/ppt/notesSlides/notesSlide28.xml" Id="Rd678dff33ac840a2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19ceeb337bf42e6" /><Relationship Type="http://schemas.openxmlformats.org/officeDocument/2006/relationships/notesSlide" Target="/ppt/notesSlides/notesSlide29.xml" Id="R3d2927c2b6ac4318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b3878f0f8c24bdc" /><Relationship Type="http://schemas.openxmlformats.org/officeDocument/2006/relationships/notesSlide" Target="/ppt/notesSlides/notesSlide30.xml" Id="R2e181de184a64144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813c42bc5064b55" /><Relationship Type="http://schemas.openxmlformats.org/officeDocument/2006/relationships/notesSlide" Target="/ppt/notesSlides/notesSlide31.xml" Id="R2a4a6fa7fa0b4943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b0027ec860147ac" /><Relationship Type="http://schemas.openxmlformats.org/officeDocument/2006/relationships/notesSlide" Target="/ppt/notesSlides/notesSlide32.xml" Id="R88500454d43645b7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11ec003c80f4a10" /><Relationship Type="http://schemas.openxmlformats.org/officeDocument/2006/relationships/notesSlide" Target="/ppt/notesSlides/notesSlide33.xml" Id="R21fcf984ece345c3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479ca69f5344589" /><Relationship Type="http://schemas.openxmlformats.org/officeDocument/2006/relationships/notesSlide" Target="/ppt/notesSlides/notesSlide34.xml" Id="Ra8be372eefe145a1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14db0ac125746b0" /><Relationship Type="http://schemas.openxmlformats.org/officeDocument/2006/relationships/notesSlide" Target="/ppt/notesSlides/notesSlide35.xml" Id="R8cf54a92fb0945b7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Number Placeholder 1">
            <a:extLst xmlns:a="http://schemas.openxmlformats.org/drawingml/2006/main">
              <a:ext uri="{FF2B5EF4-FFF2-40B4-BE49-F238E27FC236}">
                <a16:creationId xmlns:a16="http://schemas.microsoft.com/office/drawing/2014/main" id="{D0BD68C6-C6F3-4164-BBEA-F3705433BE6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B1586AD-4A7E-0849-8093-EAD90D5A9F23}" type="slidenum">
              <a:rPr>
                <a:latin typeface="Times New Roman"/>
                <a:ea typeface="Times New Roman"/>
                <a:cs typeface="Times New Roman"/>
              </a:rPr>
              <a:t>1</a:t>
            </a:fld>
            <a:endParaRPr>
              <a:latin typeface="Times New Roman"/>
              <a:ea typeface="Times New Roman"/>
              <a:cs typeface="Times New Roman"/>
            </a:endParaRPr>
          </a:p>
        </p:txBody>
      </p:sp>
      <p:pic>
        <p:nvPicPr>
          <p:cNvPr id="13" name="Picture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cb58bcd2014e66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115888"/>
            <a:ext cx="3190875" cy="9810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4" name="Title 1">
            <a:extLst xmlns:a="http://schemas.openxmlformats.org/drawingml/2006/main">
              <a:ext uri="{FF2B5EF4-FFF2-40B4-BE49-F238E27FC236}">
                <a16:creationId xmlns:a16="http://schemas.microsoft.com/office/drawing/2014/main" id="{9260C771-C1B9-4A45-8824-A293993A8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04" y="1628774"/>
            <a:ext cx="8751888" cy="869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lvl1pPr algn="ctr">
              <a:spcBef>
                <a:spcPct val="0"/>
              </a:spcBef>
              <a:spcAft>
                <a:spcPct val="0"/>
              </a:spcAft>
              <a:buNone/>
              <a:defRPr sz="3600" b="1">
                <a:solidFill>
                  <a:schemeClr val="tx2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spcBef>
                <a:spcPct val="0"/>
              </a:spcBef>
              <a:spcAft>
                <a:spcPct val="0"/>
              </a:spcAft>
              <a:buNone/>
              <a:defRPr sz="3600" b="1">
                <a:solidFill>
                  <a:schemeClr val="tx2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spcBef>
                <a:spcPct val="0"/>
              </a:spcBef>
              <a:spcAft>
                <a:spcPct val="0"/>
              </a:spcAft>
              <a:buNone/>
              <a:defRPr sz="3600" b="1">
                <a:solidFill>
                  <a:schemeClr val="tx2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spcBef>
                <a:spcPct val="0"/>
              </a:spcBef>
              <a:spcAft>
                <a:spcPct val="0"/>
              </a:spcAft>
              <a:buNone/>
              <a:defRPr sz="3600" b="1">
                <a:solidFill>
                  <a:schemeClr val="tx2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spcBef>
                <a:spcPct val="0"/>
              </a:spcBef>
              <a:spcAft>
                <a:spcPct val="0"/>
              </a:spcAft>
              <a:buNone/>
              <a:defRPr sz="3600" b="1">
                <a:solidFill>
                  <a:schemeClr val="tx2"/>
                </a:solidFill>
                <a:latin typeface="Times New Roman"/>
                <a:ea typeface="Times New Roman"/>
                <a:cs typeface="Times New Roman"/>
              </a:defRPr>
            </a:lvl5pPr>
            <a:lvl6pPr marL="457200" algn="l">
              <a:spcBef>
                <a:spcPct val="0"/>
              </a:spcBef>
              <a:spcAft>
                <a:spcPct val="0"/>
              </a:spcAft>
              <a:buNone/>
              <a:defRPr sz="3200" b="1">
                <a:solidFill>
                  <a:schemeClr val="tx2"/>
                </a:solidFill>
                <a:latin typeface="Helvetica Neue"/>
                <a:ea typeface="Helvetica Neue"/>
                <a:cs typeface="Helvetica Neue"/>
              </a:defRPr>
            </a:lvl6pPr>
            <a:lvl7pPr marL="914400" algn="l">
              <a:spcBef>
                <a:spcPct val="0"/>
              </a:spcBef>
              <a:spcAft>
                <a:spcPct val="0"/>
              </a:spcAft>
              <a:buNone/>
              <a:defRPr sz="3200" b="1">
                <a:solidFill>
                  <a:schemeClr val="tx2"/>
                </a:solidFill>
                <a:latin typeface="Helvetica Neue"/>
                <a:ea typeface="Helvetica Neue"/>
                <a:cs typeface="Helvetica Neue"/>
              </a:defRPr>
            </a:lvl7pPr>
            <a:lvl8pPr marL="1371600" algn="l">
              <a:spcBef>
                <a:spcPct val="0"/>
              </a:spcBef>
              <a:spcAft>
                <a:spcPct val="0"/>
              </a:spcAft>
              <a:buNone/>
              <a:defRPr sz="3200" b="1">
                <a:solidFill>
                  <a:schemeClr val="tx2"/>
                </a:solidFill>
                <a:latin typeface="Helvetica Neue"/>
                <a:ea typeface="Helvetica Neue"/>
                <a:cs typeface="Helvetica Neue"/>
              </a:defRPr>
            </a:lvl8pPr>
            <a:lvl9pPr marL="1828800" algn="l">
              <a:spcBef>
                <a:spcPct val="0"/>
              </a:spcBef>
              <a:spcAft>
                <a:spcPct val="0"/>
              </a:spcAft>
              <a:buNone/>
              <a:defRPr sz="3200" b="1">
                <a:solidFill>
                  <a:schemeClr val="tx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buNone/>
            </a:pPr>
            <a:r>
              <a:rPr sz="3200"/>
              <a:t>KMB689: Big Data for Business Applications</a:t>
            </a:r>
            <a:endParaRPr sz="3200" kern="0" baseline="0">
              <a:solidFill>
                <a:srgbClr val="002060"/>
              </a:solidFill>
            </a:endParaRPr>
          </a:p>
        </p:txBody>
      </p:sp>
      <p:sp>
        <p:nvSpPr>
          <p:cNvPr id="8" name="cover-seminar">
            <a:extLst xmlns:a="http://schemas.openxmlformats.org/drawingml/2006/main">
              <a:ext uri="{FF2B5EF4-FFF2-40B4-BE49-F238E27FC236}">
                <a16:creationId xmlns:a16="http://schemas.microsoft.com/office/drawing/2014/main" id="{FD594A4A-B3F7-4CDA-B9B4-9B6BFB1CF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000375"/>
            <a:ext cx="3810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C60C3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C60C30"/>
                </a:solidFill>
                <a:latin typeface="Helvetica Neue"/>
                <a:ea typeface="Helvetica Neue"/>
                <a:cs typeface="Helvetica Neue"/>
              </a:rPr>
              <a:t>Seminar 10</a:t>
            </a:r>
          </a:p>
        </p:txBody>
      </p:sp>
      <p:sp>
        <p:nvSpPr>
          <p:cNvPr id="9" name="cover-topic">
            <a:extLst xmlns:a="http://schemas.openxmlformats.org/drawingml/2006/main">
              <a:ext uri="{FF2B5EF4-FFF2-40B4-BE49-F238E27FC236}">
                <a16:creationId xmlns:a16="http://schemas.microsoft.com/office/drawing/2014/main" id="{789DDB54-A5DC-445E-9110-E9C2D70FE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762375"/>
            <a:ext cx="3810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0034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003478"/>
                </a:solidFill>
                <a:latin typeface="Helvetica Neue"/>
                <a:ea typeface="Helvetica Neue"/>
                <a:cs typeface="Helvetica Neue"/>
              </a:rPr>
              <a:t>Clustering</a:t>
            </a:r>
          </a:p>
        </p:txBody>
      </p:sp>
      <p:sp>
        <p:nvSpPr>
          <p:cNvPr id="10" name="cover-instructor">
            <a:extLst xmlns:a="http://schemas.openxmlformats.org/drawingml/2006/main">
              <a:ext uri="{FF2B5EF4-FFF2-40B4-BE49-F238E27FC236}">
                <a16:creationId xmlns:a16="http://schemas.microsoft.com/office/drawing/2014/main" id="{ECA508A8-2246-475D-8BB1-859DD1292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953000"/>
            <a:ext cx="4191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>
                <a:solidFill>
                  <a:srgbClr val="0034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3478"/>
                </a:solidFill>
                <a:latin typeface="Helvetica Neue"/>
                <a:ea typeface="Helvetica Neue"/>
                <a:cs typeface="Helvetica Neue"/>
              </a:rPr>
              <a:t>Instructor: Prof. Gun-woong Lee</a:t>
            </a:r>
          </a:p>
        </p:txBody>
      </p:sp>
      <p:sp>
        <p:nvSpPr>
          <p:cNvPr id="11" name="cover-school">
            <a:extLst xmlns:a="http://schemas.openxmlformats.org/drawingml/2006/main">
              <a:ext uri="{FF2B5EF4-FFF2-40B4-BE49-F238E27FC236}">
                <a16:creationId xmlns:a16="http://schemas.microsoft.com/office/drawing/2014/main" id="{C19C0795-1793-4202-8D05-F37D4C6FC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381625"/>
            <a:ext cx="4191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0034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003478"/>
                </a:solidFill>
                <a:latin typeface="Helvetica Neue"/>
                <a:ea typeface="Helvetica Neue"/>
                <a:cs typeface="Helvetica Neue"/>
              </a:rPr>
              <a:t>Korea University Business School</a:t>
            </a:r>
          </a:p>
        </p:txBody>
      </p:sp>
    </p:spTree>
    <p:extLst>
      <p:ext uri="{BB962C8B-B14F-4D97-AF65-F5344CB8AC3E}">
        <p14:creationId xmlns:p14="http://schemas.microsoft.com/office/powerpoint/2010/main" val="1841522889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E49BEF9-B7E8-4FB1-BA2F-348E2BAB758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11560" y="188640"/>
            <a:ext cx="7772400" cy="11430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Today’s Outline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AFA4410A-8C66-4E97-83DE-128D21A0F0F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089173"/>
            <a:ext cx="8229600" cy="5364163"/>
          </a:xfrm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marL="304800" indent="-152400">
              <a:buChar char="•"/>
              <a:defRPr sz="1725">
                <a:solidFill>
                  <a:srgbClr val="26262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>
                <a:solidFill>
                  <a:srgbClr val="262626"/>
                </a:solidFill>
                <a:latin typeface="Apple SD Gothic Neo"/>
                <a:ea typeface="Apple SD Gothic Neo"/>
                <a:cs typeface="Apple SD Gothic Neo"/>
              </a:rPr>
              <a:t>1.1 여는 이야기 — 감독 신조와 오늘의 기준</a:t>
            </a:r>
          </a:p>
          <a:p xmlns:a="http://schemas.openxmlformats.org/drawingml/2006/main">
            <a:pPr marL="304800" indent="-152400">
              <a:buChar char="•"/>
              <a:defRPr sz="1725">
                <a:solidFill>
                  <a:srgbClr val="26262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>
                <a:solidFill>
                  <a:srgbClr val="262626"/>
                </a:solidFill>
                <a:latin typeface="Apple SD Gothic Neo"/>
                <a:ea typeface="Apple SD Gothic Neo"/>
                <a:cs typeface="Apple SD Gothic Neo"/>
              </a:rPr>
              <a:t>1.2 군집분석 직관 — 크기와 프로파일</a:t>
            </a:r>
          </a:p>
          <a:p xmlns:a="http://schemas.openxmlformats.org/drawingml/2006/main">
            <a:pPr marL="304800" indent="-152400">
              <a:buChar char="•"/>
              <a:defRPr sz="1725">
                <a:solidFill>
                  <a:srgbClr val="26262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>
                <a:solidFill>
                  <a:srgbClr val="262626"/>
                </a:solidFill>
                <a:latin typeface="Apple SD Gothic Neo"/>
                <a:ea typeface="Apple SD Gothic Neo"/>
                <a:cs typeface="Apple SD Gothic Neo"/>
              </a:rPr>
              <a:t>1.3 DBSCAN — 밀도·핵심·경계·잡음</a:t>
            </a:r>
          </a:p>
          <a:p xmlns:a="http://schemas.openxmlformats.org/drawingml/2006/main">
            <a:pPr marL="304800" indent="-152400">
              <a:buChar char="•"/>
              <a:defRPr sz="1725">
                <a:solidFill>
                  <a:srgbClr val="26262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>
                <a:solidFill>
                  <a:srgbClr val="262626"/>
                </a:solidFill>
                <a:latin typeface="Apple SD Gothic Neo"/>
                <a:ea typeface="Apple SD Gothic Neo"/>
                <a:cs typeface="Apple SD Gothic Neo"/>
              </a:rPr>
              <a:t>1.4 이 사례가 요구하는 판단</a:t>
            </a:r>
          </a:p>
          <a:p xmlns:a="http://schemas.openxmlformats.org/drawingml/2006/main">
            <a:pPr marL="304800" indent="-152400">
              <a:buChar char="•"/>
              <a:defRPr sz="1725">
                <a:solidFill>
                  <a:srgbClr val="26262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>
                <a:solidFill>
                  <a:srgbClr val="262626"/>
                </a:solidFill>
                <a:latin typeface="Apple SD Gothic Neo"/>
                <a:ea typeface="Apple SD Gothic Neo"/>
                <a:cs typeface="Apple SD Gothic Neo"/>
              </a:rPr>
              <a:t>1.5 관리자의 군집 검증 5문</a:t>
            </a:r>
          </a:p>
        </p:txBody>
      </p:sp>
    </p:spTree>
    <p:extLst>
      <p:ext uri="{BB962C8B-B14F-4D97-AF65-F5344CB8AC3E}">
        <p14:creationId xmlns:p14="http://schemas.microsoft.com/office/powerpoint/2010/main" val="3623369000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266" name="Title 2">
            <a:extLst xmlns:a="http://schemas.openxmlformats.org/drawingml/2006/main">
              <a:ext uri="{FF2B5EF4-FFF2-40B4-BE49-F238E27FC236}">
                <a16:creationId xmlns:a16="http://schemas.microsoft.com/office/drawing/2014/main" id="{B95BAFD7-C1B4-44FB-897D-153D1206503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11560" y="44624"/>
            <a:ext cx="7772400" cy="78296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Clustering and Business Problems</a:t>
            </a:r>
          </a:p>
        </p:txBody>
      </p:sp>
      <p:sp>
        <p:nvSpPr>
          <p:cNvPr id="11267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98441444-ED78-4449-BAD0-0093D57C7D0F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07504" y="1124744"/>
            <a:ext cx="8784976" cy="5121027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90000"/>
              </a:lnSpc>
              <a:buNone/>
            </a:pPr>
            <a:r>
              <a:t>Clustering is searching for </a:t>
            </a:r>
            <a:r>
              <a:rPr i="1"/>
              <a:t>patterns</a:t>
            </a:r>
            <a:r>
              <a:t> in complex data</a:t>
            </a:r>
          </a:p>
          <a:p xmlns:a="http://schemas.openxmlformats.org/drawingml/2006/main">
            <a:pPr lvl="1">
              <a:lnSpc>
                <a:spcPct val="90000"/>
              </a:lnSpc>
              <a:buNone/>
            </a:pPr>
            <a:r>
              <a:t>Patterns can lead to business decisions</a:t>
            </a:r>
          </a:p>
          <a:p xmlns:a="http://schemas.openxmlformats.org/drawingml/2006/main">
            <a:pPr marL="457200" lvl="1" indent="0">
              <a:lnSpc>
                <a:spcPct val="90000"/>
              </a:lnSpc>
              <a:buNone/>
            </a:pPr>
            <a:endParaRPr/>
          </a:p>
          <a:p xmlns:a="http://schemas.openxmlformats.org/drawingml/2006/main">
            <a:pPr>
              <a:lnSpc>
                <a:spcPct val="90000"/>
              </a:lnSpc>
              <a:buNone/>
            </a:pPr>
            <a:r>
              <a:t>Clustering is useful whenever diverse and varied data can be exemplified by a much </a:t>
            </a:r>
            <a:r>
              <a:rPr>
                <a:solidFill>
                  <a:srgbClr val="FF0000"/>
                </a:solidFill>
              </a:rPr>
              <a:t>smaller number of groups</a:t>
            </a:r>
            <a:r>
              <a:t>.</a:t>
            </a:r>
          </a:p>
          <a:p xmlns:a="http://schemas.openxmlformats.org/drawingml/2006/main">
            <a:pPr>
              <a:lnSpc>
                <a:spcPct val="90000"/>
              </a:lnSpc>
              <a:buNone/>
            </a:pPr>
            <a:endParaRPr/>
          </a:p>
          <a:p xmlns:a="http://schemas.openxmlformats.org/drawingml/2006/main">
            <a:pPr lvl="1">
              <a:lnSpc>
                <a:spcPct val="90000"/>
              </a:lnSpc>
              <a:buNone/>
            </a:pPr>
            <a:endParaRPr/>
          </a:p>
        </p:txBody>
      </p:sp>
      <p:pic>
        <p:nvPicPr>
          <p:cNvPr id="11273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50fbc24d944a9e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54739" y="3429000"/>
            <a:ext cx="4353330" cy="3265488"/>
          </a:xfrm>
          <a:prstGeom xmlns:a="http://schemas.openxmlformats.org/drawingml/2006/main" prst="rect">
            <a:avLst/>
          </a:prstGeom>
        </p:spPr>
      </p:pic>
      <p:pic>
        <p:nvPicPr>
          <p:cNvPr id="11274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26a8bba521a4333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01244" y="3766024"/>
            <a:ext cx="2857500" cy="2047876"/>
          </a:xfrm>
          <a:prstGeom xmlns:a="http://schemas.openxmlformats.org/drawingml/2006/main" prst="rect">
            <a:avLst/>
          </a:prstGeom>
        </p:spPr>
      </p:pic>
      <p:sp>
        <p:nvSpPr>
          <p:cNvPr id="11270" name="source-backed-callout">
            <a:extLst xmlns:a="http://schemas.openxmlformats.org/drawingml/2006/main">
              <a:ext uri="{FF2B5EF4-FFF2-40B4-BE49-F238E27FC236}">
                <a16:creationId xmlns:a16="http://schemas.microsoft.com/office/drawing/2014/main" id="{F27912E7-2414-4F90-BD03-192BF220B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829300"/>
            <a:ext cx="8153400" cy="5715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AF1F8"/>
          </a:solidFill>
          <a:ln xmlns:a="http://schemas.openxmlformats.org/drawingml/2006/main" w="13335">
            <a:solidFill>
              <a:srgbClr val="003478"/>
            </a:solidFill>
            <a:prstDash val="solid"/>
          </a:ln>
        </p:spPr>
        <p:txBody>
          <a:bodyPr xmlns:a="http://schemas.openxmlformats.org/drawingml/2006/main" wrap="square" lIns="114300" tIns="57150" rIns="114300" bIns="57150" anchor="ctr">
            <a:normAutofit fontScale="74273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0347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003478"/>
                </a:solidFill>
                <a:latin typeface="Apple SD Gothic Neo"/>
                <a:ea typeface="Apple SD Gothic Neo"/>
                <a:cs typeface="Apple SD Gothic Neo"/>
              </a:rPr>
              <a:t>Marketing</a:t>
            </a:r>
            <a:r>
              <a:rPr sz="1275" b="1">
                <a:solidFill>
                  <a:srgbClr val="003478"/>
                </a:solidFill>
                <a:latin typeface="Apple SD Gothic Neo"/>
                <a:ea typeface="Apple SD Gothic Neo"/>
                <a:cs typeface="Apple SD Gothic Neo"/>
              </a:rPr>
              <a:t>:</a:t>
            </a:r>
            <a:r>
              <a:rPr sz="1275" b="1">
                <a:solidFill>
                  <a:srgbClr val="003478"/>
                </a:solidFill>
                <a:latin typeface="Apple SD Gothic Neo"/>
                <a:ea typeface="Apple SD Gothic Neo"/>
                <a:cs typeface="Apple SD Gothic Neo"/>
              </a:rPr>
              <a:t> Help marketers discover distinct groups in their customer bases, and then use this knowledge to develop targeted marketing programs</a:t>
            </a:r>
          </a:p>
          <a:p xmlns:a="http://schemas.openxmlformats.org/drawingml/2006/main">
            <a:pPr algn="ctr">
              <a:defRPr sz="1275" b="1">
                <a:solidFill>
                  <a:srgbClr val="00347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003478"/>
                </a:solidFill>
                <a:latin typeface="Apple SD Gothic Neo"/>
                <a:ea typeface="Apple SD Gothic Neo"/>
                <a:cs typeface="Apple SD Gothic Neo"/>
              </a:rPr>
              <a:t>Bank/Internet Security</a:t>
            </a:r>
            <a:r>
              <a:rPr sz="1275" b="1">
                <a:solidFill>
                  <a:srgbClr val="003478"/>
                </a:solidFill>
                <a:latin typeface="Apple SD Gothic Neo"/>
                <a:ea typeface="Apple SD Gothic Neo"/>
                <a:cs typeface="Apple SD Gothic Neo"/>
              </a:rPr>
              <a:t>:</a:t>
            </a:r>
            <a:r>
              <a:rPr sz="1275" b="1">
                <a:solidFill>
                  <a:srgbClr val="003478"/>
                </a:solidFill>
                <a:latin typeface="Apple SD Gothic Neo"/>
                <a:ea typeface="Apple SD Gothic Neo"/>
                <a:cs typeface="Apple SD Gothic Neo"/>
              </a:rPr>
              <a:t> fraud/spam pattern discovery</a:t>
            </a:r>
          </a:p>
        </p:txBody>
      </p:sp>
    </p:spTree>
    <p:extLst>
      <p:ext uri="{BB962C8B-B14F-4D97-AF65-F5344CB8AC3E}">
        <p14:creationId xmlns:p14="http://schemas.microsoft.com/office/powerpoint/2010/main" val="284876043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ED8F4608-B139-4A63-BC18-E90F5407B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620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97222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C60C3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C60C30"/>
                </a:solidFill>
                <a:latin typeface="Helvetica Neue"/>
                <a:ea typeface="Helvetica Neue"/>
                <a:cs typeface="Helvetica Neue"/>
              </a:rPr>
              <a:t>1.1 · HOOK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8A4D9EE-D074-4FD2-BDFA-2D39BDAEB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82296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0347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003478"/>
                </a:solidFill>
                <a:latin typeface="Apple SD Gothic Neo"/>
                <a:ea typeface="Apple SD Gothic Neo"/>
                <a:cs typeface="Apple SD Gothic Neo"/>
              </a:rPr>
              <a:t>감독 신조 recap</a:t>
            </a:r>
          </a:p>
        </p:txBody>
      </p:sp>
      <p:sp>
        <p:nvSpPr>
          <p:cNvPr id="3" name="creed-1">
            <a:extLst xmlns:a="http://schemas.openxmlformats.org/drawingml/2006/main">
              <a:ext uri="{FF2B5EF4-FFF2-40B4-BE49-F238E27FC236}">
                <a16:creationId xmlns:a16="http://schemas.microsoft.com/office/drawing/2014/main" id="{F1CFDFB9-BBDA-4F88-9681-15DE59038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90750"/>
            <a:ext cx="171450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AF1F8"/>
          </a:solidFill>
          <a:ln xmlns:a="http://schemas.openxmlformats.org/drawingml/2006/main" w="13335">
            <a:solidFill>
              <a:srgbClr val="003478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347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003478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  <a:p xmlns:a="http://schemas.openxmlformats.org/drawingml/2006/main">
            <a:pPr algn="ctr">
              <a:defRPr sz="1650" b="1">
                <a:solidFill>
                  <a:srgbClr val="00347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003478"/>
                </a:solidFill>
                <a:latin typeface="Apple SD Gothic Neo"/>
                <a:ea typeface="Apple SD Gothic Neo"/>
                <a:cs typeface="Apple SD Gothic Neo"/>
              </a:rPr>
              <a:t>기준을 세운다</a:t>
            </a:r>
          </a:p>
        </p:txBody>
      </p:sp>
      <p:sp>
        <p:nvSpPr>
          <p:cNvPr id="4" name="arrow-1">
            <a:extLst xmlns:a="http://schemas.openxmlformats.org/drawingml/2006/main">
              <a:ext uri="{FF2B5EF4-FFF2-40B4-BE49-F238E27FC236}">
                <a16:creationId xmlns:a16="http://schemas.microsoft.com/office/drawing/2014/main" id="{16A2ACE4-D009-40EB-94CB-C71488599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4575" y="2524125"/>
            <a:ext cx="342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75267"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C49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C49000"/>
                </a:solidFill>
                <a:latin typeface="Helvetica Neue"/>
                <a:ea typeface="Helvetica Neue"/>
                <a:cs typeface="Helvetica Neue"/>
              </a:rPr>
              <a:t>→</a:t>
            </a:r>
          </a:p>
        </p:txBody>
      </p:sp>
      <p:sp>
        <p:nvSpPr>
          <p:cNvPr id="5" name="creed-2">
            <a:extLst xmlns:a="http://schemas.openxmlformats.org/drawingml/2006/main">
              <a:ext uri="{FF2B5EF4-FFF2-40B4-BE49-F238E27FC236}">
                <a16:creationId xmlns:a16="http://schemas.microsoft.com/office/drawing/2014/main" id="{A5DC7822-7F50-42BD-A937-5B5C98423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190750"/>
            <a:ext cx="171450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BECEF"/>
          </a:solidFill>
          <a:ln xmlns:a="http://schemas.openxmlformats.org/drawingml/2006/main" w="13335">
            <a:solidFill>
              <a:srgbClr val="C60C30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C60C3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C60C30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  <a:p xmlns:a="http://schemas.openxmlformats.org/drawingml/2006/main">
            <a:pPr algn="ctr">
              <a:defRPr sz="1650" b="1">
                <a:solidFill>
                  <a:srgbClr val="C60C3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C60C30"/>
                </a:solidFill>
                <a:latin typeface="Apple SD Gothic Neo"/>
                <a:ea typeface="Apple SD Gothic Neo"/>
                <a:cs typeface="Apple SD Gothic Neo"/>
              </a:rPr>
              <a:t>AI에게 시킨다</a:t>
            </a:r>
          </a:p>
        </p:txBody>
      </p:sp>
      <p:sp>
        <p:nvSpPr>
          <p:cNvPr id="6" name="arrow-2">
            <a:extLst xmlns:a="http://schemas.openxmlformats.org/drawingml/2006/main">
              <a:ext uri="{FF2B5EF4-FFF2-40B4-BE49-F238E27FC236}">
                <a16:creationId xmlns:a16="http://schemas.microsoft.com/office/drawing/2014/main" id="{7848BA04-E477-480F-9D9B-AB91580C4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2524125"/>
            <a:ext cx="342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75267"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C49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C49000"/>
                </a:solidFill>
                <a:latin typeface="Helvetica Neue"/>
                <a:ea typeface="Helvetica Neue"/>
                <a:cs typeface="Helvetica Neue"/>
              </a:rPr>
              <a:t>→</a:t>
            </a:r>
          </a:p>
        </p:txBody>
      </p:sp>
      <p:sp>
        <p:nvSpPr>
          <p:cNvPr id="7" name="creed-3">
            <a:extLst xmlns:a="http://schemas.openxmlformats.org/drawingml/2006/main">
              <a:ext uri="{FF2B5EF4-FFF2-40B4-BE49-F238E27FC236}">
                <a16:creationId xmlns:a16="http://schemas.microsoft.com/office/drawing/2014/main" id="{B616A773-2048-4A97-923C-7D44C221E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190750"/>
            <a:ext cx="171450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AF4E1"/>
          </a:solidFill>
          <a:ln xmlns:a="http://schemas.openxmlformats.org/drawingml/2006/main" w="13335">
            <a:solidFill>
              <a:srgbClr val="003478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347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003478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  <a:p xmlns:a="http://schemas.openxmlformats.org/drawingml/2006/main">
            <a:pPr algn="ctr">
              <a:defRPr sz="1650" b="1">
                <a:solidFill>
                  <a:srgbClr val="00347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003478"/>
                </a:solidFill>
                <a:latin typeface="Apple SD Gothic Neo"/>
                <a:ea typeface="Apple SD Gothic Neo"/>
                <a:cs typeface="Apple SD Gothic Neo"/>
              </a:rPr>
              <a:t>검증한다</a:t>
            </a:r>
          </a:p>
        </p:txBody>
      </p:sp>
      <p:sp>
        <p:nvSpPr>
          <p:cNvPr id="8" name="arrow-3">
            <a:extLst xmlns:a="http://schemas.openxmlformats.org/drawingml/2006/main">
              <a:ext uri="{FF2B5EF4-FFF2-40B4-BE49-F238E27FC236}">
                <a16:creationId xmlns:a16="http://schemas.microsoft.com/office/drawing/2014/main" id="{4B8554C3-139D-4341-888A-51974472B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2524125"/>
            <a:ext cx="342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75267"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C49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C49000"/>
                </a:solidFill>
                <a:latin typeface="Helvetica Neue"/>
                <a:ea typeface="Helvetica Neue"/>
                <a:cs typeface="Helvetica Neue"/>
              </a:rPr>
              <a:t>→</a:t>
            </a:r>
          </a:p>
        </p:txBody>
      </p:sp>
      <p:sp>
        <p:nvSpPr>
          <p:cNvPr id="9" name="creed-4">
            <a:extLst xmlns:a="http://schemas.openxmlformats.org/drawingml/2006/main">
              <a:ext uri="{FF2B5EF4-FFF2-40B4-BE49-F238E27FC236}">
                <a16:creationId xmlns:a16="http://schemas.microsoft.com/office/drawing/2014/main" id="{2B871B34-A64E-4C5E-9A04-B26CC8766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190750"/>
            <a:ext cx="171450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EF4EB"/>
          </a:solidFill>
          <a:ln xmlns:a="http://schemas.openxmlformats.org/drawingml/2006/main" w="13335">
            <a:solidFill>
              <a:srgbClr val="003478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347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003478"/>
                </a:solidFill>
                <a:latin typeface="Apple SD Gothic Neo"/>
                <a:ea typeface="Apple SD Gothic Neo"/>
                <a:cs typeface="Apple SD Gothic Neo"/>
              </a:rPr>
              <a:t>4</a:t>
            </a:r>
          </a:p>
          <a:p xmlns:a="http://schemas.openxmlformats.org/drawingml/2006/main">
            <a:pPr algn="ctr">
              <a:defRPr sz="1650" b="1">
                <a:solidFill>
                  <a:srgbClr val="00347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003478"/>
                </a:solidFill>
                <a:latin typeface="Apple SD Gothic Neo"/>
                <a:ea typeface="Apple SD Gothic Neo"/>
                <a:cs typeface="Apple SD Gothic Neo"/>
              </a:rPr>
              <a:t>결정한다</a:t>
            </a:r>
          </a:p>
        </p:txBody>
      </p:sp>
      <p:sp>
        <p:nvSpPr>
          <p:cNvPr id="10" name="creed-note">
            <a:extLst xmlns:a="http://schemas.openxmlformats.org/drawingml/2006/main">
              <a:ext uri="{FF2B5EF4-FFF2-40B4-BE49-F238E27FC236}">
                <a16:creationId xmlns:a16="http://schemas.microsoft.com/office/drawing/2014/main" id="{6337D396-257B-44AA-B241-C367AFE0D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00500"/>
            <a:ext cx="685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>
                <a:solidFill>
                  <a:srgbClr val="5B65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>
                <a:solidFill>
                  <a:srgbClr val="5B6573"/>
                </a:solidFill>
                <a:latin typeface="Apple SD Gothic Neo"/>
                <a:ea typeface="Apple SD Gothic Neo"/>
                <a:cs typeface="Apple SD Gothic Neo"/>
              </a:rPr>
              <a:t>분석을 직접 하지 말고, 결과를 읽고 검증한 뒤 결정한다.</a:t>
            </a:r>
          </a:p>
        </p:txBody>
      </p:sp>
    </p:spTree>
    <p:extLst>
      <p:ext uri="{BB962C8B-B14F-4D97-AF65-F5344CB8AC3E}">
        <p14:creationId xmlns:p14="http://schemas.microsoft.com/office/powerpoint/2010/main" val="1380482020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DA83D921-AAC6-4E27-82A0-515A241DC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620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97222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C60C3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C60C30"/>
                </a:solidFill>
                <a:latin typeface="Helvetica Neue"/>
                <a:ea typeface="Helvetica Neue"/>
                <a:cs typeface="Helvetica Neue"/>
              </a:rPr>
              <a:t>1.1 · STANDARD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5D7D020-9105-4625-B7B9-618178EA2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82296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0347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003478"/>
                </a:solidFill>
                <a:latin typeface="Apple SD Gothic Neo"/>
                <a:ea typeface="Apple SD Gothic Neo"/>
                <a:cs typeface="Apple SD Gothic Neo"/>
              </a:rPr>
              <a:t>오늘의 기준 두 개</a:t>
            </a:r>
          </a:p>
        </p:txBody>
      </p:sp>
      <p:sp>
        <p:nvSpPr>
          <p:cNvPr id="3" name="standard-1">
            <a:extLst xmlns:a="http://schemas.openxmlformats.org/drawingml/2006/main">
              <a:ext uri="{FF2B5EF4-FFF2-40B4-BE49-F238E27FC236}">
                <a16:creationId xmlns:a16="http://schemas.microsoft.com/office/drawing/2014/main" id="{0773DAE3-C2CC-44D3-8E48-EEDB1DA72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66875"/>
            <a:ext cx="3619500" cy="257175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EAF1F8"/>
          </a:solidFill>
          <a:ln xmlns:a="http://schemas.openxmlformats.org/drawingml/2006/main" w="13335">
            <a:solidFill>
              <a:srgbClr val="003478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>
                <a:latin typeface="Apple SD Gothic Neo"/>
                <a:ea typeface="Apple SD Gothic Neo"/>
                <a:cs typeface="Apple SD Gothic Neo"/>
              </a:defRPr>
            </a:pPr>
            <a:r>
              <a:rPr sz="3200" b="1">
                <a:solidFill>
                  <a:srgbClr val="003478"/>
                </a:solidFill>
                <a:latin typeface="Apple SD Gothic Neo"/>
                <a:ea typeface="Apple SD Gothic Neo"/>
                <a:cs typeface="Apple SD Gothic Neo"/>
              </a:rPr>
              <a:t>①</a:t>
            </a:r>
          </a:p>
          <a:p xmlns:a="http://schemas.openxmlformats.org/drawingml/2006/main">
            <a:pPr algn="ctr">
              <a:lnSpc>
                <a:spcPct val="115000"/>
              </a:lnSpc>
              <a:buNone/>
              <a:defRPr>
                <a:latin typeface="Apple SD Gothic Neo"/>
                <a:ea typeface="Apple SD Gothic Neo"/>
                <a:cs typeface="Apple SD Gothic Neo"/>
              </a:defRPr>
            </a:pPr>
            <a:r>
              <a:rPr sz="2200" b="1">
                <a:solidFill>
                  <a:srgbClr val="003478"/>
                </a:solidFill>
                <a:latin typeface="Apple SD Gothic Neo"/>
                <a:ea typeface="Apple SD Gothic Neo"/>
                <a:cs typeface="Apple SD Gothic Neo"/>
              </a:rPr>
              <a:t>각 군집의 실제 프로파일</a:t>
            </a:r>
          </a:p>
          <a:p xmlns:a="http://schemas.openxmlformats.org/drawingml/2006/main">
            <a:pPr algn="ctr">
              <a:lnSpc>
                <a:spcPct val="115000"/>
              </a:lnSpc>
              <a:buNone/>
              <a:defRPr>
                <a:latin typeface="Apple SD Gothic Neo"/>
                <a:ea typeface="Apple SD Gothic Neo"/>
                <a:cs typeface="Apple SD Gothic Neo"/>
              </a:defRPr>
            </a:pPr>
            <a:r>
              <a:rPr sz="1700">
                <a:solidFill>
                  <a:srgbClr val="262626"/>
                </a:solidFill>
                <a:latin typeface="Apple SD Gothic Neo"/>
                <a:ea typeface="Apple SD Gothic Neo"/>
                <a:cs typeface="Apple SD Gothic Neo"/>
              </a:rPr>
              <a:t>어떤 변수가 높은가</a:t>
            </a:r>
          </a:p>
        </p:txBody>
      </p:sp>
      <p:sp>
        <p:nvSpPr>
          <p:cNvPr id="4" name="standard-2">
            <a:extLst xmlns:a="http://schemas.openxmlformats.org/drawingml/2006/main">
              <a:ext uri="{FF2B5EF4-FFF2-40B4-BE49-F238E27FC236}">
                <a16:creationId xmlns:a16="http://schemas.microsoft.com/office/drawing/2014/main" id="{BF2607C0-0DA8-408F-A450-5DD8B4988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666875"/>
            <a:ext cx="3619500" cy="257175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BECEF"/>
          </a:solidFill>
          <a:ln xmlns:a="http://schemas.openxmlformats.org/drawingml/2006/main" w="13335">
            <a:solidFill>
              <a:srgbClr val="C60C30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>
                <a:latin typeface="Apple SD Gothic Neo"/>
                <a:ea typeface="Apple SD Gothic Neo"/>
                <a:cs typeface="Apple SD Gothic Neo"/>
              </a:defRPr>
            </a:pPr>
            <a:r>
              <a:rPr sz="3200" b="1">
                <a:solidFill>
                  <a:srgbClr val="C60C30"/>
                </a:solidFill>
                <a:latin typeface="Apple SD Gothic Neo"/>
                <a:ea typeface="Apple SD Gothic Neo"/>
                <a:cs typeface="Apple SD Gothic Neo"/>
              </a:rPr>
              <a:t>②</a:t>
            </a:r>
          </a:p>
          <a:p xmlns:a="http://schemas.openxmlformats.org/drawingml/2006/main">
            <a:pPr algn="ctr">
              <a:lnSpc>
                <a:spcPct val="115000"/>
              </a:lnSpc>
              <a:buNone/>
              <a:defRPr>
                <a:latin typeface="Apple SD Gothic Neo"/>
                <a:ea typeface="Apple SD Gothic Neo"/>
                <a:cs typeface="Apple SD Gothic Neo"/>
              </a:defRPr>
            </a:pPr>
            <a:r>
              <a:rPr sz="2200" b="1">
                <a:solidFill>
                  <a:srgbClr val="C60C30"/>
                </a:solidFill>
                <a:latin typeface="Apple SD Gothic Neo"/>
                <a:ea typeface="Apple SD Gothic Neo"/>
                <a:cs typeface="Apple SD Gothic Neo"/>
              </a:rPr>
              <a:t>잡음 비중</a:t>
            </a:r>
          </a:p>
          <a:p xmlns:a="http://schemas.openxmlformats.org/drawingml/2006/main">
            <a:pPr algn="ctr">
              <a:lnSpc>
                <a:spcPct val="115000"/>
              </a:lnSpc>
              <a:buNone/>
              <a:defRPr>
                <a:latin typeface="Apple SD Gothic Neo"/>
                <a:ea typeface="Apple SD Gothic Neo"/>
                <a:cs typeface="Apple SD Gothic Neo"/>
              </a:defRPr>
            </a:pPr>
            <a:r>
              <a:rPr sz="1700">
                <a:solidFill>
                  <a:srgbClr val="262626"/>
                </a:solidFill>
                <a:latin typeface="Apple SD Gothic Neo"/>
                <a:ea typeface="Apple SD Gothic Neo"/>
                <a:cs typeface="Apple SD Gothic Neo"/>
              </a:rPr>
              <a:t>얼마나 많은 점이 어느 군집에도 안 들었나</a:t>
            </a:r>
          </a:p>
        </p:txBody>
      </p:sp>
      <p:sp>
        <p:nvSpPr>
          <p:cNvPr id="5" name="interpretation-note">
            <a:extLst xmlns:a="http://schemas.openxmlformats.org/drawingml/2006/main">
              <a:ext uri="{FF2B5EF4-FFF2-40B4-BE49-F238E27FC236}">
                <a16:creationId xmlns:a16="http://schemas.microsoft.com/office/drawing/2014/main" id="{FB9E9060-2EB5-433F-A4A8-03670D532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714875"/>
            <a:ext cx="590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C49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C49000"/>
                </a:solidFill>
                <a:latin typeface="Apple SD Gothic Neo"/>
                <a:ea typeface="Apple SD Gothic Neo"/>
                <a:cs typeface="Apple SD Gothic Neo"/>
              </a:rPr>
              <a:t>이름은 해석이지 데이터가 아니다.</a:t>
            </a:r>
          </a:p>
        </p:txBody>
      </p:sp>
    </p:spTree>
    <p:extLst>
      <p:ext uri="{BB962C8B-B14F-4D97-AF65-F5344CB8AC3E}">
        <p14:creationId xmlns:p14="http://schemas.microsoft.com/office/powerpoint/2010/main" val="1380482020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6DA48964-5599-419B-8851-C54613BB0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620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97222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C60C3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C60C30"/>
                </a:solidFill>
                <a:latin typeface="Helvetica Neue"/>
                <a:ea typeface="Helvetica Neue"/>
                <a:cs typeface="Helvetica Neue"/>
              </a:rPr>
              <a:t>1.1 · OBJECTIVES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EA3675B-9477-442F-B167-9C614FC80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82296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0347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003478"/>
                </a:solidFill>
                <a:latin typeface="Apple SD Gothic Neo"/>
                <a:ea typeface="Apple SD Gothic Neo"/>
                <a:cs typeface="Apple SD Gothic Neo"/>
              </a:rPr>
              <a:t>오늘의 목표 네 개</a:t>
            </a:r>
          </a:p>
        </p:txBody>
      </p:sp>
      <p:sp>
        <p:nvSpPr>
          <p:cNvPr id="3" name="body-bullets">
            <a:extLst xmlns:a="http://schemas.openxmlformats.org/drawingml/2006/main">
              <a:ext uri="{FF2B5EF4-FFF2-40B4-BE49-F238E27FC236}">
                <a16:creationId xmlns:a16="http://schemas.microsoft.com/office/drawing/2014/main" id="{49E45040-5BD6-4E74-94FD-EC6808585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428750"/>
            <a:ext cx="714375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marL="304800" indent="-152400">
              <a:lnSpc>
                <a:spcPct val="112000"/>
              </a:lnSpc>
              <a:spcAft>
                <a:spcPts val="1700"/>
              </a:spcAft>
              <a:buNone/>
              <a:defRPr sz="1725">
                <a:solidFill>
                  <a:srgbClr val="26262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>
                <a:solidFill>
                  <a:srgbClr val="262626"/>
                </a:solidFill>
                <a:latin typeface="Apple SD Gothic Neo"/>
                <a:ea typeface="Apple SD Gothic Neo"/>
                <a:cs typeface="Apple SD Gothic Neo"/>
              </a:rPr>
              <a:t>군집분석(clustering)이 무엇인지 — 비지도 그룹화 — 안다.</a:t>
            </a:r>
          </a:p>
          <a:p xmlns:a="http://schemas.openxmlformats.org/drawingml/2006/main">
            <a:pPr marL="304800" indent="-152400">
              <a:lnSpc>
                <a:spcPct val="112000"/>
              </a:lnSpc>
              <a:spcAft>
                <a:spcPts val="1700"/>
              </a:spcAft>
              <a:buNone/>
              <a:defRPr sz="1725">
                <a:solidFill>
                  <a:srgbClr val="26262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>
                <a:solidFill>
                  <a:srgbClr val="262626"/>
                </a:solidFill>
                <a:latin typeface="Apple SD Gothic Neo"/>
                <a:ea typeface="Apple SD Gothic Neo"/>
                <a:cs typeface="Apple SD Gothic Neo"/>
              </a:rPr>
              <a:t>DBSCAN의 핵심점·경계점·잡음점을 읽는다.</a:t>
            </a:r>
          </a:p>
          <a:p xmlns:a="http://schemas.openxmlformats.org/drawingml/2006/main">
            <a:pPr marL="304800" indent="-152400">
              <a:lnSpc>
                <a:spcPct val="112000"/>
              </a:lnSpc>
              <a:spcAft>
                <a:spcPts val="1700"/>
              </a:spcAft>
              <a:buNone/>
              <a:defRPr sz="1725">
                <a:solidFill>
                  <a:srgbClr val="26262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>
                <a:solidFill>
                  <a:srgbClr val="262626"/>
                </a:solidFill>
                <a:latin typeface="Apple SD Gothic Neo"/>
                <a:ea typeface="Apple SD Gothic Neo"/>
                <a:cs typeface="Apple SD Gothic Neo"/>
              </a:rPr>
              <a:t>한 군집을 크기 + 프로파일로 읽고, 잡음 비중을 확인한다.</a:t>
            </a:r>
          </a:p>
          <a:p xmlns:a="http://schemas.openxmlformats.org/drawingml/2006/main">
            <a:pPr marL="304800" indent="-152400">
              <a:lnSpc>
                <a:spcPct val="112000"/>
              </a:lnSpc>
              <a:spcAft>
                <a:spcPts val="1700"/>
              </a:spcAft>
              <a:buNone/>
              <a:defRPr sz="1725">
                <a:solidFill>
                  <a:srgbClr val="26262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>
                <a:solidFill>
                  <a:srgbClr val="262626"/>
                </a:solidFill>
                <a:latin typeface="Apple SD Gothic Neo"/>
                <a:ea typeface="Apple SD Gothic Neo"/>
                <a:cs typeface="Apple SD Gothic Neo"/>
              </a:rPr>
              <a:t>AI가 군집을 과잉 명명하거나 잡음을 숨겼는지 잡는다.</a:t>
            </a:r>
          </a:p>
        </p:txBody>
      </p:sp>
    </p:spTree>
    <p:extLst>
      <p:ext uri="{BB962C8B-B14F-4D97-AF65-F5344CB8AC3E}">
        <p14:creationId xmlns:p14="http://schemas.microsoft.com/office/powerpoint/2010/main" val="1380482020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266" name="Title 2">
            <a:extLst xmlns:a="http://schemas.openxmlformats.org/drawingml/2006/main">
              <a:ext uri="{FF2B5EF4-FFF2-40B4-BE49-F238E27FC236}">
                <a16:creationId xmlns:a16="http://schemas.microsoft.com/office/drawing/2014/main" id="{E6F8A08A-3D58-4E82-999A-B57AED8FB46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11560" y="116632"/>
            <a:ext cx="7772400" cy="78296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Clustering</a:t>
            </a:r>
          </a:p>
        </p:txBody>
      </p:sp>
      <p:sp>
        <p:nvSpPr>
          <p:cNvPr id="11267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3FE1860F-6C06-424B-B85B-7E2E749B0A22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07504" y="908720"/>
            <a:ext cx="8784976" cy="555307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90000"/>
              </a:lnSpc>
              <a:buNone/>
            </a:pPr>
            <a:r>
              <a:rPr sz="2400"/>
              <a:t>Clusters: groups of </a:t>
            </a:r>
            <a:r>
              <a:rPr sz="2400" i="1"/>
              <a:t>similar</a:t>
            </a:r>
            <a:r>
              <a:rPr sz="2400"/>
              <a:t> items/objects </a:t>
            </a:r>
          </a:p>
          <a:p xmlns:a="http://schemas.openxmlformats.org/drawingml/2006/main">
            <a:pPr>
              <a:lnSpc>
                <a:spcPct val="90000"/>
              </a:lnSpc>
              <a:buNone/>
            </a:pPr>
            <a:r>
              <a:rPr sz="2400"/>
              <a:t>Clustering is an </a:t>
            </a:r>
            <a:r>
              <a:rPr sz="2400">
                <a:solidFill>
                  <a:srgbClr val="FF0000"/>
                </a:solidFill>
              </a:rPr>
              <a:t>unsupervised data-mining task </a:t>
            </a:r>
            <a:r>
              <a:rPr sz="2400"/>
              <a:t>that divides the data into clusters.</a:t>
            </a:r>
          </a:p>
          <a:p xmlns:a="http://schemas.openxmlformats.org/drawingml/2006/main">
            <a:pPr lvl="1">
              <a:lnSpc>
                <a:spcPct val="90000"/>
              </a:lnSpc>
              <a:buNone/>
            </a:pPr>
            <a:r>
              <a:rPr sz="2000"/>
              <a:t>Goal</a:t>
            </a:r>
            <a:r>
              <a:rPr sz="1800" u="sng"/>
              <a:t>: Partitioning the data into sub datasets without any guidance</a:t>
            </a:r>
            <a:r>
              <a:rPr sz="2000"/>
              <a:t>  </a:t>
            </a:r>
          </a:p>
          <a:p xmlns:a="http://schemas.openxmlformats.org/drawingml/2006/main">
            <a:pPr lvl="1">
              <a:lnSpc>
                <a:spcPct val="90000"/>
              </a:lnSpc>
              <a:buNone/>
            </a:pPr>
            <a:r>
              <a:rPr sz="1800"/>
              <a:t>Clustering is not driven by some pre-specified target characteristics. </a:t>
            </a:r>
          </a:p>
          <a:p xmlns:a="http://schemas.openxmlformats.org/drawingml/2006/main">
            <a:pPr lvl="1">
              <a:lnSpc>
                <a:spcPct val="90000"/>
              </a:lnSpc>
              <a:buNone/>
            </a:pPr>
            <a:r>
              <a:rPr sz="1800"/>
              <a:t>Clustering is used for </a:t>
            </a:r>
            <a:r>
              <a:rPr sz="1800" u="sng"/>
              <a:t>knowledge discovery </a:t>
            </a:r>
            <a:r>
              <a:rPr sz="1800"/>
              <a:t>rather than prediction</a:t>
            </a:r>
          </a:p>
          <a:p xmlns:a="http://schemas.openxmlformats.org/drawingml/2006/main">
            <a:pPr marL="457200" lvl="1" indent="0">
              <a:lnSpc>
                <a:spcPct val="90000"/>
              </a:lnSpc>
              <a:buNone/>
            </a:pPr>
            <a:endParaRPr sz="1800"/>
          </a:p>
          <a:p xmlns:a="http://schemas.openxmlformats.org/drawingml/2006/main">
            <a:pPr>
              <a:lnSpc>
                <a:spcPct val="90000"/>
              </a:lnSpc>
              <a:buNone/>
            </a:pPr>
            <a:r>
              <a:rPr sz="2400"/>
              <a:t>Clustering is guided by the principle that the objects </a:t>
            </a:r>
            <a:r>
              <a:rPr sz="2400">
                <a:solidFill>
                  <a:srgbClr val="FF0000"/>
                </a:solidFill>
              </a:rPr>
              <a:t>within a cluster should be very similar to each other</a:t>
            </a:r>
            <a:r>
              <a:rPr sz="2400"/>
              <a:t>, but the objects in different clusters are not so similar. </a:t>
            </a:r>
          </a:p>
          <a:p xmlns:a="http://schemas.openxmlformats.org/drawingml/2006/main">
            <a:pPr lvl="1">
              <a:lnSpc>
                <a:spcPct val="90000"/>
              </a:lnSpc>
              <a:buNone/>
            </a:pPr>
            <a:r>
              <a:rPr sz="1800"/>
              <a:t>Group the data so that the related elements are placed together!</a:t>
            </a:r>
            <a:endParaRPr sz="2000"/>
          </a:p>
          <a:p xmlns:a="http://schemas.openxmlformats.org/drawingml/2006/main">
            <a:pPr lvl="1">
              <a:lnSpc>
                <a:spcPct val="90000"/>
              </a:lnSpc>
              <a:buNone/>
            </a:pPr>
            <a:endParaRPr sz="1800"/>
          </a:p>
          <a:p xmlns:a="http://schemas.openxmlformats.org/drawingml/2006/main">
            <a:pPr>
              <a:lnSpc>
                <a:spcPct val="90000"/>
              </a:lnSpc>
              <a:buNone/>
            </a:pPr>
            <a:r>
              <a:rPr sz="2400"/>
              <a:t>Example: Do our customers naturally fall into different groups?</a:t>
            </a:r>
          </a:p>
          <a:p xmlns:a="http://schemas.openxmlformats.org/drawingml/2006/main">
            <a:pPr lvl="1">
              <a:lnSpc>
                <a:spcPct val="90000"/>
              </a:lnSpc>
              <a:buNone/>
            </a:pPr>
            <a:r>
              <a:rPr sz="1800"/>
              <a:t>Do we understand who our customers are?</a:t>
            </a:r>
          </a:p>
          <a:p xmlns:a="http://schemas.openxmlformats.org/drawingml/2006/main">
            <a:pPr lvl="1">
              <a:lnSpc>
                <a:spcPct val="90000"/>
              </a:lnSpc>
              <a:buNone/>
            </a:pPr>
            <a:r>
              <a:rPr sz="1800"/>
              <a:t>Can we develop better products, better marketing campaigns, better sales methods, or better customer service by understanding the </a:t>
            </a:r>
            <a:r>
              <a:rPr sz="1800">
                <a:solidFill>
                  <a:srgbClr val="FF0000"/>
                </a:solidFill>
              </a:rPr>
              <a:t>natural grouping</a:t>
            </a:r>
            <a:r>
              <a:rPr sz="180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332065586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866" name="Rectangle 7">
            <a:extLst xmlns:a="http://schemas.openxmlformats.org/drawingml/2006/main">
              <a:ext uri="{FF2B5EF4-FFF2-40B4-BE49-F238E27FC236}">
                <a16:creationId xmlns:a16="http://schemas.microsoft.com/office/drawing/2014/main" id="{B7E6E361-8493-4CE6-8D70-4751671931D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93725" y="22622"/>
            <a:ext cx="8458200" cy="6858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Similarity</a:t>
            </a:r>
          </a:p>
        </p:txBody>
      </p:sp>
      <p:sp>
        <p:nvSpPr>
          <p:cNvPr id="36867" name="Content Placeholder 4">
            <a:extLst xmlns:a="http://schemas.openxmlformats.org/drawingml/2006/main">
              <a:ext uri="{FF2B5EF4-FFF2-40B4-BE49-F238E27FC236}">
                <a16:creationId xmlns:a16="http://schemas.microsoft.com/office/drawing/2014/main" id="{C64BF5BC-2B46-4428-86DA-2B0B540B3813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299244" y="659269"/>
            <a:ext cx="8665244" cy="42672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342900" lvl="1" indent="-342900">
              <a:spcAft>
                <a:spcPts val="600"/>
              </a:spcAft>
              <a:buChar char="•"/>
            </a:pPr>
            <a:r>
              <a:rPr>
                <a:solidFill>
                  <a:schemeClr val="tx1"/>
                </a:solidFill>
              </a:rPr>
              <a:t>Clustering groups the data so that the related elements are placed together (i.e., similarity)</a:t>
            </a:r>
          </a:p>
          <a:p xmlns:a="http://schemas.openxmlformats.org/drawingml/2006/main">
            <a:pPr marL="342900" lvl="1" indent="-342900">
              <a:spcAft>
                <a:spcPts val="600"/>
              </a:spcAft>
              <a:buChar char="•"/>
            </a:pPr>
            <a:r>
              <a:rPr>
                <a:solidFill>
                  <a:schemeClr val="tx1"/>
                </a:solidFill>
              </a:rPr>
              <a:t>What is similarity?</a:t>
            </a:r>
          </a:p>
          <a:p xmlns:a="http://schemas.openxmlformats.org/drawingml/2006/main">
            <a:pPr marL="742950" lvl="2" indent="-342900">
              <a:spcAft>
                <a:spcPts val="600"/>
              </a:spcAft>
              <a:buNone/>
            </a:pPr>
            <a:r>
              <a:rPr sz="1800">
                <a:solidFill>
                  <a:schemeClr val="tx1"/>
                </a:solidFill>
              </a:rPr>
              <a:t>Person A and Person B have the same weight and height, but different incomes?</a:t>
            </a:r>
          </a:p>
          <a:p xmlns:a="http://schemas.openxmlformats.org/drawingml/2006/main">
            <a:pPr marL="742950" lvl="2" indent="-342900">
              <a:spcAft>
                <a:spcPts val="600"/>
              </a:spcAft>
              <a:buNone/>
            </a:pPr>
            <a:r>
              <a:rPr sz="1800">
                <a:solidFill>
                  <a:schemeClr val="tx1"/>
                </a:solidFill>
              </a:rPr>
              <a:t>Are they similar?</a:t>
            </a:r>
          </a:p>
          <a:p xmlns:a="http://schemas.openxmlformats.org/drawingml/2006/main">
            <a:pPr marL="342900" lvl="1" indent="-342900">
              <a:spcAft>
                <a:spcPts val="600"/>
              </a:spcAft>
              <a:buChar char="•"/>
            </a:pPr>
            <a:r>
              <a:rPr>
                <a:solidFill>
                  <a:schemeClr val="tx1"/>
                </a:solidFill>
              </a:rPr>
              <a:t>To illustrate the difficulties involved in judging similarity, consider your answer to the following question:</a:t>
            </a:r>
          </a:p>
          <a:p xmlns:a="http://schemas.openxmlformats.org/drawingml/2006/main">
            <a:pPr marL="742950" lvl="2" indent="-342900">
              <a:spcAft>
                <a:spcPts val="600"/>
              </a:spcAft>
              <a:buNone/>
            </a:pPr>
            <a:r>
              <a:rPr>
                <a:solidFill>
                  <a:srgbClr val="FF0000"/>
                </a:solidFill>
              </a:rPr>
              <a:t>Which is more similar to a duck; a crow or a penguin?</a:t>
            </a:r>
          </a:p>
          <a:p xmlns:a="http://schemas.openxmlformats.org/drawingml/2006/main">
            <a:pPr marL="742950" lvl="2" indent="-342900">
              <a:spcAft>
                <a:spcPts val="600"/>
              </a:spcAft>
              <a:buNone/>
            </a:pPr>
            <a:r>
              <a:rPr>
                <a:solidFill>
                  <a:srgbClr val="FF0000"/>
                </a:solidFill>
              </a:rPr>
              <a:t>Similarity between two objects is highly relying on their specific attributes!</a:t>
            </a:r>
            <a:endParaRPr>
              <a:solidFill>
                <a:srgbClr val="FF0000"/>
              </a:solidFill>
            </a:endParaRPr>
          </a:p>
          <a:p xmlns:a="http://schemas.openxmlformats.org/drawingml/2006/main">
            <a:endParaRPr sz="2400"/>
          </a:p>
        </p:txBody>
      </p:sp>
      <p:sp>
        <p:nvSpPr>
          <p:cNvPr id="36868" name="Rectangle 8">
            <a:extLst xmlns:a="http://schemas.openxmlformats.org/drawingml/2006/main">
              <a:ext uri="{FF2B5EF4-FFF2-40B4-BE49-F238E27FC236}">
                <a16:creationId xmlns:a16="http://schemas.microsoft.com/office/drawing/2014/main" id="{AF7403C0-BE76-463F-A992-4A98C183E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725" y="1071563"/>
            <a:ext cx="7945438" cy="38052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indent="-479425">
              <a:spcBef>
                <a:spcPts val="838"/>
              </a:spcBef>
              <a:spcAft>
                <a:spcPts val="838"/>
              </a:spcAft>
              <a:buClr>
                <a:schemeClr val="tx2"/>
              </a:buClr>
              <a:buSzPct val="70000"/>
              <a:buNone/>
            </a:pPr>
            <a:endParaRPr/>
          </a:p>
        </p:txBody>
      </p:sp>
      <p:pic>
        <p:nvPicPr>
          <p:cNvPr id="36875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ad082026214abe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1560" y="4653136"/>
            <a:ext cx="1258069" cy="205438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36876" name="Pictur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5d7ef53a074db5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32537" y="4638247"/>
            <a:ext cx="1247775" cy="195262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36877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dcccd7971641ea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995936" y="4670246"/>
            <a:ext cx="1671414" cy="2069277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80BDC1FC-5B25-4EE3-804D-AC5EE2996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9569" y="5420445"/>
            <a:ext cx="221887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rgbClr val="0070C0"/>
                </a:solidFill>
              </a:rPr>
              <a:t>Am I similar to 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126872AF-D345-4356-A20A-9C6D98560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3757" y="5449497"/>
            <a:ext cx="458780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rgbClr val="0070C0"/>
                </a:solidFill>
              </a:rPr>
              <a:t>or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39039D33-045E-4C1D-85E6-3E691D43A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9644" y="5415607"/>
            <a:ext cx="356188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rgbClr val="0070C0"/>
                </a:solidFill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497393616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제목 1">
            <a:extLst xmlns:a="http://schemas.openxmlformats.org/drawingml/2006/main">
              <a:ext uri="{FF2B5EF4-FFF2-40B4-BE49-F238E27FC236}">
                <a16:creationId xmlns:a16="http://schemas.microsoft.com/office/drawing/2014/main" id="{4CDFD762-97C7-498E-89AC-664E5B25041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Similarity and Distance</a:t>
            </a:r>
            <a:endParaRPr/>
          </a:p>
        </p:txBody>
      </p:sp>
      <p:sp>
        <p:nvSpPr>
          <p:cNvPr id="3" name="내용 개체 틀 2">
            <a:extLst xmlns:a="http://schemas.openxmlformats.org/drawingml/2006/main">
              <a:ext uri="{FF2B5EF4-FFF2-40B4-BE49-F238E27FC236}">
                <a16:creationId xmlns:a16="http://schemas.microsoft.com/office/drawing/2014/main" id="{5C744D43-3516-4398-BED6-CF13DF41AF8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85800" y="1078992"/>
            <a:ext cx="7848600" cy="693824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Annual Incomes </a:t>
            </a:r>
            <a:endParaRPr/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B048B560-D6C9-438C-8287-52438211A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5896" y="1988840"/>
            <a:ext cx="1107996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t>A: 10K</a:t>
            </a:r>
            <a:endParaRPr baseline="0"/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F659EC2F-63BC-40AC-B34E-6C45F44FA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1720" y="3212976"/>
            <a:ext cx="1107996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t>B: 20K</a:t>
            </a:r>
            <a:endParaRPr baseline="0"/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E98B49C2-5A6C-488D-9EDE-EF6CDB600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8711" y="3225635"/>
            <a:ext cx="1297150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t>C: 100K</a:t>
            </a:r>
            <a:endParaRPr baseline="0"/>
          </a:p>
        </p:txBody>
      </p:sp>
      <p:sp>
        <p:nvSpPr>
          <p:cNvPr id="8" name="직선 연결선 7">
            <a:extLst xmlns:a="http://schemas.openxmlformats.org/drawingml/2006/main">
              <a:ext uri="{FF2B5EF4-FFF2-40B4-BE49-F238E27FC236}">
                <a16:creationId xmlns:a16="http://schemas.microsoft.com/office/drawing/2014/main" id="{449FE38F-1BFA-404B-9085-13E695AA1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2771800" y="2492896"/>
            <a:ext cx="720080" cy="648072"/>
          </a:xfrm>
          <a:prstGeom xmlns:a="http://schemas.openxmlformats.org/drawingml/2006/main" prst="line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 w="9525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0" name="직선 연결선 9">
            <a:extLst xmlns:a="http://schemas.openxmlformats.org/drawingml/2006/main">
              <a:ext uri="{FF2B5EF4-FFF2-40B4-BE49-F238E27FC236}">
                <a16:creationId xmlns:a16="http://schemas.microsoft.com/office/drawing/2014/main" id="{EF1B2707-008C-4430-A8E1-7B1F65D31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8905" y="2450505"/>
            <a:ext cx="717191" cy="762471"/>
          </a:xfrm>
          <a:prstGeom xmlns:a="http://schemas.openxmlformats.org/drawingml/2006/main" prst="line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 w="9525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3" name="직선 연결선 12">
            <a:extLst xmlns:a="http://schemas.openxmlformats.org/drawingml/2006/main">
              <a:ext uri="{FF2B5EF4-FFF2-40B4-BE49-F238E27FC236}">
                <a16:creationId xmlns:a16="http://schemas.microsoft.com/office/drawing/2014/main" id="{7B7CF07B-62B4-46D3-AA87-40A64E56A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7864" y="3456467"/>
            <a:ext cx="1396028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 w="9525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10B47331-9CF9-49F1-B14E-F03FBD24E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1498" y="2350439"/>
            <a:ext cx="641522" cy="4001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2000">
                <a:solidFill>
                  <a:srgbClr val="FF0000"/>
                </a:solidFill>
              </a:rPr>
              <a:t>10K</a:t>
            </a:r>
            <a:endParaRPr sz="2000" baseline="0">
              <a:solidFill>
                <a:srgbClr val="FF0000"/>
              </a:solidFill>
            </a:endParaRP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4B944A16-2B2D-45C1-8451-4FD1E3AE3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1249" y="3571912"/>
            <a:ext cx="641522" cy="4001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2000">
                <a:solidFill>
                  <a:srgbClr val="FF0000"/>
                </a:solidFill>
              </a:rPr>
              <a:t>80K</a:t>
            </a:r>
            <a:endParaRPr sz="2000" baseline="0">
              <a:solidFill>
                <a:srgbClr val="FF0000"/>
              </a:solidFill>
            </a:endParaRP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0CA9A52C-952E-4ADA-A343-1E93DEBC2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7765" y="2377700"/>
            <a:ext cx="641522" cy="4001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2000">
                <a:solidFill>
                  <a:srgbClr val="FF0000"/>
                </a:solidFill>
              </a:rPr>
              <a:t>90K</a:t>
            </a:r>
            <a:endParaRPr sz="2000" baseline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14267052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890" name="Rectangle 3">
            <a:extLst xmlns:a="http://schemas.openxmlformats.org/drawingml/2006/main">
              <a:ext uri="{FF2B5EF4-FFF2-40B4-BE49-F238E27FC236}">
                <a16:creationId xmlns:a16="http://schemas.microsoft.com/office/drawing/2014/main" id="{EB2FAD88-9933-4A81-BB6A-E9D73C37F69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77280" y="-174748"/>
            <a:ext cx="8458200" cy="6858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Similarity and Distance</a:t>
            </a:r>
          </a:p>
        </p:txBody>
      </p:sp>
      <p:sp>
        <p:nvSpPr>
          <p:cNvPr id="47107" name="Rectangle 2">
            <a:extLst xmlns:a="http://schemas.openxmlformats.org/drawingml/2006/main">
              <a:ext uri="{FF2B5EF4-FFF2-40B4-BE49-F238E27FC236}">
                <a16:creationId xmlns:a16="http://schemas.microsoft.com/office/drawing/2014/main" id="{DBC9C7CC-69CB-46C6-ACE4-ED316E22452A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43000" y="406748"/>
            <a:ext cx="8926760" cy="42672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457200" indent="-457200">
              <a:spcAft>
                <a:spcPct val="20000"/>
              </a:spcAft>
              <a:buFont typeface="Arial"/>
              <a:buChar char="•"/>
            </a:pPr>
            <a:r>
              <a:rPr sz="2800"/>
              <a:t>In Data Science</a:t>
            </a:r>
          </a:p>
          <a:p xmlns:a="http://schemas.openxmlformats.org/drawingml/2006/main">
            <a:pPr marL="1085850" lvl="1" indent="-342900">
              <a:spcAft>
                <a:spcPct val="20000"/>
              </a:spcAft>
              <a:buNone/>
            </a:pPr>
            <a:r>
              <a:t>Similarity between objects = Distance (in numbers) between objects </a:t>
            </a:r>
          </a:p>
          <a:p xmlns:a="http://schemas.openxmlformats.org/drawingml/2006/main">
            <a:pPr marL="1085850" lvl="1" indent="-342900">
              <a:spcAft>
                <a:spcPct val="20000"/>
              </a:spcAft>
              <a:buNone/>
            </a:pPr>
            <a:r>
              <a:t>The closer two objects are in the space defined by the features, the more similar they are</a:t>
            </a:r>
          </a:p>
          <a:p xmlns:a="http://schemas.openxmlformats.org/drawingml/2006/main">
            <a:pPr marL="342900" indent="-342900">
              <a:spcAft>
                <a:spcPct val="20000"/>
              </a:spcAft>
              <a:buNone/>
            </a:pPr>
            <a:r>
              <a:t>Can we measure the similarity or distance between objects directly?</a:t>
            </a:r>
          </a:p>
          <a:p xmlns:a="http://schemas.openxmlformats.org/drawingml/2006/main">
            <a:pPr marL="342900" indent="-342900">
              <a:spcAft>
                <a:spcPct val="20000"/>
              </a:spcAft>
              <a:buNone/>
            </a:pPr>
            <a:r>
              <a:t>Consider two instances from credit application data</a:t>
            </a:r>
          </a:p>
          <a:p xmlns:a="http://schemas.openxmlformats.org/drawingml/2006/main">
            <a:pPr marL="342900" indent="-342900">
              <a:spcAft>
                <a:spcPct val="20000"/>
              </a:spcAft>
              <a:buNone/>
            </a:pPr>
            <a:endParaRPr/>
          </a:p>
          <a:p xmlns:a="http://schemas.openxmlformats.org/drawingml/2006/main">
            <a:pPr marL="1200150" lvl="1" indent="-457200">
              <a:spcAft>
                <a:spcPct val="20000"/>
              </a:spcAft>
              <a:buFont typeface="Arial"/>
              <a:buChar char="•"/>
            </a:pPr>
            <a:endParaRPr sz="2400"/>
          </a:p>
          <a:p xmlns:a="http://schemas.openxmlformats.org/drawingml/2006/main">
            <a:pPr marL="640080" indent="-640080">
              <a:buNone/>
            </a:pPr>
            <a:endParaRPr sz="2400"/>
          </a:p>
          <a:p xmlns:a="http://schemas.openxmlformats.org/drawingml/2006/main">
            <a:pPr marL="800100" lvl="1" indent="-640080">
              <a:spcAft>
                <a:spcPct val="20000"/>
              </a:spcAft>
              <a:buFont typeface="Wingdings"/>
              <a:buNone/>
            </a:pPr>
            <a:r>
              <a:rPr sz="2400"/>
              <a:t> </a:t>
            </a:r>
          </a:p>
        </p:txBody>
      </p:sp>
      <p:graphicFrame>
        <p:nvGraphicFramePr>
          <p:cNvPr id="47111" name="Table 1"/>
          <p:cNvGraphicFramePr/>
          <p:nvPr/>
        </p:nvGraphicFramePr>
        <p:xfrm>
          <a:off xmlns:a="http://schemas.openxmlformats.org/drawingml/2006/main" x="827584" y="4293096"/>
          <a:ext xmlns:a="http://schemas.openxmlformats.org/drawingml/2006/main" cx="6912768" cy="1844040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6425"/>
                <a:gridCol w="1512168"/>
                <a:gridCol w="1584175"/>
              </a:tblGrid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Attribute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Person A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Person B</a:t>
                      </a:r>
                    </a:p>
                  </a:txBody>
                  <a:tcPr marL="91440" marR="91440" marT="45720" marB="45720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Age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23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40</a:t>
                      </a:r>
                    </a:p>
                  </a:txBody>
                  <a:tcPr marL="91440" marR="91440" marT="45720" marB="45720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Years</a:t>
                      </a:r>
                      <a:r>
                        <a:t> at current address</a:t>
                      </a:r>
                      <a:endParaRPr/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10</a:t>
                      </a:r>
                    </a:p>
                  </a:txBody>
                  <a:tcPr marL="91440" marR="91440" marT="45720" marB="45720"/>
                </a:tc>
              </a:tr>
              <a:tr h="185420">
                <a:tc>
                  <a:txBody>
                    <a:bodyPr/>
                    <a:lstStyle/>
                    <a:p>
                      <a:r>
                        <a:rPr sz="1600"/>
                        <a:t>Residential Status(1=Owner,</a:t>
                      </a:r>
                      <a:r>
                        <a:rPr sz="1600"/>
                        <a:t> 2=Renter)</a:t>
                      </a:r>
                      <a:endParaRPr sz="1600"/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1</a:t>
                      </a:r>
                    </a:p>
                  </a:txBody>
                  <a:tcPr marL="91440" marR="91440" marT="45720" marB="45720"/>
                </a:tc>
              </a:tr>
              <a:tr h="185420">
                <a:tc>
                  <a:txBody>
                    <a:bodyPr/>
                    <a:lstStyle/>
                    <a:p>
                      <a:r>
                        <a:t>Gender (1=Female,</a:t>
                      </a:r>
                      <a:r>
                        <a:t> 2=Male)</a:t>
                      </a:r>
                      <a:endParaRPr/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1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2A50929E-6D8A-402E-AE78-B09867517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512" y="6281152"/>
            <a:ext cx="7087646" cy="4472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14:m xmlns:a14="http://schemas.microsoft.com/office/drawing/2010/main">
              <m:oMathPara xmlns:m="http://schemas.openxmlformats.org/officeDocument/2006/math">
                <m:oMathParaPr>
                  <m:jc m:val="centerGroup"/>
                </m:oMathParaPr>
                <m:oMath>
                  <m:r>
                    <a:rPr xmlns:a="http://schemas.openxmlformats.org/drawingml/2006/main" lang="en-US" b="0" i="1">
                      <a:latin typeface="Cambria Math"/>
                      <a:ea typeface="Cambria Math"/>
                      <a:cs typeface="Cambria Math"/>
                    </a:rPr>
                    <m:t>𝐷</m:t>
                  </m:r>
                  <m:r>
                    <a:rPr xmlns:a="http://schemas.openxmlformats.org/drawingml/2006/main" lang="en-US" b="0" i="1">
                      <a:latin typeface="Cambria Math"/>
                      <a:ea typeface="Cambria Math"/>
                      <a:cs typeface="Cambria Math"/>
                    </a:rPr>
                    <m:t>𝐴𝐵</m:t>
                  </m:r>
                  <m:r>
                    <a:rPr xmlns:a="http://schemas.openxmlformats.org/drawingml/2006/main" lang="en-US" b="0" i="1">
                      <a:latin typeface="Cambria Math"/>
                      <a:ea typeface="Cambria Math"/>
                      <a:cs typeface="Cambria Math"/>
                    </a:rPr>
                    <m:t>=</m:t>
                  </m:r>
                  <m:rad>
                    <m:radPr>
                      <m:degHide m:val="on"/>
                    </m:radPr>
                    <m:e>
                      <m:sSup>
                        <m:e>
                          <m:r>
                            <a:rPr xmlns:a="http://schemas.openxmlformats.org/drawingml/2006/main" lang="en-US" i="1">
                              <a:latin typeface="Cambria Math"/>
                              <a:ea typeface="Cambria Math"/>
                              <a:cs typeface="Cambria Math"/>
                            </a:rPr>
                            <m:t>(</m:t>
                          </m:r>
                          <m:r>
                            <a:rPr xmlns:a="http://schemas.openxmlformats.org/drawingml/2006/main" lang="en-US" b="0" i="1">
                              <a:latin typeface="Cambria Math"/>
                              <a:ea typeface="Cambria Math"/>
                              <a:cs typeface="Cambria Math"/>
                            </a:rPr>
                            <m:t>40</m:t>
                          </m:r>
                          <m:r>
                            <a:rPr xmlns:a="http://schemas.openxmlformats.org/drawingml/2006/main" lang="en-US" i="1">
                              <a:latin typeface="Cambria Math"/>
                              <a:ea typeface="Cambria Math"/>
                              <a:cs typeface="Cambria Math"/>
                            </a:rPr>
                            <m:t>−</m:t>
                          </m:r>
                          <m:r>
                            <a:rPr xmlns:a="http://schemas.openxmlformats.org/drawingml/2006/main" lang="en-US" b="0" i="1">
                              <a:latin typeface="Cambria Math"/>
                              <a:ea typeface="Cambria Math"/>
                              <a:cs typeface="Cambria Math"/>
                            </a:rPr>
                            <m:t>23</m:t>
                          </m:r>
                          <m:r>
                            <a:rPr xmlns:a="http://schemas.openxmlformats.org/drawingml/2006/main" lang="en-US" i="1">
                              <a:latin typeface="Cambria Math"/>
                              <a:ea typeface="Cambria Math"/>
                              <a:cs typeface="Cambria Math"/>
                            </a:rPr>
                            <m:t>)</m:t>
                          </m:r>
                        </m:e>
                        <m:sup>
                          <m:r>
                            <a:rPr xmlns:a="http://schemas.openxmlformats.org/drawingml/2006/main" lang="en-US" i="1"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</m:sup>
                      </m:sSup>
                      <m:r>
                        <a:rPr xmlns:a="http://schemas.openxmlformats.org/drawingml/2006/main" lang="en-US" b="0" i="1">
                          <a:latin typeface="Cambria Math"/>
                          <a:ea typeface="Cambria Math"/>
                          <a:cs typeface="Cambria Math"/>
                        </a:rPr>
                        <m:t>+</m:t>
                      </m:r>
                      <m:sSup>
                        <m:e>
                          <m:d>
                            <m:dPr>
                              <m:grow m:val="off"/>
                            </m:dPr>
                            <m:e>
                              <m:r>
                                <a:rPr xmlns:a="http://schemas.openxmlformats.org/drawingml/2006/main" lang="en-US" b="0" i="1"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10</m:t>
                              </m:r>
                              <m:r>
                                <a:rPr xmlns:a="http://schemas.openxmlformats.org/drawingml/2006/main" lang="en-US" i="1"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−</m:t>
                              </m:r>
                              <m:r>
                                <a:rPr xmlns:a="http://schemas.openxmlformats.org/drawingml/2006/main" lang="en-US" b="0" i="1"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</m:t>
                              </m:r>
                            </m:e>
                          </m:d>
                        </m:e>
                        <m:sup>
                          <m:r>
                            <a:rPr xmlns:a="http://schemas.openxmlformats.org/drawingml/2006/main" lang="en-US" i="1"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</m:sup>
                      </m:sSup>
                      <m:r>
                        <a:rPr xmlns:a="http://schemas.openxmlformats.org/drawingml/2006/main" lang="en-US" b="0" i="1">
                          <a:latin typeface="Cambria Math"/>
                          <a:ea typeface="Cambria Math"/>
                          <a:cs typeface="Cambria Math"/>
                        </a:rPr>
                        <m:t>+</m:t>
                      </m:r>
                      <m:sSup>
                        <m:e>
                          <m:d>
                            <m:dPr>
                              <m:grow m:val="off"/>
                            </m:dPr>
                            <m:e>
                              <m:r>
                                <a:rPr xmlns:a="http://schemas.openxmlformats.org/drawingml/2006/main" lang="en-US" b="0" i="1"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  <m:r>
                                <a:rPr xmlns:a="http://schemas.openxmlformats.org/drawingml/2006/main" lang="en-US" i="1"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−</m:t>
                              </m:r>
                              <m:r>
                                <a:rPr xmlns:a="http://schemas.openxmlformats.org/drawingml/2006/main" lang="en-US" b="0" i="1"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</m:t>
                              </m:r>
                            </m:e>
                          </m:d>
                        </m:e>
                        <m:sup>
                          <m:r>
                            <a:rPr xmlns:a="http://schemas.openxmlformats.org/drawingml/2006/main" lang="en-US" i="1"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</m:sup>
                      </m:sSup>
                      <m:r>
                        <a:rPr xmlns:a="http://schemas.openxmlformats.org/drawingml/2006/main" lang="en-US" b="0" i="1">
                          <a:latin typeface="Cambria Math"/>
                          <a:ea typeface="Cambria Math"/>
                          <a:cs typeface="Cambria Math"/>
                        </a:rPr>
                        <m:t>+</m:t>
                      </m:r>
                      <m:sSup>
                        <m:e>
                          <m:d>
                            <m:dPr>
                              <m:grow m:val="off"/>
                            </m:dPr>
                            <m:e>
                              <m:r>
                                <a:rPr xmlns:a="http://schemas.openxmlformats.org/drawingml/2006/main" lang="en-US" b="0" i="1"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  <m:r>
                                <a:rPr xmlns:a="http://schemas.openxmlformats.org/drawingml/2006/main" lang="en-US" i="1"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−</m:t>
                              </m:r>
                              <m:r>
                                <a:rPr xmlns:a="http://schemas.openxmlformats.org/drawingml/2006/main" lang="en-US" b="0" i="1"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</m:e>
                          </m:d>
                        </m:e>
                        <m:sup>
                          <m:r>
                            <a:rPr xmlns:a="http://schemas.openxmlformats.org/drawingml/2006/main" lang="en-US" i="1"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</m:sup>
                      </m:sSup>
                    </m:e>
                  </m:rad>
                </m:oMath>
              </m:oMathPara>
            </a14:m>
            <a:endParaRPr baseline="0"/>
          </a:p>
        </p:txBody>
      </p:sp>
    </p:spTree>
    <p:extLst>
      <p:ext uri="{BB962C8B-B14F-4D97-AF65-F5344CB8AC3E}">
        <p14:creationId xmlns:p14="http://schemas.microsoft.com/office/powerpoint/2010/main" val="768228624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010" name="Rectangle 2">
            <a:extLst xmlns:a="http://schemas.openxmlformats.org/drawingml/2006/main">
              <a:ext uri="{FF2B5EF4-FFF2-40B4-BE49-F238E27FC236}">
                <a16:creationId xmlns:a16="http://schemas.microsoft.com/office/drawing/2014/main" id="{1B6B0F79-68D8-440C-BF43-AAF42916B44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38197" y="332656"/>
            <a:ext cx="8458200" cy="6858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Euclidean Distance</a:t>
            </a:r>
          </a:p>
        </p:txBody>
      </p:sp>
      <p:sp>
        <p:nvSpPr>
          <p:cNvPr id="43011" name="Content Placeholder 14">
            <a:extLst xmlns:a="http://schemas.openxmlformats.org/drawingml/2006/main">
              <a:ext uri="{FF2B5EF4-FFF2-40B4-BE49-F238E27FC236}">
                <a16:creationId xmlns:a16="http://schemas.microsoft.com/office/drawing/2014/main" id="{4A2278B3-0373-4AC9-9780-40F69C9A7EB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85800" y="2328863"/>
            <a:ext cx="7848600" cy="30099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1">
              <a:spcAft>
                <a:spcPct val="20000"/>
              </a:spcAft>
              <a:buNone/>
            </a:pPr>
            <a:r>
              <a:t>Euclidean distance gives the linear distance between any two points in </a:t>
            </a:r>
            <a:r>
              <a:rPr i="1"/>
              <a:t>n</a:t>
            </a:r>
            <a:r>
              <a:t>-dimensional space.</a:t>
            </a:r>
          </a:p>
          <a:p xmlns:a="http://schemas.openxmlformats.org/drawingml/2006/main">
            <a:pPr lvl="1">
              <a:spcAft>
                <a:spcPct val="20000"/>
              </a:spcAft>
              <a:buNone/>
            </a:pPr>
            <a:r>
              <a:t>It is a generalization of the Pythagorean theorem.</a:t>
            </a:r>
          </a:p>
          <a:p xmlns:a="http://schemas.openxmlformats.org/drawingml/2006/main">
            <a:endParaRPr/>
          </a:p>
        </p:txBody>
      </p:sp>
      <p:sp>
        <p:nvSpPr>
          <p:cNvPr id="43013" name="Rectangle 42">
            <a:extLst xmlns:a="http://schemas.openxmlformats.org/drawingml/2006/main">
              <a:ext uri="{FF2B5EF4-FFF2-40B4-BE49-F238E27FC236}">
                <a16:creationId xmlns:a16="http://schemas.microsoft.com/office/drawing/2014/main" id="{806EBE43-5D77-4E16-8622-B1D9A6396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455863"/>
            <a:ext cx="8382000" cy="18557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indent="-479425">
              <a:spcBef>
                <a:spcPct val="20000"/>
              </a:spcBef>
              <a:spcAft>
                <a:spcPct val="20000"/>
              </a:spcAft>
              <a:buClr>
                <a:schemeClr val="tx2"/>
              </a:buClr>
              <a:buSzPct val="70000"/>
              <a:buNone/>
            </a:pPr>
            <a:endParaRPr/>
          </a:p>
        </p:txBody>
      </p:sp>
      <p:pic>
        <p:nvPicPr>
          <p:cNvPr id="43027" name="Picture 4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2858ff587f4d99">
            <a:clrChange>
              <a:clrFrom>
                <a:srgbClr val="FFF3BD"/>
              </a:clrFrom>
              <a:clrTo>
                <a:srgbClr val="FFF3BD">
                  <a:alpha val="0"/>
                </a:srgbClr>
              </a:clrTo>
            </a:clrChange>
          </a:blip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2609518" y="3883826"/>
            <a:ext cx="3715559" cy="140907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43016" name="Text Box 6">
            <a:extLst xmlns:a="http://schemas.openxmlformats.org/drawingml/2006/main">
              <a:ext uri="{FF2B5EF4-FFF2-40B4-BE49-F238E27FC236}">
                <a16:creationId xmlns:a16="http://schemas.microsoft.com/office/drawing/2014/main" id="{635068B6-110E-40BD-9B88-365AFAC11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487972" y="5299658"/>
            <a:ext cx="278858" cy="4772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>
            <a:spAutoFit/>
          </a:bodyPr>
          <a:lstStyle xmlns:a="http://schemas.openxmlformats.org/drawingml/2006/main">
            <a:lvl1pPr>
              <a:buNone/>
              <a:defRPr sz="24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742950" indent="-285750">
              <a:buNone/>
              <a:defRPr sz="24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1143000" indent="-228600">
              <a:buNone/>
              <a:defRPr sz="24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600200" indent="-228600">
              <a:buNone/>
              <a:defRPr sz="24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2057400" indent="-228600">
              <a:buNone/>
              <a:defRPr sz="24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2514600" indent="-228600">
              <a:spcBef>
                <a:spcPct val="0"/>
              </a:spcBef>
              <a:spcAft>
                <a:spcPct val="0"/>
              </a:spcAft>
              <a:buNone/>
              <a:defRPr sz="24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971800" indent="-228600">
              <a:spcBef>
                <a:spcPct val="0"/>
              </a:spcBef>
              <a:spcAft>
                <a:spcPct val="0"/>
              </a:spcAft>
              <a:buNone/>
              <a:defRPr sz="24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3429000" indent="-228600">
              <a:spcBef>
                <a:spcPct val="0"/>
              </a:spcBef>
              <a:spcAft>
                <a:spcPct val="0"/>
              </a:spcAft>
              <a:buNone/>
              <a:defRPr sz="24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3886200" indent="-228600">
              <a:spcBef>
                <a:spcPct val="0"/>
              </a:spcBef>
              <a:spcAft>
                <a:spcPct val="0"/>
              </a:spcAft>
              <a:buNone/>
              <a:defRPr sz="24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rPr sz="2800" i="1">
                <a:latin typeface="Times New Roman"/>
                <a:ea typeface="Times New Roman"/>
                <a:cs typeface="Times New Roman"/>
              </a:rPr>
              <a:t>x</a:t>
            </a:r>
            <a:r>
              <a:rPr sz="2800">
                <a:latin typeface="Times New Roman"/>
                <a:ea typeface="Times New Roman"/>
                <a:cs typeface="Times New Roman"/>
              </a:rPr>
              <a:t>1</a:t>
            </a:r>
          </a:p>
        </p:txBody>
      </p:sp>
      <p:sp>
        <p:nvSpPr>
          <p:cNvPr id="43017" name="Text Box 8">
            <a:extLst xmlns:a="http://schemas.openxmlformats.org/drawingml/2006/main">
              <a:ext uri="{FF2B5EF4-FFF2-40B4-BE49-F238E27FC236}">
                <a16:creationId xmlns:a16="http://schemas.microsoft.com/office/drawing/2014/main" id="{70D958CD-3EF6-4D60-A530-78B4638CA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441249" y="4481447"/>
            <a:ext cx="278858" cy="4310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>
            <a:lvl1pPr>
              <a:buNone/>
              <a:defRPr sz="24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742950" indent="-285750">
              <a:buNone/>
              <a:defRPr sz="24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1143000" indent="-228600">
              <a:buNone/>
              <a:defRPr sz="24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600200" indent="-228600">
              <a:buNone/>
              <a:defRPr sz="24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2057400" indent="-228600">
              <a:buNone/>
              <a:defRPr sz="24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2514600" indent="-228600">
              <a:spcBef>
                <a:spcPct val="0"/>
              </a:spcBef>
              <a:spcAft>
                <a:spcPct val="0"/>
              </a:spcAft>
              <a:buNone/>
              <a:defRPr sz="24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971800" indent="-228600">
              <a:spcBef>
                <a:spcPct val="0"/>
              </a:spcBef>
              <a:spcAft>
                <a:spcPct val="0"/>
              </a:spcAft>
              <a:buNone/>
              <a:defRPr sz="24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3429000" indent="-228600">
              <a:spcBef>
                <a:spcPct val="0"/>
              </a:spcBef>
              <a:spcAft>
                <a:spcPct val="0"/>
              </a:spcAft>
              <a:buNone/>
              <a:defRPr sz="24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3886200" indent="-228600">
              <a:spcBef>
                <a:spcPct val="0"/>
              </a:spcBef>
              <a:spcAft>
                <a:spcPct val="0"/>
              </a:spcAft>
              <a:buNone/>
              <a:defRPr sz="24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rPr sz="2800" i="1">
                <a:latin typeface="Times New Roman"/>
                <a:ea typeface="Times New Roman"/>
                <a:cs typeface="Times New Roman"/>
              </a:rPr>
              <a:t>x</a:t>
            </a:r>
            <a:r>
              <a:rPr sz="2800">
                <a:latin typeface="Times New Roman"/>
                <a:ea typeface="Times New Roman"/>
                <a:cs typeface="Times New Roman"/>
              </a:rPr>
              <a:t>2</a:t>
            </a:r>
          </a:p>
        </p:txBody>
      </p:sp>
      <p:sp>
        <p:nvSpPr>
          <p:cNvPr id="43018" name="Line 10">
            <a:extLst xmlns:a="http://schemas.openxmlformats.org/drawingml/2006/main">
              <a:ext uri="{FF2B5EF4-FFF2-40B4-BE49-F238E27FC236}">
                <a16:creationId xmlns:a16="http://schemas.microsoft.com/office/drawing/2014/main" id="{938DE0CB-FCC7-40FA-97E2-BFCA8D9E3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1">
            <a:off x="2751288" y="3910836"/>
            <a:ext cx="3538346" cy="134830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0">
            <a:solidFill>
              <a:srgbClr val="FF0000"/>
            </a:solidFill>
            <a:tailEnd type="triangle" w="med" len="me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3019" name="Text Box 15">
            <a:extLst xmlns:a="http://schemas.openxmlformats.org/drawingml/2006/main">
              <a:ext uri="{FF2B5EF4-FFF2-40B4-BE49-F238E27FC236}">
                <a16:creationId xmlns:a16="http://schemas.microsoft.com/office/drawing/2014/main" id="{BD72D457-9D46-46F8-9ADA-8BF063543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336891" y="3729637"/>
            <a:ext cx="1459321" cy="4308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>
            <a:spAutoFit/>
          </a:bodyPr>
          <a:lstStyle xmlns:a="http://schemas.openxmlformats.org/drawingml/2006/main">
            <a:lvl1pPr>
              <a:buNone/>
              <a:defRPr sz="24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742950" indent="-285750">
              <a:buNone/>
              <a:defRPr sz="24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1143000" indent="-228600">
              <a:buNone/>
              <a:defRPr sz="24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600200" indent="-228600">
              <a:buNone/>
              <a:defRPr sz="24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2057400" indent="-228600">
              <a:buNone/>
              <a:defRPr sz="24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2514600" indent="-228600">
              <a:spcBef>
                <a:spcPct val="0"/>
              </a:spcBef>
              <a:spcAft>
                <a:spcPct val="0"/>
              </a:spcAft>
              <a:buNone/>
              <a:defRPr sz="24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971800" indent="-228600">
              <a:spcBef>
                <a:spcPct val="0"/>
              </a:spcBef>
              <a:spcAft>
                <a:spcPct val="0"/>
              </a:spcAft>
              <a:buNone/>
              <a:defRPr sz="24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3429000" indent="-228600">
              <a:spcBef>
                <a:spcPct val="0"/>
              </a:spcBef>
              <a:spcAft>
                <a:spcPct val="0"/>
              </a:spcAft>
              <a:buNone/>
              <a:defRPr sz="24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3886200" indent="-228600">
              <a:spcBef>
                <a:spcPct val="0"/>
              </a:spcBef>
              <a:spcAft>
                <a:spcPct val="0"/>
              </a:spcAft>
              <a:buNone/>
              <a:defRPr sz="24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rPr sz="2800">
                <a:latin typeface="Times New Roman"/>
                <a:ea typeface="Times New Roman"/>
                <a:cs typeface="Times New Roman"/>
              </a:rPr>
              <a:t>(</a:t>
            </a:r>
            <a:r>
              <a:rPr sz="2800" i="1">
                <a:latin typeface="Times New Roman"/>
                <a:ea typeface="Times New Roman"/>
                <a:cs typeface="Times New Roman"/>
              </a:rPr>
              <a:t>x</a:t>
            </a:r>
            <a:r>
              <a:rPr sz="2800">
                <a:latin typeface="Times New Roman"/>
                <a:ea typeface="Times New Roman"/>
                <a:cs typeface="Times New Roman"/>
              </a:rPr>
              <a:t>1</a:t>
            </a:r>
            <a:r>
              <a:rPr sz="2800">
                <a:latin typeface="Times New Roman"/>
                <a:ea typeface="Times New Roman"/>
                <a:cs typeface="Times New Roman"/>
              </a:rPr>
              <a:t>, </a:t>
            </a:r>
            <a:r>
              <a:rPr sz="2800" i="1">
                <a:latin typeface="Times New Roman"/>
                <a:ea typeface="Times New Roman"/>
                <a:cs typeface="Times New Roman"/>
              </a:rPr>
              <a:t>x</a:t>
            </a:r>
            <a:r>
              <a:rPr sz="2800">
                <a:latin typeface="Times New Roman"/>
                <a:ea typeface="Times New Roman"/>
                <a:cs typeface="Times New Roman"/>
              </a:rPr>
              <a:t>2</a:t>
            </a:r>
            <a:r>
              <a:rPr sz="2800">
                <a:latin typeface="Times New Roman"/>
                <a:ea typeface="Times New Roman"/>
                <a:cs typeface="Times New Roman"/>
              </a:rPr>
              <a:t>)</a:t>
            </a:r>
          </a:p>
        </p:txBody>
      </p:sp>
      <p:sp>
        <p:nvSpPr>
          <p:cNvPr id="43020" name="Text Box 16">
            <a:extLst xmlns:a="http://schemas.openxmlformats.org/drawingml/2006/main">
              <a:ext uri="{FF2B5EF4-FFF2-40B4-BE49-F238E27FC236}">
                <a16:creationId xmlns:a16="http://schemas.microsoft.com/office/drawing/2014/main" id="{03810194-CC9D-4B32-B9F2-5E35BEBA8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955800" y="5181484"/>
            <a:ext cx="778879" cy="4310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>
            <a:lvl1pPr>
              <a:buNone/>
              <a:defRPr sz="24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742950" indent="-285750">
              <a:buNone/>
              <a:defRPr sz="24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1143000" indent="-228600">
              <a:buNone/>
              <a:defRPr sz="24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600200" indent="-228600">
              <a:buNone/>
              <a:defRPr sz="24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2057400" indent="-228600">
              <a:buNone/>
              <a:defRPr sz="24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2514600" indent="-228600">
              <a:spcBef>
                <a:spcPct val="0"/>
              </a:spcBef>
              <a:spcAft>
                <a:spcPct val="0"/>
              </a:spcAft>
              <a:buNone/>
              <a:defRPr sz="24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971800" indent="-228600">
              <a:spcBef>
                <a:spcPct val="0"/>
              </a:spcBef>
              <a:spcAft>
                <a:spcPct val="0"/>
              </a:spcAft>
              <a:buNone/>
              <a:defRPr sz="24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3429000" indent="-228600">
              <a:spcBef>
                <a:spcPct val="0"/>
              </a:spcBef>
              <a:spcAft>
                <a:spcPct val="0"/>
              </a:spcAft>
              <a:buNone/>
              <a:defRPr sz="24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3886200" indent="-228600">
              <a:spcBef>
                <a:spcPct val="0"/>
              </a:spcBef>
              <a:spcAft>
                <a:spcPct val="0"/>
              </a:spcAft>
              <a:buNone/>
              <a:defRPr sz="24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rPr sz="2800">
                <a:latin typeface="Times New Roman"/>
                <a:ea typeface="Times New Roman"/>
                <a:cs typeface="Times New Roman"/>
              </a:rPr>
              <a:t>(0, 0)</a:t>
            </a:r>
          </a:p>
        </p:txBody>
      </p:sp>
      <p:sp>
        <p:nvSpPr>
          <p:cNvPr id="43021" name="Rectangle 47">
            <a:extLst xmlns:a="http://schemas.openxmlformats.org/drawingml/2006/main">
              <a:ext uri="{FF2B5EF4-FFF2-40B4-BE49-F238E27FC236}">
                <a16:creationId xmlns:a16="http://schemas.microsoft.com/office/drawing/2014/main" id="{20788D45-72BC-4501-A45E-20B21A901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984434" y="5076816"/>
            <a:ext cx="293385" cy="19583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000000"/>
            </a:solidFill>
            <a:prstDash val="dash"/>
            <a:headEnd type="none" w="med" len="lg"/>
            <a:tailEnd type="none" w="med" len="lg"/>
          </a:ln>
        </p:spPr>
        <p:txBody>
          <a:bodyPr xmlns:a="http://schemas.openxmlformats.org/drawingml/2006/main" wrap="none" lIns="88900" tIns="88900" rIns="88900" bIns="88900" anchor="ctr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18DB90B2-7C32-49DA-8484-5B2370DD2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552" y="5739613"/>
            <a:ext cx="7627604" cy="70788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000">
                <a:solidFill>
                  <a:srgbClr val="7030A0"/>
                </a:solidFill>
                <a:latin typeface="Times New Roman"/>
                <a:ea typeface="Times New Roman"/>
                <a:cs typeface="Times New Roman"/>
              </a:rPr>
              <a:t>Euclidean Distance allows us to measure the similarity between objects having multiple attributes.</a:t>
            </a:r>
            <a:endParaRPr sz="2000" baseline="0">
              <a:solidFill>
                <a:srgbClr val="7030A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43023" name="distance-question">
            <a:extLst xmlns:a="http://schemas.openxmlformats.org/drawingml/2006/main">
              <a:ext uri="{FF2B5EF4-FFF2-40B4-BE49-F238E27FC236}">
                <a16:creationId xmlns:a16="http://schemas.microsoft.com/office/drawing/2014/main" id="{774586CB-9AA1-4ECE-B683-AEC20413E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476375"/>
            <a:ext cx="2809875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AF4E1"/>
          </a:solidFill>
          <a:ln xmlns:a="http://schemas.openxmlformats.org/drawingml/2006/main" w="13335">
            <a:solidFill>
              <a:srgbClr val="C49000"/>
            </a:solidFill>
            <a:prstDash val="solid"/>
          </a:ln>
        </p:spPr>
        <p:txBody>
          <a:bodyPr xmlns:a="http://schemas.openxmlformats.org/drawingml/2006/main" anchor="ctr">
            <a:normAutofit fontScale="90475"/>
          </a:bodyPr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26262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262626"/>
                </a:solidFill>
                <a:latin typeface="Helvetica Neue"/>
                <a:ea typeface="Helvetica Neue"/>
                <a:cs typeface="Helvetica Neue"/>
              </a:rPr>
              <a:t>How to compute the shortest distance between tow dots?</a:t>
            </a:r>
          </a:p>
          <a:p xmlns:a="http://schemas.openxmlformats.org/drawingml/2006/main">
            <a:pPr algn="ctr">
              <a:defRPr sz="1275">
                <a:solidFill>
                  <a:srgbClr val="26262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262626"/>
                </a:solidFill>
                <a:latin typeface="Helvetica Neue"/>
                <a:ea typeface="Helvetica Neue"/>
                <a:cs typeface="Helvetica Neue"/>
              </a:rPr>
              <a:t>Pythagorean Theorem = </a:t>
            </a:r>
          </a:p>
        </p:txBody>
      </p:sp>
    </p:spTree>
    <p:extLst>
      <p:ext uri="{BB962C8B-B14F-4D97-AF65-F5344CB8AC3E}">
        <p14:creationId xmlns:p14="http://schemas.microsoft.com/office/powerpoint/2010/main" val="546878187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082" name="Rectangle 37">
            <a:extLst xmlns:a="http://schemas.openxmlformats.org/drawingml/2006/main">
              <a:ext uri="{FF2B5EF4-FFF2-40B4-BE49-F238E27FC236}">
                <a16:creationId xmlns:a16="http://schemas.microsoft.com/office/drawing/2014/main" id="{2D187947-75F8-4F92-AE0D-4373E1AFF6D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Problem with Correlation</a:t>
            </a:r>
          </a:p>
        </p:txBody>
      </p:sp>
      <p:sp>
        <p:nvSpPr>
          <p:cNvPr id="46083" name="Rectangle 38">
            <a:extLst xmlns:a="http://schemas.openxmlformats.org/drawingml/2006/main">
              <a:ext uri="{FF2B5EF4-FFF2-40B4-BE49-F238E27FC236}">
                <a16:creationId xmlns:a16="http://schemas.microsoft.com/office/drawing/2014/main" id="{3C644B65-5436-435E-BF0E-9D0CBC4123C4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27584" y="3789040"/>
            <a:ext cx="7772400" cy="266429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correlation between Person A and Person B </a:t>
            </a:r>
            <a:br/>
            <a:r>
              <a:t>is +</a:t>
            </a:r>
            <a:r>
              <a:rPr>
                <a:solidFill>
                  <a:srgbClr val="C00000"/>
                </a:solidFill>
              </a:rPr>
              <a:t>1.0 </a:t>
            </a:r>
            <a:r>
              <a:t>which implies a perfect association. </a:t>
            </a:r>
          </a:p>
          <a:p xmlns:a="http://schemas.openxmlformats.org/drawingml/2006/main">
            <a:pPr lvl="1">
              <a:buNone/>
            </a:pPr>
            <a:r>
              <a:t>They are indistinguishable from one another looking at the correlation coefficient. </a:t>
            </a:r>
          </a:p>
          <a:p xmlns:a="http://schemas.openxmlformats.org/drawingml/2006/main">
            <a:r>
              <a:t>But are the customers really similar? </a:t>
            </a:r>
          </a:p>
        </p:txBody>
      </p:sp>
      <p:graphicFrame>
        <p:nvGraphicFramePr>
          <p:cNvPr id="46087" name="Table 5"/>
          <p:cNvGraphicFramePr/>
          <p:nvPr/>
        </p:nvGraphicFramePr>
        <p:xfrm>
          <a:off xmlns:a="http://schemas.openxmlformats.org/drawingml/2006/main" x="1619672" y="1628800"/>
          <a:ext xmlns:a="http://schemas.openxmlformats.org/drawingml/2006/main" cx="5328593" cy="1964016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32249"/>
                <a:gridCol w="1875209"/>
                <a:gridCol w="1221135"/>
              </a:tblGrid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Attribute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Person A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Person B</a:t>
                      </a:r>
                    </a:p>
                  </a:txBody>
                  <a:tcPr marL="91440" marR="91440" marT="45720" marB="45720"/>
                </a:tc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u="none"/>
                        <a:t>x1</a:t>
                      </a:r>
                      <a:endParaRPr sz="1800" b="0" i="0" u="none" baseline="0">
                        <a:solidFill>
                          <a:srgbClr val="292929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525" marR="9525" marT="9512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u="none"/>
                        <a:t>5</a:t>
                      </a:r>
                      <a:endParaRPr sz="1800" b="0" i="0" u="none" baseline="0">
                        <a:solidFill>
                          <a:srgbClr val="292929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525" marR="9525" marT="9512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u="none"/>
                        <a:t>51</a:t>
                      </a:r>
                      <a:endParaRPr sz="1800" b="0" i="0" u="none" baseline="0">
                        <a:solidFill>
                          <a:srgbClr val="292929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525" marR="9525" marT="9512" marB="0" anchor="ctr"/>
                </a:tc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u="none"/>
                        <a:t>x2</a:t>
                      </a:r>
                      <a:endParaRPr sz="1800" b="0" i="0" u="none" baseline="0">
                        <a:solidFill>
                          <a:srgbClr val="292929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525" marR="9525" marT="9512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u="none"/>
                        <a:t>4</a:t>
                      </a:r>
                      <a:endParaRPr sz="1800" b="0" i="0" u="none" baseline="0">
                        <a:solidFill>
                          <a:srgbClr val="292929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525" marR="9525" marT="9512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u="none"/>
                        <a:t>42</a:t>
                      </a:r>
                      <a:endParaRPr sz="1800" b="0" i="0" u="none" baseline="0">
                        <a:solidFill>
                          <a:srgbClr val="292929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525" marR="9525" marT="9512" marB="0" anchor="ctr"/>
                </a:tc>
              </a:tr>
              <a:tr h="1854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u="none"/>
                        <a:t>x3</a:t>
                      </a:r>
                      <a:endParaRPr sz="1800" b="0" i="0" u="none" baseline="0">
                        <a:solidFill>
                          <a:srgbClr val="292929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525" marR="9525" marT="9512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u="none"/>
                        <a:t>3</a:t>
                      </a:r>
                      <a:endParaRPr sz="1800" b="0" i="0" u="none" baseline="0">
                        <a:solidFill>
                          <a:srgbClr val="292929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525" marR="9525" marT="9512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u="none"/>
                        <a:t>33</a:t>
                      </a:r>
                      <a:endParaRPr sz="1800" b="0" i="0" u="none" baseline="0">
                        <a:solidFill>
                          <a:srgbClr val="292929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525" marR="9525" marT="9512" marB="0" anchor="ctr"/>
                </a:tc>
              </a:tr>
              <a:tr h="1854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u="none"/>
                        <a:t>x4</a:t>
                      </a:r>
                      <a:endParaRPr sz="1800" b="0" i="0" u="none" baseline="0">
                        <a:solidFill>
                          <a:srgbClr val="292929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525" marR="9525" marT="9512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u="none"/>
                        <a:t>2</a:t>
                      </a:r>
                      <a:endParaRPr sz="1800" b="0" i="0" u="none" baseline="0">
                        <a:solidFill>
                          <a:srgbClr val="292929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525" marR="9525" marT="9512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u="none"/>
                        <a:t>24</a:t>
                      </a:r>
                      <a:endParaRPr sz="1800" b="0" i="0" u="none" baseline="0">
                        <a:solidFill>
                          <a:srgbClr val="292929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525" marR="9525" marT="9512" marB="0" anchor="ctr"/>
                </a:tc>
              </a:tr>
              <a:tr h="1854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u="none"/>
                        <a:t>x5</a:t>
                      </a:r>
                      <a:endParaRPr sz="1800" b="0" i="0" u="none" baseline="0">
                        <a:solidFill>
                          <a:srgbClr val="292929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525" marR="9525" marT="9512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u="none"/>
                        <a:t>1</a:t>
                      </a:r>
                      <a:endParaRPr sz="1800" b="0" i="0" u="none" baseline="0">
                        <a:solidFill>
                          <a:srgbClr val="292929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525" marR="9525" marT="9512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u="none"/>
                        <a:t>15</a:t>
                      </a:r>
                      <a:endParaRPr sz="1800" b="0" i="0" u="none" baseline="0">
                        <a:solidFill>
                          <a:srgbClr val="292929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525" marR="9525" marT="9512" marB="0"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78557681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455CB68-07E7-4B03-B81E-26F04879AF2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11560" y="116632"/>
            <a:ext cx="7772400" cy="11430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Variable Standardization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832EF665-BDBB-44E1-9115-A2544B05CB0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11560" y="1196752"/>
            <a:ext cx="8280920" cy="511256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Raw distance measures are highly influenced </a:t>
            </a:r>
            <a:r>
              <a:rPr>
                <a:solidFill>
                  <a:srgbClr val="FF0000"/>
                </a:solidFill>
              </a:rPr>
              <a:t>by scale of measurements</a:t>
            </a:r>
            <a:r>
              <a:t>.</a:t>
            </a:r>
          </a:p>
          <a:p xmlns:a="http://schemas.openxmlformats.org/drawingml/2006/main">
            <a:r>
              <a:t>A common practice employed prior to any analysis </a:t>
            </a:r>
            <a:r>
              <a:rPr>
                <a:solidFill>
                  <a:srgbClr val="C00000"/>
                </a:solidFill>
              </a:rPr>
              <a:t>using distance calculations </a:t>
            </a:r>
            <a:r>
              <a:t>is to normalize or </a:t>
            </a:r>
            <a:r>
              <a:rPr>
                <a:solidFill>
                  <a:srgbClr val="C00000"/>
                </a:solidFill>
              </a:rPr>
              <a:t>z-score standardize </a:t>
            </a:r>
            <a:r>
              <a:t>the variables so that each utilizes the </a:t>
            </a:r>
            <a:r>
              <a:rPr>
                <a:solidFill>
                  <a:srgbClr val="C00000"/>
                </a:solidFill>
              </a:rPr>
              <a:t>same range</a:t>
            </a:r>
            <a:r>
              <a:t>.</a:t>
            </a:r>
          </a:p>
          <a:p xmlns:a="http://schemas.openxmlformats.org/drawingml/2006/main">
            <a:pPr lvl="1">
              <a:buNone/>
            </a:pPr>
            <a:r>
              <a:t>To avoid a problem in which some variables come to dominate solely because they have a large range of values than the other </a:t>
            </a:r>
          </a:p>
          <a:p xmlns:a="http://schemas.openxmlformats.org/drawingml/2006/main">
            <a:pPr lvl="1">
              <a:buNone/>
            </a:pPr>
            <a:r>
              <a:rPr>
                <a:solidFill>
                  <a:srgbClr val="C00000"/>
                </a:solidFill>
              </a:rPr>
              <a:t>Note</a:t>
            </a:r>
            <a:r>
              <a:t>: </a:t>
            </a:r>
            <a:r>
              <a:rPr i="1">
                <a:solidFill>
                  <a:srgbClr val="002060"/>
                </a:solidFill>
              </a:rPr>
              <a:t>Cluster analysis requires a data frame containing only numeric variables!</a:t>
            </a:r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64C46348-5FB6-4AB7-8496-9154799E8404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A5E2A42-B0FD-4EF1-B58B-4BFEA430D3C6}" type="slidenum">
              <a:t>17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80898453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제목 1">
            <a:extLst xmlns:a="http://schemas.openxmlformats.org/drawingml/2006/main">
              <a:ext uri="{FF2B5EF4-FFF2-40B4-BE49-F238E27FC236}">
                <a16:creationId xmlns:a16="http://schemas.microsoft.com/office/drawing/2014/main" id="{3065FC69-F86D-471E-81C4-A44181EFBE8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Variable Standardization</a:t>
            </a:r>
            <a:endParaRPr/>
          </a:p>
        </p:txBody>
      </p:sp>
      <p:sp>
        <p:nvSpPr>
          <p:cNvPr id="4" name="슬라이드 번호 개체 틀 3">
            <a:extLst xmlns:a="http://schemas.openxmlformats.org/drawingml/2006/main">
              <a:ext uri="{FF2B5EF4-FFF2-40B4-BE49-F238E27FC236}">
                <a16:creationId xmlns:a16="http://schemas.microsoft.com/office/drawing/2014/main" id="{E8D8BBD7-AC05-41F5-87DD-7D67F59167A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A5E2A42-B0FD-4EF1-B58B-4BFEA430D3C6}" type="slidenum">
              <a:t>18</a:t>
            </a:fld>
            <a:endParaRPr/>
          </a:p>
        </p:txBody>
      </p:sp>
      <p:graphicFrame>
        <p:nvGraphicFramePr>
          <p:cNvPr id="10" name="Table 5"/>
          <p:cNvGraphicFramePr/>
          <p:nvPr/>
        </p:nvGraphicFramePr>
        <p:xfrm>
          <a:off xmlns:a="http://schemas.openxmlformats.org/drawingml/2006/main" x="1763688" y="1766265"/>
          <a:ext xmlns:a="http://schemas.openxmlformats.org/drawingml/2006/main" cx="5328593" cy="1396352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32249"/>
                <a:gridCol w="1875209"/>
                <a:gridCol w="1221135"/>
              </a:tblGrid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Attribute / Variable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Person A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Person B</a:t>
                      </a:r>
                    </a:p>
                  </a:txBody>
                  <a:tcPr marL="91440" marR="91440" marT="45720" marB="45720"/>
                </a:tc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chemeClr val="dk1"/>
                          </a:solidFill>
                          <a:latin typeface="+mn-lt"/>
                          <a:ea typeface="+mn-lt"/>
                          <a:cs typeface="+mn-lt"/>
                        </a:rPr>
                        <a:t>Age</a:t>
                      </a:r>
                      <a:endParaRPr sz="1800" b="0" i="0" u="none" baseline="0">
                        <a:solidFill>
                          <a:srgbClr val="292929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525" marR="9525" marT="9512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chemeClr val="dk1"/>
                          </a:solidFill>
                          <a:latin typeface="+mn-lt"/>
                          <a:ea typeface="+mn-lt"/>
                          <a:cs typeface="+mn-lt"/>
                        </a:rPr>
                        <a:t>15</a:t>
                      </a:r>
                      <a:endParaRPr sz="1800" b="0" i="0" u="none" baseline="0">
                        <a:solidFill>
                          <a:srgbClr val="292929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525" marR="9525" marT="9512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chemeClr val="dk1"/>
                          </a:solidFill>
                          <a:latin typeface="+mn-lt"/>
                          <a:ea typeface="+mn-lt"/>
                          <a:cs typeface="+mn-lt"/>
                        </a:rPr>
                        <a:t>50</a:t>
                      </a:r>
                      <a:endParaRPr sz="1800" b="0" i="0" u="none" baseline="0">
                        <a:solidFill>
                          <a:srgbClr val="292929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525" marR="9525" marT="9512" marB="0" anchor="ctr"/>
                </a:tc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chemeClr val="dk1"/>
                          </a:solidFill>
                          <a:latin typeface="+mn-lt"/>
                          <a:ea typeface="+mn-lt"/>
                          <a:cs typeface="+mn-lt"/>
                        </a:rPr>
                        <a:t>Heights</a:t>
                      </a:r>
                      <a:endParaRPr sz="1800" b="0" i="0" u="none" baseline="0">
                        <a:solidFill>
                          <a:srgbClr val="292929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525" marR="9525" marT="9512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292929"/>
                          </a:solidFill>
                          <a:latin typeface="Calibri"/>
                          <a:ea typeface="Calibri"/>
                          <a:cs typeface="Calibri"/>
                        </a:rPr>
                        <a:t>186</a:t>
                      </a:r>
                    </a:p>
                  </a:txBody>
                  <a:tcPr marL="9525" marR="9525" marT="9512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chemeClr val="dk1"/>
                          </a:solidFill>
                          <a:latin typeface="+mn-lt"/>
                          <a:ea typeface="+mn-lt"/>
                          <a:cs typeface="+mn-lt"/>
                        </a:rPr>
                        <a:t>172</a:t>
                      </a:r>
                      <a:endParaRPr sz="1800" b="0" i="0" u="none" baseline="0">
                        <a:solidFill>
                          <a:srgbClr val="292929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525" marR="9525" marT="9512" marB="0" anchor="ctr"/>
                </a:tc>
              </a:tr>
              <a:tr h="1854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chemeClr val="dk1"/>
                          </a:solidFill>
                          <a:latin typeface="+mn-lt"/>
                          <a:ea typeface="+mn-lt"/>
                          <a:cs typeface="+mn-lt"/>
                        </a:rPr>
                        <a:t>Daily income</a:t>
                      </a:r>
                      <a:endParaRPr sz="1800" b="0" i="0" u="none" baseline="0">
                        <a:solidFill>
                          <a:srgbClr val="292929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525" marR="9525" marT="9512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292929"/>
                          </a:solidFill>
                          <a:latin typeface="Calibri"/>
                          <a:ea typeface="Calibri"/>
                          <a:cs typeface="Calibri"/>
                        </a:rPr>
                        <a:t>$10</a:t>
                      </a:r>
                    </a:p>
                  </a:txBody>
                  <a:tcPr marL="9525" marR="9525" marT="9512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chemeClr val="dk1"/>
                          </a:solidFill>
                          <a:latin typeface="+mn-lt"/>
                          <a:ea typeface="+mn-lt"/>
                          <a:cs typeface="+mn-lt"/>
                        </a:rPr>
                        <a:t>$1,000</a:t>
                      </a:r>
                      <a:endParaRPr sz="1800" b="0" i="0" u="none" baseline="0">
                        <a:solidFill>
                          <a:srgbClr val="292929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525" marR="9525" marT="9512" marB="0" anchor="ctr"/>
                </a:tc>
              </a:tr>
            </a:tbl>
          </a:graphicData>
        </a:graphic>
      </p:graphicFrame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327B5E8B-2E88-4267-A198-AAF43220B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7959" y="4077072"/>
            <a:ext cx="6808082" cy="4472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14:m xmlns:a14="http://schemas.microsoft.com/office/drawing/2010/main">
              <m:oMathPara xmlns:m="http://schemas.openxmlformats.org/officeDocument/2006/math">
                <m:oMathParaPr>
                  <m:jc m:val="centerGroup"/>
                </m:oMathParaPr>
                <m:oMath>
                  <m:r>
                    <a:rPr xmlns:a="http://schemas.openxmlformats.org/drawingml/2006/main" lang="en-US" b="0" i="1">
                      <a:latin typeface="Cambria Math"/>
                      <a:ea typeface="Cambria Math"/>
                      <a:cs typeface="Cambria Math"/>
                    </a:rPr>
                    <m:t>𝐷</m:t>
                  </m:r>
                  <m:r>
                    <a:rPr xmlns:a="http://schemas.openxmlformats.org/drawingml/2006/main" lang="en-US" b="0" i="1">
                      <a:latin typeface="Cambria Math"/>
                      <a:ea typeface="Cambria Math"/>
                      <a:cs typeface="Cambria Math"/>
                    </a:rPr>
                    <m:t>𝐴𝐵</m:t>
                  </m:r>
                  <m:r>
                    <a:rPr xmlns:a="http://schemas.openxmlformats.org/drawingml/2006/main" lang="en-US" b="0" i="1">
                      <a:latin typeface="Cambria Math"/>
                      <a:ea typeface="Cambria Math"/>
                      <a:cs typeface="Cambria Math"/>
                    </a:rPr>
                    <m:t>=</m:t>
                  </m:r>
                  <m:rad>
                    <m:radPr>
                      <m:degHide m:val="on"/>
                    </m:radPr>
                    <m:e>
                      <m:sSup>
                        <m:e>
                          <m:r>
                            <a:rPr xmlns:a="http://schemas.openxmlformats.org/drawingml/2006/main" lang="en-US" i="1">
                              <a:latin typeface="Cambria Math"/>
                              <a:ea typeface="Cambria Math"/>
                              <a:cs typeface="Cambria Math"/>
                            </a:rPr>
                            <m:t>(50−15)</m:t>
                          </m:r>
                        </m:e>
                        <m:sup>
                          <m:r>
                            <a:rPr xmlns:a="http://schemas.openxmlformats.org/drawingml/2006/main" lang="en-US" i="1"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</m:sup>
                      </m:sSup>
                      <m:r>
                        <a:rPr xmlns:a="http://schemas.openxmlformats.org/drawingml/2006/main" lang="en-US" b="0" i="1">
                          <a:latin typeface="Cambria Math"/>
                          <a:ea typeface="Cambria Math"/>
                          <a:cs typeface="Cambria Math"/>
                        </a:rPr>
                        <m:t>+</m:t>
                      </m:r>
                      <m:sSup>
                        <m:e>
                          <m:d>
                            <m:dPr>
                              <m:grow m:val="off"/>
                            </m:dPr>
                            <m:e>
                              <m:r>
                                <a:rPr xmlns:a="http://schemas.openxmlformats.org/drawingml/2006/main" lang="en-US" b="0" i="1"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172</m:t>
                              </m:r>
                              <m:r>
                                <a:rPr xmlns:a="http://schemas.openxmlformats.org/drawingml/2006/main" lang="en-US" i="1"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−</m:t>
                              </m:r>
                              <m:r>
                                <a:rPr xmlns:a="http://schemas.openxmlformats.org/drawingml/2006/main" lang="en-US" b="0" i="1"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186</m:t>
                              </m:r>
                            </m:e>
                          </m:d>
                        </m:e>
                        <m:sup>
                          <m:r>
                            <a:rPr xmlns:a="http://schemas.openxmlformats.org/drawingml/2006/main" lang="en-US" i="1"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</m:sup>
                      </m:sSup>
                      <m:r>
                        <a:rPr xmlns:a="http://schemas.openxmlformats.org/drawingml/2006/main" lang="en-US" b="0" i="1">
                          <a:latin typeface="Cambria Math"/>
                          <a:ea typeface="Cambria Math"/>
                          <a:cs typeface="Cambria Math"/>
                        </a:rPr>
                        <m:t>+</m:t>
                      </m:r>
                      <m:sSup>
                        <m:e>
                          <m:r>
                            <a:rPr xmlns:a="http://schemas.openxmlformats.org/drawingml/2006/main" lang="en-US" i="1">
                              <a:solidFill>
                                <a:srgbClr val="FF0000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(</m:t>
                          </m:r>
                          <m:r>
                            <a:rPr xmlns:a="http://schemas.openxmlformats.org/drawingml/2006/main" lang="en-US" b="0" i="1">
                              <a:solidFill>
                                <a:srgbClr val="FF0000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1000</m:t>
                          </m:r>
                          <m:r>
                            <a:rPr xmlns:a="http://schemas.openxmlformats.org/drawingml/2006/main" lang="en-US" i="1">
                              <a:solidFill>
                                <a:srgbClr val="FF0000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−1</m:t>
                          </m:r>
                          <m:r>
                            <a:rPr xmlns:a="http://schemas.openxmlformats.org/drawingml/2006/main" lang="en-US" b="0" i="1">
                              <a:solidFill>
                                <a:srgbClr val="FF0000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0</m:t>
                          </m:r>
                          <m:r>
                            <a:rPr xmlns:a="http://schemas.openxmlformats.org/drawingml/2006/main" lang="en-US" i="1">
                              <a:solidFill>
                                <a:srgbClr val="FF0000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)</m:t>
                          </m:r>
                        </m:e>
                        <m:sup>
                          <m:r>
                            <a:rPr xmlns:a="http://schemas.openxmlformats.org/drawingml/2006/main" lang="en-US" i="1">
                              <a:solidFill>
                                <a:srgbClr val="FF0000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</m:sup>
                      </m:sSup>
                    </m:e>
                  </m:rad>
                </m:oMath>
              </m:oMathPara>
            </a14:m>
            <a:endParaRPr baseline="0"/>
          </a:p>
        </p:txBody>
      </p:sp>
    </p:spTree>
    <p:extLst>
      <p:ext uri="{BB962C8B-B14F-4D97-AF65-F5344CB8AC3E}">
        <p14:creationId xmlns:p14="http://schemas.microsoft.com/office/powerpoint/2010/main" val="2753616329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85026F6-63AD-42B9-8913-E0CB22F8462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Example: Variable Standardization</a:t>
            </a:r>
            <a:br/>
            <a:r>
              <a:rPr sz="2400">
                <a:solidFill>
                  <a:srgbClr val="FF0000"/>
                </a:solidFill>
              </a:rPr>
              <a:t>Scale of a variable can influence the clustering outcomes !</a:t>
            </a:r>
            <a:endParaRPr>
              <a:solidFill>
                <a:srgbClr val="FF0000"/>
              </a:solidFill>
            </a:endParaRP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C9D94DCD-6475-48E3-9C8D-BE5FB416710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189207" y="1778000"/>
            <a:ext cx="2446040" cy="51169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>
                <a:solidFill>
                  <a:srgbClr val="C00000"/>
                </a:solidFill>
              </a:rPr>
              <a:t>Before Standardization</a:t>
            </a:r>
          </a:p>
          <a:p xmlns:a="http://schemas.openxmlformats.org/drawingml/2006/main">
            <a:pPr marL="0" indent="0" algn="ctr">
              <a:buNone/>
            </a:pPr>
            <a:r>
              <a:rPr sz="1400">
                <a:solidFill>
                  <a:schemeClr val="tx2"/>
                </a:solidFill>
              </a:rPr>
              <a:t>(Highly spreading out)</a:t>
            </a:r>
            <a:endParaRPr sz="1800">
              <a:solidFill>
                <a:schemeClr val="tx2"/>
              </a:solidFill>
            </a:endParaRPr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A9F07736-FBFE-42F2-B7C7-320851534A5A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A5E2A42-B0FD-4EF1-B58B-4BFEA430D3C6}" type="slidenum">
              <a:t>19</a:t>
            </a:fld>
            <a:endParaRPr/>
          </a:p>
        </p:txBody>
      </p:sp>
      <p:pic>
        <p:nvPicPr>
          <p:cNvPr id="13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a0738104794115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95537" y="2564904"/>
            <a:ext cx="3888432" cy="355282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4" name="Pictur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b098d69f5549a5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427984" y="2526809"/>
            <a:ext cx="4448175" cy="36195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7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E3F9C73E-EA48-4ECC-86F8-2ABE0EE27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1256" y="1703648"/>
            <a:ext cx="2223673" cy="5116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>
            <a:lvl1pPr marL="342900" indent="-342900" algn="l">
              <a:spcBef>
                <a:spcPct val="20000"/>
              </a:spcBef>
              <a:spcAft>
                <a:spcPts val="600"/>
              </a:spcAft>
              <a:buChar char="•"/>
              <a:defRPr sz="280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defRPr>
            </a:lvl1pPr>
            <a:lvl2pPr marL="742950" indent="-285750" algn="l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defRPr>
            </a:lvl2pPr>
            <a:lvl3pPr marL="1143000" indent="-228600" algn="l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defRPr>
            </a:lvl3pPr>
            <a:lvl4pPr marL="1600200" indent="-228600" algn="l">
              <a:spcBef>
                <a:spcPct val="20000"/>
              </a:spcBef>
              <a:spcAft>
                <a:spcPct val="0"/>
              </a:spcAft>
              <a:buChar char="–"/>
              <a:defRPr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defRPr>
            </a:lvl4pPr>
            <a:lvl5pPr marL="2057400" indent="-228600" algn="l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buFontTx/>
              <a:buNone/>
            </a:pPr>
            <a:r>
              <a:rPr sz="1800">
                <a:solidFill>
                  <a:srgbClr val="C00000"/>
                </a:solidFill>
              </a:rPr>
              <a:t>After Standardization</a:t>
            </a:r>
          </a:p>
          <a:p xmlns:a="http://schemas.openxmlformats.org/drawingml/2006/main">
            <a:pPr marL="0" indent="0" algn="ctr">
              <a:buFontTx/>
              <a:buNone/>
            </a:pPr>
            <a:r>
              <a:rPr sz="1400">
                <a:solidFill>
                  <a:schemeClr val="tx2"/>
                </a:solidFill>
              </a:rPr>
              <a:t>(Less spreading out)</a:t>
            </a:r>
            <a:endParaRPr sz="1800" kern="0" baseline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63267824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362" name="Title 2">
            <a:extLst xmlns:a="http://schemas.openxmlformats.org/drawingml/2006/main">
              <a:ext uri="{FF2B5EF4-FFF2-40B4-BE49-F238E27FC236}">
                <a16:creationId xmlns:a16="http://schemas.microsoft.com/office/drawing/2014/main" id="{EF4ACB14-B649-4873-8658-2DD6A3F4A83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76250" y="133350"/>
            <a:ext cx="8191500" cy="5715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Hierarchical Methods</a:t>
            </a:r>
          </a:p>
        </p:txBody>
      </p:sp>
      <p:sp>
        <p:nvSpPr>
          <p:cNvPr id="15363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7EFF20AD-3484-4F51-881E-98D6DA3E2C32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81744" y="724689"/>
            <a:ext cx="8784976" cy="37338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2000"/>
              <a:t>Given the input set S, the goal is to produce a hierarchy in which nodes represent subsets of S. </a:t>
            </a:r>
          </a:p>
          <a:p xmlns:a="http://schemas.openxmlformats.org/drawingml/2006/main">
            <a:r>
              <a:rPr sz="2000" b="1"/>
              <a:t>Observations are merged or split based on their similarities. </a:t>
            </a:r>
          </a:p>
          <a:p xmlns:a="http://schemas.openxmlformats.org/drawingml/2006/main">
            <a:r>
              <a:rPr sz="2000" b="1">
                <a:solidFill>
                  <a:srgbClr val="C00000"/>
                </a:solidFill>
              </a:rPr>
              <a:t>Agglomerative Methods </a:t>
            </a:r>
            <a:r>
              <a:rPr sz="2000" b="1">
                <a:solidFill>
                  <a:srgbClr val="0070C0"/>
                </a:solidFill>
              </a:rPr>
              <a:t>(from N to 1 cluster)</a:t>
            </a:r>
          </a:p>
          <a:p xmlns:a="http://schemas.openxmlformats.org/drawingml/2006/main">
            <a:pPr marL="571500" lvl="1">
              <a:buNone/>
            </a:pPr>
            <a:r>
              <a:rPr sz="1800"/>
              <a:t>Begin with n-clusters (each record its own cluster)</a:t>
            </a:r>
          </a:p>
          <a:p xmlns:a="http://schemas.openxmlformats.org/drawingml/2006/main">
            <a:pPr marL="971550" lvl="2">
              <a:buNone/>
            </a:pPr>
            <a:r>
              <a:rPr sz="1400"/>
              <a:t>Consider every observation as a separate cluster at the beginning</a:t>
            </a:r>
          </a:p>
          <a:p xmlns:a="http://schemas.openxmlformats.org/drawingml/2006/main">
            <a:pPr marL="571500" lvl="1">
              <a:buNone/>
            </a:pPr>
            <a:r>
              <a:rPr sz="1800"/>
              <a:t>Keep joining records into clusters until one cluster is left (the entire data set)</a:t>
            </a:r>
          </a:p>
          <a:p xmlns:a="http://schemas.openxmlformats.org/drawingml/2006/main">
            <a:pPr marL="571500" lvl="1">
              <a:buNone/>
            </a:pPr>
            <a:r>
              <a:rPr sz="1800">
                <a:solidFill>
                  <a:srgbClr val="C00000"/>
                </a:solidFill>
              </a:rPr>
              <a:t>Most popular</a:t>
            </a:r>
            <a:endParaRPr sz="2000" b="1"/>
          </a:p>
          <a:p xmlns:a="http://schemas.openxmlformats.org/drawingml/2006/main">
            <a:r>
              <a:rPr sz="2000" b="1"/>
              <a:t>Divisive Methods </a:t>
            </a:r>
            <a:r>
              <a:rPr sz="2000" b="1">
                <a:solidFill>
                  <a:srgbClr val="0070C0"/>
                </a:solidFill>
              </a:rPr>
              <a:t>(from 1 to N clusters)</a:t>
            </a:r>
          </a:p>
          <a:p xmlns:a="http://schemas.openxmlformats.org/drawingml/2006/main">
            <a:pPr marL="571500" lvl="1">
              <a:buNone/>
            </a:pPr>
            <a:r>
              <a:rPr sz="1800"/>
              <a:t>Start with one all-inclusive cluster</a:t>
            </a:r>
          </a:p>
          <a:p xmlns:a="http://schemas.openxmlformats.org/drawingml/2006/main">
            <a:pPr marL="571500" lvl="1">
              <a:buNone/>
            </a:pPr>
            <a:r>
              <a:rPr sz="1800"/>
              <a:t>Repeatedly divide into smaller clusters until it has same number of clusters to the number of observations (N)</a:t>
            </a:r>
          </a:p>
          <a:p xmlns:a="http://schemas.openxmlformats.org/drawingml/2006/main">
            <a:pPr marL="0" indent="0">
              <a:buNone/>
            </a:pPr>
            <a:endParaRPr sz="2000" b="1"/>
          </a:p>
          <a:p xmlns:a="http://schemas.openxmlformats.org/drawingml/2006/main">
            <a:pPr marL="571500" lvl="1">
              <a:buNone/>
            </a:pPr>
            <a:endParaRPr sz="2000"/>
          </a:p>
        </p:txBody>
      </p:sp>
      <p:pic>
        <p:nvPicPr>
          <p:cNvPr id="15368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9fc7ea48bb4a3b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863131" y="5106816"/>
            <a:ext cx="1981200" cy="163832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5369" name="Pictur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29b768c4104752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686250" y="5157192"/>
            <a:ext cx="2045990" cy="1656184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0FE83F68-1E82-42D8-81CC-DFDF76D1A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037" y="5280402"/>
            <a:ext cx="1141659" cy="33855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rgbClr val="C00000"/>
                </a:solidFill>
              </a:rPr>
              <a:t>N Clusters</a:t>
            </a:r>
            <a:endParaRPr>
              <a:solidFill>
                <a:srgbClr val="C00000"/>
              </a:solidFill>
            </a:endParaR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B44607DC-DC89-4B3A-835D-303239106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284" y="6186790"/>
            <a:ext cx="1005403" cy="33855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rgbClr val="C00000"/>
                </a:solidFill>
              </a:rPr>
              <a:t>1 Cluster</a:t>
            </a:r>
            <a:endParaRPr>
              <a:solidFill>
                <a:srgbClr val="C00000"/>
              </a:solidFill>
            </a:endParaR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E3EF5643-8F73-4048-A6F9-439D2F75E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6418" y="5241730"/>
            <a:ext cx="1005403" cy="33855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rgbClr val="C00000"/>
                </a:solidFill>
              </a:rPr>
              <a:t>1 Cluster</a:t>
            </a:r>
            <a:endParaRPr>
              <a:solidFill>
                <a:srgbClr val="C00000"/>
              </a:solidFill>
            </a:endParaRP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6FAE9A37-2A48-4E15-A569-0FC17DA70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8291" y="6445615"/>
            <a:ext cx="1141659" cy="33855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rgbClr val="C00000"/>
                </a:solidFill>
              </a:rPr>
              <a:t>N Clusters</a:t>
            </a:r>
            <a:endParaRPr>
              <a:solidFill>
                <a:srgbClr val="C00000"/>
              </a:solidFill>
            </a:endParaRPr>
          </a:p>
        </p:txBody>
      </p:sp>
      <p:cxnSp>
        <p:nvCxnSpPr>
          <p:cNvPr id="15374" name="직선 화살표 연결선 3"/>
          <p:cNvCxnSpPr/>
          <p:nvPr/>
        </p:nvCxnSpPr>
        <p:spPr>
          <a:xfrm xmlns:a="http://schemas.openxmlformats.org/drawingml/2006/main">
            <a:off x="1083866" y="5826750"/>
            <a:ext cx="0" cy="36004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chemeClr val="tx1"/>
            </a:solidFill>
            <a:prstDash val="solid"/>
            <a:round/>
            <a:headEnd type="none" w="med" len="med"/>
            <a:tailEnd type="triangle"/>
          </a:ln>
        </p:spPr>
      </p:cxnSp>
      <p:cxnSp>
        <p:nvCxnSpPr>
          <p:cNvPr id="15375" name="직선 화살표 연결선 13"/>
          <p:cNvCxnSpPr/>
          <p:nvPr/>
        </p:nvCxnSpPr>
        <p:spPr>
          <a:xfrm xmlns:a="http://schemas.openxmlformats.org/drawingml/2006/main">
            <a:off x="7092280" y="5925979"/>
            <a:ext cx="0" cy="40284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chemeClr val="tx1"/>
            </a:solidFill>
            <a:prstDash val="solid"/>
            <a:round/>
            <a:headEnd type="none" w="med" len="med"/>
            <a:tailEnd type="triangle"/>
          </a:ln>
        </p:spPr>
      </p:cxnSp>
    </p:spTree>
    <p:extLst>
      <p:ext uri="{BB962C8B-B14F-4D97-AF65-F5344CB8AC3E}">
        <p14:creationId xmlns:p14="http://schemas.microsoft.com/office/powerpoint/2010/main" val="78235906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A848CC5E-1935-4ABB-87EF-3D6A6359B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620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97222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C60C3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C60C30"/>
                </a:solidFill>
                <a:latin typeface="Helvetica Neue"/>
                <a:ea typeface="Helvetica Neue"/>
                <a:cs typeface="Helvetica Neue"/>
              </a:rPr>
              <a:t>1.2 · READ THE RESULT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3923B55-E600-4126-BE53-96BDC9C03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82296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0347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003478"/>
                </a:solidFill>
                <a:latin typeface="Apple SD Gothic Neo"/>
                <a:ea typeface="Apple SD Gothic Neo"/>
                <a:cs typeface="Apple SD Gothic Neo"/>
              </a:rPr>
              <a:t>군집을 읽는 법 — 크기 + 프로파일</a:t>
            </a:r>
          </a:p>
        </p:txBody>
      </p:sp>
      <p:sp>
        <p:nvSpPr>
          <p:cNvPr id="3" name="profile-1">
            <a:extLst xmlns:a="http://schemas.openxmlformats.org/drawingml/2006/main">
              <a:ext uri="{FF2B5EF4-FFF2-40B4-BE49-F238E27FC236}">
                <a16:creationId xmlns:a16="http://schemas.microsoft.com/office/drawing/2014/main" id="{22CB26A1-6A4A-484F-B50E-193DE915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762125"/>
            <a:ext cx="247650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EAF1F8"/>
          </a:solidFill>
          <a:ln xmlns:a="http://schemas.openxmlformats.org/drawingml/2006/main" w="13335">
            <a:solidFill>
              <a:srgbClr val="003478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>
                <a:latin typeface="Apple SD Gothic Neo"/>
                <a:ea typeface="Apple SD Gothic Neo"/>
                <a:cs typeface="Apple SD Gothic Neo"/>
              </a:defRPr>
            </a:pPr>
            <a:r>
              <a:rPr sz="2300" b="1">
                <a:solidFill>
                  <a:srgbClr val="003478"/>
                </a:solidFill>
                <a:latin typeface="Apple SD Gothic Neo"/>
                <a:ea typeface="Apple SD Gothic Neo"/>
                <a:cs typeface="Apple SD Gothic Neo"/>
              </a:rPr>
              <a:t>SIZE</a:t>
            </a:r>
          </a:p>
          <a:p xmlns:a="http://schemas.openxmlformats.org/drawingml/2006/main">
            <a:pPr algn="ctr">
              <a:lnSpc>
                <a:spcPct val="114000"/>
              </a:lnSpc>
              <a:buNone/>
              <a:defRPr>
                <a:latin typeface="Apple SD Gothic Neo"/>
                <a:ea typeface="Apple SD Gothic Neo"/>
                <a:cs typeface="Apple SD Gothic Neo"/>
              </a:defRPr>
            </a:pPr>
            <a:r>
              <a:rPr sz="1800">
                <a:solidFill>
                  <a:srgbClr val="262626"/>
                </a:solidFill>
                <a:latin typeface="Apple SD Gothic Neo"/>
                <a:ea typeface="Apple SD Gothic Neo"/>
                <a:cs typeface="Apple SD Gothic Neo"/>
              </a:rPr>
              <a:t>이 군집에 몇 개의 점(고객)이 들었나</a:t>
            </a:r>
          </a:p>
        </p:txBody>
      </p:sp>
      <p:sp>
        <p:nvSpPr>
          <p:cNvPr id="4" name="profile-arrow-1">
            <a:extLst xmlns:a="http://schemas.openxmlformats.org/drawingml/2006/main">
              <a:ext uri="{FF2B5EF4-FFF2-40B4-BE49-F238E27FC236}">
                <a16:creationId xmlns:a16="http://schemas.microsoft.com/office/drawing/2014/main" id="{C6226222-C5F1-4B53-A657-962E6431C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571750"/>
            <a:ext cx="333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76948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5B65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5B6573"/>
                </a:solidFill>
                <a:latin typeface="Helvetica Neue"/>
                <a:ea typeface="Helvetica Neue"/>
                <a:cs typeface="Helvetica Neue"/>
              </a:rPr>
              <a:t>→</a:t>
            </a:r>
          </a:p>
        </p:txBody>
      </p:sp>
      <p:sp>
        <p:nvSpPr>
          <p:cNvPr id="5" name="profile-2">
            <a:extLst xmlns:a="http://schemas.openxmlformats.org/drawingml/2006/main">
              <a:ext uri="{FF2B5EF4-FFF2-40B4-BE49-F238E27FC236}">
                <a16:creationId xmlns:a16="http://schemas.microsoft.com/office/drawing/2014/main" id="{E2599E5E-4111-4B28-8962-D07C15522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1762125"/>
            <a:ext cx="247650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AF4E1"/>
          </a:solidFill>
          <a:ln xmlns:a="http://schemas.openxmlformats.org/drawingml/2006/main" w="13335">
            <a:solidFill>
              <a:srgbClr val="C49000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>
                <a:latin typeface="Apple SD Gothic Neo"/>
                <a:ea typeface="Apple SD Gothic Neo"/>
                <a:cs typeface="Apple SD Gothic Neo"/>
              </a:defRPr>
            </a:pPr>
            <a:r>
              <a:rPr sz="2300" b="1">
                <a:solidFill>
                  <a:srgbClr val="C49000"/>
                </a:solidFill>
                <a:latin typeface="Apple SD Gothic Neo"/>
                <a:ea typeface="Apple SD Gothic Neo"/>
                <a:cs typeface="Apple SD Gothic Neo"/>
              </a:rPr>
              <a:t>PROFILE</a:t>
            </a:r>
          </a:p>
          <a:p xmlns:a="http://schemas.openxmlformats.org/drawingml/2006/main">
            <a:pPr algn="ctr">
              <a:lnSpc>
                <a:spcPct val="114000"/>
              </a:lnSpc>
              <a:buNone/>
              <a:defRPr>
                <a:latin typeface="Apple SD Gothic Neo"/>
                <a:ea typeface="Apple SD Gothic Neo"/>
                <a:cs typeface="Apple SD Gothic Neo"/>
              </a:defRPr>
            </a:pPr>
            <a:r>
              <a:rPr sz="1800">
                <a:solidFill>
                  <a:srgbClr val="262626"/>
                </a:solidFill>
                <a:latin typeface="Apple SD Gothic Neo"/>
                <a:ea typeface="Apple SD Gothic Neo"/>
                <a:cs typeface="Apple SD Gothic Neo"/>
              </a:rPr>
              <a:t>표에서 z값이 높은 변수를 찾는다</a:t>
            </a:r>
          </a:p>
        </p:txBody>
      </p:sp>
      <p:sp>
        <p:nvSpPr>
          <p:cNvPr id="6" name="profile-arrow-2">
            <a:extLst xmlns:a="http://schemas.openxmlformats.org/drawingml/2006/main">
              <a:ext uri="{FF2B5EF4-FFF2-40B4-BE49-F238E27FC236}">
                <a16:creationId xmlns:a16="http://schemas.microsoft.com/office/drawing/2014/main" id="{A60CF48C-CB02-4A78-9B50-976339099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571750"/>
            <a:ext cx="333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76948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5B65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5B6573"/>
                </a:solidFill>
                <a:latin typeface="Helvetica Neue"/>
                <a:ea typeface="Helvetica Neue"/>
                <a:cs typeface="Helvetica Neue"/>
              </a:rPr>
              <a:t>→</a:t>
            </a:r>
          </a:p>
        </p:txBody>
      </p:sp>
      <p:sp>
        <p:nvSpPr>
          <p:cNvPr id="7" name="profile-3">
            <a:extLst xmlns:a="http://schemas.openxmlformats.org/drawingml/2006/main">
              <a:ext uri="{FF2B5EF4-FFF2-40B4-BE49-F238E27FC236}">
                <a16:creationId xmlns:a16="http://schemas.microsoft.com/office/drawing/2014/main" id="{4FDE3E67-9539-45DF-924E-A1B6419B2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1762125"/>
            <a:ext cx="247650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BECEF"/>
          </a:solidFill>
          <a:ln xmlns:a="http://schemas.openxmlformats.org/drawingml/2006/main" w="13335">
            <a:solidFill>
              <a:srgbClr val="C60C30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>
                <a:latin typeface="Apple SD Gothic Neo"/>
                <a:ea typeface="Apple SD Gothic Neo"/>
                <a:cs typeface="Apple SD Gothic Neo"/>
              </a:defRPr>
            </a:pPr>
            <a:r>
              <a:rPr sz="2300" b="1">
                <a:solidFill>
                  <a:srgbClr val="C60C30"/>
                </a:solidFill>
                <a:latin typeface="Apple SD Gothic Neo"/>
                <a:ea typeface="Apple SD Gothic Neo"/>
                <a:cs typeface="Apple SD Gothic Neo"/>
              </a:rPr>
              <a:t>NAME</a:t>
            </a:r>
          </a:p>
          <a:p xmlns:a="http://schemas.openxmlformats.org/drawingml/2006/main">
            <a:pPr algn="ctr">
              <a:lnSpc>
                <a:spcPct val="114000"/>
              </a:lnSpc>
              <a:buNone/>
              <a:defRPr>
                <a:latin typeface="Apple SD Gothic Neo"/>
                <a:ea typeface="Apple SD Gothic Neo"/>
                <a:cs typeface="Apple SD Gothic Neo"/>
              </a:defRPr>
            </a:pPr>
            <a:r>
              <a:rPr sz="1800">
                <a:solidFill>
                  <a:srgbClr val="262626"/>
                </a:solidFill>
                <a:latin typeface="Apple SD Gothic Neo"/>
                <a:ea typeface="Apple SD Gothic Neo"/>
                <a:cs typeface="Apple SD Gothic Neo"/>
              </a:rPr>
              <a:t>프로파일 수치로 방어된 뒤 붙인다</a:t>
            </a:r>
          </a:p>
        </p:txBody>
      </p:sp>
      <p:sp>
        <p:nvSpPr>
          <p:cNvPr id="8" name="profile-rule">
            <a:extLst xmlns:a="http://schemas.openxmlformats.org/drawingml/2006/main">
              <a:ext uri="{FF2B5EF4-FFF2-40B4-BE49-F238E27FC236}">
                <a16:creationId xmlns:a16="http://schemas.microsoft.com/office/drawing/2014/main" id="{95718936-284B-4741-A0D6-E61FB02EE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762500"/>
            <a:ext cx="5905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C60C3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C60C30"/>
                </a:solidFill>
                <a:latin typeface="Apple SD Gothic Neo"/>
                <a:ea typeface="Apple SD Gothic Neo"/>
                <a:cs typeface="Apple SD Gothic Neo"/>
              </a:rPr>
              <a:t>근거 변수를 못 대면 그 이름은 허구다.</a:t>
            </a:r>
          </a:p>
        </p:txBody>
      </p:sp>
    </p:spTree>
    <p:extLst>
      <p:ext uri="{BB962C8B-B14F-4D97-AF65-F5344CB8AC3E}">
        <p14:creationId xmlns:p14="http://schemas.microsoft.com/office/powerpoint/2010/main" val="1380482020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866" name="Rectangle 7">
            <a:extLst xmlns:a="http://schemas.openxmlformats.org/drawingml/2006/main">
              <a:ext uri="{FF2B5EF4-FFF2-40B4-BE49-F238E27FC236}">
                <a16:creationId xmlns:a16="http://schemas.microsoft.com/office/drawing/2014/main" id="{6AEEDEA3-AEEA-4371-BCBB-44F6A644503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80013" y="260648"/>
            <a:ext cx="8458200" cy="6858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Clustering Algorithms</a:t>
            </a:r>
          </a:p>
        </p:txBody>
      </p:sp>
      <p:sp>
        <p:nvSpPr>
          <p:cNvPr id="36867" name="Content Placeholder 4">
            <a:extLst xmlns:a="http://schemas.openxmlformats.org/drawingml/2006/main">
              <a:ext uri="{FF2B5EF4-FFF2-40B4-BE49-F238E27FC236}">
                <a16:creationId xmlns:a16="http://schemas.microsoft.com/office/drawing/2014/main" id="{F05F765D-57C8-4CC9-A0C8-56780E66E4A0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299244" y="1556792"/>
            <a:ext cx="8534400" cy="42672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342900" lvl="1" indent="-342900">
              <a:spcAft>
                <a:spcPts val="600"/>
              </a:spcAft>
              <a:buChar char="•"/>
            </a:pPr>
            <a:r>
              <a:rPr sz="3600">
                <a:solidFill>
                  <a:schemeClr val="tx1"/>
                </a:solidFill>
              </a:rPr>
              <a:t>Popular Clustering Algorithms</a:t>
            </a:r>
          </a:p>
          <a:p xmlns:a="http://schemas.openxmlformats.org/drawingml/2006/main">
            <a:pPr marL="742950" lvl="2" indent="-342900">
              <a:spcAft>
                <a:spcPts val="600"/>
              </a:spcAft>
              <a:buNone/>
            </a:pPr>
            <a:r>
              <a:rPr sz="2800">
                <a:solidFill>
                  <a:srgbClr val="C00000"/>
                </a:solidFill>
              </a:rPr>
              <a:t>Hierarchical</a:t>
            </a:r>
          </a:p>
          <a:p xmlns:a="http://schemas.openxmlformats.org/drawingml/2006/main">
            <a:pPr marL="742950" lvl="2" indent="-342900">
              <a:spcAft>
                <a:spcPts val="600"/>
              </a:spcAft>
              <a:buNone/>
            </a:pPr>
            <a:r>
              <a:rPr sz="2800">
                <a:solidFill>
                  <a:srgbClr val="C00000"/>
                </a:solidFill>
              </a:rPr>
              <a:t>k-means</a:t>
            </a:r>
          </a:p>
          <a:p xmlns:a="http://schemas.openxmlformats.org/drawingml/2006/main">
            <a:pPr marL="742950" lvl="2" indent="-342900">
              <a:spcAft>
                <a:spcPts val="600"/>
              </a:spcAft>
              <a:buNone/>
            </a:pPr>
            <a:r>
              <a:rPr sz="2800">
                <a:solidFill>
                  <a:schemeClr val="tx1"/>
                </a:solidFill>
              </a:rPr>
              <a:t>k-</a:t>
            </a:r>
            <a:r>
              <a:rPr sz="2800">
                <a:solidFill>
                  <a:schemeClr val="tx1"/>
                </a:solidFill>
              </a:rPr>
              <a:t>medoids</a:t>
            </a:r>
            <a:endParaRPr sz="2800">
              <a:solidFill>
                <a:schemeClr val="tx1"/>
              </a:solidFill>
            </a:endParaRPr>
          </a:p>
          <a:p xmlns:a="http://schemas.openxmlformats.org/drawingml/2006/main">
            <a:pPr marL="742950" lvl="2" indent="-342900">
              <a:spcAft>
                <a:spcPts val="600"/>
              </a:spcAft>
              <a:buNone/>
            </a:pPr>
            <a:r>
              <a:rPr sz="2800">
                <a:solidFill>
                  <a:schemeClr val="tx1"/>
                </a:solidFill>
              </a:rPr>
              <a:t>Fuzzy c-means</a:t>
            </a:r>
          </a:p>
          <a:p xmlns:a="http://schemas.openxmlformats.org/drawingml/2006/main">
            <a:pPr marL="342900" lvl="1" indent="-342900">
              <a:spcAft>
                <a:spcPts val="600"/>
              </a:spcAft>
              <a:buChar char="•"/>
            </a:pPr>
            <a:r>
              <a:rPr sz="3600">
                <a:solidFill>
                  <a:schemeClr val="tx1"/>
                </a:solidFill>
              </a:rPr>
              <a:t>Different ways of measuring similarity</a:t>
            </a:r>
            <a:endParaRPr sz="3200">
              <a:solidFill>
                <a:srgbClr val="FF0000"/>
              </a:solidFill>
            </a:endParaRPr>
          </a:p>
          <a:p xmlns:a="http://schemas.openxmlformats.org/drawingml/2006/main">
            <a:endParaRPr sz="2800"/>
          </a:p>
        </p:txBody>
      </p:sp>
      <p:sp>
        <p:nvSpPr>
          <p:cNvPr id="36868" name="Rectangle 8">
            <a:extLst xmlns:a="http://schemas.openxmlformats.org/drawingml/2006/main">
              <a:ext uri="{FF2B5EF4-FFF2-40B4-BE49-F238E27FC236}">
                <a16:creationId xmlns:a16="http://schemas.microsoft.com/office/drawing/2014/main" id="{4101BBE9-9BF5-45A6-B9FC-76D7980A4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725" y="1071563"/>
            <a:ext cx="7945438" cy="38052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indent="-479425">
              <a:spcBef>
                <a:spcPts val="838"/>
              </a:spcBef>
              <a:spcAft>
                <a:spcPts val="838"/>
              </a:spcAft>
              <a:buClr>
                <a:schemeClr val="tx2"/>
              </a:buClr>
              <a:buSzPct val="70000"/>
              <a:buNone/>
            </a:pPr>
            <a:endParaRPr/>
          </a:p>
        </p:txBody>
      </p:sp>
      <p:sp>
        <p:nvSpPr>
          <p:cNvPr id="36869" name="dbscan-algorithm">
            <a:extLst xmlns:a="http://schemas.openxmlformats.org/drawingml/2006/main">
              <a:ext uri="{FF2B5EF4-FFF2-40B4-BE49-F238E27FC236}">
                <a16:creationId xmlns:a16="http://schemas.microsoft.com/office/drawing/2014/main" id="{8085F527-7159-4661-9B32-FE086673B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048000"/>
            <a:ext cx="2476500" cy="619125"/>
          </a:xfrm>
          <a:prstGeom xmlns:a="http://schemas.openxmlformats.org/drawingml/2006/main" prst="roundRect">
            <a:avLst>
              <a:gd name="adj" fmla="val 18462"/>
            </a:avLst>
          </a:prstGeom>
          <a:solidFill xmlns:a="http://schemas.openxmlformats.org/drawingml/2006/main">
            <a:srgbClr val="FBECEF"/>
          </a:solidFill>
          <a:ln xmlns:a="http://schemas.openxmlformats.org/drawingml/2006/main" w="13335">
            <a:solidFill>
              <a:srgbClr val="C60C3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C60C3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C60C30"/>
                </a:solidFill>
                <a:latin typeface="Helvetica Neue"/>
                <a:ea typeface="Helvetica Neue"/>
                <a:cs typeface="Helvetica Neue"/>
              </a:rPr>
              <a:t>DBSCAN — density-based</a:t>
            </a:r>
          </a:p>
        </p:txBody>
      </p:sp>
    </p:spTree>
    <p:extLst>
      <p:ext uri="{BB962C8B-B14F-4D97-AF65-F5344CB8AC3E}">
        <p14:creationId xmlns:p14="http://schemas.microsoft.com/office/powerpoint/2010/main" val="4234151499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866" name="Title 1">
            <a:extLst xmlns:a="http://schemas.openxmlformats.org/drawingml/2006/main">
              <a:ext uri="{FF2B5EF4-FFF2-40B4-BE49-F238E27FC236}">
                <a16:creationId xmlns:a16="http://schemas.microsoft.com/office/drawing/2014/main" id="{E6880400-6CDA-406C-8D47-B1125C915D9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3568" y="260648"/>
            <a:ext cx="7772400" cy="50405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K-Means Clustering</a:t>
            </a:r>
          </a:p>
        </p:txBody>
      </p:sp>
      <p:sp>
        <p:nvSpPr>
          <p:cNvPr id="36867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746AEBBD-A3A0-4C50-BCDA-3E8B39B54420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39552" y="759800"/>
            <a:ext cx="8280920" cy="4419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2400"/>
              <a:t>It requires us to specify the number of cluster (=K)beforehand.</a:t>
            </a:r>
          </a:p>
          <a:p xmlns:a="http://schemas.openxmlformats.org/drawingml/2006/main">
            <a:pPr lvl="1">
              <a:buNone/>
            </a:pPr>
            <a:r>
              <a:rPr sz="2000"/>
              <a:t>K can be determined by your purpose or domain knowledge</a:t>
            </a:r>
          </a:p>
          <a:p xmlns:a="http://schemas.openxmlformats.org/drawingml/2006/main">
            <a:r>
              <a:rPr sz="2400"/>
              <a:t>It  partitions the observations into K number of clusters.</a:t>
            </a:r>
          </a:p>
          <a:p xmlns:a="http://schemas.openxmlformats.org/drawingml/2006/main">
            <a:endParaRPr sz="2400"/>
          </a:p>
          <a:p xmlns:a="http://schemas.openxmlformats.org/drawingml/2006/main">
            <a:endParaRPr sz="2400"/>
          </a:p>
          <a:p xmlns:a="http://schemas.openxmlformats.org/drawingml/2006/main">
            <a:pPr marL="514350" indent="-514350">
              <a:buFont typeface="Wingdings 2"/>
              <a:buNone/>
            </a:pPr>
            <a:endParaRPr sz="2400"/>
          </a:p>
        </p:txBody>
      </p:sp>
      <p:graphicFrame>
        <p:nvGraphicFramePr>
          <p:cNvPr id="36877" name="표 3"/>
          <p:cNvGraphicFramePr/>
          <p:nvPr/>
        </p:nvGraphicFramePr>
        <p:xfrm>
          <a:off xmlns:a="http://schemas.openxmlformats.org/drawingml/2006/main" x="541392" y="2149397"/>
          <a:ext xmlns:a="http://schemas.openxmlformats.org/drawingml/2006/main" cx="8056751" cy="1943100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0078"/>
                <a:gridCol w="955414"/>
                <a:gridCol w="963365"/>
                <a:gridCol w="1177445"/>
                <a:gridCol w="1021001"/>
                <a:gridCol w="955130"/>
                <a:gridCol w="938662"/>
                <a:gridCol w="1325656"/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/>
                        <a:t>Product</a:t>
                      </a:r>
                      <a:endParaRPr sz="12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/>
                        <a:t>Country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/>
                        <a:t>Price</a:t>
                      </a:r>
                    </a:p>
                    <a:p>
                      <a:pPr algn="ctr">
                        <a:buNone/>
                      </a:pPr>
                      <a:endParaRPr sz="12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/>
                        <a:t>Size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/>
                        <a:t>Strap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/>
                        <a:t>Color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/>
                        <a:t>Logo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/>
                        <a:t>Purpose</a:t>
                      </a:r>
                    </a:p>
                  </a:txBody>
                  <a:tcPr marL="68580" marR="68580" marT="34290" marB="34290"/>
                </a:tc>
              </a:tr>
              <a:tr h="2175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/>
                        <a:t>GC</a:t>
                      </a:r>
                      <a:endParaRPr sz="12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/>
                        <a:t>1</a:t>
                      </a:r>
                      <a:endParaRPr sz="12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/>
                        <a:t>1</a:t>
                      </a:r>
                      <a:endParaRPr sz="12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/>
                        <a:t>3</a:t>
                      </a:r>
                      <a:endParaRPr sz="12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/>
                        <a:t>1</a:t>
                      </a:r>
                      <a:endParaRPr sz="12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/>
                        <a:t>1</a:t>
                      </a:r>
                      <a:endParaRPr sz="12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/>
                        <a:t>1</a:t>
                      </a:r>
                      <a:endParaRPr sz="12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/>
                        <a:t>1</a:t>
                      </a:r>
                      <a:endParaRPr sz="1200"/>
                    </a:p>
                  </a:txBody>
                  <a:tcPr marL="68580" marR="68580" marT="34290" marB="34290"/>
                </a:tc>
              </a:tr>
              <a:tr h="2175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/>
                        <a:t>CH</a:t>
                      </a:r>
                      <a:endParaRPr sz="12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/>
                        <a:t>1</a:t>
                      </a:r>
                      <a:endParaRPr sz="12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/>
                        <a:t>3</a:t>
                      </a:r>
                      <a:endParaRPr sz="12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/>
                        <a:t>1</a:t>
                      </a:r>
                      <a:endParaRPr sz="12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/>
                        <a:t>2</a:t>
                      </a:r>
                      <a:endParaRPr sz="12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/>
                        <a:t>2</a:t>
                      </a:r>
                      <a:endParaRPr sz="12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/>
                        <a:t>1</a:t>
                      </a:r>
                      <a:endParaRPr sz="12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/>
                        <a:t>2</a:t>
                      </a:r>
                      <a:endParaRPr sz="1200"/>
                    </a:p>
                  </a:txBody>
                  <a:tcPr marL="68580" marR="68580" marT="34290" marB="34290"/>
                </a:tc>
              </a:tr>
              <a:tr h="2175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/>
                        <a:t>LV</a:t>
                      </a:r>
                      <a:endParaRPr sz="12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/>
                        <a:t>1</a:t>
                      </a:r>
                      <a:endParaRPr sz="12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/>
                        <a:t>2</a:t>
                      </a:r>
                      <a:endParaRPr sz="12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/>
                        <a:t>3</a:t>
                      </a:r>
                      <a:endParaRPr sz="12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/>
                        <a:t>1</a:t>
                      </a:r>
                      <a:endParaRPr sz="12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/>
                        <a:t>2</a:t>
                      </a:r>
                      <a:endParaRPr sz="12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/>
                        <a:t>1</a:t>
                      </a:r>
                      <a:endParaRPr sz="12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/>
                        <a:t>1</a:t>
                      </a:r>
                      <a:endParaRPr sz="1200"/>
                    </a:p>
                  </a:txBody>
                  <a:tcPr marL="68580" marR="68580" marT="34290" marB="34290"/>
                </a:tc>
              </a:tr>
              <a:tr h="2175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/>
                        <a:t>HM</a:t>
                      </a:r>
                      <a:endParaRPr sz="12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/>
                        <a:t>1</a:t>
                      </a:r>
                      <a:endParaRPr sz="12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/>
                        <a:t>4</a:t>
                      </a:r>
                      <a:endParaRPr sz="12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/>
                        <a:t>2</a:t>
                      </a:r>
                      <a:endParaRPr sz="12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/>
                        <a:t>2</a:t>
                      </a:r>
                      <a:endParaRPr sz="12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/>
                        <a:t>1</a:t>
                      </a:r>
                      <a:endParaRPr sz="12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/>
                        <a:t>0</a:t>
                      </a:r>
                      <a:endParaRPr sz="12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/>
                        <a:t>2</a:t>
                      </a:r>
                      <a:endParaRPr sz="1200"/>
                    </a:p>
                  </a:txBody>
                  <a:tcPr marL="68580" marR="68580" marT="34290" marB="34290"/>
                </a:tc>
              </a:tr>
              <a:tr h="2175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/>
                        <a:t>MK</a:t>
                      </a:r>
                      <a:endParaRPr sz="12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/>
                        <a:t>0</a:t>
                      </a:r>
                      <a:endParaRPr sz="12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/>
                        <a:t>0.5</a:t>
                      </a:r>
                      <a:endParaRPr sz="12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/>
                        <a:t>3</a:t>
                      </a:r>
                      <a:endParaRPr sz="12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/>
                        <a:t>1</a:t>
                      </a:r>
                      <a:endParaRPr sz="12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/>
                        <a:t>2</a:t>
                      </a:r>
                      <a:endParaRPr sz="12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/>
                        <a:t>2</a:t>
                      </a:r>
                      <a:endParaRPr sz="12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marR="0" lvl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200"/>
                        <a:t>1</a:t>
                      </a:r>
                      <a:endParaRPr sz="1200"/>
                    </a:p>
                  </a:txBody>
                  <a:tcPr marL="68580" marR="68580" marT="34290" marB="34290"/>
                </a:tc>
              </a:tr>
              <a:tr h="2175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/>
                        <a:t>KS</a:t>
                      </a:r>
                      <a:endParaRPr sz="12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/>
                        <a:t>0</a:t>
                      </a:r>
                      <a:endParaRPr sz="12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/>
                        <a:t>0.3</a:t>
                      </a:r>
                      <a:endParaRPr sz="12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/>
                        <a:t>2</a:t>
                      </a:r>
                      <a:endParaRPr sz="12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/>
                        <a:t>2</a:t>
                      </a:r>
                      <a:endParaRPr sz="12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/>
                        <a:t>1</a:t>
                      </a:r>
                      <a:endParaRPr sz="12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/>
                        <a:t>2</a:t>
                      </a:r>
                      <a:endParaRPr sz="12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marR="0" lvl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200"/>
                        <a:t>1</a:t>
                      </a:r>
                      <a:endParaRPr sz="1200"/>
                    </a:p>
                  </a:txBody>
                  <a:tcPr marL="68580" marR="68580" marT="34290" marB="34290"/>
                </a:tc>
              </a:tr>
            </a:tbl>
          </a:graphicData>
        </a:graphic>
      </p:graphicFrame>
      <p:sp>
        <p:nvSpPr>
          <p:cNvPr id="5" name="내용 개체 틀 2">
            <a:extLst xmlns:a="http://schemas.openxmlformats.org/drawingml/2006/main">
              <a:ext uri="{FF2B5EF4-FFF2-40B4-BE49-F238E27FC236}">
                <a16:creationId xmlns:a16="http://schemas.microsoft.com/office/drawing/2014/main" id="{B6A6FF67-D1D1-49ED-9F18-F10600749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879" y="4035355"/>
            <a:ext cx="2291780" cy="3263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>
            <a:lvl1pPr marL="342900" indent="-342900" algn="l">
              <a:spcBef>
                <a:spcPct val="20000"/>
              </a:spcBef>
              <a:spcAft>
                <a:spcPts val="600"/>
              </a:spcAft>
              <a:buChar char="•"/>
              <a:defRPr sz="280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defRPr>
            </a:lvl1pPr>
            <a:lvl2pPr marL="742950" indent="-285750" algn="l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defRPr>
            </a:lvl2pPr>
            <a:lvl3pPr marL="1143000" indent="-228600" algn="l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defRPr>
            </a:lvl3pPr>
            <a:lvl4pPr marL="1600200" indent="-228600" algn="l">
              <a:spcBef>
                <a:spcPct val="20000"/>
              </a:spcBef>
              <a:spcAft>
                <a:spcPct val="0"/>
              </a:spcAft>
              <a:buChar char="–"/>
              <a:defRPr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defRPr>
            </a:lvl4pPr>
            <a:lvl5pPr marL="2057400" indent="-228600" algn="l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defRPr>
            </a:lvl5pPr>
            <a:lvl6pPr marL="2514600" indent="-228600" algn="l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r>
              <a:rPr sz="2000"/>
              <a:t>K=3</a:t>
            </a:r>
          </a:p>
          <a:p xmlns:a="http://schemas.openxmlformats.org/drawingml/2006/main">
            <a:pPr marL="0" indent="0">
              <a:buFontTx/>
              <a:buNone/>
            </a:pPr>
            <a:endParaRPr sz="2000" kern="0" baseline="0"/>
          </a:p>
        </p:txBody>
      </p:sp>
      <p:pic>
        <p:nvPicPr>
          <p:cNvPr id="36879" name="Picture 2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9829a5d42e2a47ab"/>
          <a:srcRect xmlns:a="http://schemas.openxmlformats.org/drawingml/2006/main" l="16477" t="35151" r="56363" b="11515"/>
          <a:stretch xmlns:a="http://schemas.openxmlformats.org/drawingml/2006/main"/>
        </p:blipFill>
        <p:spPr>
          <a:xfrm xmlns:a="http://schemas.openxmlformats.org/drawingml/2006/main">
            <a:off x="3705188" y="4630441"/>
            <a:ext cx="1339520" cy="1095781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36880" name="Picture 3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f947b1ec61da4fc4"/>
          <a:srcRect xmlns:a="http://schemas.openxmlformats.org/drawingml/2006/main" l="22045" t="25049" r="47046" b="21819"/>
          <a:stretch xmlns:a="http://schemas.openxmlformats.org/drawingml/2006/main"/>
        </p:blipFill>
        <p:spPr>
          <a:xfrm xmlns:a="http://schemas.openxmlformats.org/drawingml/2006/main">
            <a:off x="3708628" y="5615588"/>
            <a:ext cx="1467481" cy="105081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36881" name="Picture 5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a14a58cbbdf44fd6"/>
          <a:srcRect xmlns:a="http://schemas.openxmlformats.org/drawingml/2006/main" l="18409" t="51112" r="55682" b="21010"/>
          <a:stretch xmlns:a="http://schemas.openxmlformats.org/drawingml/2006/main"/>
        </p:blipFill>
        <p:spPr>
          <a:xfrm xmlns:a="http://schemas.openxmlformats.org/drawingml/2006/main">
            <a:off x="894510" y="4539784"/>
            <a:ext cx="1710065" cy="76652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36882" name="Picture 6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c90ff0f648cd452f"/>
          <a:srcRect xmlns:a="http://schemas.openxmlformats.org/drawingml/2006/main" l="17500" t="18889" r="57159" b="29495"/>
          <a:stretch xmlns:a="http://schemas.openxmlformats.org/drawingml/2006/main"/>
        </p:blipFill>
        <p:spPr>
          <a:xfrm xmlns:a="http://schemas.openxmlformats.org/drawingml/2006/main">
            <a:off x="6228184" y="5667107"/>
            <a:ext cx="1218868" cy="103421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36883" name="Picture 8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b7d3a0da8051461b"/>
          <a:srcRect xmlns:a="http://schemas.openxmlformats.org/drawingml/2006/main" l="20386" t="0" r="19192" b="0"/>
          <a:stretch xmlns:a="http://schemas.openxmlformats.org/drawingml/2006/main"/>
        </p:blipFill>
        <p:spPr>
          <a:xfrm xmlns:a="http://schemas.openxmlformats.org/drawingml/2006/main">
            <a:off x="897526" y="5287430"/>
            <a:ext cx="1664531" cy="1360100"/>
          </a:xfrm>
          <a:prstGeom xmlns:a="http://schemas.openxmlformats.org/drawingml/2006/main" prst="rect">
            <a:avLst/>
          </a:prstGeom>
        </p:spPr>
      </p:pic>
      <p:pic>
        <p:nvPicPr>
          <p:cNvPr id="36884" name="Picture 9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0fac05a2a720431e"/>
          <a:srcRect xmlns:a="http://schemas.openxmlformats.org/drawingml/2006/main" l="40253" t="27511" r="36772" b="14599"/>
          <a:stretch xmlns:a="http://schemas.openxmlformats.org/drawingml/2006/main"/>
        </p:blipFill>
        <p:spPr>
          <a:xfrm xmlns:a="http://schemas.openxmlformats.org/drawingml/2006/main">
            <a:off x="6228184" y="4472820"/>
            <a:ext cx="1224275" cy="128506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3" name="직사각형 12">
            <a:extLst xmlns:a="http://schemas.openxmlformats.org/drawingml/2006/main">
              <a:ext uri="{FF2B5EF4-FFF2-40B4-BE49-F238E27FC236}">
                <a16:creationId xmlns:a16="http://schemas.microsoft.com/office/drawing/2014/main" id="{7E9D08C5-2DF4-4BD0-8445-B54F34FDF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4027" y="4470557"/>
            <a:ext cx="2181563" cy="2280812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>
              <a:alpha val="24000"/>
            </a:schemeClr>
          </a:solidFill>
          <a:ln xmlns:a="http://schemas.openxmlformats.org/drawingml/2006/main">
            <a:solidFill>
              <a:schemeClr val="accent1">
                <a:shade val="50000"/>
                <a:alpha val="56000"/>
              </a:schemeClr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800"/>
          </a:p>
        </p:txBody>
      </p:sp>
      <p:sp>
        <p:nvSpPr>
          <p:cNvPr id="12" name="직사각형 11">
            <a:extLst xmlns:a="http://schemas.openxmlformats.org/drawingml/2006/main">
              <a:ext uri="{FF2B5EF4-FFF2-40B4-BE49-F238E27FC236}">
                <a16:creationId xmlns:a16="http://schemas.microsoft.com/office/drawing/2014/main" id="{119E49DB-B22B-4ECE-A2C6-11840FFD7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568" y="4470556"/>
            <a:ext cx="2238770" cy="2211182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>
              <a:alpha val="24000"/>
            </a:schemeClr>
          </a:solidFill>
          <a:ln xmlns:a="http://schemas.openxmlformats.org/drawingml/2006/main">
            <a:solidFill>
              <a:schemeClr val="accent1">
                <a:shade val="50000"/>
                <a:alpha val="56000"/>
              </a:schemeClr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800"/>
          </a:p>
        </p:txBody>
      </p:sp>
      <p:sp>
        <p:nvSpPr>
          <p:cNvPr id="14" name="직사각형 13">
            <a:extLst xmlns:a="http://schemas.openxmlformats.org/drawingml/2006/main">
              <a:ext uri="{FF2B5EF4-FFF2-40B4-BE49-F238E27FC236}">
                <a16:creationId xmlns:a16="http://schemas.microsoft.com/office/drawing/2014/main" id="{051CC8AD-280B-4461-BEEB-0034040DC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9718" y="4470556"/>
            <a:ext cx="2181563" cy="228081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>
              <a:alpha val="24000"/>
            </a:schemeClr>
          </a:solidFill>
          <a:ln xmlns:a="http://schemas.openxmlformats.org/drawingml/2006/main">
            <a:solidFill>
              <a:schemeClr val="accent1">
                <a:shade val="50000"/>
                <a:alpha val="56000"/>
              </a:schemeClr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800"/>
          </a:p>
        </p:txBody>
      </p:sp>
    </p:spTree>
    <p:extLst>
      <p:ext uri="{BB962C8B-B14F-4D97-AF65-F5344CB8AC3E}">
        <p14:creationId xmlns:p14="http://schemas.microsoft.com/office/powerpoint/2010/main" val="1449065029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AF7ACFC1-30CB-4FA7-B841-7D9F4092E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620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97222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C60C3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C60C30"/>
                </a:solidFill>
                <a:latin typeface="Helvetica Neue"/>
                <a:ea typeface="Helvetica Neue"/>
                <a:cs typeface="Helvetica Neue"/>
              </a:rPr>
              <a:t>1.3 · DBSCAN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0EB631A-6CFB-4F3A-A98E-A980182DA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82296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0347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003478"/>
                </a:solidFill>
                <a:latin typeface="Apple SD Gothic Neo"/>
                <a:ea typeface="Apple SD Gothic Neo"/>
                <a:cs typeface="Apple SD Gothic Neo"/>
              </a:rPr>
              <a:t>빽빽한 곳을 군집으로 본다</a:t>
            </a:r>
          </a:p>
        </p:txBody>
      </p:sp>
      <p:sp>
        <p:nvSpPr>
          <p:cNvPr id="3" name="density-definition">
            <a:extLst xmlns:a="http://schemas.openxmlformats.org/drawingml/2006/main">
              <a:ext uri="{FF2B5EF4-FFF2-40B4-BE49-F238E27FC236}">
                <a16:creationId xmlns:a16="http://schemas.microsoft.com/office/drawing/2014/main" id="{8390D56F-363A-484A-9911-A9D9B561A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1666875"/>
            <a:ext cx="6953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0034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003478"/>
                </a:solidFill>
                <a:latin typeface="Helvetica Neue"/>
                <a:ea typeface="Helvetica Neue"/>
                <a:cs typeface="Helvetica Neue"/>
              </a:rPr>
              <a:t>DBSCAN</a:t>
            </a:r>
          </a:p>
          <a:p xmlns:a="http://schemas.openxmlformats.org/drawingml/2006/main">
            <a:pPr algn="ctr">
              <a:defRPr sz="2250" b="1">
                <a:solidFill>
                  <a:srgbClr val="0034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003478"/>
                </a:solidFill>
                <a:latin typeface="Helvetica Neue"/>
                <a:ea typeface="Helvetica Neue"/>
                <a:cs typeface="Helvetica Neue"/>
              </a:rPr>
              <a:t>Density-Based Spatial Clustering</a:t>
            </a:r>
          </a:p>
        </p:txBody>
      </p:sp>
      <p:sp>
        <p:nvSpPr>
          <p:cNvPr id="4" name="source-backed-callout">
            <a:extLst xmlns:a="http://schemas.openxmlformats.org/drawingml/2006/main">
              <a:ext uri="{FF2B5EF4-FFF2-40B4-BE49-F238E27FC236}">
                <a16:creationId xmlns:a16="http://schemas.microsoft.com/office/drawing/2014/main" id="{8D6687E2-8282-4769-B249-45C8804E9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829300"/>
            <a:ext cx="8153400" cy="5715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AF1F8"/>
          </a:solidFill>
          <a:ln xmlns:a="http://schemas.openxmlformats.org/drawingml/2006/main" w="13335">
            <a:solidFill>
              <a:srgbClr val="003478"/>
            </a:solidFill>
            <a:prstDash val="solid"/>
          </a:ln>
        </p:spPr>
        <p:txBody>
          <a:bodyPr xmlns:a="http://schemas.openxmlformats.org/drawingml/2006/main" wrap="square" lIns="114300" tIns="57150" rIns="1143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0347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003478"/>
                </a:solidFill>
                <a:latin typeface="Apple SD Gothic Neo"/>
                <a:ea typeface="Apple SD Gothic Neo"/>
                <a:cs typeface="Apple SD Gothic Neo"/>
              </a:rPr>
              <a:t>점들이 빽빽하게 모인 곳을 군집으로 본다.</a:t>
            </a:r>
          </a:p>
        </p:txBody>
      </p:sp>
      <p:sp>
        <p:nvSpPr>
          <p:cNvPr id="5" name="density-note">
            <a:extLst xmlns:a="http://schemas.openxmlformats.org/drawingml/2006/main">
              <a:ext uri="{FF2B5EF4-FFF2-40B4-BE49-F238E27FC236}">
                <a16:creationId xmlns:a16="http://schemas.microsoft.com/office/drawing/2014/main" id="{3D22594F-CC84-4E73-9246-BC05B8CAA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3476625"/>
            <a:ext cx="5619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>
                <a:solidFill>
                  <a:srgbClr val="5B65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>
                <a:solidFill>
                  <a:srgbClr val="5B6573"/>
                </a:solidFill>
                <a:latin typeface="Apple SD Gothic Neo"/>
                <a:ea typeface="Apple SD Gothic Neo"/>
                <a:cs typeface="Apple SD Gothic Neo"/>
              </a:rPr>
              <a:t>거리만이 아니라 주변의 밀도를 읽는다.</a:t>
            </a:r>
          </a:p>
        </p:txBody>
      </p:sp>
    </p:spTree>
    <p:extLst>
      <p:ext uri="{BB962C8B-B14F-4D97-AF65-F5344CB8AC3E}">
        <p14:creationId xmlns:p14="http://schemas.microsoft.com/office/powerpoint/2010/main" val="1380482020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24AC8BCB-CECB-4802-A12B-7F5920F45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620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97222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C60C3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C60C30"/>
                </a:solidFill>
                <a:latin typeface="Helvetica Neue"/>
                <a:ea typeface="Helvetica Neue"/>
                <a:cs typeface="Helvetica Neue"/>
              </a:rPr>
              <a:t>1.3 · DBSCAN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A772600-39EA-4A4A-9CD2-189BE5190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82296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0347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003478"/>
                </a:solidFill>
                <a:latin typeface="Apple SD Gothic Neo"/>
                <a:ea typeface="Apple SD Gothic Neo"/>
                <a:cs typeface="Apple SD Gothic Neo"/>
              </a:rPr>
              <a:t>핵심·경계·잡음 개념도</a:t>
            </a:r>
          </a:p>
        </p:txBody>
      </p:sp>
      <p:sp>
        <p:nvSpPr>
          <p:cNvPr id="3" name="dense-region">
            <a:extLst xmlns:a="http://schemas.openxmlformats.org/drawingml/2006/main">
              <a:ext uri="{FF2B5EF4-FFF2-40B4-BE49-F238E27FC236}">
                <a16:creationId xmlns:a16="http://schemas.microsoft.com/office/drawing/2014/main" id="{5C428831-2307-4B87-AD97-BA2D2B195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285875"/>
            <a:ext cx="4762500" cy="3714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1F8"/>
          </a:solidFill>
          <a:ln xmlns:a="http://schemas.openxmlformats.org/drawingml/2006/main" w="11430">
            <a:solidFill>
              <a:srgbClr val="A9C2DB"/>
            </a:solidFill>
            <a:prstDash val="solid"/>
          </a:ln>
        </p:spPr>
      </p:sp>
      <p:sp>
        <p:nvSpPr>
          <p:cNvPr id="4" name="epsilon-radius">
            <a:extLst xmlns:a="http://schemas.openxmlformats.org/drawingml/2006/main">
              <a:ext uri="{FF2B5EF4-FFF2-40B4-BE49-F238E27FC236}">
                <a16:creationId xmlns:a16="http://schemas.microsoft.com/office/drawing/2014/main" id="{C2C70C4B-A295-451B-B726-B6FB843DD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2266950"/>
            <a:ext cx="1666875" cy="166687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C49000"/>
            </a:solidFill>
            <a:prstDash val="dash"/>
          </a:ln>
        </p:spPr>
      </p:sp>
      <p:sp>
        <p:nvSpPr>
          <p:cNvPr id="5" name="cluster-point-1">
            <a:extLst xmlns:a="http://schemas.openxmlformats.org/drawingml/2006/main">
              <a:ext uri="{FF2B5EF4-FFF2-40B4-BE49-F238E27FC236}">
                <a16:creationId xmlns:a16="http://schemas.microsoft.com/office/drawing/2014/main" id="{10E2FB7D-1F04-440D-94D3-1B97C3364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0955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9000"/>
          </a:solidFill>
          <a:ln xmlns:a="http://schemas.openxmlformats.org/drawingml/2006/main" w="7620">
            <a:solidFill>
              <a:srgbClr val="003478"/>
            </a:solidFill>
            <a:prstDash val="solid"/>
          </a:ln>
        </p:spPr>
      </p:sp>
      <p:sp>
        <p:nvSpPr>
          <p:cNvPr id="6" name="cluster-point-2">
            <a:extLst xmlns:a="http://schemas.openxmlformats.org/drawingml/2006/main">
              <a:ext uri="{FF2B5EF4-FFF2-40B4-BE49-F238E27FC236}">
                <a16:creationId xmlns:a16="http://schemas.microsoft.com/office/drawing/2014/main" id="{F4F0601A-4A7E-4424-990B-1178012C1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18097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FA6C9"/>
          </a:solidFill>
          <a:ln xmlns:a="http://schemas.openxmlformats.org/drawingml/2006/main" w="7620">
            <a:solidFill>
              <a:srgbClr val="003478"/>
            </a:solidFill>
            <a:prstDash val="solid"/>
          </a:ln>
        </p:spPr>
      </p:sp>
      <p:sp>
        <p:nvSpPr>
          <p:cNvPr id="7" name="cluster-point-3">
            <a:extLst xmlns:a="http://schemas.openxmlformats.org/drawingml/2006/main">
              <a:ext uri="{FF2B5EF4-FFF2-40B4-BE49-F238E27FC236}">
                <a16:creationId xmlns:a16="http://schemas.microsoft.com/office/drawing/2014/main" id="{5C687C8F-58F1-470F-8E4A-81B9F72AA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20955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FA6C9"/>
          </a:solidFill>
          <a:ln xmlns:a="http://schemas.openxmlformats.org/drawingml/2006/main" w="7620">
            <a:solidFill>
              <a:srgbClr val="003478"/>
            </a:solidFill>
            <a:prstDash val="solid"/>
          </a:ln>
        </p:spPr>
      </p:sp>
      <p:sp>
        <p:nvSpPr>
          <p:cNvPr id="8" name="cluster-point-4">
            <a:extLst xmlns:a="http://schemas.openxmlformats.org/drawingml/2006/main">
              <a:ext uri="{FF2B5EF4-FFF2-40B4-BE49-F238E27FC236}">
                <a16:creationId xmlns:a16="http://schemas.microsoft.com/office/drawing/2014/main" id="{DF3E1E8A-5782-4DDF-BD2B-B547DD39D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18573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FA6C9"/>
          </a:solidFill>
          <a:ln xmlns:a="http://schemas.openxmlformats.org/drawingml/2006/main" w="7620">
            <a:solidFill>
              <a:srgbClr val="003478"/>
            </a:solidFill>
            <a:prstDash val="solid"/>
          </a:ln>
        </p:spPr>
      </p:sp>
      <p:sp>
        <p:nvSpPr>
          <p:cNvPr id="9" name="cluster-point-5">
            <a:extLst xmlns:a="http://schemas.openxmlformats.org/drawingml/2006/main">
              <a:ext uri="{FF2B5EF4-FFF2-40B4-BE49-F238E27FC236}">
                <a16:creationId xmlns:a16="http://schemas.microsoft.com/office/drawing/2014/main" id="{78309E59-D20D-4F59-8A1A-0627460C6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1907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FA6C9"/>
          </a:solidFill>
          <a:ln xmlns:a="http://schemas.openxmlformats.org/drawingml/2006/main" w="7620">
            <a:solidFill>
              <a:srgbClr val="003478"/>
            </a:solidFill>
            <a:prstDash val="solid"/>
          </a:ln>
        </p:spPr>
      </p:sp>
      <p:sp>
        <p:nvSpPr>
          <p:cNvPr id="10" name="cluster-point-6">
            <a:extLst xmlns:a="http://schemas.openxmlformats.org/drawingml/2006/main">
              <a:ext uri="{FF2B5EF4-FFF2-40B4-BE49-F238E27FC236}">
                <a16:creationId xmlns:a16="http://schemas.microsoft.com/office/drawing/2014/main" id="{BDAA789A-F461-4F04-804C-DFB587557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20002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FA6C9"/>
          </a:solidFill>
          <a:ln xmlns:a="http://schemas.openxmlformats.org/drawingml/2006/main" w="7620">
            <a:solidFill>
              <a:srgbClr val="003478"/>
            </a:solidFill>
            <a:prstDash val="solid"/>
          </a:ln>
        </p:spPr>
      </p:sp>
      <p:sp>
        <p:nvSpPr>
          <p:cNvPr id="11" name="cluster-point-7">
            <a:extLst xmlns:a="http://schemas.openxmlformats.org/drawingml/2006/main">
              <a:ext uri="{FF2B5EF4-FFF2-40B4-BE49-F238E27FC236}">
                <a16:creationId xmlns:a16="http://schemas.microsoft.com/office/drawing/2014/main" id="{754F2FA8-C459-4C76-93D0-EEB1BB3DC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3812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FA6C9"/>
          </a:solidFill>
          <a:ln xmlns:a="http://schemas.openxmlformats.org/drawingml/2006/main" w="7620">
            <a:solidFill>
              <a:srgbClr val="003478"/>
            </a:solidFill>
            <a:prstDash val="solid"/>
          </a:ln>
        </p:spPr>
      </p:sp>
      <p:sp>
        <p:nvSpPr>
          <p:cNvPr id="12" name="cluster-point-8">
            <a:extLst xmlns:a="http://schemas.openxmlformats.org/drawingml/2006/main">
              <a:ext uri="{FF2B5EF4-FFF2-40B4-BE49-F238E27FC236}">
                <a16:creationId xmlns:a16="http://schemas.microsoft.com/office/drawing/2014/main" id="{83D4C9C1-D16A-4288-A528-113ED7B3C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8575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FA6C9"/>
          </a:solidFill>
          <a:ln xmlns:a="http://schemas.openxmlformats.org/drawingml/2006/main" w="7620">
            <a:solidFill>
              <a:srgbClr val="003478"/>
            </a:solidFill>
            <a:prstDash val="solid"/>
          </a:ln>
        </p:spPr>
      </p:sp>
      <p:sp>
        <p:nvSpPr>
          <p:cNvPr id="13" name="cluster-point-9">
            <a:extLst xmlns:a="http://schemas.openxmlformats.org/drawingml/2006/main">
              <a:ext uri="{FF2B5EF4-FFF2-40B4-BE49-F238E27FC236}">
                <a16:creationId xmlns:a16="http://schemas.microsoft.com/office/drawing/2014/main" id="{EBAC139D-1F28-430B-AF25-89BD8B507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27146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FA6C9"/>
          </a:solidFill>
          <a:ln xmlns:a="http://schemas.openxmlformats.org/drawingml/2006/main" w="7620">
            <a:solidFill>
              <a:srgbClr val="003478"/>
            </a:solidFill>
            <a:prstDash val="solid"/>
          </a:ln>
        </p:spPr>
      </p:sp>
      <p:sp>
        <p:nvSpPr>
          <p:cNvPr id="14" name="cluster-point-10">
            <a:extLst xmlns:a="http://schemas.openxmlformats.org/drawingml/2006/main">
              <a:ext uri="{FF2B5EF4-FFF2-40B4-BE49-F238E27FC236}">
                <a16:creationId xmlns:a16="http://schemas.microsoft.com/office/drawing/2014/main" id="{AA1C5BF4-1244-40A7-AAF8-DB2657547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8575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FA6C9"/>
          </a:solidFill>
          <a:ln xmlns:a="http://schemas.openxmlformats.org/drawingml/2006/main" w="7620">
            <a:solidFill>
              <a:srgbClr val="003478"/>
            </a:solidFill>
            <a:prstDash val="solid"/>
          </a:ln>
        </p:spPr>
      </p:sp>
      <p:sp>
        <p:nvSpPr>
          <p:cNvPr id="15" name="cluster-point-11">
            <a:extLst xmlns:a="http://schemas.openxmlformats.org/drawingml/2006/main">
              <a:ext uri="{FF2B5EF4-FFF2-40B4-BE49-F238E27FC236}">
                <a16:creationId xmlns:a16="http://schemas.microsoft.com/office/drawing/2014/main" id="{73C1EBE7-597D-40C2-A67D-85EB52E61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2619375"/>
            <a:ext cx="238125" cy="2381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3478"/>
          </a:solidFill>
          <a:ln xmlns:a="http://schemas.openxmlformats.org/drawingml/2006/main" w="20955">
            <a:solidFill>
              <a:srgbClr val="FFFFFF"/>
            </a:solidFill>
            <a:prstDash val="solid"/>
          </a:ln>
        </p:spPr>
      </p:sp>
      <p:sp>
        <p:nvSpPr>
          <p:cNvPr id="16" name="cluster-point-12">
            <a:extLst xmlns:a="http://schemas.openxmlformats.org/drawingml/2006/main">
              <a:ext uri="{FF2B5EF4-FFF2-40B4-BE49-F238E27FC236}">
                <a16:creationId xmlns:a16="http://schemas.microsoft.com/office/drawing/2014/main" id="{A6407DDF-FEC8-466E-9AED-7F9A1AED2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9527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FA6C9"/>
          </a:solidFill>
          <a:ln xmlns:a="http://schemas.openxmlformats.org/drawingml/2006/main" w="7620">
            <a:solidFill>
              <a:srgbClr val="003478"/>
            </a:solidFill>
            <a:prstDash val="solid"/>
          </a:ln>
        </p:spPr>
      </p:sp>
      <p:sp>
        <p:nvSpPr>
          <p:cNvPr id="17" name="cluster-point-13">
            <a:extLst xmlns:a="http://schemas.openxmlformats.org/drawingml/2006/main">
              <a:ext uri="{FF2B5EF4-FFF2-40B4-BE49-F238E27FC236}">
                <a16:creationId xmlns:a16="http://schemas.microsoft.com/office/drawing/2014/main" id="{039DA00A-28C0-43D9-B24A-F85D2AEDE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7622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FA6C9"/>
          </a:solidFill>
          <a:ln xmlns:a="http://schemas.openxmlformats.org/drawingml/2006/main" w="7620">
            <a:solidFill>
              <a:srgbClr val="003478"/>
            </a:solidFill>
            <a:prstDash val="solid"/>
          </a:ln>
        </p:spPr>
      </p:sp>
      <p:sp>
        <p:nvSpPr>
          <p:cNvPr id="18" name="cluster-point-14">
            <a:extLst xmlns:a="http://schemas.openxmlformats.org/drawingml/2006/main">
              <a:ext uri="{FF2B5EF4-FFF2-40B4-BE49-F238E27FC236}">
                <a16:creationId xmlns:a16="http://schemas.microsoft.com/office/drawing/2014/main" id="{EDDED477-4718-428B-9DF1-7CD6247CB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0956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FA6C9"/>
          </a:solidFill>
          <a:ln xmlns:a="http://schemas.openxmlformats.org/drawingml/2006/main" w="7620">
            <a:solidFill>
              <a:srgbClr val="003478"/>
            </a:solidFill>
            <a:prstDash val="solid"/>
          </a:ln>
        </p:spPr>
      </p:sp>
      <p:sp>
        <p:nvSpPr>
          <p:cNvPr id="19" name="cluster-point-15">
            <a:extLst xmlns:a="http://schemas.openxmlformats.org/drawingml/2006/main">
              <a:ext uri="{FF2B5EF4-FFF2-40B4-BE49-F238E27FC236}">
                <a16:creationId xmlns:a16="http://schemas.microsoft.com/office/drawing/2014/main" id="{EDB2FE37-7611-4BE4-BFBB-5233BDBD6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4766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FA6C9"/>
          </a:solidFill>
          <a:ln xmlns:a="http://schemas.openxmlformats.org/drawingml/2006/main" w="7620">
            <a:solidFill>
              <a:srgbClr val="003478"/>
            </a:solidFill>
            <a:prstDash val="solid"/>
          </a:ln>
        </p:spPr>
      </p:sp>
      <p:sp>
        <p:nvSpPr>
          <p:cNvPr id="20" name="cluster-point-16">
            <a:extLst xmlns:a="http://schemas.openxmlformats.org/drawingml/2006/main">
              <a:ext uri="{FF2B5EF4-FFF2-40B4-BE49-F238E27FC236}">
                <a16:creationId xmlns:a16="http://schemas.microsoft.com/office/drawing/2014/main" id="{DEA9DFAD-1079-4842-88D4-C1E72E692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33813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FA6C9"/>
          </a:solidFill>
          <a:ln xmlns:a="http://schemas.openxmlformats.org/drawingml/2006/main" w="7620">
            <a:solidFill>
              <a:srgbClr val="003478"/>
            </a:solidFill>
            <a:prstDash val="solid"/>
          </a:ln>
        </p:spPr>
      </p:sp>
      <p:sp>
        <p:nvSpPr>
          <p:cNvPr id="21" name="cluster-point-17">
            <a:extLst xmlns:a="http://schemas.openxmlformats.org/drawingml/2006/main">
              <a:ext uri="{FF2B5EF4-FFF2-40B4-BE49-F238E27FC236}">
                <a16:creationId xmlns:a16="http://schemas.microsoft.com/office/drawing/2014/main" id="{80D16EE3-CE08-44DB-99F7-1C906FA19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3337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FA6C9"/>
          </a:solidFill>
          <a:ln xmlns:a="http://schemas.openxmlformats.org/drawingml/2006/main" w="7620">
            <a:solidFill>
              <a:srgbClr val="003478"/>
            </a:solidFill>
            <a:prstDash val="solid"/>
          </a:ln>
        </p:spPr>
      </p:sp>
      <p:sp>
        <p:nvSpPr>
          <p:cNvPr id="22" name="cluster-point-18">
            <a:extLst xmlns:a="http://schemas.openxmlformats.org/drawingml/2006/main">
              <a:ext uri="{FF2B5EF4-FFF2-40B4-BE49-F238E27FC236}">
                <a16:creationId xmlns:a16="http://schemas.microsoft.com/office/drawing/2014/main" id="{C83604AB-1858-4DAE-BD75-B16464F0C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35718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FA6C9"/>
          </a:solidFill>
          <a:ln xmlns:a="http://schemas.openxmlformats.org/drawingml/2006/main" w="7620">
            <a:solidFill>
              <a:srgbClr val="003478"/>
            </a:solidFill>
            <a:prstDash val="solid"/>
          </a:ln>
        </p:spPr>
      </p:sp>
      <p:sp>
        <p:nvSpPr>
          <p:cNvPr id="23" name="cluster-point-19">
            <a:extLst xmlns:a="http://schemas.openxmlformats.org/drawingml/2006/main">
              <a:ext uri="{FF2B5EF4-FFF2-40B4-BE49-F238E27FC236}">
                <a16:creationId xmlns:a16="http://schemas.microsoft.com/office/drawing/2014/main" id="{633BC21E-B36D-484D-8311-F25A7735D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4290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FA6C9"/>
          </a:solidFill>
          <a:ln xmlns:a="http://schemas.openxmlformats.org/drawingml/2006/main" w="7620">
            <a:solidFill>
              <a:srgbClr val="003478"/>
            </a:solidFill>
            <a:prstDash val="solid"/>
          </a:ln>
        </p:spPr>
      </p:sp>
      <p:sp>
        <p:nvSpPr>
          <p:cNvPr id="24" name="cluster-point-20">
            <a:extLst xmlns:a="http://schemas.openxmlformats.org/drawingml/2006/main">
              <a:ext uri="{FF2B5EF4-FFF2-40B4-BE49-F238E27FC236}">
                <a16:creationId xmlns:a16="http://schemas.microsoft.com/office/drawing/2014/main" id="{70C2289F-F786-4CD5-AD35-085CE370A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8100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FA6C9"/>
          </a:solidFill>
          <a:ln xmlns:a="http://schemas.openxmlformats.org/drawingml/2006/main" w="7620">
            <a:solidFill>
              <a:srgbClr val="003478"/>
            </a:solidFill>
            <a:prstDash val="solid"/>
          </a:ln>
        </p:spPr>
      </p:sp>
      <p:sp>
        <p:nvSpPr>
          <p:cNvPr id="25" name="noise-point-1">
            <a:extLst xmlns:a="http://schemas.openxmlformats.org/drawingml/2006/main">
              <a:ext uri="{FF2B5EF4-FFF2-40B4-BE49-F238E27FC236}">
                <a16:creationId xmlns:a16="http://schemas.microsoft.com/office/drawing/2014/main" id="{3CE9B46E-1CB9-425E-B8B2-D69033070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097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13335">
            <a:solidFill>
              <a:srgbClr val="777777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×</a:t>
            </a:r>
          </a:p>
        </p:txBody>
      </p:sp>
      <p:sp>
        <p:nvSpPr>
          <p:cNvPr id="26" name="noise-point-2">
            <a:extLst xmlns:a="http://schemas.openxmlformats.org/drawingml/2006/main">
              <a:ext uri="{FF2B5EF4-FFF2-40B4-BE49-F238E27FC236}">
                <a16:creationId xmlns:a16="http://schemas.microsoft.com/office/drawing/2014/main" id="{049007F0-6707-4FAA-A978-2C941E01F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8575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13335">
            <a:solidFill>
              <a:srgbClr val="777777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×</a:t>
            </a:r>
          </a:p>
        </p:txBody>
      </p:sp>
      <p:sp>
        <p:nvSpPr>
          <p:cNvPr id="27" name="noise-point-3">
            <a:extLst xmlns:a="http://schemas.openxmlformats.org/drawingml/2006/main">
              <a:ext uri="{FF2B5EF4-FFF2-40B4-BE49-F238E27FC236}">
                <a16:creationId xmlns:a16="http://schemas.microsoft.com/office/drawing/2014/main" id="{97188D7F-AD66-4257-B482-F991ABD17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23862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13335">
            <a:solidFill>
              <a:srgbClr val="777777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×</a:t>
            </a:r>
          </a:p>
        </p:txBody>
      </p:sp>
      <p:sp>
        <p:nvSpPr>
          <p:cNvPr id="28" name="epsilon-label">
            <a:extLst xmlns:a="http://schemas.openxmlformats.org/drawingml/2006/main">
              <a:ext uri="{FF2B5EF4-FFF2-40B4-BE49-F238E27FC236}">
                <a16:creationId xmlns:a16="http://schemas.microsoft.com/office/drawing/2014/main" id="{DF914F17-C971-4B69-A73D-CEC909E22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000250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C49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C49000"/>
                </a:solidFill>
                <a:latin typeface="Helvetica Neue"/>
                <a:ea typeface="Helvetica Neue"/>
                <a:cs typeface="Helvetica Neue"/>
              </a:rPr>
              <a:t>epsilon</a:t>
            </a:r>
          </a:p>
        </p:txBody>
      </p:sp>
      <p:sp>
        <p:nvSpPr>
          <p:cNvPr id="29" name="minpts-label">
            <a:extLst xmlns:a="http://schemas.openxmlformats.org/drawingml/2006/main">
              <a:ext uri="{FF2B5EF4-FFF2-40B4-BE49-F238E27FC236}">
                <a16:creationId xmlns:a16="http://schemas.microsoft.com/office/drawing/2014/main" id="{ED51C78F-B157-4727-A45B-F7F2B341F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171825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034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03478"/>
                </a:solidFill>
                <a:latin typeface="Helvetica Neue"/>
                <a:ea typeface="Helvetica Neue"/>
                <a:cs typeface="Helvetica Neue"/>
              </a:rPr>
              <a:t>minPts</a:t>
            </a:r>
          </a:p>
        </p:txBody>
      </p:sp>
      <p:sp>
        <p:nvSpPr>
          <p:cNvPr id="30" name="legend-dot-1">
            <a:extLst xmlns:a="http://schemas.openxmlformats.org/drawingml/2006/main">
              <a:ext uri="{FF2B5EF4-FFF2-40B4-BE49-F238E27FC236}">
                <a16:creationId xmlns:a16="http://schemas.microsoft.com/office/drawing/2014/main" id="{D62C6129-EA61-4639-9FFA-E325E64DE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8863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3478"/>
          </a:solidFill>
          <a:ln xmlns:a="http://schemas.openxmlformats.org/drawingml/2006/main" w="9525">
            <a:solidFill>
              <a:srgbClr val="003478"/>
            </a:solidFill>
            <a:prstDash val="solid"/>
          </a:ln>
        </p:spPr>
      </p:sp>
      <p:sp>
        <p:nvSpPr>
          <p:cNvPr id="31" name="legend-text-1">
            <a:extLst xmlns:a="http://schemas.openxmlformats.org/drawingml/2006/main">
              <a:ext uri="{FF2B5EF4-FFF2-40B4-BE49-F238E27FC236}">
                <a16:creationId xmlns:a16="http://schemas.microsoft.com/office/drawing/2014/main" id="{67AA7E7C-A564-4580-90CC-2ADE851D2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810125"/>
            <a:ext cx="6429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26262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>
                <a:solidFill>
                  <a:srgbClr val="262626"/>
                </a:solidFill>
                <a:latin typeface="Apple SD Gothic Neo"/>
                <a:ea typeface="Apple SD Gothic Neo"/>
                <a:cs typeface="Apple SD Gothic Neo"/>
              </a:rPr>
              <a:t>핵심(core) — 주변에 이웃이 충분히 많은 점</a:t>
            </a:r>
          </a:p>
        </p:txBody>
      </p:sp>
      <p:sp>
        <p:nvSpPr>
          <p:cNvPr id="32" name="legend-dot-2">
            <a:extLst xmlns:a="http://schemas.openxmlformats.org/drawingml/2006/main">
              <a:ext uri="{FF2B5EF4-FFF2-40B4-BE49-F238E27FC236}">
                <a16:creationId xmlns:a16="http://schemas.microsoft.com/office/drawing/2014/main" id="{1848AC9B-B6B4-42B1-AA44-8CB9397AA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3149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9000"/>
          </a:solidFill>
          <a:ln xmlns:a="http://schemas.openxmlformats.org/drawingml/2006/main" w="9525">
            <a:solidFill>
              <a:srgbClr val="C49000"/>
            </a:solidFill>
            <a:prstDash val="solid"/>
          </a:ln>
        </p:spPr>
      </p:sp>
      <p:sp>
        <p:nvSpPr>
          <p:cNvPr id="33" name="legend-text-2">
            <a:extLst xmlns:a="http://schemas.openxmlformats.org/drawingml/2006/main">
              <a:ext uri="{FF2B5EF4-FFF2-40B4-BE49-F238E27FC236}">
                <a16:creationId xmlns:a16="http://schemas.microsoft.com/office/drawing/2014/main" id="{478A85FF-5316-4737-8FC2-F0BB2D92D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238750"/>
            <a:ext cx="6429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26262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>
                <a:solidFill>
                  <a:srgbClr val="262626"/>
                </a:solidFill>
                <a:latin typeface="Apple SD Gothic Neo"/>
                <a:ea typeface="Apple SD Gothic Neo"/>
                <a:cs typeface="Apple SD Gothic Neo"/>
              </a:rPr>
              <a:t>경계(border) — 핵심점 근처의 점</a:t>
            </a:r>
          </a:p>
        </p:txBody>
      </p:sp>
      <p:sp>
        <p:nvSpPr>
          <p:cNvPr id="34" name="legend-dot-3">
            <a:extLst xmlns:a="http://schemas.openxmlformats.org/drawingml/2006/main">
              <a:ext uri="{FF2B5EF4-FFF2-40B4-BE49-F238E27FC236}">
                <a16:creationId xmlns:a16="http://schemas.microsoft.com/office/drawing/2014/main" id="{5F7E162E-56C7-4A33-A63B-B7936B1FC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7435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77777"/>
          </a:solidFill>
          <a:ln xmlns:a="http://schemas.openxmlformats.org/drawingml/2006/main" w="9525">
            <a:solidFill>
              <a:srgbClr val="777777"/>
            </a:solidFill>
            <a:prstDash val="solid"/>
          </a:ln>
        </p:spPr>
      </p:sp>
      <p:sp>
        <p:nvSpPr>
          <p:cNvPr id="35" name="legend-text-3">
            <a:extLst xmlns:a="http://schemas.openxmlformats.org/drawingml/2006/main">
              <a:ext uri="{FF2B5EF4-FFF2-40B4-BE49-F238E27FC236}">
                <a16:creationId xmlns:a16="http://schemas.microsoft.com/office/drawing/2014/main" id="{EC9BDF87-0448-4050-9F5A-007996D19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667375"/>
            <a:ext cx="6429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26262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>
                <a:solidFill>
                  <a:srgbClr val="262626"/>
                </a:solidFill>
                <a:latin typeface="Apple SD Gothic Neo"/>
                <a:ea typeface="Apple SD Gothic Neo"/>
                <a:cs typeface="Apple SD Gothic Neo"/>
              </a:rPr>
              <a:t>잡음(noise) — 어느 군집에도 안 드는 점</a:t>
            </a:r>
          </a:p>
        </p:txBody>
      </p:sp>
    </p:spTree>
    <p:extLst>
      <p:ext uri="{BB962C8B-B14F-4D97-AF65-F5344CB8AC3E}">
        <p14:creationId xmlns:p14="http://schemas.microsoft.com/office/powerpoint/2010/main" val="1380482020"/>
      </p:ext>
    </p:extLst>
  </p:cSld>
</p:sld>
</file>

<file path=ppt/slides/slide2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6D166A54-F969-49E1-938F-92512CD04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620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97222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C60C3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C60C30"/>
                </a:solidFill>
                <a:latin typeface="Helvetica Neue"/>
                <a:ea typeface="Helvetica Neue"/>
                <a:cs typeface="Helvetica Neue"/>
              </a:rPr>
              <a:t>1.3 · DBSCAN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6E509A0-F159-449E-97D3-65D9D6F6E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82296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0347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003478"/>
                </a:solidFill>
                <a:latin typeface="Apple SD Gothic Neo"/>
                <a:ea typeface="Apple SD Gothic Neo"/>
                <a:cs typeface="Apple SD Gothic Neo"/>
              </a:rPr>
              <a:t>군집 개수를 미리 정하지 않는다</a:t>
            </a:r>
          </a:p>
        </p:txBody>
      </p:sp>
      <p:sp>
        <p:nvSpPr>
          <p:cNvPr id="3" name="kmeans-card">
            <a:extLst xmlns:a="http://schemas.openxmlformats.org/drawingml/2006/main">
              <a:ext uri="{FF2B5EF4-FFF2-40B4-BE49-F238E27FC236}">
                <a16:creationId xmlns:a16="http://schemas.microsoft.com/office/drawing/2014/main" id="{210F224B-17A3-4C1B-82A6-72B217CD9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66875"/>
            <a:ext cx="3333750" cy="2952750"/>
          </a:xfrm>
          <a:prstGeom xmlns:a="http://schemas.openxmlformats.org/drawingml/2006/main" prst="roundRect">
            <a:avLst>
              <a:gd name="adj" fmla="val 3871"/>
            </a:avLst>
          </a:prstGeom>
          <a:solidFill xmlns:a="http://schemas.openxmlformats.org/drawingml/2006/main">
            <a:srgbClr val="FBECEF"/>
          </a:solidFill>
          <a:ln xmlns:a="http://schemas.openxmlformats.org/drawingml/2006/main" w="13335">
            <a:solidFill>
              <a:srgbClr val="C60C30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>
                <a:solidFill>
                  <a:srgbClr val="26262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800" b="1">
                <a:solidFill>
                  <a:srgbClr val="262626"/>
                </a:solidFill>
                <a:latin typeface="Apple SD Gothic Neo"/>
                <a:ea typeface="Apple SD Gothic Neo"/>
                <a:cs typeface="Apple SD Gothic Neo"/>
              </a:rPr>
              <a:t>k-means</a:t>
            </a:r>
          </a:p>
          <a:p xmlns:a="http://schemas.openxmlformats.org/drawingml/2006/main">
            <a:pPr algn="ctr">
              <a:defRPr>
                <a:solidFill>
                  <a:srgbClr val="26262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262626"/>
                </a:solidFill>
                <a:latin typeface="Apple SD Gothic Neo"/>
                <a:ea typeface="Apple SD Gothic Neo"/>
                <a:cs typeface="Apple SD Gothic Neo"/>
              </a:rPr>
              <a:t>K를 먼저 지정</a:t>
            </a:r>
          </a:p>
          <a:p xmlns:a="http://schemas.openxmlformats.org/drawingml/2006/main">
            <a:pPr algn="ctr">
              <a:defRPr>
                <a:solidFill>
                  <a:srgbClr val="26262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>
                <a:solidFill>
                  <a:srgbClr val="262626"/>
                </a:solidFill>
                <a:latin typeface="Apple SD Gothic Neo"/>
                <a:ea typeface="Apple SD Gothic Neo"/>
                <a:cs typeface="Apple SD Gothic Neo"/>
              </a:rPr>
              <a:t>모든 점을 어떤 군집엔가 배정</a:t>
            </a:r>
          </a:p>
        </p:txBody>
      </p:sp>
      <p:sp>
        <p:nvSpPr>
          <p:cNvPr id="4" name="dbscan-card">
            <a:extLst xmlns:a="http://schemas.openxmlformats.org/drawingml/2006/main">
              <a:ext uri="{FF2B5EF4-FFF2-40B4-BE49-F238E27FC236}">
                <a16:creationId xmlns:a16="http://schemas.microsoft.com/office/drawing/2014/main" id="{B17770F6-59DD-4145-9EF2-1E43A6957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666875"/>
            <a:ext cx="3333750" cy="2952750"/>
          </a:xfrm>
          <a:prstGeom xmlns:a="http://schemas.openxmlformats.org/drawingml/2006/main" prst="roundRect">
            <a:avLst>
              <a:gd name="adj" fmla="val 3871"/>
            </a:avLst>
          </a:prstGeom>
          <a:solidFill xmlns:a="http://schemas.openxmlformats.org/drawingml/2006/main">
            <a:srgbClr val="EAF1F8"/>
          </a:solidFill>
          <a:ln xmlns:a="http://schemas.openxmlformats.org/drawingml/2006/main" w="13335">
            <a:solidFill>
              <a:srgbClr val="003478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>
                <a:solidFill>
                  <a:srgbClr val="26262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800" b="1">
                <a:solidFill>
                  <a:srgbClr val="262626"/>
                </a:solidFill>
                <a:latin typeface="Apple SD Gothic Neo"/>
                <a:ea typeface="Apple SD Gothic Neo"/>
                <a:cs typeface="Apple SD Gothic Neo"/>
              </a:rPr>
              <a:t>DBSCAN</a:t>
            </a:r>
          </a:p>
          <a:p xmlns:a="http://schemas.openxmlformats.org/drawingml/2006/main">
            <a:pPr algn="ctr">
              <a:defRPr>
                <a:solidFill>
                  <a:srgbClr val="26262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00" b="1">
                <a:solidFill>
                  <a:srgbClr val="262626"/>
                </a:solidFill>
                <a:latin typeface="Apple SD Gothic Neo"/>
                <a:ea typeface="Apple SD Gothic Neo"/>
                <a:cs typeface="Apple SD Gothic Neo"/>
              </a:rPr>
              <a:t>밀도에서 군집 수가 자연히 나옴</a:t>
            </a:r>
          </a:p>
          <a:p xmlns:a="http://schemas.openxmlformats.org/drawingml/2006/main">
            <a:pPr algn="ctr">
              <a:defRPr>
                <a:solidFill>
                  <a:srgbClr val="26262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>
                <a:solidFill>
                  <a:srgbClr val="262626"/>
                </a:solidFill>
                <a:latin typeface="Apple SD Gothic Neo"/>
                <a:ea typeface="Apple SD Gothic Neo"/>
                <a:cs typeface="Apple SD Gothic Neo"/>
              </a:rPr>
              <a:t>어느 군집에도 안 드는 점을 따로 표시</a:t>
            </a:r>
          </a:p>
        </p:txBody>
      </p:sp>
      <p:sp>
        <p:nvSpPr>
          <p:cNvPr id="5" name="contrast">
            <a:extLst xmlns:a="http://schemas.openxmlformats.org/drawingml/2006/main">
              <a:ext uri="{FF2B5EF4-FFF2-40B4-BE49-F238E27FC236}">
                <a16:creationId xmlns:a16="http://schemas.microsoft.com/office/drawing/2014/main" id="{B195F459-368B-47FA-9A11-633F9D457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571750"/>
            <a:ext cx="476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C49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C49000"/>
                </a:solidFill>
                <a:latin typeface="Helvetica Neue"/>
                <a:ea typeface="Helvetica Neue"/>
                <a:cs typeface="Helvetica Neue"/>
              </a:rPr>
              <a:t>≠</a:t>
            </a:r>
          </a:p>
        </p:txBody>
      </p:sp>
    </p:spTree>
    <p:extLst>
      <p:ext uri="{BB962C8B-B14F-4D97-AF65-F5344CB8AC3E}">
        <p14:creationId xmlns:p14="http://schemas.microsoft.com/office/powerpoint/2010/main" val="1380482020"/>
      </p:ext>
    </p:extLst>
  </p:cSld>
</p:sld>
</file>

<file path=ppt/slides/slide2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89BC1314-DDF4-4685-92F5-10CAD706B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620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97222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C60C3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C60C30"/>
                </a:solidFill>
                <a:latin typeface="Helvetica Neue"/>
                <a:ea typeface="Helvetica Neue"/>
                <a:cs typeface="Helvetica Neue"/>
              </a:rPr>
              <a:t>1.3 · DBSCAN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040ABBF-D832-43EE-8E35-484051E43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82296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0347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003478"/>
                </a:solidFill>
                <a:latin typeface="Apple SD Gothic Neo"/>
                <a:ea typeface="Apple SD Gothic Neo"/>
                <a:cs typeface="Apple SD Gothic Neo"/>
              </a:rPr>
              <a:t>파라미터 둘이 결과를 좌우한다</a:t>
            </a:r>
          </a:p>
        </p:txBody>
      </p:sp>
      <p:sp>
        <p:nvSpPr>
          <p:cNvPr id="3" name="epsilon-card">
            <a:extLst xmlns:a="http://schemas.openxmlformats.org/drawingml/2006/main">
              <a:ext uri="{FF2B5EF4-FFF2-40B4-BE49-F238E27FC236}">
                <a16:creationId xmlns:a16="http://schemas.microsoft.com/office/drawing/2014/main" id="{6EA1C1CF-5A01-432E-9EBD-1E9A93A53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666875"/>
            <a:ext cx="3524250" cy="3048000"/>
          </a:xfrm>
          <a:prstGeom xmlns:a="http://schemas.openxmlformats.org/drawingml/2006/main" prst="roundRect">
            <a:avLst>
              <a:gd name="adj" fmla="val 3750"/>
            </a:avLst>
          </a:prstGeom>
          <a:solidFill xmlns:a="http://schemas.openxmlformats.org/drawingml/2006/main">
            <a:srgbClr val="FAF4E1"/>
          </a:solidFill>
          <a:ln xmlns:a="http://schemas.openxmlformats.org/drawingml/2006/main" w="13335">
            <a:solidFill>
              <a:srgbClr val="C49000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>
                <a:solidFill>
                  <a:srgbClr val="26262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000" b="1">
                <a:solidFill>
                  <a:srgbClr val="262626"/>
                </a:solidFill>
                <a:latin typeface="Apple SD Gothic Neo"/>
                <a:ea typeface="Apple SD Gothic Neo"/>
                <a:cs typeface="Apple SD Gothic Neo"/>
              </a:rPr>
              <a:t>epsilon</a:t>
            </a:r>
          </a:p>
          <a:p xmlns:a="http://schemas.openxmlformats.org/drawingml/2006/main">
            <a:pPr algn="ctr">
              <a:defRPr>
                <a:solidFill>
                  <a:srgbClr val="26262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00" b="1">
                <a:solidFill>
                  <a:srgbClr val="262626"/>
                </a:solidFill>
                <a:latin typeface="Apple SD Gothic Neo"/>
                <a:ea typeface="Apple SD Gothic Neo"/>
                <a:cs typeface="Apple SD Gothic Neo"/>
              </a:rPr>
              <a:t>반경</a:t>
            </a:r>
          </a:p>
          <a:p xmlns:a="http://schemas.openxmlformats.org/drawingml/2006/main">
            <a:pPr algn="ctr">
              <a:defRPr>
                <a:solidFill>
                  <a:srgbClr val="26262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>
                <a:solidFill>
                  <a:srgbClr val="262626"/>
                </a:solidFill>
                <a:latin typeface="Apple SD Gothic Neo"/>
                <a:ea typeface="Apple SD Gothic Neo"/>
                <a:cs typeface="Apple SD Gothic Neo"/>
              </a:rPr>
              <a:t>얼마나 가까워야 ‘이웃’인가</a:t>
            </a:r>
          </a:p>
        </p:txBody>
      </p:sp>
      <p:sp>
        <p:nvSpPr>
          <p:cNvPr id="4" name="minpts-card">
            <a:extLst xmlns:a="http://schemas.openxmlformats.org/drawingml/2006/main">
              <a:ext uri="{FF2B5EF4-FFF2-40B4-BE49-F238E27FC236}">
                <a16:creationId xmlns:a16="http://schemas.microsoft.com/office/drawing/2014/main" id="{5F0830A2-6155-4FEF-B4BF-D5D253166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1666875"/>
            <a:ext cx="3524250" cy="3048000"/>
          </a:xfrm>
          <a:prstGeom xmlns:a="http://schemas.openxmlformats.org/drawingml/2006/main" prst="roundRect">
            <a:avLst>
              <a:gd name="adj" fmla="val 3750"/>
            </a:avLst>
          </a:prstGeom>
          <a:solidFill xmlns:a="http://schemas.openxmlformats.org/drawingml/2006/main">
            <a:srgbClr val="EAF1F8"/>
          </a:solidFill>
          <a:ln xmlns:a="http://schemas.openxmlformats.org/drawingml/2006/main" w="13335">
            <a:solidFill>
              <a:srgbClr val="003478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>
                <a:solidFill>
                  <a:srgbClr val="26262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000" b="1">
                <a:solidFill>
                  <a:srgbClr val="262626"/>
                </a:solidFill>
                <a:latin typeface="Apple SD Gothic Neo"/>
                <a:ea typeface="Apple SD Gothic Neo"/>
                <a:cs typeface="Apple SD Gothic Neo"/>
              </a:rPr>
              <a:t>minPts</a:t>
            </a:r>
          </a:p>
          <a:p xmlns:a="http://schemas.openxmlformats.org/drawingml/2006/main">
            <a:pPr algn="ctr">
              <a:defRPr>
                <a:solidFill>
                  <a:srgbClr val="26262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00" b="1">
                <a:solidFill>
                  <a:srgbClr val="262626"/>
                </a:solidFill>
                <a:latin typeface="Apple SD Gothic Neo"/>
                <a:ea typeface="Apple SD Gothic Neo"/>
                <a:cs typeface="Apple SD Gothic Neo"/>
              </a:rPr>
              <a:t>최소 이웃 수</a:t>
            </a:r>
          </a:p>
          <a:p xmlns:a="http://schemas.openxmlformats.org/drawingml/2006/main">
            <a:pPr algn="ctr">
              <a:defRPr>
                <a:solidFill>
                  <a:srgbClr val="26262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>
                <a:solidFill>
                  <a:srgbClr val="262626"/>
                </a:solidFill>
                <a:latin typeface="Apple SD Gothic Neo"/>
                <a:ea typeface="Apple SD Gothic Neo"/>
                <a:cs typeface="Apple SD Gothic Neo"/>
              </a:rPr>
              <a:t>핵심점이 되려면 이웃이 몇 개 필요한가</a:t>
            </a:r>
          </a:p>
        </p:txBody>
      </p:sp>
      <p:sp>
        <p:nvSpPr>
          <p:cNvPr id="5" name="source-backed-callout">
            <a:extLst xmlns:a="http://schemas.openxmlformats.org/drawingml/2006/main">
              <a:ext uri="{FF2B5EF4-FFF2-40B4-BE49-F238E27FC236}">
                <a16:creationId xmlns:a16="http://schemas.microsoft.com/office/drawing/2014/main" id="{5F24FC51-2E67-40D3-9162-BD964C348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829300"/>
            <a:ext cx="8153400" cy="5715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AF1F8"/>
          </a:solidFill>
          <a:ln xmlns:a="http://schemas.openxmlformats.org/drawingml/2006/main" w="13335">
            <a:solidFill>
              <a:srgbClr val="003478"/>
            </a:solidFill>
            <a:prstDash val="solid"/>
          </a:ln>
        </p:spPr>
        <p:txBody>
          <a:bodyPr xmlns:a="http://schemas.openxmlformats.org/drawingml/2006/main" wrap="square" lIns="114300" tIns="57150" rIns="1143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0347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003478"/>
                </a:solidFill>
                <a:latin typeface="Apple SD Gothic Neo"/>
                <a:ea typeface="Apple SD Gothic Neo"/>
                <a:cs typeface="Apple SD Gothic Neo"/>
              </a:rPr>
              <a:t>값을 바꾸면 군집 수와 잡음 비중이 달라진다.</a:t>
            </a:r>
          </a:p>
        </p:txBody>
      </p:sp>
    </p:spTree>
    <p:extLst>
      <p:ext uri="{BB962C8B-B14F-4D97-AF65-F5344CB8AC3E}">
        <p14:creationId xmlns:p14="http://schemas.microsoft.com/office/powerpoint/2010/main" val="1380482020"/>
      </p:ext>
    </p:extLst>
  </p:cSld>
</p:sld>
</file>

<file path=ppt/slides/slide2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6B917518-41EE-42D7-8C90-1CEA386E0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620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97222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C60C3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C60C30"/>
                </a:solidFill>
                <a:latin typeface="Helvetica Neue"/>
                <a:ea typeface="Helvetica Neue"/>
                <a:cs typeface="Helvetica Neue"/>
              </a:rPr>
              <a:t>1.3 · DBSCAN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559166D-ABD1-4D35-BE75-45059C131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82296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0347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003478"/>
                </a:solidFill>
                <a:latin typeface="Apple SD Gothic Neo"/>
                <a:ea typeface="Apple SD Gothic Neo"/>
                <a:cs typeface="Apple SD Gothic Neo"/>
              </a:rPr>
              <a:t>반드시 물어라</a:t>
            </a:r>
          </a:p>
        </p:txBody>
      </p:sp>
      <p:sp>
        <p:nvSpPr>
          <p:cNvPr id="3" name="noise-question">
            <a:extLst xmlns:a="http://schemas.openxmlformats.org/drawingml/2006/main">
              <a:ext uri="{FF2B5EF4-FFF2-40B4-BE49-F238E27FC236}">
                <a16:creationId xmlns:a16="http://schemas.microsoft.com/office/drawing/2014/main" id="{06FF0CFD-4B72-43FB-ABE1-9C2402ED3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666875"/>
            <a:ext cx="7048500" cy="2857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BECEF"/>
          </a:solidFill>
          <a:ln xmlns:a="http://schemas.openxmlformats.org/drawingml/2006/main" w="13335">
            <a:solidFill>
              <a:srgbClr val="C60C30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>
                <a:latin typeface="Apple SD Gothic Neo"/>
                <a:ea typeface="Apple SD Gothic Neo"/>
                <a:cs typeface="Apple SD Gothic Neo"/>
              </a:defRPr>
            </a:pPr>
            <a:r>
              <a:rPr sz="2500">
                <a:solidFill>
                  <a:srgbClr val="262626"/>
                </a:solidFill>
                <a:latin typeface="Apple SD Gothic Neo"/>
                <a:ea typeface="Apple SD Gothic Neo"/>
                <a:cs typeface="Apple SD Gothic Neo"/>
              </a:rPr>
              <a:t>얼마나 많은 데이터가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>
                <a:latin typeface="Apple SD Gothic Neo"/>
                <a:ea typeface="Apple SD Gothic Neo"/>
                <a:cs typeface="Apple SD Gothic Neo"/>
              </a:defRPr>
            </a:pPr>
            <a:r>
              <a:rPr sz="3800" b="1">
                <a:solidFill>
                  <a:srgbClr val="C60C30"/>
                </a:solidFill>
                <a:latin typeface="Apple SD Gothic Neo"/>
                <a:ea typeface="Apple SD Gothic Neo"/>
                <a:cs typeface="Apple SD Gothic Neo"/>
              </a:rPr>
              <a:t>잡음(noise)인가?</a:t>
            </a:r>
          </a:p>
        </p:txBody>
      </p:sp>
      <p:sp>
        <p:nvSpPr>
          <p:cNvPr id="4" name="noise-meaning">
            <a:extLst xmlns:a="http://schemas.openxmlformats.org/drawingml/2006/main">
              <a:ext uri="{FF2B5EF4-FFF2-40B4-BE49-F238E27FC236}">
                <a16:creationId xmlns:a16="http://schemas.microsoft.com/office/drawing/2014/main" id="{413C8F43-E14B-489F-96EB-1D0652E0E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857750"/>
            <a:ext cx="685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>
                <a:solidFill>
                  <a:srgbClr val="5B65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>
                <a:solidFill>
                  <a:srgbClr val="5B6573"/>
                </a:solidFill>
                <a:latin typeface="Apple SD Gothic Neo"/>
                <a:ea typeface="Apple SD Gothic Neo"/>
                <a:cs typeface="Apple SD Gothic Neo"/>
              </a:rPr>
              <a:t>이 점은 어느 무리에도 안 든다 — 결과가 말하는 중요한 정보다.</a:t>
            </a:r>
          </a:p>
        </p:txBody>
      </p:sp>
    </p:spTree>
    <p:extLst>
      <p:ext uri="{BB962C8B-B14F-4D97-AF65-F5344CB8AC3E}">
        <p14:creationId xmlns:p14="http://schemas.microsoft.com/office/powerpoint/2010/main" val="1380482020"/>
      </p:ext>
    </p:extLst>
  </p:cSld>
</p:sld>
</file>

<file path=ppt/slides/slide2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제목 1">
            <a:extLst xmlns:a="http://schemas.openxmlformats.org/drawingml/2006/main">
              <a:ext uri="{FF2B5EF4-FFF2-40B4-BE49-F238E27FC236}">
                <a16:creationId xmlns:a16="http://schemas.microsoft.com/office/drawing/2014/main" id="{02D4075C-D929-4275-AE20-5BC11DBE4B7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11560" y="332656"/>
            <a:ext cx="7772400" cy="11430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3200"/>
              <a:t>How to Determine the Number of Clusters </a:t>
            </a:r>
            <a:endParaRPr sz="3200"/>
          </a:p>
        </p:txBody>
      </p:sp>
      <p:sp>
        <p:nvSpPr>
          <p:cNvPr id="3" name="내용 개체 틀 2">
            <a:extLst xmlns:a="http://schemas.openxmlformats.org/drawingml/2006/main">
              <a:ext uri="{FF2B5EF4-FFF2-40B4-BE49-F238E27FC236}">
                <a16:creationId xmlns:a16="http://schemas.microsoft.com/office/drawing/2014/main" id="{A14665C9-8342-4F4A-895D-EF1ACD67808E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06624" y="1412776"/>
            <a:ext cx="7772400" cy="41148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solidFill>
                  <a:srgbClr val="C00000"/>
                </a:solidFill>
              </a:rPr>
              <a:t>There is no rule or theory</a:t>
            </a:r>
            <a:r>
              <a:t> determining the optimal number of clusters!</a:t>
            </a:r>
          </a:p>
          <a:p xmlns:a="http://schemas.openxmlformats.org/drawingml/2006/main">
            <a:r>
              <a:t>The number of clusters depends on </a:t>
            </a:r>
            <a:r>
              <a:rPr>
                <a:solidFill>
                  <a:srgbClr val="C00000"/>
                </a:solidFill>
              </a:rPr>
              <a:t>your purpose or domain knowledge</a:t>
            </a:r>
            <a:r>
              <a:t>!</a:t>
            </a:r>
          </a:p>
          <a:p xmlns:a="http://schemas.openxmlformats.org/drawingml/2006/main">
            <a:pPr lvl="1">
              <a:buNone/>
            </a:pPr>
            <a:r>
              <a:t>If you have experience in identifying the number of clusters for the products, you will need to have that number of product groups.</a:t>
            </a:r>
          </a:p>
          <a:p xmlns:a="http://schemas.openxmlformats.org/drawingml/2006/main">
            <a:pPr lvl="1">
              <a:buNone/>
            </a:pPr>
            <a:r>
              <a:t>If your boss asked you to have 3 clusters of clients, 3 clusters would be optimal.</a:t>
            </a:r>
          </a:p>
          <a:p xmlns:a="http://schemas.openxmlformats.org/drawingml/2006/main">
            <a:pPr lvl="1">
              <a:buNone/>
            </a:pPr>
            <a:r>
              <a:t>If you have limited marketing budget, smaller number of customer segments would be relevant. </a:t>
            </a:r>
          </a:p>
          <a:p xmlns:a="http://schemas.openxmlformats.org/drawingml/2006/main">
            <a:endParaRPr/>
          </a:p>
        </p:txBody>
      </p:sp>
      <p:sp>
        <p:nvSpPr>
          <p:cNvPr id="4" name="슬라이드 번호 개체 틀 3">
            <a:extLst xmlns:a="http://schemas.openxmlformats.org/drawingml/2006/main">
              <a:ext uri="{FF2B5EF4-FFF2-40B4-BE49-F238E27FC236}">
                <a16:creationId xmlns:a16="http://schemas.microsoft.com/office/drawing/2014/main" id="{DFB059CA-AE4F-40F8-A801-419A2D47637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fld id="{671E1124-AAFE-4B32-88E7-E05AC4DCCFCB}" type="slidenum">
              <a:t>50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94862294"/>
      </p:ext>
    </p:extLst>
  </p:cSld>
</p:sld>
</file>

<file path=ppt/slides/slide2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794" name="Title 2">
            <a:extLst xmlns:a="http://schemas.openxmlformats.org/drawingml/2006/main">
              <a:ext uri="{FF2B5EF4-FFF2-40B4-BE49-F238E27FC236}">
                <a16:creationId xmlns:a16="http://schemas.microsoft.com/office/drawing/2014/main" id="{D9C3C055-FCDF-4EFA-B20E-296EC771533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14400" y="274638"/>
            <a:ext cx="7772400" cy="79216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Interpretation</a:t>
            </a:r>
          </a:p>
        </p:txBody>
      </p:sp>
      <p:sp>
        <p:nvSpPr>
          <p:cNvPr id="33795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E1811670-476C-46DA-AF0D-0FBEF8F5E85A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81000" y="1219200"/>
            <a:ext cx="8001000" cy="5306144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Font typeface="Wingdings 2"/>
              <a:buNone/>
            </a:pPr>
            <a:r>
              <a:rPr b="1"/>
              <a:t>Goal:</a:t>
            </a:r>
            <a:r>
              <a:t> obtain meaningful and useful clusters</a:t>
            </a:r>
          </a:p>
          <a:p xmlns:a="http://schemas.openxmlformats.org/drawingml/2006/main">
            <a:pPr>
              <a:buFont typeface="Wingdings 2"/>
              <a:buNone/>
            </a:pPr>
            <a:r>
              <a:rPr b="1"/>
              <a:t>Caveats:</a:t>
            </a:r>
          </a:p>
          <a:p xmlns:a="http://schemas.openxmlformats.org/drawingml/2006/main">
            <a:pPr lvl="1">
              <a:buFont typeface="Wingdings 2"/>
              <a:buNone/>
            </a:pPr>
            <a:r>
              <a:t>(1) Random chance can often produce apparent clusters</a:t>
            </a:r>
          </a:p>
          <a:p xmlns:a="http://schemas.openxmlformats.org/drawingml/2006/main">
            <a:pPr lvl="1">
              <a:buFont typeface="Wingdings 2"/>
              <a:buNone/>
            </a:pPr>
            <a:r>
              <a:t>(2) Different cluster methods produce different results</a:t>
            </a:r>
          </a:p>
          <a:p xmlns:a="http://schemas.openxmlformats.org/drawingml/2006/main">
            <a:pPr>
              <a:buFont typeface="Wingdings 2"/>
              <a:buNone/>
            </a:pPr>
            <a:r>
              <a:rPr b="1"/>
              <a:t>Solutions:</a:t>
            </a:r>
          </a:p>
          <a:p xmlns:a="http://schemas.openxmlformats.org/drawingml/2006/main">
            <a:pPr>
              <a:buNone/>
            </a:pPr>
            <a:r>
              <a:t>Obtain summary statistics</a:t>
            </a:r>
          </a:p>
          <a:p xmlns:a="http://schemas.openxmlformats.org/drawingml/2006/main">
            <a:pPr>
              <a:buNone/>
            </a:pPr>
            <a:r>
              <a:t>Also review clusters in terms of variables </a:t>
            </a:r>
            <a:r>
              <a:rPr b="1"/>
              <a:t>not</a:t>
            </a:r>
            <a:r>
              <a:t> used in clustering</a:t>
            </a:r>
          </a:p>
          <a:p xmlns:a="http://schemas.openxmlformats.org/drawingml/2006/main">
            <a:pPr>
              <a:buNone/>
            </a:pPr>
            <a:r>
              <a:t>Label the cluster (</a:t>
            </a:r>
            <a:r>
              <a:rPr sz="2400"/>
              <a:t>e.g. “Gold Customers” ,” Silver Customers”, and “Bronze Customers”</a:t>
            </a:r>
            <a: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247650073"/>
      </p:ext>
    </p:extLst>
  </p:cSld>
</p:sld>
</file>

<file path=ppt/slides/slide2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2D08F3C8-3BAC-4049-BDE3-595310A0A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620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97222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C60C3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C60C30"/>
                </a:solidFill>
                <a:latin typeface="Helvetica Neue"/>
                <a:ea typeface="Helvetica Neue"/>
                <a:cs typeface="Helvetica Neue"/>
              </a:rPr>
              <a:t>1.4 · JUDGMENT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19D0740-9F6C-4AB2-927E-3209B40F3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82296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0347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003478"/>
                </a:solidFill>
                <a:latin typeface="Apple SD Gothic Neo"/>
                <a:ea typeface="Apple SD Gothic Neo"/>
                <a:cs typeface="Apple SD Gothic Neo"/>
              </a:rPr>
              <a:t>(가) 잡음 무시 — 1차 함정</a:t>
            </a:r>
          </a:p>
        </p:txBody>
      </p:sp>
      <p:sp>
        <p:nvSpPr>
          <p:cNvPr id="3" name="lure">
            <a:extLst xmlns:a="http://schemas.openxmlformats.org/drawingml/2006/main">
              <a:ext uri="{FF2B5EF4-FFF2-40B4-BE49-F238E27FC236}">
                <a16:creationId xmlns:a16="http://schemas.microsoft.com/office/drawing/2014/main" id="{C43A5F1C-136C-4489-860D-D30F7D968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1524000"/>
            <a:ext cx="6762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C60C3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C60C30"/>
                </a:solidFill>
                <a:latin typeface="Apple SD Gothic Neo"/>
                <a:ea typeface="Apple SD Gothic Neo"/>
                <a:cs typeface="Apple SD Gothic Neo"/>
              </a:rPr>
              <a:t>AI: ‘깔끔한 N개 세그먼트입니다.’</a:t>
            </a:r>
          </a:p>
        </p:txBody>
      </p:sp>
      <p:sp>
        <p:nvSpPr>
          <p:cNvPr id="4" name="manager-question">
            <a:extLst xmlns:a="http://schemas.openxmlformats.org/drawingml/2006/main">
              <a:ext uri="{FF2B5EF4-FFF2-40B4-BE49-F238E27FC236}">
                <a16:creationId xmlns:a16="http://schemas.microsoft.com/office/drawing/2014/main" id="{A7E19835-99C7-412D-A6AF-28A669702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762250"/>
            <a:ext cx="685800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EAF1F8"/>
          </a:solidFill>
          <a:ln xmlns:a="http://schemas.openxmlformats.org/drawingml/2006/main" w="13335">
            <a:solidFill>
              <a:srgbClr val="003478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0347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003478"/>
                </a:solidFill>
                <a:latin typeface="Apple SD Gothic Neo"/>
                <a:ea typeface="Apple SD Gothic Neo"/>
                <a:cs typeface="Apple SD Gothic Neo"/>
              </a:rPr>
              <a:t>관리자: 그래서 전체의 몇 %가</a:t>
            </a:r>
          </a:p>
          <a:p xmlns:a="http://schemas.openxmlformats.org/drawingml/2006/main">
            <a:pPr algn="ctr">
              <a:defRPr sz="1950" b="1">
                <a:solidFill>
                  <a:srgbClr val="00347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003478"/>
                </a:solidFill>
                <a:latin typeface="Apple SD Gothic Neo"/>
                <a:ea typeface="Apple SD Gothic Neo"/>
                <a:cs typeface="Apple SD Gothic Neo"/>
              </a:rPr>
              <a:t>어느 세그먼트에도 안 들었나?</a:t>
            </a:r>
          </a:p>
        </p:txBody>
      </p:sp>
      <p:sp>
        <p:nvSpPr>
          <p:cNvPr id="5" name="trap-note">
            <a:extLst xmlns:a="http://schemas.openxmlformats.org/drawingml/2006/main">
              <a:ext uri="{FF2B5EF4-FFF2-40B4-BE49-F238E27FC236}">
                <a16:creationId xmlns:a16="http://schemas.microsoft.com/office/drawing/2014/main" id="{DCED46A4-5A4C-4D85-AB0D-687362AF0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762500"/>
            <a:ext cx="6762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>
                <a:solidFill>
                  <a:srgbClr val="5B65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>
                <a:solidFill>
                  <a:srgbClr val="5B6573"/>
                </a:solidFill>
                <a:latin typeface="Apple SD Gothic Neo"/>
                <a:ea typeface="Apple SD Gothic Neo"/>
                <a:cs typeface="Apple SD Gothic Neo"/>
              </a:rPr>
              <a:t>잡음 비중을 놓치면 세분화가 실제보다 깔끔하다고 착각한다.</a:t>
            </a:r>
          </a:p>
        </p:txBody>
      </p:sp>
    </p:spTree>
    <p:extLst>
      <p:ext uri="{BB962C8B-B14F-4D97-AF65-F5344CB8AC3E}">
        <p14:creationId xmlns:p14="http://schemas.microsoft.com/office/powerpoint/2010/main" val="1380482020"/>
      </p:ext>
    </p:extLst>
  </p:cSld>
</p:sld>
</file>

<file path=ppt/slides/slide2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898888C3-EF4E-42BD-9D40-90837C47F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620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97222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C60C3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C60C30"/>
                </a:solidFill>
                <a:latin typeface="Helvetica Neue"/>
                <a:ea typeface="Helvetica Neue"/>
                <a:cs typeface="Helvetica Neue"/>
              </a:rPr>
              <a:t>1.4 · JUDGMENT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B41F6E0-9931-47B2-9BE8-E07A84568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82296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0347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003478"/>
                </a:solidFill>
                <a:latin typeface="Apple SD Gothic Neo"/>
                <a:ea typeface="Apple SD Gothic Neo"/>
                <a:cs typeface="Apple SD Gothic Neo"/>
              </a:rPr>
              <a:t>(나) 사후 이름 붙이기 검증</a:t>
            </a:r>
          </a:p>
        </p:txBody>
      </p:sp>
      <p:sp>
        <p:nvSpPr>
          <p:cNvPr id="3" name="name-question">
            <a:extLst xmlns:a="http://schemas.openxmlformats.org/drawingml/2006/main">
              <a:ext uri="{FF2B5EF4-FFF2-40B4-BE49-F238E27FC236}">
                <a16:creationId xmlns:a16="http://schemas.microsoft.com/office/drawing/2014/main" id="{DA5B70EC-CD4F-4CDE-8255-9DB762837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381125"/>
            <a:ext cx="704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00347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1">
                <a:solidFill>
                  <a:srgbClr val="003478"/>
                </a:solidFill>
                <a:latin typeface="Apple SD Gothic Neo"/>
                <a:ea typeface="Apple SD Gothic Neo"/>
                <a:cs typeface="Apple SD Gothic Neo"/>
              </a:rPr>
              <a:t>AI가 붙인 이름이 실제 프로파일을 대표하는가?</a:t>
            </a:r>
          </a:p>
        </p:txBody>
      </p:sp>
      <p:sp>
        <p:nvSpPr>
          <p:cNvPr id="4" name="naming-rule">
            <a:extLst xmlns:a="http://schemas.openxmlformats.org/drawingml/2006/main">
              <a:ext uri="{FF2B5EF4-FFF2-40B4-BE49-F238E27FC236}">
                <a16:creationId xmlns:a16="http://schemas.microsoft.com/office/drawing/2014/main" id="{E393C5F8-7724-44E3-8097-39DC46B85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762250"/>
            <a:ext cx="6381750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AF4E1"/>
          </a:solidFill>
          <a:ln xmlns:a="http://schemas.openxmlformats.org/drawingml/2006/main" w="13335">
            <a:solidFill>
              <a:srgbClr val="C49000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C49000"/>
                </a:solidFill>
                <a:latin typeface="Apple SD Gothic Neo"/>
                <a:ea typeface="Apple SD Gothic Neo"/>
                <a:cs typeface="Apple SD Gothic Neo"/>
              </a:rPr>
              <a:t>좋은 이름의 규칙</a:t>
            </a:r>
          </a:p>
          <a:p xmlns:a="http://schemas.openxmlformats.org/drawingml/2006/main">
            <a:pPr algn="ctr">
              <a:defRPr>
                <a:latin typeface="Apple SD Gothic Neo"/>
                <a:ea typeface="Apple SD Gothic Neo"/>
                <a:cs typeface="Apple SD Gothic Neo"/>
              </a:defRPr>
            </a:pPr>
            <a:r>
              <a:rPr sz="2800" b="1">
                <a:solidFill>
                  <a:srgbClr val="262626"/>
                </a:solidFill>
                <a:latin typeface="Apple SD Gothic Neo"/>
                <a:ea typeface="Apple SD Gothic Neo"/>
                <a:cs typeface="Apple SD Gothic Neo"/>
              </a:rPr>
              <a:t>프로파일 수치로 방어 가능해야 한다</a:t>
            </a:r>
          </a:p>
        </p:txBody>
      </p:sp>
      <p:sp>
        <p:nvSpPr>
          <p:cNvPr id="5" name="naming-warning">
            <a:extLst xmlns:a="http://schemas.openxmlformats.org/drawingml/2006/main">
              <a:ext uri="{FF2B5EF4-FFF2-40B4-BE49-F238E27FC236}">
                <a16:creationId xmlns:a16="http://schemas.microsoft.com/office/drawing/2014/main" id="{50391243-B70E-4C8D-AA6A-B63BBCC66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857750"/>
            <a:ext cx="571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C60C3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C60C30"/>
                </a:solidFill>
                <a:latin typeface="Apple SD Gothic Neo"/>
                <a:ea typeface="Apple SD Gothic Neo"/>
                <a:cs typeface="Apple SD Gothic Neo"/>
              </a:rPr>
              <a:t>근거 변수를 못 대면 그 이름은 허구다.</a:t>
            </a:r>
          </a:p>
        </p:txBody>
      </p:sp>
    </p:spTree>
    <p:extLst>
      <p:ext uri="{BB962C8B-B14F-4D97-AF65-F5344CB8AC3E}">
        <p14:creationId xmlns:p14="http://schemas.microsoft.com/office/powerpoint/2010/main" val="1380482020"/>
      </p:ext>
    </p:extLst>
  </p:cSld>
</p:sld>
</file>

<file path=ppt/slides/slide2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A268166F-7FA2-49D8-886C-BE6B7947B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620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97222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C60C3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C60C30"/>
                </a:solidFill>
                <a:latin typeface="Helvetica Neue"/>
                <a:ea typeface="Helvetica Neue"/>
                <a:cs typeface="Helvetica Neue"/>
              </a:rPr>
              <a:t>1.4 · JUDGMENT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BB5B59D-1B57-429E-BB96-763EC2FEF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82296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0347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003478"/>
                </a:solidFill>
                <a:latin typeface="Apple SD Gothic Neo"/>
                <a:ea typeface="Apple SD Gothic Neo"/>
                <a:cs typeface="Apple SD Gothic Neo"/>
              </a:rPr>
              <a:t>(나′) 중복 군집을 다른 이름으로</a:t>
            </a:r>
          </a:p>
        </p:txBody>
      </p:sp>
      <p:sp>
        <p:nvSpPr>
          <p:cNvPr id="3" name="cluster-a">
            <a:extLst xmlns:a="http://schemas.openxmlformats.org/drawingml/2006/main">
              <a:ext uri="{FF2B5EF4-FFF2-40B4-BE49-F238E27FC236}">
                <a16:creationId xmlns:a16="http://schemas.microsoft.com/office/drawing/2014/main" id="{324E75FD-4A62-4EAD-9840-0C30D1AE7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809750"/>
            <a:ext cx="2762250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EAF1F8"/>
          </a:solidFill>
          <a:ln xmlns:a="http://schemas.openxmlformats.org/drawingml/2006/main" w="13335">
            <a:solidFill>
              <a:srgbClr val="00347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>
                <a:solidFill>
                  <a:srgbClr val="26262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62626"/>
                </a:solidFill>
                <a:latin typeface="Apple SD Gothic Neo"/>
                <a:ea typeface="Apple SD Gothic Neo"/>
                <a:cs typeface="Apple SD Gothic Neo"/>
              </a:rPr>
              <a:t>군집 A</a:t>
            </a:r>
          </a:p>
          <a:p xmlns:a="http://schemas.openxmlformats.org/drawingml/2006/main">
            <a:pPr algn="ctr">
              <a:defRPr sz="1575">
                <a:solidFill>
                  <a:srgbClr val="26262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>
                <a:solidFill>
                  <a:srgbClr val="262626"/>
                </a:solidFill>
                <a:latin typeface="Apple SD Gothic Neo"/>
                <a:ea typeface="Apple SD Gothic Neo"/>
                <a:cs typeface="Apple SD Gothic Neo"/>
              </a:rPr>
              <a:t>프로파일 X</a:t>
            </a:r>
          </a:p>
        </p:txBody>
      </p:sp>
      <p:sp>
        <p:nvSpPr>
          <p:cNvPr id="4" name="cluster-b">
            <a:extLst xmlns:a="http://schemas.openxmlformats.org/drawingml/2006/main">
              <a:ext uri="{FF2B5EF4-FFF2-40B4-BE49-F238E27FC236}">
                <a16:creationId xmlns:a16="http://schemas.microsoft.com/office/drawing/2014/main" id="{441ADDC3-B64A-4445-AFE4-6D865AFCB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809750"/>
            <a:ext cx="2762250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EAF1F8"/>
          </a:solidFill>
          <a:ln xmlns:a="http://schemas.openxmlformats.org/drawingml/2006/main" w="13335">
            <a:solidFill>
              <a:srgbClr val="00347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>
                <a:solidFill>
                  <a:srgbClr val="26262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62626"/>
                </a:solidFill>
                <a:latin typeface="Apple SD Gothic Neo"/>
                <a:ea typeface="Apple SD Gothic Neo"/>
                <a:cs typeface="Apple SD Gothic Neo"/>
              </a:rPr>
              <a:t>군집 B</a:t>
            </a:r>
          </a:p>
          <a:p xmlns:a="http://schemas.openxmlformats.org/drawingml/2006/main">
            <a:pPr algn="ctr">
              <a:defRPr sz="1575">
                <a:solidFill>
                  <a:srgbClr val="26262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>
                <a:solidFill>
                  <a:srgbClr val="262626"/>
                </a:solidFill>
                <a:latin typeface="Apple SD Gothic Neo"/>
                <a:ea typeface="Apple SD Gothic Neo"/>
                <a:cs typeface="Apple SD Gothic Neo"/>
              </a:rPr>
              <a:t>사실상 같은 프로파일 X</a:t>
            </a:r>
          </a:p>
        </p:txBody>
      </p:sp>
      <p:sp>
        <p:nvSpPr>
          <p:cNvPr id="5" name="not-equal-names">
            <a:extLst xmlns:a="http://schemas.openxmlformats.org/drawingml/2006/main">
              <a:ext uri="{FF2B5EF4-FFF2-40B4-BE49-F238E27FC236}">
                <a16:creationId xmlns:a16="http://schemas.microsoft.com/office/drawing/2014/main" id="{C589B3FE-12CB-4CE1-A3C1-F5ABAD62C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571750"/>
            <a:ext cx="247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C60C3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C60C30"/>
                </a:solidFill>
                <a:latin typeface="Apple SD Gothic Neo"/>
                <a:ea typeface="Apple SD Gothic Neo"/>
                <a:cs typeface="Apple SD Gothic Neo"/>
              </a:rPr>
              <a:t>다른 이름 ≠ 다른 근거</a:t>
            </a:r>
          </a:p>
        </p:txBody>
      </p:sp>
      <p:sp>
        <p:nvSpPr>
          <p:cNvPr id="6" name="source-backed-callout">
            <a:extLst xmlns:a="http://schemas.openxmlformats.org/drawingml/2006/main">
              <a:ext uri="{FF2B5EF4-FFF2-40B4-BE49-F238E27FC236}">
                <a16:creationId xmlns:a16="http://schemas.microsoft.com/office/drawing/2014/main" id="{39A71861-5F43-4E01-BB80-DDD062714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829300"/>
            <a:ext cx="8153400" cy="5715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AF1F8"/>
          </a:solidFill>
          <a:ln xmlns:a="http://schemas.openxmlformats.org/drawingml/2006/main" w="13335">
            <a:solidFill>
              <a:srgbClr val="003478"/>
            </a:solidFill>
            <a:prstDash val="solid"/>
          </a:ln>
        </p:spPr>
        <p:txBody>
          <a:bodyPr xmlns:a="http://schemas.openxmlformats.org/drawingml/2006/main" wrap="square" lIns="114300" tIns="57150" rIns="1143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0347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003478"/>
                </a:solidFill>
                <a:latin typeface="Apple SD Gothic Neo"/>
                <a:ea typeface="Apple SD Gothic Neo"/>
                <a:cs typeface="Apple SD Gothic Neo"/>
              </a:rPr>
              <a:t>프로파일이 사실상 같은 두 군집을 다른 세그먼트로 나누지 않았나?</a:t>
            </a:r>
          </a:p>
        </p:txBody>
      </p:sp>
    </p:spTree>
    <p:extLst>
      <p:ext uri="{BB962C8B-B14F-4D97-AF65-F5344CB8AC3E}">
        <p14:creationId xmlns:p14="http://schemas.microsoft.com/office/powerpoint/2010/main" val="1380482020"/>
      </p:ext>
    </p:extLst>
  </p:cSld>
</p:sld>
</file>

<file path=ppt/slides/slide3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D9E83FA6-7D62-4C83-9AED-DA8711AEC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620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97222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C60C3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C60C30"/>
                </a:solidFill>
                <a:latin typeface="Helvetica Neue"/>
                <a:ea typeface="Helvetica Neue"/>
                <a:cs typeface="Helvetica Neue"/>
              </a:rPr>
              <a:t>1.4 · JUDGMENT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9D62558-4684-4105-8D8D-81D22F160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82296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0347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003478"/>
                </a:solidFill>
                <a:latin typeface="Apple SD Gothic Neo"/>
                <a:ea typeface="Apple SD Gothic Neo"/>
                <a:cs typeface="Apple SD Gothic Neo"/>
              </a:rPr>
              <a:t>균형점 — 문제는 방법이 아니라 해석</a:t>
            </a:r>
          </a:p>
        </p:txBody>
      </p:sp>
      <p:sp>
        <p:nvSpPr>
          <p:cNvPr id="3" name="strength">
            <a:extLst xmlns:a="http://schemas.openxmlformats.org/drawingml/2006/main">
              <a:ext uri="{FF2B5EF4-FFF2-40B4-BE49-F238E27FC236}">
                <a16:creationId xmlns:a16="http://schemas.microsoft.com/office/drawing/2014/main" id="{43C44014-E638-49E3-8578-5D61502CF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619250"/>
            <a:ext cx="71437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AF1F8"/>
          </a:solidFill>
          <a:ln xmlns:a="http://schemas.openxmlformats.org/drawingml/2006/main" w="13335">
            <a:solidFill>
              <a:srgbClr val="003478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>
                <a:solidFill>
                  <a:srgbClr val="26262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62626"/>
                </a:solidFill>
                <a:latin typeface="Apple SD Gothic Neo"/>
                <a:ea typeface="Apple SD Gothic Neo"/>
                <a:cs typeface="Apple SD Gothic Neo"/>
              </a:rPr>
              <a:t>DBSCAN의 강점</a:t>
            </a:r>
          </a:p>
          <a:p xmlns:a="http://schemas.openxmlformats.org/drawingml/2006/main">
            <a:pPr algn="ctr">
              <a:defRPr sz="1575">
                <a:solidFill>
                  <a:srgbClr val="26262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>
                <a:solidFill>
                  <a:srgbClr val="262626"/>
                </a:solidFill>
                <a:latin typeface="Apple SD Gothic Neo"/>
                <a:ea typeface="Apple SD Gothic Neo"/>
                <a:cs typeface="Apple SD Gothic Neo"/>
              </a:rPr>
              <a:t>어느 군집에도 안 드는 점을 잡음으로 정직하게 표시한다</a:t>
            </a:r>
          </a:p>
        </p:txBody>
      </p:sp>
      <p:sp>
        <p:nvSpPr>
          <p:cNvPr id="4" name="interpretation-risk">
            <a:extLst xmlns:a="http://schemas.openxmlformats.org/drawingml/2006/main">
              <a:ext uri="{FF2B5EF4-FFF2-40B4-BE49-F238E27FC236}">
                <a16:creationId xmlns:a16="http://schemas.microsoft.com/office/drawing/2014/main" id="{68D9F308-38E7-4C33-B1B9-856D10ACC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476625"/>
            <a:ext cx="71437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BECEF"/>
          </a:solidFill>
          <a:ln xmlns:a="http://schemas.openxmlformats.org/drawingml/2006/main" w="13335">
            <a:solidFill>
              <a:srgbClr val="C60C30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>
                <a:solidFill>
                  <a:srgbClr val="26262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62626"/>
                </a:solidFill>
                <a:latin typeface="Apple SD Gothic Neo"/>
                <a:ea typeface="Apple SD Gothic Neo"/>
                <a:cs typeface="Apple SD Gothic Neo"/>
              </a:rPr>
              <a:t>해석의 문제</a:t>
            </a:r>
          </a:p>
          <a:p xmlns:a="http://schemas.openxmlformats.org/drawingml/2006/main">
            <a:pPr algn="ctr">
              <a:defRPr sz="1575">
                <a:solidFill>
                  <a:srgbClr val="26262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>
                <a:solidFill>
                  <a:srgbClr val="262626"/>
                </a:solidFill>
                <a:latin typeface="Apple SD Gothic Neo"/>
                <a:ea typeface="Apple SD Gothic Neo"/>
                <a:cs typeface="Apple SD Gothic Neo"/>
              </a:rPr>
              <a:t>AI가 결과를 ‘깔끔한 세분화’로 과장한다</a:t>
            </a:r>
          </a:p>
        </p:txBody>
      </p:sp>
      <p:sp>
        <p:nvSpPr>
          <p:cNvPr id="5" name="balance-line">
            <a:extLst xmlns:a="http://schemas.openxmlformats.org/drawingml/2006/main">
              <a:ext uri="{FF2B5EF4-FFF2-40B4-BE49-F238E27FC236}">
                <a16:creationId xmlns:a16="http://schemas.microsoft.com/office/drawing/2014/main" id="{AE399BE7-21F3-4F3B-B9A2-2C51208E8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5334000"/>
            <a:ext cx="5334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C49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C49000"/>
                </a:solidFill>
                <a:latin typeface="Apple SD Gothic Neo"/>
                <a:ea typeface="Apple SD Gothic Neo"/>
                <a:cs typeface="Apple SD Gothic Neo"/>
              </a:rPr>
              <a:t>결과를 정직하게 읽어야 한다.</a:t>
            </a:r>
          </a:p>
        </p:txBody>
      </p:sp>
    </p:spTree>
    <p:extLst>
      <p:ext uri="{BB962C8B-B14F-4D97-AF65-F5344CB8AC3E}">
        <p14:creationId xmlns:p14="http://schemas.microsoft.com/office/powerpoint/2010/main" val="1380482020"/>
      </p:ext>
    </p:extLst>
  </p:cSld>
</p:sld>
</file>

<file path=ppt/slides/slide3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770" name="Title 1">
            <a:extLst xmlns:a="http://schemas.openxmlformats.org/drawingml/2006/main">
              <a:ext uri="{FF2B5EF4-FFF2-40B4-BE49-F238E27FC236}">
                <a16:creationId xmlns:a16="http://schemas.microsoft.com/office/drawing/2014/main" id="{F80408A0-272E-41E4-AB4E-8047591E691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2286000"/>
            <a:ext cx="7772400" cy="11430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>Validating Clusters</a:t>
            </a:r>
          </a:p>
        </p:txBody>
      </p:sp>
      <p:sp>
        <p:nvSpPr>
          <p:cNvPr id="32771" name="validation-subtitle">
            <a:extLst xmlns:a="http://schemas.openxmlformats.org/drawingml/2006/main">
              <a:ext uri="{FF2B5EF4-FFF2-40B4-BE49-F238E27FC236}">
                <a16:creationId xmlns:a16="http://schemas.microsoft.com/office/drawing/2014/main" id="{A8ADFEA7-CBCF-456C-A29A-0F25B6810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857625"/>
            <a:ext cx="5905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C60C3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C60C30"/>
                </a:solidFill>
                <a:latin typeface="Apple SD Gothic Neo"/>
                <a:ea typeface="Apple SD Gothic Neo"/>
                <a:cs typeface="Apple SD Gothic Neo"/>
              </a:rPr>
              <a:t>다섯 질문으로 결과를 판정한다</a:t>
            </a:r>
          </a:p>
        </p:txBody>
      </p:sp>
    </p:spTree>
    <p:extLst>
      <p:ext uri="{BB962C8B-B14F-4D97-AF65-F5344CB8AC3E}">
        <p14:creationId xmlns:p14="http://schemas.microsoft.com/office/powerpoint/2010/main" val="1380482020"/>
      </p:ext>
    </p:extLst>
  </p:cSld>
</p:sld>
</file>

<file path=ppt/slides/slide3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755B4BC8-6EC1-4BCF-BA16-45E4EBE30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620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97222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C60C3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C60C30"/>
                </a:solidFill>
                <a:latin typeface="Helvetica Neue"/>
                <a:ea typeface="Helvetica Neue"/>
                <a:cs typeface="Helvetica Neue"/>
              </a:rPr>
              <a:t>1.5 · CHECKLIST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949A8C3-D5D2-43CE-839A-67B625164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82296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0347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003478"/>
                </a:solidFill>
                <a:latin typeface="Apple SD Gothic Neo"/>
                <a:ea typeface="Apple SD Gothic Neo"/>
                <a:cs typeface="Apple SD Gothic Neo"/>
              </a:rPr>
              <a:t>관리자의 군집 검증 5문</a:t>
            </a:r>
          </a:p>
        </p:txBody>
      </p:sp>
      <p:sp>
        <p:nvSpPr>
          <p:cNvPr id="3" name="question-1">
            <a:extLst xmlns:a="http://schemas.openxmlformats.org/drawingml/2006/main">
              <a:ext uri="{FF2B5EF4-FFF2-40B4-BE49-F238E27FC236}">
                <a16:creationId xmlns:a16="http://schemas.microsoft.com/office/drawing/2014/main" id="{8BBD6954-EA08-413A-A4DA-700C2045A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952500"/>
            <a:ext cx="790575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FAF4E1"/>
          </a:solidFill>
          <a:ln xmlns:a="http://schemas.openxmlformats.org/drawingml/2006/main" w="13335">
            <a:solidFill>
              <a:srgbClr val="C49000"/>
            </a:solidFill>
            <a:prstDash val="solid"/>
          </a:ln>
        </p:spPr>
        <p:txBody>
          <a:bodyPr xmlns:a="http://schemas.openxmlformats.org/drawingml/2006/main" lIns="114300" tIns="47625" rIns="1143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6262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262626"/>
                </a:solidFill>
                <a:latin typeface="Apple SD Gothic Neo"/>
                <a:ea typeface="Apple SD Gothic Neo"/>
                <a:cs typeface="Apple SD Gothic Neo"/>
              </a:rPr>
              <a:t>① 각 군집의 실제 프로파일은 무엇인가 — 높은 z값은 무엇이며, z≈0만 있으면 어떻게 판정할 것인가?</a:t>
            </a:r>
          </a:p>
        </p:txBody>
      </p:sp>
      <p:sp>
        <p:nvSpPr>
          <p:cNvPr id="4" name="question-2">
            <a:extLst xmlns:a="http://schemas.openxmlformats.org/drawingml/2006/main">
              <a:ext uri="{FF2B5EF4-FFF2-40B4-BE49-F238E27FC236}">
                <a16:creationId xmlns:a16="http://schemas.microsoft.com/office/drawing/2014/main" id="{CF62AB97-C939-40E5-AFF2-380DAEA62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933575"/>
            <a:ext cx="790575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FBECEF"/>
          </a:solidFill>
          <a:ln xmlns:a="http://schemas.openxmlformats.org/drawingml/2006/main" w="13335">
            <a:solidFill>
              <a:srgbClr val="C60C30"/>
            </a:solidFill>
            <a:prstDash val="solid"/>
          </a:ln>
        </p:spPr>
        <p:txBody>
          <a:bodyPr xmlns:a="http://schemas.openxmlformats.org/drawingml/2006/main" lIns="114300" tIns="47625" rIns="1143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6262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262626"/>
                </a:solidFill>
                <a:latin typeface="Apple SD Gothic Neo"/>
                <a:ea typeface="Apple SD Gothic Neo"/>
                <a:cs typeface="Apple SD Gothic Neo"/>
              </a:rPr>
              <a:t>② 얼마나 많은 점이 잡음(무군집)인가 — AI가 그걸 숨겼나?</a:t>
            </a:r>
          </a:p>
        </p:txBody>
      </p:sp>
      <p:sp>
        <p:nvSpPr>
          <p:cNvPr id="5" name="question-3">
            <a:extLst xmlns:a="http://schemas.openxmlformats.org/drawingml/2006/main">
              <a:ext uri="{FF2B5EF4-FFF2-40B4-BE49-F238E27FC236}">
                <a16:creationId xmlns:a16="http://schemas.microsoft.com/office/drawing/2014/main" id="{AF32D48A-A988-41BB-91A7-6F5B5B2B1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914650"/>
            <a:ext cx="790575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FAF4E1"/>
          </a:solidFill>
          <a:ln xmlns:a="http://schemas.openxmlformats.org/drawingml/2006/main" w="13335">
            <a:solidFill>
              <a:srgbClr val="C49000"/>
            </a:solidFill>
            <a:prstDash val="solid"/>
          </a:ln>
        </p:spPr>
        <p:txBody>
          <a:bodyPr xmlns:a="http://schemas.openxmlformats.org/drawingml/2006/main" lIns="114300" tIns="47625" rIns="1143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6262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262626"/>
                </a:solidFill>
                <a:latin typeface="Apple SD Gothic Neo"/>
                <a:ea typeface="Apple SD Gothic Neo"/>
                <a:cs typeface="Apple SD Gothic Neo"/>
              </a:rPr>
              <a:t>③ AI 이름이 프로파일을 대표하는가 — z≈0만인 프로파일이나 중복 군집을 과잉 명명하지 않았나?</a:t>
            </a:r>
          </a:p>
        </p:txBody>
      </p:sp>
      <p:sp>
        <p:nvSpPr>
          <p:cNvPr id="6" name="question-4">
            <a:extLst xmlns:a="http://schemas.openxmlformats.org/drawingml/2006/main">
              <a:ext uri="{FF2B5EF4-FFF2-40B4-BE49-F238E27FC236}">
                <a16:creationId xmlns:a16="http://schemas.microsoft.com/office/drawing/2014/main" id="{C3ADD57A-7917-40FC-A32D-32C5DFCE7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895725"/>
            <a:ext cx="790575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EAF1F8"/>
          </a:solidFill>
          <a:ln xmlns:a="http://schemas.openxmlformats.org/drawingml/2006/main" w="13335">
            <a:solidFill>
              <a:srgbClr val="003478"/>
            </a:solidFill>
            <a:prstDash val="solid"/>
          </a:ln>
        </p:spPr>
        <p:txBody>
          <a:bodyPr xmlns:a="http://schemas.openxmlformats.org/drawingml/2006/main" lIns="114300" tIns="47625" rIns="1143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26262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262626"/>
                </a:solidFill>
                <a:latin typeface="Apple SD Gothic Neo"/>
                <a:ea typeface="Apple SD Gothic Neo"/>
                <a:cs typeface="Apple SD Gothic Neo"/>
              </a:rPr>
              <a:t>④ 파라미터(epsilon·minPts)는 왜 이 값인가 — 바꾸면 달라지나?</a:t>
            </a:r>
          </a:p>
        </p:txBody>
      </p:sp>
      <p:sp>
        <p:nvSpPr>
          <p:cNvPr id="7" name="question-5">
            <a:extLst xmlns:a="http://schemas.openxmlformats.org/drawingml/2006/main">
              <a:ext uri="{FF2B5EF4-FFF2-40B4-BE49-F238E27FC236}">
                <a16:creationId xmlns:a16="http://schemas.microsoft.com/office/drawing/2014/main" id="{4EF79614-6ACD-4776-9FA4-A58522DE4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876800"/>
            <a:ext cx="790575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EAF1F8"/>
          </a:solidFill>
          <a:ln xmlns:a="http://schemas.openxmlformats.org/drawingml/2006/main" w="13335">
            <a:solidFill>
              <a:srgbClr val="003478"/>
            </a:solidFill>
            <a:prstDash val="solid"/>
          </a:ln>
        </p:spPr>
        <p:txBody>
          <a:bodyPr xmlns:a="http://schemas.openxmlformats.org/drawingml/2006/main" lIns="114300" tIns="47625" rIns="1143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26262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262626"/>
                </a:solidFill>
                <a:latin typeface="Apple SD Gothic Neo"/>
                <a:ea typeface="Apple SD Gothic Neo"/>
                <a:cs typeface="Apple SD Gothic Neo"/>
              </a:rPr>
              <a:t>⑤ 세분화로 인과·행동을 단정하지 않았나 — 비지도·관찰 결과인가?</a:t>
            </a:r>
          </a:p>
        </p:txBody>
      </p:sp>
    </p:spTree>
    <p:extLst>
      <p:ext uri="{BB962C8B-B14F-4D97-AF65-F5344CB8AC3E}">
        <p14:creationId xmlns:p14="http://schemas.microsoft.com/office/powerpoint/2010/main" val="1380482020"/>
      </p:ext>
    </p:extLst>
  </p:cSld>
</p:sld>
</file>

<file path=ppt/slides/slide3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8AF39034-4E11-486A-8108-C10382BFF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620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97222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C60C3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C60C30"/>
                </a:solidFill>
                <a:latin typeface="Helvetica Neue"/>
                <a:ea typeface="Helvetica Neue"/>
                <a:cs typeface="Helvetica Neue"/>
              </a:rPr>
              <a:t>1.5 · READING CAUTION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FD1BEC7-C643-4D53-BF51-C117FAE20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82296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0347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003478"/>
                </a:solidFill>
                <a:latin typeface="Apple SD Gothic Neo"/>
                <a:ea typeface="Apple SD Gothic Neo"/>
                <a:cs typeface="Apple SD Gothic Neo"/>
              </a:rPr>
              <a:t>산점도는 36차원의 2D 투영</a:t>
            </a:r>
          </a:p>
        </p:txBody>
      </p:sp>
      <p:sp>
        <p:nvSpPr>
          <p:cNvPr id="3" name="dimension-36">
            <a:extLst xmlns:a="http://schemas.openxmlformats.org/drawingml/2006/main">
              <a:ext uri="{FF2B5EF4-FFF2-40B4-BE49-F238E27FC236}">
                <a16:creationId xmlns:a16="http://schemas.microsoft.com/office/drawing/2014/main" id="{B00464AA-5F28-472D-AD51-39B1F41C1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952625"/>
            <a:ext cx="257175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EAF1F8"/>
          </a:solidFill>
          <a:ln xmlns:a="http://schemas.openxmlformats.org/drawingml/2006/main" w="13335">
            <a:solidFill>
              <a:srgbClr val="00347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>
                <a:solidFill>
                  <a:srgbClr val="26262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62626"/>
                </a:solidFill>
                <a:latin typeface="Apple SD Gothic Neo"/>
                <a:ea typeface="Apple SD Gothic Neo"/>
                <a:cs typeface="Apple SD Gothic Neo"/>
              </a:rPr>
              <a:t>36개 관심사</a:t>
            </a:r>
          </a:p>
          <a:p xmlns:a="http://schemas.openxmlformats.org/drawingml/2006/main">
            <a:pPr algn="ctr">
              <a:defRPr sz="1575">
                <a:solidFill>
                  <a:srgbClr val="26262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>
                <a:solidFill>
                  <a:srgbClr val="262626"/>
                </a:solidFill>
                <a:latin typeface="Apple SD Gothic Neo"/>
                <a:ea typeface="Apple SD Gothic Neo"/>
                <a:cs typeface="Apple SD Gothic Neo"/>
              </a:rPr>
              <a:t>군집 결과</a:t>
            </a:r>
          </a:p>
        </p:txBody>
      </p:sp>
      <p:sp>
        <p:nvSpPr>
          <p:cNvPr id="4" name="pca-arrow">
            <a:extLst xmlns:a="http://schemas.openxmlformats.org/drawingml/2006/main">
              <a:ext uri="{FF2B5EF4-FFF2-40B4-BE49-F238E27FC236}">
                <a16:creationId xmlns:a16="http://schemas.microsoft.com/office/drawing/2014/main" id="{34EE5EF1-5AC6-452D-AC83-5C5FA51D0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476500"/>
            <a:ext cx="1619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C49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C49000"/>
                </a:solidFill>
                <a:latin typeface="Helvetica Neue"/>
                <a:ea typeface="Helvetica Neue"/>
                <a:cs typeface="Helvetica Neue"/>
              </a:rPr>
              <a:t>PCA →</a:t>
            </a:r>
          </a:p>
        </p:txBody>
      </p:sp>
      <p:sp>
        <p:nvSpPr>
          <p:cNvPr id="5" name="dimension-2">
            <a:extLst xmlns:a="http://schemas.openxmlformats.org/drawingml/2006/main">
              <a:ext uri="{FF2B5EF4-FFF2-40B4-BE49-F238E27FC236}">
                <a16:creationId xmlns:a16="http://schemas.microsoft.com/office/drawing/2014/main" id="{B6352FC7-2EB0-4BB1-B751-50FC43EF8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952625"/>
            <a:ext cx="257175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BECEF"/>
          </a:solidFill>
          <a:ln xmlns:a="http://schemas.openxmlformats.org/drawingml/2006/main" w="13335">
            <a:solidFill>
              <a:srgbClr val="C60C3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>
                <a:solidFill>
                  <a:srgbClr val="26262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62626"/>
                </a:solidFill>
                <a:latin typeface="Apple SD Gothic Neo"/>
                <a:ea typeface="Apple SD Gothic Neo"/>
                <a:cs typeface="Apple SD Gothic Neo"/>
              </a:rPr>
              <a:t>2차원 산점도</a:t>
            </a:r>
          </a:p>
          <a:p xmlns:a="http://schemas.openxmlformats.org/drawingml/2006/main">
            <a:pPr algn="ctr">
              <a:defRPr sz="1575">
                <a:solidFill>
                  <a:srgbClr val="26262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>
                <a:solidFill>
                  <a:srgbClr val="262626"/>
                </a:solidFill>
                <a:latin typeface="Apple SD Gothic Neo"/>
                <a:ea typeface="Apple SD Gothic Neo"/>
                <a:cs typeface="Apple SD Gothic Neo"/>
              </a:rPr>
              <a:t>큰 그림</a:t>
            </a:r>
          </a:p>
        </p:txBody>
      </p:sp>
      <p:sp>
        <p:nvSpPr>
          <p:cNvPr id="6" name="source-backed-callout">
            <a:extLst xmlns:a="http://schemas.openxmlformats.org/drawingml/2006/main">
              <a:ext uri="{FF2B5EF4-FFF2-40B4-BE49-F238E27FC236}">
                <a16:creationId xmlns:a16="http://schemas.microsoft.com/office/drawing/2014/main" id="{75B2B51A-6585-4E4F-AF0A-787078190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829300"/>
            <a:ext cx="8153400" cy="5715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AF1F8"/>
          </a:solidFill>
          <a:ln xmlns:a="http://schemas.openxmlformats.org/drawingml/2006/main" w="13335">
            <a:solidFill>
              <a:srgbClr val="003478"/>
            </a:solidFill>
            <a:prstDash val="solid"/>
          </a:ln>
        </p:spPr>
        <p:txBody>
          <a:bodyPr xmlns:a="http://schemas.openxmlformats.org/drawingml/2006/main" wrap="square" lIns="114300" tIns="57150" rIns="1143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0347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003478"/>
                </a:solidFill>
                <a:latin typeface="Apple SD Gothic Neo"/>
                <a:ea typeface="Apple SD Gothic Neo"/>
                <a:cs typeface="Apple SD Gothic Neo"/>
              </a:rPr>
              <a:t>2D에서 점들이 겹쳐 보여도 ‘같은 군집’이라는 뜻이 아니다 — 진짜 판정은 프로파일 표로 한다.</a:t>
            </a:r>
          </a:p>
        </p:txBody>
      </p:sp>
    </p:spTree>
    <p:extLst>
      <p:ext uri="{BB962C8B-B14F-4D97-AF65-F5344CB8AC3E}">
        <p14:creationId xmlns:p14="http://schemas.microsoft.com/office/powerpoint/2010/main" val="1380482020"/>
      </p:ext>
    </p:extLst>
  </p:cSld>
</p:sld>
</file>

<file path=ppt/slides/slide3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DBFCDBF6-8895-4BC7-A913-FE02690F1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620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97222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C60C3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C60C30"/>
                </a:solidFill>
                <a:latin typeface="Helvetica Neue"/>
                <a:ea typeface="Helvetica Neue"/>
                <a:cs typeface="Helvetica Neue"/>
              </a:rPr>
              <a:t>1.5 · BRIDGE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12BC731-A46D-4CD1-8DC4-459A823EC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82296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0347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003478"/>
                </a:solidFill>
                <a:latin typeface="Apple SD Gothic Neo"/>
                <a:ea typeface="Apple SD Gothic Neo"/>
                <a:cs typeface="Apple SD Gothic Neo"/>
              </a:rPr>
              <a:t>이제 실제 사례로 간다</a:t>
            </a:r>
          </a:p>
        </p:txBody>
      </p:sp>
      <p:sp>
        <p:nvSpPr>
          <p:cNvPr id="3" name="bridge-question">
            <a:extLst xmlns:a="http://schemas.openxmlformats.org/drawingml/2006/main">
              <a:ext uri="{FF2B5EF4-FFF2-40B4-BE49-F238E27FC236}">
                <a16:creationId xmlns:a16="http://schemas.microsoft.com/office/drawing/2014/main" id="{180FCA63-5297-4D42-896F-CAA032CE0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524000"/>
            <a:ext cx="6667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00347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003478"/>
                </a:solidFill>
                <a:latin typeface="Apple SD Gothic Neo"/>
                <a:ea typeface="Apple SD Gothic Neo"/>
                <a:cs typeface="Apple SD Gothic Neo"/>
              </a:rPr>
              <a:t>AI가 자신 있게 내놓은</a:t>
            </a:r>
          </a:p>
          <a:p xmlns:a="http://schemas.openxmlformats.org/drawingml/2006/main">
            <a:pPr algn="ctr">
              <a:defRPr sz="2400" b="1">
                <a:solidFill>
                  <a:srgbClr val="00347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003478"/>
                </a:solidFill>
                <a:latin typeface="Apple SD Gothic Neo"/>
                <a:ea typeface="Apple SD Gothic Neo"/>
                <a:cs typeface="Apple SD Gothic Neo"/>
              </a:rPr>
              <a:t>‘5개 세그먼트’가</a:t>
            </a:r>
          </a:p>
        </p:txBody>
      </p:sp>
      <p:sp>
        <p:nvSpPr>
          <p:cNvPr id="4" name="bridge-verdict">
            <a:extLst xmlns:a="http://schemas.openxmlformats.org/drawingml/2006/main">
              <a:ext uri="{FF2B5EF4-FFF2-40B4-BE49-F238E27FC236}">
                <a16:creationId xmlns:a16="http://schemas.microsoft.com/office/drawing/2014/main" id="{94219A08-7B05-46A1-820F-5B0FB4886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429000"/>
            <a:ext cx="6191250" cy="13335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BECEF"/>
          </a:solidFill>
          <a:ln xmlns:a="http://schemas.openxmlformats.org/drawingml/2006/main" w="13335">
            <a:solidFill>
              <a:srgbClr val="C60C30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C60C3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C60C30"/>
                </a:solidFill>
                <a:latin typeface="Apple SD Gothic Neo"/>
                <a:ea typeface="Apple SD Gothic Neo"/>
                <a:cs typeface="Apple SD Gothic Neo"/>
              </a:rPr>
              <a:t>관리자의 군집 검증 5문을</a:t>
            </a:r>
          </a:p>
          <a:p xmlns:a="http://schemas.openxmlformats.org/drawingml/2006/main">
            <a:pPr algn="ctr">
              <a:defRPr sz="2100" b="1">
                <a:solidFill>
                  <a:srgbClr val="C60C3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C60C30"/>
                </a:solidFill>
                <a:latin typeface="Apple SD Gothic Neo"/>
                <a:ea typeface="Apple SD Gothic Neo"/>
                <a:cs typeface="Apple SD Gothic Neo"/>
              </a:rPr>
              <a:t>통과하는지 직접 검증하자.</a:t>
            </a:r>
          </a:p>
        </p:txBody>
      </p:sp>
    </p:spTree>
    <p:extLst>
      <p:ext uri="{BB962C8B-B14F-4D97-AF65-F5344CB8AC3E}">
        <p14:creationId xmlns:p14="http://schemas.microsoft.com/office/powerpoint/2010/main" val="1380482020"/>
      </p:ext>
    </p:extLst>
  </p:cSld>
</p:sld>
</file>

<file path=ppt/slides/slide3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986" name="Title 4">
            <a:extLst xmlns:a="http://schemas.openxmlformats.org/drawingml/2006/main">
              <a:ext uri="{FF2B5EF4-FFF2-40B4-BE49-F238E27FC236}">
                <a16:creationId xmlns:a16="http://schemas.microsoft.com/office/drawing/2014/main" id="{6669610F-CBBF-4338-BA74-2BAE9060F45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3568" y="188640"/>
            <a:ext cx="7772400" cy="11430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Summary</a:t>
            </a:r>
          </a:p>
        </p:txBody>
      </p:sp>
      <p:sp>
        <p:nvSpPr>
          <p:cNvPr id="41987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B54C239C-03EC-4F0D-82F4-03E19C62952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762000" y="1066800"/>
            <a:ext cx="7772400" cy="50292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2400"/>
              <a:t>Cluster analysis is an exploratory tool. Useful only when it produces </a:t>
            </a:r>
            <a:r>
              <a:rPr sz="2400" b="1"/>
              <a:t>meaningful</a:t>
            </a:r>
            <a:r>
              <a:rPr sz="2400"/>
              <a:t> clusters</a:t>
            </a:r>
          </a:p>
          <a:p xmlns:a="http://schemas.openxmlformats.org/drawingml/2006/main">
            <a:pPr>
              <a:buNone/>
            </a:pPr>
            <a:r>
              <a:rPr sz="2400" b="1"/>
              <a:t>Hierarchical</a:t>
            </a:r>
            <a:r>
              <a:rPr sz="2400"/>
              <a:t> clustering gives visual representation of different levels of clustering</a:t>
            </a:r>
          </a:p>
          <a:p xmlns:a="http://schemas.openxmlformats.org/drawingml/2006/main">
            <a:pPr lvl="1">
              <a:buNone/>
            </a:pPr>
            <a:r>
              <a:rPr sz="2400"/>
              <a:t>On other hand, due to non-iterative nature, it can be unstable, can vary highly depending on settings, and is computationally expensive</a:t>
            </a:r>
          </a:p>
          <a:p xmlns:a="http://schemas.openxmlformats.org/drawingml/2006/main">
            <a:pPr>
              <a:buNone/>
            </a:pPr>
            <a:r>
              <a:rPr sz="2400" b="1"/>
              <a:t>K-means </a:t>
            </a:r>
            <a:r>
              <a:rPr sz="2400"/>
              <a:t>clustering is computationally cheap and more stable; requires user to define </a:t>
            </a:r>
            <a:r>
              <a:rPr sz="2400" i="1"/>
              <a:t>k</a:t>
            </a:r>
          </a:p>
          <a:p xmlns:a="http://schemas.openxmlformats.org/drawingml/2006/main">
            <a:pPr>
              <a:buNone/>
            </a:pPr>
            <a:r>
              <a:rPr sz="2400"/>
              <a:t>Can use both methods</a:t>
            </a:r>
          </a:p>
          <a:p xmlns:a="http://schemas.openxmlformats.org/drawingml/2006/main">
            <a:pPr>
              <a:buNone/>
            </a:pPr>
            <a:r>
              <a:rPr sz="2400"/>
              <a:t>Be wary of chance results; data may not have definitive “real” clusters</a:t>
            </a:r>
            <a:endParaRPr sz="2400" i="1"/>
          </a:p>
        </p:txBody>
      </p:sp>
    </p:spTree>
    <p:extLst>
      <p:ext uri="{BB962C8B-B14F-4D97-AF65-F5344CB8AC3E}">
        <p14:creationId xmlns:p14="http://schemas.microsoft.com/office/powerpoint/2010/main" val="180449205"/>
      </p:ext>
    </p:extLst>
  </p:cSld>
</p:sld>
</file>

<file path=ppt/theme/theme1.xml><?xml version="1.0" encoding="utf-8"?>
<a:theme xmlns:a="http://schemas.openxmlformats.org/drawingml/2006/main" name="Theme1">
  <a:themeElements>
    <a:clrScheme name="NTU Corp Colors (Deep Red)">
      <a:dk1>
        <a:srgbClr val="262626"/>
      </a:dk1>
      <a:lt1>
        <a:sysClr val="window" lastClr="FFFFFF"/>
      </a:lt1>
      <a:dk2>
        <a:srgbClr val="1F497D"/>
      </a:dk2>
      <a:lt2>
        <a:srgbClr val="C7C7C7"/>
      </a:lt2>
      <a:accent1>
        <a:srgbClr val="C60C30"/>
      </a:accent1>
      <a:accent2>
        <a:srgbClr val="003478"/>
      </a:accent2>
      <a:accent3>
        <a:srgbClr val="C49000"/>
      </a:accent3>
      <a:accent4>
        <a:srgbClr val="7A071E"/>
      </a:accent4>
      <a:accent5>
        <a:srgbClr val="0055C4"/>
      </a:accent5>
      <a:accent6>
        <a:srgbClr val="786C00"/>
      </a:accent6>
      <a:hlink>
        <a:srgbClr val="FFFF00"/>
      </a:hlink>
      <a:folHlink>
        <a:srgbClr val="002060"/>
      </a:folHlink>
    </a:clrScheme>
    <a:fontScheme name="Blank Presentation">
      <a:majorFont>
        <a:latin typeface="Helvetica Neue"/>
        <a:ea typeface="ＭＳ Ｐゴシック"/>
        <a:cs typeface=""/>
      </a:majorFont>
      <a:minorFont>
        <a:latin typeface="Helvetica Neue Light"/>
        <a:ea typeface="ＭＳ Ｐゴシック"/>
        <a:cs typeface=""/>
      </a:minorFont>
    </a:fontScheme>
    <a:fmtScheme name="NTU Corp Colors (Deep Red)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2026-09-10T17:53:52.4830000Z</dcterms:created>
  <dcterms:modified xsi:type="dcterms:W3CDTF">2026-09-10T17:53:52.4830000Z</dcterms:modified>
</coreProperties>
</file>