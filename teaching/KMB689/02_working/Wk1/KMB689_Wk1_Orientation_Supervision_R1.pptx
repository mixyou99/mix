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01ee226f2cf49e6" /><Relationship Type="http://schemas.openxmlformats.org/officeDocument/2006/relationships/extended-properties" Target="/docProps/app.xml" Id="Reef009e566af40d2" /><Relationship Type="http://schemas.openxmlformats.org/officeDocument/2006/relationships/officeDocument" Target="/ppt/presentation.xml" Id="R3131792138604f5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274e8ec5bd64c48"/>
  </p:sldMasterIdLst>
  <p:notesMasterIdLst>
    <p:notesMasterId xmlns:r="http://schemas.openxmlformats.org/officeDocument/2006/relationships" r:id="Rec1a02cd5e754824"/>
  </p:notesMasterIdLst>
  <p:sldIdLst>
    <p:sldId xmlns:r="http://schemas.openxmlformats.org/officeDocument/2006/relationships" id="256" r:id="R9be74e1b2a3b4b3c"/>
    <p:sldId xmlns:r="http://schemas.openxmlformats.org/officeDocument/2006/relationships" id="257" r:id="R7f5d1e3bc8f04990"/>
    <p:sldId xmlns:r="http://schemas.openxmlformats.org/officeDocument/2006/relationships" id="258" r:id="Rf8639e116b6646ab"/>
    <p:sldId xmlns:r="http://schemas.openxmlformats.org/officeDocument/2006/relationships" id="259" r:id="R7a9c68432b034a6a"/>
    <p:sldId xmlns:r="http://schemas.openxmlformats.org/officeDocument/2006/relationships" id="260" r:id="Rbe860e6b7294472a"/>
    <p:sldId xmlns:r="http://schemas.openxmlformats.org/officeDocument/2006/relationships" id="261" r:id="R433e706f30bd4070"/>
    <p:sldId xmlns:r="http://schemas.openxmlformats.org/officeDocument/2006/relationships" id="262" r:id="Rf66ea7a01d8d4474"/>
    <p:sldId xmlns:r="http://schemas.openxmlformats.org/officeDocument/2006/relationships" id="263" r:id="Rfbd89fbc432742bc"/>
    <p:sldId xmlns:r="http://schemas.openxmlformats.org/officeDocument/2006/relationships" id="264" r:id="R2bbfa458ac494775"/>
    <p:sldId xmlns:r="http://schemas.openxmlformats.org/officeDocument/2006/relationships" id="265" r:id="R31b7ca58aa044698"/>
    <p:sldId xmlns:r="http://schemas.openxmlformats.org/officeDocument/2006/relationships" id="266" r:id="Rc288465a8edb4bec"/>
    <p:sldId xmlns:r="http://schemas.openxmlformats.org/officeDocument/2006/relationships" id="267" r:id="Ra67cf2c7646945a1"/>
    <p:sldId xmlns:r="http://schemas.openxmlformats.org/officeDocument/2006/relationships" id="268" r:id="Rc5bc268d8b674c09"/>
    <p:sldId xmlns:r="http://schemas.openxmlformats.org/officeDocument/2006/relationships" id="269" r:id="R3fde71df58ac473d"/>
    <p:sldId xmlns:r="http://schemas.openxmlformats.org/officeDocument/2006/relationships" id="270" r:id="R15c12c08d8e44d35"/>
    <p:sldId xmlns:r="http://schemas.openxmlformats.org/officeDocument/2006/relationships" id="271" r:id="Rc732d44ca7f54aef"/>
    <p:sldId xmlns:r="http://schemas.openxmlformats.org/officeDocument/2006/relationships" id="272" r:id="R5b3dd19e396b45d2"/>
    <p:sldId xmlns:r="http://schemas.openxmlformats.org/officeDocument/2006/relationships" id="273" r:id="Rdcedbe4214ed4072"/>
    <p:sldId xmlns:r="http://schemas.openxmlformats.org/officeDocument/2006/relationships" id="274" r:id="R00a1caa9e8004689"/>
    <p:sldId xmlns:r="http://schemas.openxmlformats.org/officeDocument/2006/relationships" id="275" r:id="Rb6cd38131438415c"/>
    <p:sldId xmlns:r="http://schemas.openxmlformats.org/officeDocument/2006/relationships" id="276" r:id="Ra2bcfc80373e49d0"/>
    <p:sldId xmlns:r="http://schemas.openxmlformats.org/officeDocument/2006/relationships" id="277" r:id="R5591cd76fd584516"/>
    <p:sldId xmlns:r="http://schemas.openxmlformats.org/officeDocument/2006/relationships" id="278" r:id="R345b6e1568984f40"/>
    <p:sldId xmlns:r="http://schemas.openxmlformats.org/officeDocument/2006/relationships" id="279" r:id="Re4718482a3744fc7"/>
    <p:sldId xmlns:r="http://schemas.openxmlformats.org/officeDocument/2006/relationships" id="280" r:id="R9769f91bfec94565"/>
    <p:sldId xmlns:r="http://schemas.openxmlformats.org/officeDocument/2006/relationships" id="281" r:id="Reca8cd55a920491e"/>
    <p:sldId xmlns:r="http://schemas.openxmlformats.org/officeDocument/2006/relationships" id="282" r:id="R8fbf8c02cd534c82"/>
    <p:sldId xmlns:r="http://schemas.openxmlformats.org/officeDocument/2006/relationships" id="283" r:id="Ra105d5132c32495b"/>
    <p:sldId xmlns:r="http://schemas.openxmlformats.org/officeDocument/2006/relationships" id="284" r:id="Rc44420330901423d"/>
    <p:sldId xmlns:r="http://schemas.openxmlformats.org/officeDocument/2006/relationships" id="285" r:id="R613b46af3cf44dde"/>
    <p:sldId xmlns:r="http://schemas.openxmlformats.org/officeDocument/2006/relationships" id="286" r:id="R7e172e685ab7416d"/>
    <p:sldId xmlns:r="http://schemas.openxmlformats.org/officeDocument/2006/relationships" id="287" r:id="R36b4bed4a23e4d0b"/>
    <p:sldId xmlns:r="http://schemas.openxmlformats.org/officeDocument/2006/relationships" id="288" r:id="R54d1a778951c4945"/>
    <p:sldId xmlns:r="http://schemas.openxmlformats.org/officeDocument/2006/relationships" id="289" r:id="Rdc4c4aaaa2834c4f"/>
    <p:sldId xmlns:r="http://schemas.openxmlformats.org/officeDocument/2006/relationships" id="290" r:id="Rcd85708ab208430c"/>
    <p:sldId xmlns:r="http://schemas.openxmlformats.org/officeDocument/2006/relationships" id="291" r:id="R7fc43ec888aa4ae6"/>
    <p:sldId xmlns:r="http://schemas.openxmlformats.org/officeDocument/2006/relationships" id="292" r:id="Rf2c31a74569b4f2d"/>
    <p:sldId xmlns:r="http://schemas.openxmlformats.org/officeDocument/2006/relationships" id="293" r:id="R49cfca3917244797"/>
    <p:sldId xmlns:r="http://schemas.openxmlformats.org/officeDocument/2006/relationships" id="294" r:id="Ra8a13e6c7d7d491d"/>
    <p:sldId xmlns:r="http://schemas.openxmlformats.org/officeDocument/2006/relationships" id="295" r:id="R41bbc3b4eec24d42"/>
    <p:sldId xmlns:r="http://schemas.openxmlformats.org/officeDocument/2006/relationships" id="296" r:id="Rc80113320cab4e35"/>
    <p:sldId xmlns:r="http://schemas.openxmlformats.org/officeDocument/2006/relationships" id="297" r:id="R9945b2fa506245e7"/>
    <p:sldId xmlns:r="http://schemas.openxmlformats.org/officeDocument/2006/relationships" id="298" r:id="R2655ad6ddfee43e7"/>
    <p:sldId xmlns:r="http://schemas.openxmlformats.org/officeDocument/2006/relationships" id="299" r:id="R83750a6e9df24afb"/>
    <p:sldId xmlns:r="http://schemas.openxmlformats.org/officeDocument/2006/relationships" id="300" r:id="R66386599ea0049f4"/>
    <p:sldId xmlns:r="http://schemas.openxmlformats.org/officeDocument/2006/relationships" id="301" r:id="Radabed9ea7b94c78"/>
    <p:sldId xmlns:r="http://schemas.openxmlformats.org/officeDocument/2006/relationships" id="302" r:id="R77a3d81903f64e83"/>
  </p:sldIdLst>
  <p:sldSz cx="9144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880cc6c17b84458" /><Relationship Type="http://schemas.openxmlformats.org/officeDocument/2006/relationships/slideMaster" Target="/ppt/slideMasters/slideMaster1.xml" Id="R3274e8ec5bd64c48" /><Relationship Type="http://schemas.openxmlformats.org/officeDocument/2006/relationships/notesMaster" Target="/ppt/notesMasters/notesMaster1.xml" Id="Rec1a02cd5e754824" /><Relationship Type="http://schemas.openxmlformats.org/officeDocument/2006/relationships/presProps" Target="/ppt/presProps.xml" Id="R980737ec58cc4ea5" /><Relationship Type="http://schemas.openxmlformats.org/officeDocument/2006/relationships/viewProps" Target="/ppt/viewProps.xml" Id="R9d6c8d51eda144db" /><Relationship Type="http://schemas.openxmlformats.org/officeDocument/2006/relationships/tableStyles" Target="/ppt/tableStyles.xml" Id="Rdbcadbae85fe4d97" /><Relationship Type="http://schemas.openxmlformats.org/officeDocument/2006/relationships/slide" Target="/ppt/slides/slide1.xml" Id="R9be74e1b2a3b4b3c" /><Relationship Type="http://schemas.openxmlformats.org/officeDocument/2006/relationships/slide" Target="/ppt/slides/slide2.xml" Id="R7f5d1e3bc8f04990" /><Relationship Type="http://schemas.openxmlformats.org/officeDocument/2006/relationships/slide" Target="/ppt/slides/slide3.xml" Id="Rf8639e116b6646ab" /><Relationship Type="http://schemas.openxmlformats.org/officeDocument/2006/relationships/slide" Target="/ppt/slides/slide4.xml" Id="R7a9c68432b034a6a" /><Relationship Type="http://schemas.openxmlformats.org/officeDocument/2006/relationships/slide" Target="/ppt/slides/slide5.xml" Id="Rbe860e6b7294472a" /><Relationship Type="http://schemas.openxmlformats.org/officeDocument/2006/relationships/slide" Target="/ppt/slides/slide6.xml" Id="R433e706f30bd4070" /><Relationship Type="http://schemas.openxmlformats.org/officeDocument/2006/relationships/slide" Target="/ppt/slides/slide7.xml" Id="Rf66ea7a01d8d4474" /><Relationship Type="http://schemas.openxmlformats.org/officeDocument/2006/relationships/slide" Target="/ppt/slides/slide8.xml" Id="Rfbd89fbc432742bc" /><Relationship Type="http://schemas.openxmlformats.org/officeDocument/2006/relationships/slide" Target="/ppt/slides/slide9.xml" Id="R2bbfa458ac494775" /><Relationship Type="http://schemas.openxmlformats.org/officeDocument/2006/relationships/slide" Target="/ppt/slides/slide10.xml" Id="R31b7ca58aa044698" /><Relationship Type="http://schemas.openxmlformats.org/officeDocument/2006/relationships/slide" Target="/ppt/slides/slide11.xml" Id="Rc288465a8edb4bec" /><Relationship Type="http://schemas.openxmlformats.org/officeDocument/2006/relationships/slide" Target="/ppt/slides/slide12.xml" Id="Ra67cf2c7646945a1" /><Relationship Type="http://schemas.openxmlformats.org/officeDocument/2006/relationships/slide" Target="/ppt/slides/slide13.xml" Id="Rc5bc268d8b674c09" /><Relationship Type="http://schemas.openxmlformats.org/officeDocument/2006/relationships/slide" Target="/ppt/slides/slide14.xml" Id="R3fde71df58ac473d" /><Relationship Type="http://schemas.openxmlformats.org/officeDocument/2006/relationships/slide" Target="/ppt/slides/slide15.xml" Id="R15c12c08d8e44d35" /><Relationship Type="http://schemas.openxmlformats.org/officeDocument/2006/relationships/slide" Target="/ppt/slides/slide16.xml" Id="Rc732d44ca7f54aef" /><Relationship Type="http://schemas.openxmlformats.org/officeDocument/2006/relationships/slide" Target="/ppt/slides/slide17.xml" Id="R5b3dd19e396b45d2" /><Relationship Type="http://schemas.openxmlformats.org/officeDocument/2006/relationships/slide" Target="/ppt/slides/slide18.xml" Id="Rdcedbe4214ed4072" /><Relationship Type="http://schemas.openxmlformats.org/officeDocument/2006/relationships/slide" Target="/ppt/slides/slide19.xml" Id="R00a1caa9e8004689" /><Relationship Type="http://schemas.openxmlformats.org/officeDocument/2006/relationships/slide" Target="/ppt/slides/slide20.xml" Id="Rb6cd38131438415c" /><Relationship Type="http://schemas.openxmlformats.org/officeDocument/2006/relationships/slide" Target="/ppt/slides/slide21.xml" Id="Ra2bcfc80373e49d0" /><Relationship Type="http://schemas.openxmlformats.org/officeDocument/2006/relationships/slide" Target="/ppt/slides/slide22.xml" Id="R5591cd76fd584516" /><Relationship Type="http://schemas.openxmlformats.org/officeDocument/2006/relationships/slide" Target="/ppt/slides/slide23.xml" Id="R345b6e1568984f40" /><Relationship Type="http://schemas.openxmlformats.org/officeDocument/2006/relationships/slide" Target="/ppt/slides/slide24.xml" Id="Re4718482a3744fc7" /><Relationship Type="http://schemas.openxmlformats.org/officeDocument/2006/relationships/slide" Target="/ppt/slides/slide25.xml" Id="R9769f91bfec94565" /><Relationship Type="http://schemas.openxmlformats.org/officeDocument/2006/relationships/slide" Target="/ppt/slides/slide26.xml" Id="Reca8cd55a920491e" /><Relationship Type="http://schemas.openxmlformats.org/officeDocument/2006/relationships/slide" Target="/ppt/slides/slide27.xml" Id="R8fbf8c02cd534c82" /><Relationship Type="http://schemas.openxmlformats.org/officeDocument/2006/relationships/slide" Target="/ppt/slides/slide28.xml" Id="Ra105d5132c32495b" /><Relationship Type="http://schemas.openxmlformats.org/officeDocument/2006/relationships/slide" Target="/ppt/slides/slide29.xml" Id="Rc44420330901423d" /><Relationship Type="http://schemas.openxmlformats.org/officeDocument/2006/relationships/slide" Target="/ppt/slides/slide30.xml" Id="R613b46af3cf44dde" /><Relationship Type="http://schemas.openxmlformats.org/officeDocument/2006/relationships/slide" Target="/ppt/slides/slide31.xml" Id="R7e172e685ab7416d" /><Relationship Type="http://schemas.openxmlformats.org/officeDocument/2006/relationships/slide" Target="/ppt/slides/slide32.xml" Id="R36b4bed4a23e4d0b" /><Relationship Type="http://schemas.openxmlformats.org/officeDocument/2006/relationships/slide" Target="/ppt/slides/slide33.xml" Id="R54d1a778951c4945" /><Relationship Type="http://schemas.openxmlformats.org/officeDocument/2006/relationships/slide" Target="/ppt/slides/slide34.xml" Id="Rdc4c4aaaa2834c4f" /><Relationship Type="http://schemas.openxmlformats.org/officeDocument/2006/relationships/slide" Target="/ppt/slides/slide35.xml" Id="Rcd85708ab208430c" /><Relationship Type="http://schemas.openxmlformats.org/officeDocument/2006/relationships/slide" Target="/ppt/slides/slide36.xml" Id="R7fc43ec888aa4ae6" /><Relationship Type="http://schemas.openxmlformats.org/officeDocument/2006/relationships/slide" Target="/ppt/slides/slide37.xml" Id="Rf2c31a74569b4f2d" /><Relationship Type="http://schemas.openxmlformats.org/officeDocument/2006/relationships/slide" Target="/ppt/slides/slide38.xml" Id="R49cfca3917244797" /><Relationship Type="http://schemas.openxmlformats.org/officeDocument/2006/relationships/slide" Target="/ppt/slides/slide39.xml" Id="Ra8a13e6c7d7d491d" /><Relationship Type="http://schemas.openxmlformats.org/officeDocument/2006/relationships/slide" Target="/ppt/slides/slide40.xml" Id="R41bbc3b4eec24d42" /><Relationship Type="http://schemas.openxmlformats.org/officeDocument/2006/relationships/slide" Target="/ppt/slides/slide41.xml" Id="Rc80113320cab4e35" /><Relationship Type="http://schemas.openxmlformats.org/officeDocument/2006/relationships/slide" Target="/ppt/slides/slide42.xml" Id="R9945b2fa506245e7" /><Relationship Type="http://schemas.openxmlformats.org/officeDocument/2006/relationships/slide" Target="/ppt/slides/slide43.xml" Id="R2655ad6ddfee43e7" /><Relationship Type="http://schemas.openxmlformats.org/officeDocument/2006/relationships/slide" Target="/ppt/slides/slide44.xml" Id="R83750a6e9df24afb" /><Relationship Type="http://schemas.openxmlformats.org/officeDocument/2006/relationships/slide" Target="/ppt/slides/slide45.xml" Id="R66386599ea0049f4" /><Relationship Type="http://schemas.openxmlformats.org/officeDocument/2006/relationships/slide" Target="/ppt/slides/slide46.xml" Id="Radabed9ea7b94c78" /><Relationship Type="http://schemas.openxmlformats.org/officeDocument/2006/relationships/slide" Target="/ppt/slides/slide47.xml" Id="R77a3d81903f64e8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5008fa4a47e441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Plaza">
  <a:themeElements>
    <a:clrScheme name="Plaza">
      <a:dk1>
        <a:sysClr val="windowText" lastClr="000000"/>
      </a:dk1>
      <a:lt1>
        <a:sysClr val="window" lastClr="FFFFFF"/>
      </a:lt1>
      <a:dk2>
        <a:srgbClr val="333333"/>
      </a:dk2>
      <a:lt2>
        <a:srgbClr val="CCCCCC"/>
      </a:lt2>
      <a:accent1>
        <a:srgbClr val="990000"/>
      </a:accent1>
      <a:accent2>
        <a:srgbClr val="580101"/>
      </a:accent2>
      <a:accent3>
        <a:srgbClr val="E94A00"/>
      </a:accent3>
      <a:accent4>
        <a:srgbClr val="EB8F00"/>
      </a:accent4>
      <a:accent5>
        <a:srgbClr val="A4A4A4"/>
      </a:accent5>
      <a:accent6>
        <a:srgbClr val="666666"/>
      </a:accent6>
      <a:hlink>
        <a:srgbClr val="D01010"/>
      </a:hlink>
      <a:folHlink>
        <a:srgbClr val="E6682E"/>
      </a:folHlink>
    </a:clrScheme>
    <a:fontScheme name="Plaza">
      <a:majorFont>
        <a:latin typeface="Century Gothic"/>
        <a:ea typeface=""/>
        <a:cs typeface=""/>
        <a:font script="Jpan" typeface="メイリオ"/>
      </a:majorFont>
      <a:minorFont>
        <a:latin typeface="Century Gothic"/>
        <a:ea typeface=""/>
        <a:cs typeface=""/>
        <a:font script="Jpan" typeface="メイリオ"/>
      </a:minorFont>
    </a:fontScheme>
    <a:fmtScheme name="Plaza">
      <a: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60000"/>
                <a:satMod val="135000"/>
              </a:schemeClr>
            </a:gs>
            <a:gs pos="100000">
              <a:schemeClr val="phClr">
                <a:tint val="100000"/>
                <a:shade val="100000"/>
                <a:satMod val="135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70000"/>
                <a:satMod val="120000"/>
              </a:schemeClr>
            </a:gs>
            <a:gs pos="35000">
              <a:schemeClr val="phClr">
                <a:shade val="100000"/>
                <a:satMod val="150000"/>
              </a:schemeClr>
            </a:gs>
            <a:gs pos="70000">
              <a:schemeClr val="phClr">
                <a:tint val="100000"/>
                <a:shade val="100000"/>
                <a:satMod val="200000"/>
              </a:schemeClr>
            </a:gs>
            <a:gs pos="100000">
              <a:schemeClr val="phClr">
                <a:tint val="100000"/>
                <a:shade val="100000"/>
                <a:satMod val="250000"/>
              </a:schemeClr>
            </a:gs>
          </a:gsLst>
          <a:lin ang="16200000" scaled="1"/>
        </a:gradFill>
      </a:fillStyleLst>
      <a:lnStyleLst>
        <a:ln w="12700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17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190500" dist="63500" dir="5400000">
              <a:srgbClr val="FFFFFF">
                <a:alpha val="65000"/>
              </a:srgbClr>
            </a:innerShdw>
          </a:effectLst>
        </a:effectStyle>
        <a:effectStyle>
          <a:effectLst>
            <a:innerShdw blurRad="50800" dist="25400" dir="13500000">
              <a:srgbClr val="FFFFFF">
                <a:alpha val="75000"/>
              </a:srgbClr>
            </a:innerShdw>
            <a:outerShdw blurRad="88900" dist="38100" dir="6600000" sx="101000" sy="101000" rotWithShape="0">
              <a:srgbClr val="000000">
                <a:alpha val="5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c85cd7303314cbc" /><Relationship Type="http://schemas.openxmlformats.org/officeDocument/2006/relationships/notesMaster" Target="/ppt/notesMasters/notesMaster1.xml" Id="Rcb0c7d877f61494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614ddac758e4b17" /><Relationship Type="http://schemas.openxmlformats.org/officeDocument/2006/relationships/notesMaster" Target="/ppt/notesMasters/notesMaster1.xml" Id="Rcb61f78ba790426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7ae92866d2d4b02" /><Relationship Type="http://schemas.openxmlformats.org/officeDocument/2006/relationships/notesMaster" Target="/ppt/notesMasters/notesMaster1.xml" Id="R78c8014bf65f4a4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871e21895ef41ca" /><Relationship Type="http://schemas.openxmlformats.org/officeDocument/2006/relationships/notesMaster" Target="/ppt/notesMasters/notesMaster1.xml" Id="R89d80ac0d6624a6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f2e875e6aab4626" /><Relationship Type="http://schemas.openxmlformats.org/officeDocument/2006/relationships/notesMaster" Target="/ppt/notesMasters/notesMaster1.xml" Id="R4cbc1ffb9aa8464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af2f2e757b749ec" /><Relationship Type="http://schemas.openxmlformats.org/officeDocument/2006/relationships/notesMaster" Target="/ppt/notesMasters/notesMaster1.xml" Id="R2ec849cfc525456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9f16258924240f0" /><Relationship Type="http://schemas.openxmlformats.org/officeDocument/2006/relationships/notesMaster" Target="/ppt/notesMasters/notesMaster1.xml" Id="Rb6f3b8643699433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b982daba9904c49" /><Relationship Type="http://schemas.openxmlformats.org/officeDocument/2006/relationships/notesMaster" Target="/ppt/notesMasters/notesMaster1.xml" Id="Re5ed8450b3e94fb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94c38375d524698" /><Relationship Type="http://schemas.openxmlformats.org/officeDocument/2006/relationships/notesMaster" Target="/ppt/notesMasters/notesMaster1.xml" Id="Ra119f9de17c4433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0d132b214c041e9" /><Relationship Type="http://schemas.openxmlformats.org/officeDocument/2006/relationships/notesMaster" Target="/ppt/notesMasters/notesMaster1.xml" Id="R36bb3ffc63864ec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1ed098209834156" /><Relationship Type="http://schemas.openxmlformats.org/officeDocument/2006/relationships/notesMaster" Target="/ppt/notesMasters/notesMaster1.xml" Id="R3d6fa31a9b164d1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3f13fdcd88144f4" /><Relationship Type="http://schemas.openxmlformats.org/officeDocument/2006/relationships/notesMaster" Target="/ppt/notesMasters/notesMaster1.xml" Id="R8e22c6f4ae1d4677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94735249679b4528" /><Relationship Type="http://schemas.openxmlformats.org/officeDocument/2006/relationships/notesMaster" Target="/ppt/notesMasters/notesMaster1.xml" Id="R57f9465cc7854828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057724c5e4b5449a" /><Relationship Type="http://schemas.openxmlformats.org/officeDocument/2006/relationships/notesMaster" Target="/ppt/notesMasters/notesMaster1.xml" Id="R256632e6e5914642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6d60392fb8f7434e" /><Relationship Type="http://schemas.openxmlformats.org/officeDocument/2006/relationships/notesMaster" Target="/ppt/notesMasters/notesMaster1.xml" Id="R6b56157599b442f3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d1f6d525d1a84208" /><Relationship Type="http://schemas.openxmlformats.org/officeDocument/2006/relationships/notesMaster" Target="/ppt/notesMasters/notesMaster1.xml" Id="R25b1e9da30414f4a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1e7c873094b24e45" /><Relationship Type="http://schemas.openxmlformats.org/officeDocument/2006/relationships/notesMaster" Target="/ppt/notesMasters/notesMaster1.xml" Id="R84c19c180b79492f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88e76b67f4594de0" /><Relationship Type="http://schemas.openxmlformats.org/officeDocument/2006/relationships/notesMaster" Target="/ppt/notesMasters/notesMaster1.xml" Id="R5ce284c2e714430f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dbc63b390c50491a" /><Relationship Type="http://schemas.openxmlformats.org/officeDocument/2006/relationships/notesMaster" Target="/ppt/notesMasters/notesMaster1.xml" Id="Rdebffebd25b54a87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fac2c1b7a320414d" /><Relationship Type="http://schemas.openxmlformats.org/officeDocument/2006/relationships/notesMaster" Target="/ppt/notesMasters/notesMaster1.xml" Id="R17ef4771680d4604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ffba1ff37645400a" /><Relationship Type="http://schemas.openxmlformats.org/officeDocument/2006/relationships/notesMaster" Target="/ppt/notesMasters/notesMaster1.xml" Id="Rb02efbf2929e4738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5cc1a402d0b24ff5" /><Relationship Type="http://schemas.openxmlformats.org/officeDocument/2006/relationships/notesMaster" Target="/ppt/notesMasters/notesMaster1.xml" Id="R19aab2add40941a4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ef97b9193e214b40" /><Relationship Type="http://schemas.openxmlformats.org/officeDocument/2006/relationships/notesMaster" Target="/ppt/notesMasters/notesMaster1.xml" Id="Rd33826f58de047df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e135036af2624d97" /><Relationship Type="http://schemas.openxmlformats.org/officeDocument/2006/relationships/notesMaster" Target="/ppt/notesMasters/notesMaster1.xml" Id="R9f7938e572be4a07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0ad9bcd27915487f" /><Relationship Type="http://schemas.openxmlformats.org/officeDocument/2006/relationships/notesMaster" Target="/ppt/notesMasters/notesMaster1.xml" Id="R0372e544eca341fd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d34c014d90ec4148" /><Relationship Type="http://schemas.openxmlformats.org/officeDocument/2006/relationships/notesMaster" Target="/ppt/notesMasters/notesMaster1.xml" Id="R5daf361da52c46bc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778af15159034aa4" /><Relationship Type="http://schemas.openxmlformats.org/officeDocument/2006/relationships/notesMaster" Target="/ppt/notesMasters/notesMaster1.xml" Id="R507fac2367e740a5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37ab1af2c67c4233" /><Relationship Type="http://schemas.openxmlformats.org/officeDocument/2006/relationships/notesMaster" Target="/ppt/notesMasters/notesMaster1.xml" Id="R91f73d9a15a94b09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2b77134342f948fc" /><Relationship Type="http://schemas.openxmlformats.org/officeDocument/2006/relationships/notesMaster" Target="/ppt/notesMasters/notesMaster1.xml" Id="R693d56fd1e7e4848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891fc5ee79884061" /><Relationship Type="http://schemas.openxmlformats.org/officeDocument/2006/relationships/notesMaster" Target="/ppt/notesMasters/notesMaster1.xml" Id="R48cf798f7bea44ee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49b90a83d9c642bd" /><Relationship Type="http://schemas.openxmlformats.org/officeDocument/2006/relationships/notesMaster" Target="/ppt/notesMasters/notesMaster1.xml" Id="R52893b7de9244cf3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ef701991b7ce421d" /><Relationship Type="http://schemas.openxmlformats.org/officeDocument/2006/relationships/notesMaster" Target="/ppt/notesMasters/notesMaster1.xml" Id="Rb8e904d0fbe24a41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76764222e6624222" /><Relationship Type="http://schemas.openxmlformats.org/officeDocument/2006/relationships/notesMaster" Target="/ppt/notesMasters/notesMaster1.xml" Id="Refe284f5ece34be6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2487d0eb9aed4d68" /><Relationship Type="http://schemas.openxmlformats.org/officeDocument/2006/relationships/notesMaster" Target="/ppt/notesMasters/notesMaster1.xml" Id="R9bc9d3847e7644e4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f5b078c18a5b420d" /><Relationship Type="http://schemas.openxmlformats.org/officeDocument/2006/relationships/notesMaster" Target="/ppt/notesMasters/notesMaster1.xml" Id="Rca70098be1e74409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e791f9f468d34753" /><Relationship Type="http://schemas.openxmlformats.org/officeDocument/2006/relationships/notesMaster" Target="/ppt/notesMasters/notesMaster1.xml" Id="R9ae783432a044818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60e6b6ba76fe4c26" /><Relationship Type="http://schemas.openxmlformats.org/officeDocument/2006/relationships/notesMaster" Target="/ppt/notesMasters/notesMaster1.xml" Id="R6d8b65259f104cd1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c0fb831820374613" /><Relationship Type="http://schemas.openxmlformats.org/officeDocument/2006/relationships/notesMaster" Target="/ppt/notesMasters/notesMaster1.xml" Id="R14fb93e954304099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225808738d514a05" /><Relationship Type="http://schemas.openxmlformats.org/officeDocument/2006/relationships/notesMaster" Target="/ppt/notesMasters/notesMaster1.xml" Id="R8c6f114c65a14eb2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6c61a6a79d7a4ca9" /><Relationship Type="http://schemas.openxmlformats.org/officeDocument/2006/relationships/notesMaster" Target="/ppt/notesMasters/notesMaster1.xml" Id="R9f27d26d9f7c46c1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fb43d67f2bbe4ed3" /><Relationship Type="http://schemas.openxmlformats.org/officeDocument/2006/relationships/notesMaster" Target="/ppt/notesMasters/notesMaster1.xml" Id="R4ab41accb656421f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b09cb0f7a0b344bc" /><Relationship Type="http://schemas.openxmlformats.org/officeDocument/2006/relationships/notesMaster" Target="/ppt/notesMasters/notesMaster1.xml" Id="Rbb9f64f67989474c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5cc43e380f374799" /><Relationship Type="http://schemas.openxmlformats.org/officeDocument/2006/relationships/notesMaster" Target="/ppt/notesMasters/notesMaster1.xml" Id="Rc7483c930426486f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221121a616d947a8" /><Relationship Type="http://schemas.openxmlformats.org/officeDocument/2006/relationships/notesMaster" Target="/ppt/notesMasters/notesMaster1.xml" Id="R0fecc6e9918c4aed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a1aba3254cb4443c" /><Relationship Type="http://schemas.openxmlformats.org/officeDocument/2006/relationships/notesMaster" Target="/ppt/notesMasters/notesMaster1.xml" Id="Re1f2a8d64b8e4ca4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735c9e9b9006414b" /><Relationship Type="http://schemas.openxmlformats.org/officeDocument/2006/relationships/notesMaster" Target="/ppt/notesMasters/notesMaster1.xml" Id="Rcc0f75a716944d17" /></Relationships>
</file>

<file path=ppt/notesSlides/_rels/notesSlide47.xml.rels>&#65279;<?xml version="1.0" encoding="utf-8"?><Relationships xmlns="http://schemas.openxmlformats.org/package/2006/relationships"><Relationship Type="http://schemas.openxmlformats.org/officeDocument/2006/relationships/slide" Target="/ppt/slides/slide47.xml" Id="R74a58da4837f4c77" /><Relationship Type="http://schemas.openxmlformats.org/officeDocument/2006/relationships/notesMaster" Target="/ppt/notesMasters/notesMaster1.xml" Id="R03d760d4d2b1434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KMB689 Wk1 | slide: 1 | stage: (가) | mapping: R1 | source: Class25S source slide 1; Wk1 plan §8</a:t>
            </a:r>
            <a:endParaRPr baseline="0"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KMB689 Wk1 | slide: 2 | stage: (가) | mapping: R2 | source: Class25S source slide 2; Wk1 block1/block2 notes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KMB689 Wk1 | slide: 3 | stage: (가) | mapping: R36 | source: Class25S source slide 36</a:t>
            </a:r>
            <a:endParaRPr baseline="0"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KMB689 Wk1 | slide: 4 | stage: (가) | mapping: R37+R38 | source: Class25S source slides 37–38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KMB689 Wk1 | slide: 5 | stage: (가) | mapping: R39+R40+R41 | source: Class25S source slides 39–41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KMB689 Wk1 | slide: 6 | stage: (가) | mapping: R42 | source: Class25S source slide 42</a:t>
            </a:r>
            <a:endParaRPr baseline="0"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KMB689 Wk1 | slide: 7 | stage: (가) | mapping: R47 | source: Class25S source slide 47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KMB689 Wk1 | slide: 8 | stage: (나) | mapping: R10 | source: 2027 syllabus required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KMB689 Wk1 | slide: 9 | stage: (가) | mapping: R22 | source: Wk1 block notes; design_plan §3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KMB689 Wk1 | slide: 10 | stage: (나) | mapping: R23+R26 | source: 2027 syllabus required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KMB689 Wk1 | slide: 11 | stage: (나) | mapping: R24 | source: 2027 syllabus required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KMB689 Wk1 | slide: 12 | stage: (가) | mapping: R32+R45 | source: Wk1 instructor notes; Class25S source slides 32 and 45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KMB689 Wk1 | slide: 13 | stage: (나) | mapping: R21+R27+R28 | source: 2027 syllabus required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KMB689 Wk1 | slide: 14 | stage: (나) | mapping: R25 | source: 2027 syllabus required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KMB689 Wk1 | slide: 15 | stage: (가) | mapping: R17+R18 | source: Wk1 block1 notes A.3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KMB689 Wk1 | slide: 16 | stage: (가) | mapping: R15+R16 | source: Wk1 block1 notes A.3; Class25S source slides 15–16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KMB689 Wk1 | slide: 17 | stage: (가) | mapping: R9+R11 | source: Wk1 block1 notes Part B; Class25S source slides 9 and 11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KMB689 Wk1 | slide: 18 | stage: (가) | mapping: R12 | source: Wk1 block1 notes B.1; Class25S source slide 12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KMB689 Wk1 | slide: 19 | stage: (가) | mapping: R6 | source: Wk1 block1 notes B.1; Class25S source slide 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KMB689 Wk1 | slide: 20 | stage: (가) | mapping: R13 | source: Wk1 block1 notes B.1; Class25S source slide 13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KMB689 Wk1 | slide: 21 | stage: (가) | mapping: R14 | source: Wk1 block1 notes B.1; Class25S source slide 14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KMB689 Wk1 | slide: 22 | stage: (가) | mapping: R4+R5 | source: Wk1 block1 notes B.1; Class25S source slides 4–5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KMB689 Wk1 | slide: 23 | stage: (가) | mapping: R7+R8 | source: Wk1 block1 notes B.2; Class25S source slides 7–8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KMB689 Wk1 | slide: 24 | stage: (가) | mapping: R3 | source: Wk1 block1 notes B.2; Class25S source slide 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KMB689 Wk1 | slide: 25 | stage: (가) | mapping: R18 | source: Wk1 block1 notes B.3; Class25S source slide 18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KMB689 Wk1 | slide: 26 | stage: (가) | mapping: R17 | source: Wk1 block1 notes B.3; Class25S source slide 17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KMB689 Wk1 | slide: 27 | stage: (가) | mapping: N1 | source: Professor approval 2026-09-10; Wk10 slide 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KMB689 Wk1 | slide: 28 | stage: (가) | mapping: N2 | source: Wk1 demo exhibit STUDENT; block1 notes C.1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KMB689 Wk1 | slide: 29 | stage: (가) | mapping: N3 | source: Wk1 demo exhibit STUDENT; block1 notes C.1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KMB689 Wk1 | slide: 30 | stage: (가) | mapping: N4 | source: Wk1 demo exhibit STUDENT; fixed reference date 2026-07-17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KMB689 Wk1 | slide: 31 | stage: (가) | mapping: N5 | source: Wk1 demo exhibit STUDENT report 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KMB689 Wk1 | slide: 32 | stage: (가) | mapping: N6 | source: Wk1 demo exhibit STUDENT report B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KMB689 Wk1 | slide: 33 | stage: (가) | mapping: N7 | source: Wk1 demo exhibit STUDENT; instructor verification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KMB689 Wk1 | slide: 34 | stage: (가) | mapping: N8 | source: Wk1 judgment sheet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KMB689 Wk1 | slide: 35 | stage: (가) | mapping: N9 | source: Wk1 judgment sheet; instructor demo script S3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KMB689 Wk1 | slide: 36 | stage: (가) | mapping: N10 | source: Wk1 block2 notes A.1; discussion prompt D1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KMB689 Wk1 | slide: 37 | stage: (가) | mapping: N11 | source: Wk1 block2 notes A.2; discussion prompt D2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KMB689 Wk1 | slide: 38 | stage: (가) | mapping: N12 | source: Wk1 instructor notes; discussion prompt D2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KMB689 Wk1 | slide: 39 | stage: (가) | mapping: N13 | source: Wk1 block2 notes B.1; instructor demo script S4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KMB689 Wk1 | slide: 40 | stage: (가) | mapping: N14 | source: Wk1 block2 notes B.1; instructor demo script S4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KMB689 Wk1 | slide: 41 | stage: (가) | mapping: N15 | source: Wk1 block2 notes B.1; instructor demo script S4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KMB689 Wk1 | slide: 42 | stage: (가) | mapping: N16 | source: Wk1 block2 notes B.1; approved landing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KMB689 Wk1 | slide: 43 | stage: (가) | mapping: N17 | source: Wk1 block2 notes B.2; roadmap handout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KMB689 Wk1 | slide: 44 | stage: (가) | mapping: R19 | source: design_plan §3; Wk1 roadmap handout; no dates or deadlines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KMB689 Wk1 | slide: 45 | stage: (가) | mapping: N18 | source: Wk1 roadmap handout; design_plan §3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KMB689 Wk1 | slide: 46 | stage: (가) | mapping: N19 | source: Wk1 block2 notes B.3; roadmap handout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KMB689 Wk1 | slide: 47 | stage: (가) | mapping: R33+R34+R46 | source: Wk1 block2 notes C.3; Class25S source slides 33, 34 and 46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855628988aa4b52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de1dfc38e0e43c8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dbe6e0f56e841a9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af84202f29f420f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23159fb777d47dc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c7d026269ea498d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9b3065c21f842f2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cea90db1fe74096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2cd62a043ff4a42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5f95a3217c1462c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1ba6474655f4602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760181f90de4897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c44c8bd0c4842b9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627db33b28c4f3b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61ebda5d3c44459" /></Relationships>
</file>

<file path=ppt/slideLayouts/_rels/slideLayout1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056feef4e6d411b" /></Relationships>
</file>

<file path=ppt/slideLayouts/_rels/slideLayout1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fa8a89201354ade" /></Relationships>
</file>

<file path=ppt/slideLayouts/_rels/slideLayout1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d6c13a194a5475f" /></Relationships>
</file>

<file path=ppt/slideLayouts/_rels/slideLayout1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bd31bf482864a1d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C0D72412-BF24-4F14-90D5-6C45259F3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6953" y="268288"/>
            <a:ext cx="5669280" cy="39003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78A955FE-EDF9-4D1E-82F6-ECF9ABD12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940" y="268288"/>
            <a:ext cx="182880" cy="388685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709E2CC-3CF0-4F46-A72F-059634ED690A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200400" y="4208929"/>
            <a:ext cx="5458968" cy="1048684"/>
          </a:xfrm>
        </p:spPr>
        <p:txBody>
          <a:bodyPr xmlns:a="http://schemas.openxmlformats.org/drawingml/2006/main" vert="horz" lIns="91440" tIns="45720" rIns="91440" bIns="45720" anchor="b">
            <a:normAutofit/>
          </a:bodyPr>
          <a:lstStyle xmlns:a="http://schemas.openxmlformats.org/drawingml/2006/main">
            <a:lvl1pPr algn="l" defTabSz="914400">
              <a:spcBef>
                <a:spcPct val="0"/>
              </a:spcBef>
              <a:buNone/>
              <a:defRPr sz="4600" kern="1200">
                <a:solidFill>
                  <a:schemeClr val="accent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9B458573-3C39-4A01-8D46-962597558A7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200400" y="5257800"/>
            <a:ext cx="5458968" cy="621792"/>
          </a:xfr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>
            <a:lvl1pPr marL="0" indent="0" algn="l" defTabSz="914400">
              <a:spcBef>
                <a:spcPts val="0"/>
              </a:spcBef>
              <a:buClr>
                <a:schemeClr val="accent1"/>
              </a:buClr>
              <a:buSzPct val="100000"/>
              <a:buFont typeface="Wingdings 2"/>
              <a:buNone/>
              <a:defRPr sz="1600" kern="1200">
                <a:solidFill>
                  <a:schemeClr val="tx2"/>
                </a:solidFill>
                <a:latin typeface="+mn-lt"/>
                <a:ea typeface="+mn-lt"/>
                <a:cs typeface="+mn-lt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0686B8D8-A189-4179-AB12-26430BF9415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3276600" y="390525"/>
            <a:ext cx="5504688" cy="365125"/>
          </a:xfr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marL="0" algn="r" defTabSz="914400">
              <a:buNone/>
              <a:defRPr sz="2200" b="0" kern="1200" baseline="0">
                <a:solidFill>
                  <a:schemeClr val="bg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C80671D0-7456-7A43-9F82-B081A391343B}" type="datetime1">
              <a:t>3/10/2025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5694D8B-6318-4CBA-9FF3-99147FC07C5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218688" y="6356350"/>
            <a:ext cx="4736592" cy="365125"/>
          </a:xfr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marL="0" algn="l" defTabSz="914400">
              <a:buNone/>
              <a:defRPr sz="1100" b="1" kern="120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CB113D0F-4309-4A32-A178-AC7926D2ABD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256494" y="6356350"/>
            <a:ext cx="685800" cy="365125"/>
          </a:xfr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marL="0" algn="r" defTabSz="914400">
              <a:buNone/>
              <a:defRPr sz="1100" b="1" kern="120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0B1586AD-4A7E-0849-8093-EAD90D5A9F23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450C31E4-2E50-4B41-B9BF-580EC2D8B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2106" y="268288"/>
            <a:ext cx="1645920" cy="164592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EC041AF-08B6-4567-B565-2FC570C0D63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AFCF95F4-BB86-4FC2-9D2C-29D3AA2734A3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8681C25F-0B4B-4432-84CB-7171006BB72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7212106" y="6356350"/>
            <a:ext cx="1752600" cy="3651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7A0EE82-32D9-334C-9FC7-751BCC145C81}" type="datetime1">
              <a:t>3/10/2025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8BA333AC-8C7F-4A5B-9A72-6680891FF34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64A6FC9-3813-49BE-BABC-D9F83AABCC1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B1586AD-4A7E-0849-8093-EAD90D5A9F23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preserve="1">
  <p:cSld name="Title Slide with Pictur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700E5A87-A558-49F7-8F69-3533A031B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6953" y="268288"/>
            <a:ext cx="5669280" cy="256032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FF1A077-17CB-4984-855C-32C6F95BC679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200399" y="4171950"/>
            <a:ext cx="5457919" cy="1085850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46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CDCEB905-FDBF-4279-8463-A86C204186E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200401" y="5257799"/>
            <a:ext cx="5457918" cy="618565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 algn="l">
              <a:spcBef>
                <a:spcPct val="0"/>
              </a:spcBef>
              <a:buNone/>
              <a:defRPr sz="1600">
                <a:solidFill>
                  <a:schemeClr val="tx2"/>
                </a:solidFill>
              </a:defRPr>
            </a:lvl1pPr>
            <a:lvl2pPr marL="457200" indent="0" algn="ctr">
              <a:spcBef>
                <a:spcPct val="0"/>
              </a:spcBef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3E281B80-9828-41A7-9229-CBF3508CABD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3276600" y="389965"/>
            <a:ext cx="5499847" cy="3651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200" b="0" baseline="0">
                <a:solidFill>
                  <a:schemeClr val="bg1"/>
                </a:solidFill>
              </a:defRPr>
            </a:lvl1pPr>
          </a:lstStyle>
          <a:p xmlns:a="http://schemas.openxmlformats.org/drawingml/2006/main">
            <a:fld id="{169CAB63-A8A9-0A48-BAA9-CFE464A5C0BD}" type="datetime1">
              <a:t>3/10/2025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22E7D0D-EB38-4C6A-855F-D751555FE3E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213847" y="6356350"/>
            <a:ext cx="4734112" cy="3651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E22CE3A-9D41-4ADE-9933-D3247D34888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265459" y="6356350"/>
            <a:ext cx="685800" cy="365125"/>
          </a:xfr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marL="0" algn="r" defTabSz="914400">
              <a:buNone/>
              <a:defRPr sz="1100" b="1" kern="120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0B1586AD-4A7E-0849-8093-EAD90D5A9F23}" type="slidenum">
              <a:t>‹#›</a:t>
            </a:fld>
            <a:endParaRPr/>
          </a:p>
        </p:txBody>
      </p:sp>
      <p:sp>
        <p:nvSpPr>
          <p:cNvPr id="9" name="Picture Placeholder 8">
            <a:extLst xmlns:a="http://schemas.openxmlformats.org/drawingml/2006/main">
              <a:ext uri="{FF2B5EF4-FFF2-40B4-BE49-F238E27FC236}">
                <a16:creationId xmlns:a16="http://schemas.microsoft.com/office/drawing/2014/main" id="{0ECA89F6-7941-40DE-8F0F-3A76C199A191}"/>
              </a:ext>
            </a:extLst>
          </p:cNvPr>
          <p:cNvSpPr>
            <a:spLocks xmlns:a="http://schemas.openxmlformats.org/drawingml/2006/main" noGrp="1"/>
          </p:cNvSpPr>
          <p:nvPr>
            <p:ph type="pic" idx="13"/>
          </p:nvPr>
        </p:nvSpPr>
        <p:spPr>
          <a:xfrm xmlns:a="http://schemas.openxmlformats.org/drawingml/2006/main">
            <a:off x="3200400" y="2877671"/>
            <a:ext cx="5646867" cy="1280160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icon to add picture</a:t>
            </a:r>
            <a:endParaRPr/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43AE5D23-9133-4C04-8800-E45B942FD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940" y="268288"/>
            <a:ext cx="182880" cy="388685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preserve="1">
  <p:cSld name="Title, Content, and Pictur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889FFB6E-AFE7-49C0-99D0-BF898EAC0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875" y="268288"/>
            <a:ext cx="1645920" cy="164592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B533052-81D2-4304-9153-3C59A465D4C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178423" y="914400"/>
            <a:ext cx="6508377" cy="11430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B1221B23-D0EF-4444-B048-C1A1E67C2253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2178423" y="2209800"/>
            <a:ext cx="6508377" cy="39163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94AE88A3-C835-4421-B6C6-D937CA48DF6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7212106" y="6356350"/>
            <a:ext cx="1752600" cy="3651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EB896D1-D4B3-F444-958E-CEC5E7A91817}" type="datetime1">
              <a:t>3/10/2025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4B31D41-7EDE-4F27-B568-2F6D0C7F84A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2178423" y="6356350"/>
            <a:ext cx="4926852" cy="3651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5E88E61-EF40-41BC-BCA1-3CA97650355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331694" y="361016"/>
            <a:ext cx="506506" cy="3651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B1586AD-4A7E-0849-8093-EAD90D5A9F23}" type="slidenum">
              <a:t>‹#›</a:t>
            </a:fld>
            <a:endParaRPr/>
          </a:p>
        </p:txBody>
      </p:sp>
      <p:sp>
        <p:nvSpPr>
          <p:cNvPr id="9" name="Picture Placeholder 8">
            <a:extLst xmlns:a="http://schemas.openxmlformats.org/drawingml/2006/main">
              <a:ext uri="{FF2B5EF4-FFF2-40B4-BE49-F238E27FC236}">
                <a16:creationId xmlns:a16="http://schemas.microsoft.com/office/drawing/2014/main" id="{0405010B-5AC7-4AC5-9428-933837A3EC65}"/>
              </a:ext>
            </a:extLst>
          </p:cNvPr>
          <p:cNvSpPr>
            <a:spLocks xmlns:a="http://schemas.openxmlformats.org/drawingml/2006/main" noGrp="1"/>
          </p:cNvSpPr>
          <p:nvPr>
            <p:ph type="pic" idx="13"/>
          </p:nvPr>
        </p:nvSpPr>
        <p:spPr>
          <a:xfrm xmlns:a="http://schemas.openxmlformats.org/drawingml/2006/main">
            <a:off x="269875" y="1976718"/>
            <a:ext cx="1645920" cy="46257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icon to add picture</a:t>
            </a:r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08BD6B63-066D-4E92-A55D-2884EDAB6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8952" y="268288"/>
            <a:ext cx="1099073" cy="6350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CDA6021-46F1-40A2-AA53-4436D4432D9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209801" y="3429000"/>
            <a:ext cx="4966446" cy="1398494"/>
          </a:xfrm>
        </p:spPr>
        <p:txBody>
          <a:bodyPr xmlns:a="http://schemas.openxmlformats.org/drawingml/2006/main" anchor="b"/>
          <a:lstStyle xmlns:a="http://schemas.openxmlformats.org/drawingml/2006/main">
            <a:lvl1pPr algn="r">
              <a:buNone/>
              <a:defRPr sz="4600" b="0" cap="none" baseline="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81B37FC2-A4DF-4CCB-8328-7A447B141D2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2209801" y="4824414"/>
            <a:ext cx="4966446" cy="1320800"/>
          </a:xfrm>
        </p:spPr>
        <p:txBody>
          <a:bodyPr xmlns:a="http://schemas.openxmlformats.org/drawingml/2006/main" anchor="t">
            <a:normAutofit/>
          </a:bodyPr>
          <a:lstStyle xmlns:a="http://schemas.openxmlformats.org/drawingml/2006/main">
            <a:lvl1pPr marL="0" indent="0" algn="r">
              <a:buNone/>
              <a:defRPr sz="16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BA6EE24E-2901-4E36-8F6C-EB4EA62A43D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5562600" y="6356350"/>
            <a:ext cx="1622612" cy="3651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4F37DA0-E97C-F345-8438-A6D4ED58516D}" type="datetime1">
              <a:t>3/10/2025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145B23A-6D5A-4140-A393-44D3CC954CE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174812" y="6356350"/>
            <a:ext cx="5311588" cy="3651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2E02EF93-BC43-4416-A475-BC5355BF1E8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B1586AD-4A7E-0849-8093-EAD90D5A9F23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preserve="1">
  <p:cSld name="Section with Pictur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7FC1EF42-0C9C-4948-9506-A95BD08D9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875" y="4773706"/>
            <a:ext cx="2971800" cy="1844582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44A4799-7F51-411D-BEC9-C8C9288F210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720354" y="3429001"/>
            <a:ext cx="4966446" cy="1398494"/>
          </a:xfrm>
        </p:spPr>
        <p:txBody>
          <a:bodyPr xmlns:a="http://schemas.openxmlformats.org/drawingml/2006/main" anchor="b"/>
          <a:lstStyle xmlns:a="http://schemas.openxmlformats.org/drawingml/2006/main">
            <a:lvl1pPr algn="r">
              <a:buNone/>
              <a:defRPr sz="4600" b="0" cap="none" baseline="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37A577F5-3962-45B0-A60E-0F464791A02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720354" y="4824414"/>
            <a:ext cx="4966446" cy="1320800"/>
          </a:xfrm>
        </p:spPr>
        <p:txBody>
          <a:bodyPr xmlns:a="http://schemas.openxmlformats.org/drawingml/2006/main" anchor="t">
            <a:normAutofit/>
          </a:bodyPr>
          <a:lstStyle xmlns:a="http://schemas.openxmlformats.org/drawingml/2006/main">
            <a:lvl1pPr marL="0" indent="0" algn="r">
              <a:buNone/>
              <a:defRPr sz="16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AFE2DF4-DFF6-4404-8652-1DE15CA904C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351212" y="6104965"/>
            <a:ext cx="506506" cy="3651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B1586AD-4A7E-0849-8093-EAD90D5A9F23}" type="slidenum">
              <a:t>‹#›</a:t>
            </a:fld>
            <a:endParaRPr/>
          </a:p>
        </p:txBody>
      </p:sp>
      <p:sp>
        <p:nvSpPr>
          <p:cNvPr id="9" name="Picture Placeholder 8">
            <a:extLst xmlns:a="http://schemas.openxmlformats.org/drawingml/2006/main">
              <a:ext uri="{FF2B5EF4-FFF2-40B4-BE49-F238E27FC236}">
                <a16:creationId xmlns:a16="http://schemas.microsoft.com/office/drawing/2014/main" id="{53980AAC-65DD-41EC-92F3-9B68869D9EBA}"/>
              </a:ext>
            </a:extLst>
          </p:cNvPr>
          <p:cNvSpPr>
            <a:spLocks xmlns:a="http://schemas.openxmlformats.org/drawingml/2006/main" noGrp="1"/>
          </p:cNvSpPr>
          <p:nvPr>
            <p:ph type="pic" idx="13"/>
          </p:nvPr>
        </p:nvSpPr>
        <p:spPr>
          <a:xfrm xmlns:a="http://schemas.openxmlformats.org/drawingml/2006/main">
            <a:off x="269874" y="268288"/>
            <a:ext cx="2971800" cy="4438650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icon to add picture</a:t>
            </a:r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1E3675B1-F816-46A2-B823-477176174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8918" y="268288"/>
            <a:ext cx="718073" cy="646112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50A1A41-7148-4F3B-830F-4715B9F271E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199" y="914400"/>
            <a:ext cx="7391401" cy="11430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D1CF0852-8B77-4550-A1AC-F51C07189BA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57200" y="2214563"/>
            <a:ext cx="3566160" cy="3911600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F80EC546-7646-4924-B013-CD19C9CD5541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282440" y="2214563"/>
            <a:ext cx="3566160" cy="3911600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BDDF4875-031C-46DE-9C99-060D76C373C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4DBCA91-611A-DE40-B2BA-FD246531770E}" type="datetime1">
              <a:t>3/10/2025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8227BB2D-728C-42B3-814E-6CB356E824A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4CD5C4E1-2C0F-4F17-A05B-95D7E0D9E4C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B1586AD-4A7E-0849-8093-EAD90D5A9F23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2AF9A246-A7B5-4EDD-8E40-317F5B8F3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8918" y="268288"/>
            <a:ext cx="718073" cy="164592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1F0CB64-0E3D-44CF-8F5F-1F9CBB776C8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199" y="914400"/>
            <a:ext cx="7388352" cy="1143000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C5D964AE-04EE-4719-8D04-B7E0EC5B18C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2054132"/>
            <a:ext cx="3566160" cy="639762"/>
          </a:xfrm>
        </p:spPr>
        <p:txBody>
          <a:bodyPr xmlns:a="http://schemas.openxmlformats.org/drawingml/2006/main" anchor="b">
            <a:noAutofit/>
          </a:bodyPr>
          <a:lstStyle xmlns:a="http://schemas.openxmlformats.org/drawingml/2006/main">
            <a:lvl1pPr marL="0" indent="0" algn="ctr">
              <a:spcBef>
                <a:spcPct val="0"/>
              </a:spcBef>
              <a:buNone/>
              <a:defRPr sz="20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96C95A66-39AA-4AA8-BB6D-A65CDD401308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57200" y="2689411"/>
            <a:ext cx="3566160" cy="3436751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5BC89DB1-4635-4655-91D6-200E7D821184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279391" y="2054132"/>
            <a:ext cx="3566160" cy="639762"/>
          </a:xfrm>
        </p:spPr>
        <p:txBody>
          <a:bodyPr xmlns:a="http://schemas.openxmlformats.org/drawingml/2006/main" anchor="b">
            <a:noAutofit/>
          </a:bodyPr>
          <a:lstStyle xmlns:a="http://schemas.openxmlformats.org/drawingml/2006/main">
            <a:lvl1pPr marL="0" indent="0" algn="ctr">
              <a:spcBef>
                <a:spcPct val="0"/>
              </a:spcBef>
              <a:buNone/>
              <a:defRPr sz="20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06E048D3-7110-419E-A77D-238D9C1A2E5B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4279391" y="2689411"/>
            <a:ext cx="3566160" cy="3436751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A892979C-D472-412A-9D92-299E03E4EF6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927978A-F0CE-544C-AAC5-B45E095BDB5C}" type="datetime1">
              <a:t>3/10/2025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C3067DAB-C83F-49D8-B6A4-90BC99016F3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794A0035-8D8E-420B-A04B-3455FF9D8BE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B1586AD-4A7E-0849-8093-EAD90D5A9F23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preserve="1">
  <p:cSld name="2 Content, Top and Bottom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8065E047-B7F2-47AC-956D-B316EAFA4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8918" y="268288"/>
            <a:ext cx="718073" cy="164592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5A3D295-F033-4926-B00A-054A6B98FE1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199" y="914400"/>
            <a:ext cx="7391401" cy="11430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8070886A-6357-4FBF-A34A-506A82422831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57199" y="2214562"/>
            <a:ext cx="7396163" cy="1920240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00B68F93-9E94-49E3-8D84-BCD6E1AF80B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EAF5316-F9C8-D54D-B761-A9A1D9218FDC}" type="datetime1">
              <a:t>3/10/2025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ABBA0ABA-BA01-4C90-92A4-BEAEC7A6EAA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B3083F5C-BE4F-45A3-B4B6-A4A074BADF8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B1586AD-4A7E-0849-8093-EAD90D5A9F23}" type="slidenum">
              <a:t>‹#›</a:t>
            </a:fld>
            <a:endParaRPr/>
          </a:p>
        </p:txBody>
      </p:sp>
      <p:sp>
        <p:nvSpPr>
          <p:cNvPr id="9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441F27E0-4882-4770-AB08-EA78D6331F75}"/>
              </a:ext>
            </a:extLst>
          </p:cNvPr>
          <p:cNvSpPr>
            <a:spLocks xmlns:a="http://schemas.openxmlformats.org/drawingml/2006/main" noGrp="1"/>
          </p:cNvSpPr>
          <p:nvPr>
            <p:ph idx="13"/>
          </p:nvPr>
        </p:nvSpPr>
        <p:spPr>
          <a:xfrm xmlns:a="http://schemas.openxmlformats.org/drawingml/2006/main">
            <a:off x="457199" y="4224973"/>
            <a:ext cx="7396163" cy="1920240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preserve="1">
  <p:cSld name="3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C843C8CB-A78C-4C65-9BB1-5825FB334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8918" y="268288"/>
            <a:ext cx="718073" cy="164592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2097D80-96EE-41BB-B4C3-92411B320AD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199" y="914400"/>
            <a:ext cx="7391401" cy="11430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AB59BD38-4F73-4661-9ECC-00055333B862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282440" y="2214562"/>
            <a:ext cx="3566160" cy="1920240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83F0949F-9451-49DE-90A5-73D39D2DEE8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BE410F5-9F6B-C643-8050-531EACBC8DA7}" type="datetime1">
              <a:t>3/10/2025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2058533C-2381-439D-8EAB-5727B323A35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53D3E4A7-0829-4A27-A568-D787A0A5594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B1586AD-4A7E-0849-8093-EAD90D5A9F23}" type="slidenum">
              <a:t>‹#›</a:t>
            </a:fld>
            <a:endParaRPr/>
          </a:p>
        </p:txBody>
      </p:sp>
      <p:sp>
        <p:nvSpPr>
          <p:cNvPr id="9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DE88C6B1-0AA3-43A6-AFA5-4C0509004C18}"/>
              </a:ext>
            </a:extLst>
          </p:cNvPr>
          <p:cNvSpPr>
            <a:spLocks xmlns:a="http://schemas.openxmlformats.org/drawingml/2006/main" noGrp="1"/>
          </p:cNvSpPr>
          <p:nvPr>
            <p:ph idx="13"/>
          </p:nvPr>
        </p:nvSpPr>
        <p:spPr>
          <a:xfrm xmlns:a="http://schemas.openxmlformats.org/drawingml/2006/main">
            <a:off x="4282440" y="4224973"/>
            <a:ext cx="3566160" cy="1920240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10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A7AF7E03-543F-4B49-93A6-B2218F494831}"/>
              </a:ext>
            </a:extLst>
          </p:cNvPr>
          <p:cNvSpPr>
            <a:spLocks xmlns:a="http://schemas.openxmlformats.org/drawingml/2006/main" noGrp="1"/>
          </p:cNvSpPr>
          <p:nvPr>
            <p:ph idx="14"/>
          </p:nvPr>
        </p:nvSpPr>
        <p:spPr>
          <a:xfrm xmlns:a="http://schemas.openxmlformats.org/drawingml/2006/main">
            <a:off x="457200" y="2214563"/>
            <a:ext cx="3566160" cy="3911600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preserve="1">
  <p:cSld name="4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527DA490-3F66-434A-9742-4CB454645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8918" y="268288"/>
            <a:ext cx="718073" cy="164592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7102B98-88C1-449F-880F-CBEA2A9FF8C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199" y="914400"/>
            <a:ext cx="7391401" cy="11430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45FD5841-514E-4A70-AC89-1FE7C5FEC6B3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282440" y="2214562"/>
            <a:ext cx="3566160" cy="1920240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B6750175-0D7B-4073-BA83-7BFE1EBDDE8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6A07629-081C-3F4D-8B19-A762D45EB887}" type="datetime1">
              <a:t>3/10/2025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B39BD157-26BA-414D-8094-85427583998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FB4A862A-E508-4B43-B46C-7DB214B9E21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B1586AD-4A7E-0849-8093-EAD90D5A9F23}" type="slidenum">
              <a:t>‹#›</a:t>
            </a:fld>
            <a:endParaRPr/>
          </a:p>
        </p:txBody>
      </p:sp>
      <p:sp>
        <p:nvSpPr>
          <p:cNvPr id="9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E6A57EBF-9DEE-4F42-BD3D-66B8FA2603BF}"/>
              </a:ext>
            </a:extLst>
          </p:cNvPr>
          <p:cNvSpPr>
            <a:spLocks xmlns:a="http://schemas.openxmlformats.org/drawingml/2006/main" noGrp="1"/>
          </p:cNvSpPr>
          <p:nvPr>
            <p:ph idx="13"/>
          </p:nvPr>
        </p:nvSpPr>
        <p:spPr>
          <a:xfrm xmlns:a="http://schemas.openxmlformats.org/drawingml/2006/main">
            <a:off x="4282440" y="4224973"/>
            <a:ext cx="3566160" cy="1920240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11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A876F524-B8CA-40C6-A0EF-651AC4A116F8}"/>
              </a:ext>
            </a:extLst>
          </p:cNvPr>
          <p:cNvSpPr>
            <a:spLocks xmlns:a="http://schemas.openxmlformats.org/drawingml/2006/main" noGrp="1"/>
          </p:cNvSpPr>
          <p:nvPr>
            <p:ph idx="14"/>
          </p:nvPr>
        </p:nvSpPr>
        <p:spPr>
          <a:xfrm xmlns:a="http://schemas.openxmlformats.org/drawingml/2006/main">
            <a:off x="457200" y="2214562"/>
            <a:ext cx="3566160" cy="1920240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12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639D8F30-FC86-4B3F-950C-74937F148047}"/>
              </a:ext>
            </a:extLst>
          </p:cNvPr>
          <p:cNvSpPr>
            <a:spLocks xmlns:a="http://schemas.openxmlformats.org/drawingml/2006/main" noGrp="1"/>
          </p:cNvSpPr>
          <p:nvPr>
            <p:ph idx="15"/>
          </p:nvPr>
        </p:nvSpPr>
        <p:spPr>
          <a:xfrm xmlns:a="http://schemas.openxmlformats.org/drawingml/2006/main">
            <a:off x="457200" y="4224973"/>
            <a:ext cx="3566160" cy="1920240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</p:spTree>
  </p:cSld>
</p:sldLayout>
</file>

<file path=ppt/slideLayouts/slideLayout12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A567CFE0-C396-4D36-B2E9-5F5501617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8918" y="268288"/>
            <a:ext cx="718073" cy="164592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E050DA0-3A2E-48C9-B058-9EF8998CABE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6FF0C587-9403-4C4E-9000-6DE3E6F04E4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B3C38FB-5376-7847-947B-B0DF37F4E869}" type="datetime1">
              <a:t>3/10/2025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AC5762DE-631C-45FB-B2C6-BF2EE3A2AAD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82358209-3620-460E-B256-CA359D88434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B1586AD-4A7E-0849-8093-EAD90D5A9F23}" type="slidenum">
              <a:t>‹#›</a:t>
            </a:fld>
            <a:endParaRPr/>
          </a:p>
        </p:txBody>
      </p:sp>
    </p:spTree>
  </p:cSld>
</p:sldLayout>
</file>

<file path=ppt/slideLayouts/slideLayout13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49FCECE6-9306-4A0C-AC64-EB7C8F4A8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8918" y="268288"/>
            <a:ext cx="718073" cy="56692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892E2C64-C12F-401F-A7C4-2944A49668F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B72C199-AD90-5843-A6F5-7BD51DA8ED68}" type="datetime1">
              <a:t>3/10/2025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99947D58-2CF2-49A8-9F54-ED32463324B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3F0EDF70-DD33-447D-BD78-96CDEBA9383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B1586AD-4A7E-0849-8093-EAD90D5A9F23}" type="slidenum">
              <a:t>‹#›</a:t>
            </a:fld>
            <a:endParaRPr/>
          </a:p>
        </p:txBody>
      </p:sp>
    </p:spTree>
  </p:cSld>
</p:sldLayout>
</file>

<file path=ppt/slideLayouts/slideLayout14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445232AE-8582-4980-A566-D600606D5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8918" y="268288"/>
            <a:ext cx="718073" cy="56692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2E29F21-658C-43BE-8D13-40E03346F1D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199" y="995082"/>
            <a:ext cx="3566160" cy="1035424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800" b="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E1537A6E-CC31-4429-9070-F4E9D8B26111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762052" y="990600"/>
            <a:ext cx="3566160" cy="5135563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BA8DE14B-21E1-4C77-83E2-B054EE8EBB5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57199" y="2057400"/>
            <a:ext cx="3566160" cy="3657601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96D4D22B-6835-48F7-816B-FC808CB4DDC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909AB11-D970-6A4F-9568-BE0F7E998EAF}" type="datetime1">
              <a:t>3/10/2025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F084E467-09BA-4F46-A696-165C4F7FD0D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A8B4683E-992D-4D0B-B250-4A54C57A92D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B1586AD-4A7E-0849-8093-EAD90D5A9F23}" type="slidenum">
              <a:t>‹#›</a:t>
            </a:fld>
            <a:endParaRPr/>
          </a:p>
        </p:txBody>
      </p:sp>
    </p:spTree>
  </p:cSld>
</p:sldLayout>
</file>

<file path=ppt/slideLayouts/slideLayout15.xml><?xml version="1.0" encoding="utf-8"?>
<p:sldLayout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252A8F2A-C945-4D1E-A22B-7C596FD7B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6811" y="268288"/>
            <a:ext cx="4114800" cy="56692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8C4CD0D-71E7-451A-8AF6-E556106465E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199" y="995082"/>
            <a:ext cx="3566160" cy="1035424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800" b="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203BDF0-F8C9-4E90-879D-B7A0E573D1E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57199" y="2057400"/>
            <a:ext cx="3566160" cy="3657601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92E29061-06AF-422C-AD6D-CCFE5B8A693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161365" y="6124014"/>
            <a:ext cx="1752600" cy="365125"/>
          </a:xfrm>
        </p:spPr>
        <p:txBody>
          <a:bodyPr xmlns:a="http://schemas.openxmlformats.org/drawingml/2006/main"/>
          <a:lstStyle xmlns:a="http://schemas.openxmlformats.org/drawingml/2006/main">
            <a:lvl1pPr algn="l">
              <a:buNone/>
              <a:defRPr/>
            </a:lvl1pPr>
          </a:lstStyle>
          <a:p xmlns:a="http://schemas.openxmlformats.org/drawingml/2006/main">
            <a:fld id="{9CE56A97-F57C-EB4F-B66D-EBA07FB5A870}" type="datetime1">
              <a:t>3/10/2025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7801F8ED-DC8F-49FE-BBC2-619850CA239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174812" y="6356350"/>
            <a:ext cx="3863788" cy="3651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3E7DD8D8-97CF-471C-A279-675F0260CE6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B1586AD-4A7E-0849-8093-EAD90D5A9F23}" type="slidenum">
              <a:t>‹#›</a:t>
            </a:fld>
            <a:endParaRPr/>
          </a:p>
        </p:txBody>
      </p:sp>
      <p:sp>
        <p:nvSpPr>
          <p:cNvPr id="10" name="Picture Placeholder 9">
            <a:extLst xmlns:a="http://schemas.openxmlformats.org/drawingml/2006/main">
              <a:ext uri="{FF2B5EF4-FFF2-40B4-BE49-F238E27FC236}">
                <a16:creationId xmlns:a16="http://schemas.microsoft.com/office/drawing/2014/main" id="{20A90FC4-6A81-4119-A876-E42805F6C230}"/>
              </a:ext>
            </a:extLst>
          </p:cNvPr>
          <p:cNvSpPr>
            <a:spLocks xmlns:a="http://schemas.openxmlformats.org/drawingml/2006/main" noGrp="1"/>
          </p:cNvSpPr>
          <p:nvPr>
            <p:ph type="pic" idx="13"/>
          </p:nvPr>
        </p:nvSpPr>
        <p:spPr>
          <a:xfrm xmlns:a="http://schemas.openxmlformats.org/drawingml/2006/main">
            <a:off x="4760258" y="990600"/>
            <a:ext cx="4096512" cy="561181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icon to add picture</a:t>
            </a:r>
            <a:endParaRPr/>
          </a:p>
        </p:txBody>
      </p:sp>
    </p:spTree>
  </p:cSld>
</p:sldLayout>
</file>

<file path=ppt/slideLayouts/slideLayout16.xml><?xml version="1.0" encoding="utf-8"?>
<p:sldLayout xmlns:p="http://schemas.openxmlformats.org/presentationml/2006/main" type="picTx" preserve="1">
  <p:cSld name="Picture above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D9B7D2D7-E36B-4E11-844F-7A21AFD9F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6775" y="268288"/>
            <a:ext cx="1639457" cy="3639312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1359E8E-6671-487C-B344-1069C629317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8788" y="4267200"/>
            <a:ext cx="64770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800" b="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65A5843D-D606-46A0-BF29-1AC7D588039C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269874" y="268288"/>
            <a:ext cx="6858000" cy="363931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r>
              <a:t>Click icon to add picture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FD1621F8-34A2-4FE0-A6D0-E750FB344DBC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58788" y="4840941"/>
            <a:ext cx="6475412" cy="1304271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7D56C4B0-4BAA-4338-9280-79DD6C463C2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95ACBDA-91C1-514A-85E0-1F21AE545100}" type="datetime1">
              <a:t>3/10/2025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3D97676A-4753-41AE-8022-056DB483B52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E0ABE4FC-DC6A-43B3-86C1-EAEEED778C2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B1586AD-4A7E-0849-8093-EAD90D5A9F23}" type="slidenum">
              <a:t>‹#›</a:t>
            </a:fld>
            <a:endParaRPr/>
          </a:p>
        </p:txBody>
      </p:sp>
    </p:spTree>
  </p:cSld>
</p:sldLayout>
</file>

<file path=ppt/slideLayouts/slideLayout17.xml><?xml version="1.0" encoding="utf-8"?>
<p:sldLayout xmlns:p="http://schemas.openxmlformats.org/presentationml/2006/main" type="picTx" preserve="1">
  <p:cSld name="4 Pictures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3257D6EF-A9AF-48CC-95AC-2A7F5E57F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5471" y="268288"/>
            <a:ext cx="720761" cy="3639312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217BD8B-F45A-429E-9BE1-5A903047D94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8788" y="4267200"/>
            <a:ext cx="64770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800" b="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C933639A-17AF-4B94-B246-BB08CC28A22D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269874" y="268288"/>
            <a:ext cx="3006726" cy="363931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r>
              <a:t>Click icon to add picture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ADE49A46-55B8-4ECE-B32E-7F9E7FECE66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58788" y="4840941"/>
            <a:ext cx="6475412" cy="1304271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1E7DE0A4-28BF-4F07-84FB-C7DA7026A87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7DCBD03-3874-624E-8C12-156470122D46}" type="datetime1">
              <a:t>3/10/2025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876D80D4-0F92-47F6-9760-653BBFA606B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135CFEBE-7C8E-4591-8056-26E4DB6C567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B1586AD-4A7E-0849-8093-EAD90D5A9F23}" type="slidenum">
              <a:t>‹#›</a:t>
            </a:fld>
            <a:endParaRPr/>
          </a:p>
        </p:txBody>
      </p:sp>
      <p:sp>
        <p:nvSpPr>
          <p:cNvPr id="10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E6FFED33-CE43-4052-829B-BB094C0E62C5}"/>
              </a:ext>
            </a:extLst>
          </p:cNvPr>
          <p:cNvSpPr>
            <a:spLocks xmlns:a="http://schemas.openxmlformats.org/drawingml/2006/main" noGrp="1"/>
          </p:cNvSpPr>
          <p:nvPr>
            <p:ph type="pic" idx="13"/>
          </p:nvPr>
        </p:nvSpPr>
        <p:spPr>
          <a:xfrm xmlns:a="http://schemas.openxmlformats.org/drawingml/2006/main">
            <a:off x="3352800" y="268288"/>
            <a:ext cx="4701988" cy="177566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r>
              <a:t>Click icon to add picture</a:t>
            </a:r>
            <a:endParaRPr/>
          </a:p>
        </p:txBody>
      </p:sp>
      <p:sp>
        <p:nvSpPr>
          <p:cNvPr id="11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F2981CB1-EA5E-4A74-B115-B93E79C8AE04}"/>
              </a:ext>
            </a:extLst>
          </p:cNvPr>
          <p:cNvSpPr>
            <a:spLocks xmlns:a="http://schemas.openxmlformats.org/drawingml/2006/main" noGrp="1"/>
          </p:cNvSpPr>
          <p:nvPr>
            <p:ph type="pic" idx="14"/>
          </p:nvPr>
        </p:nvSpPr>
        <p:spPr>
          <a:xfrm xmlns:a="http://schemas.openxmlformats.org/drawingml/2006/main">
            <a:off x="3352800" y="2131935"/>
            <a:ext cx="2304288" cy="177566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r>
              <a:t>Click icon to add picture</a:t>
            </a:r>
            <a:endParaRPr/>
          </a:p>
        </p:txBody>
      </p:sp>
      <p:sp>
        <p:nvSpPr>
          <p:cNvPr id="12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60FCE469-494C-43A3-84FF-F01A22C778C6}"/>
              </a:ext>
            </a:extLst>
          </p:cNvPr>
          <p:cNvSpPr>
            <a:spLocks xmlns:a="http://schemas.openxmlformats.org/drawingml/2006/main" noGrp="1"/>
          </p:cNvSpPr>
          <p:nvPr>
            <p:ph type="pic" idx="15"/>
          </p:nvPr>
        </p:nvSpPr>
        <p:spPr>
          <a:xfrm xmlns:a="http://schemas.openxmlformats.org/drawingml/2006/main">
            <a:off x="5750500" y="2131935"/>
            <a:ext cx="2304288" cy="177566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r>
              <a:t>Click icon to add picture</a:t>
            </a:r>
            <a:endParaRPr/>
          </a:p>
        </p:txBody>
      </p:sp>
    </p:spTree>
  </p:cSld>
</p:sldLayout>
</file>

<file path=ppt/slideLayouts/slideLayout18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231F68F7-6B51-4F3A-9A21-6AD258097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2106" y="268288"/>
            <a:ext cx="1645920" cy="164592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0C2AF70-3F87-429A-8656-D5216795D47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CD6D9796-D6B6-4D93-B9B6-052CEE172B3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A20BA7DD-F62E-4EA3-AA55-510A4E8EA81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8CD043-48DB-C841-8358-A8BECD71437A}" type="datetime1">
              <a:t>3/10/2025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9BC9EBAA-19A4-43E2-972E-D93343AAABF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C920ED3-26D3-4D1B-9CCC-5A65B743C16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B1586AD-4A7E-0849-8093-EAD90D5A9F23}" type="slidenum">
              <a:t>‹#›</a:t>
            </a:fld>
            <a:endParaRPr/>
          </a:p>
        </p:txBody>
      </p:sp>
    </p:spTree>
  </p:cSld>
</p:sldLayout>
</file>

<file path=ppt/slideLayouts/slideLayout19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2FF9CC54-D996-40F7-BCCC-CE81356D8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8918" y="268288"/>
            <a:ext cx="718073" cy="56692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0717C0A8-585D-4A50-8E9E-B8D0CB8C9B5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543799" y="1035424"/>
            <a:ext cx="1322295" cy="5090739"/>
          </a:xfrm>
        </p:spPr>
        <p:txBody>
          <a:bodyPr xmlns:a="http://schemas.openxmlformats.org/drawingml/2006/main" vert="eaVert" anchor="t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1943550D-8D9A-4845-B419-B40E25487C6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035424"/>
            <a:ext cx="6019800" cy="5109789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0B3CC30C-0DFC-4B87-AA83-6EE767173C0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B373712-D0D5-DB49-9327-516989030F9D}" type="datetime1">
              <a:t>3/10/2025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9D37964-F87F-4304-B06F-538A55CCBBC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600A788-B267-48E8-B387-470CE8B32B3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B1586AD-4A7E-0849-8093-EAD90D5A9F23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9eb9f8fe84342be" /><Relationship Type="http://schemas.openxmlformats.org/officeDocument/2006/relationships/slideLayout" Target="/ppt/slideLayouts/slideLayout1.xml" Id="R5839f43448bf4fb3" /><Relationship Type="http://schemas.openxmlformats.org/officeDocument/2006/relationships/slideLayout" Target="/ppt/slideLayouts/slideLayout2.xml" Id="R51f8dc82fca44452" /><Relationship Type="http://schemas.openxmlformats.org/officeDocument/2006/relationships/slideLayout" Target="/ppt/slideLayouts/slideLayout3.xml" Id="R7802d361491c40c3" /><Relationship Type="http://schemas.openxmlformats.org/officeDocument/2006/relationships/slideLayout" Target="/ppt/slideLayouts/slideLayout4.xml" Id="R78812d54a9004aae" /><Relationship Type="http://schemas.openxmlformats.org/officeDocument/2006/relationships/slideLayout" Target="/ppt/slideLayouts/slideLayout5.xml" Id="Rb64959abb2124fc1" /><Relationship Type="http://schemas.openxmlformats.org/officeDocument/2006/relationships/slideLayout" Target="/ppt/slideLayouts/slideLayout6.xml" Id="R95d5e8edeca54902" /><Relationship Type="http://schemas.openxmlformats.org/officeDocument/2006/relationships/slideLayout" Target="/ppt/slideLayouts/slideLayout7.xml" Id="R928e321734c0427b" /><Relationship Type="http://schemas.openxmlformats.org/officeDocument/2006/relationships/slideLayout" Target="/ppt/slideLayouts/slideLayout8.xml" Id="R7ddf1b7663934a1c" /><Relationship Type="http://schemas.openxmlformats.org/officeDocument/2006/relationships/slideLayout" Target="/ppt/slideLayouts/slideLayout9.xml" Id="R111f7b9a599942a9" /><Relationship Type="http://schemas.openxmlformats.org/officeDocument/2006/relationships/slideLayout" Target="/ppt/slideLayouts/slideLayout10.xml" Id="Rba77063a791842de" /><Relationship Type="http://schemas.openxmlformats.org/officeDocument/2006/relationships/slideLayout" Target="/ppt/slideLayouts/slideLayout11.xml" Id="R663341dbe25f41e7" /><Relationship Type="http://schemas.openxmlformats.org/officeDocument/2006/relationships/slideLayout" Target="/ppt/slideLayouts/slideLayout12.xml" Id="R418a4bb991544563" /><Relationship Type="http://schemas.openxmlformats.org/officeDocument/2006/relationships/slideLayout" Target="/ppt/slideLayouts/slideLayout13.xml" Id="Ra880eef991dd43a6" /><Relationship Type="http://schemas.openxmlformats.org/officeDocument/2006/relationships/slideLayout" Target="/ppt/slideLayouts/slideLayout14.xml" Id="Rd177009ff02f4757" /><Relationship Type="http://schemas.openxmlformats.org/officeDocument/2006/relationships/slideLayout" Target="/ppt/slideLayouts/slideLayout15.xml" Id="R2bd6a5d3e32c4691" /><Relationship Type="http://schemas.openxmlformats.org/officeDocument/2006/relationships/slideLayout" Target="/ppt/slideLayouts/slideLayout16.xml" Id="Ra0d9273216a049b9" /><Relationship Type="http://schemas.openxmlformats.org/officeDocument/2006/relationships/slideLayout" Target="/ppt/slideLayouts/slideLayout17.xml" Id="Rc0b9e2904d184e40" /><Relationship Type="http://schemas.openxmlformats.org/officeDocument/2006/relationships/slideLayout" Target="/ppt/slideLayouts/slideLayout18.xml" Id="R7e6fa11f5b3343be" /><Relationship Type="http://schemas.openxmlformats.org/officeDocument/2006/relationships/slideLayout" Target="/ppt/slideLayouts/slideLayout19.xml" Id="Rf8e18e75bdbb4ea8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10F34F79-F435-4217-9DD1-627624A8E25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199" y="914400"/>
            <a:ext cx="6508377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BBAACD44-26E6-4339-A328-FDB8816CB8E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199" y="2209800"/>
            <a:ext cx="6508377" cy="39163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DC35943C-C360-4CDE-A1AE-AD759EF1DF6D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7198659" y="6356350"/>
            <a:ext cx="1752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100" b="1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 xmlns:a="http://schemas.openxmlformats.org/drawingml/2006/main">
            <a:fld id="{7C0D6520-0459-5A4E-9968-AEE1B7957765}" type="datetime1">
              <a:t>3/10/2025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E8D7622-2C89-4975-9F2A-7B1E451BE4B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74812" y="6356350"/>
            <a:ext cx="60071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100" b="1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6AC1CF3-1D35-4826-BFA1-D5EEB7298930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256494" y="361016"/>
            <a:ext cx="506506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2200" b="1">
                <a:solidFill>
                  <a:schemeClr val="bg1"/>
                </a:solidFill>
              </a:defRPr>
            </a:lvl1pPr>
          </a:lstStyle>
          <a:p xmlns:a="http://schemas.openxmlformats.org/drawingml/2006/main">
            <a:fld id="{0B1586AD-4A7E-0849-8093-EAD90D5A9F23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839f43448bf4fb3"/>
    <p:sldLayoutId xmlns:r="http://schemas.openxmlformats.org/officeDocument/2006/relationships" id="2147483650" r:id="R51f8dc82fca44452"/>
    <p:sldLayoutId xmlns:r="http://schemas.openxmlformats.org/officeDocument/2006/relationships" id="2147483651" r:id="R7802d361491c40c3"/>
    <p:sldLayoutId xmlns:r="http://schemas.openxmlformats.org/officeDocument/2006/relationships" id="2147483652" r:id="R78812d54a9004aae"/>
    <p:sldLayoutId xmlns:r="http://schemas.openxmlformats.org/officeDocument/2006/relationships" id="2147483653" r:id="Rb64959abb2124fc1"/>
    <p:sldLayoutId xmlns:r="http://schemas.openxmlformats.org/officeDocument/2006/relationships" id="2147483654" r:id="R95d5e8edeca54902"/>
    <p:sldLayoutId xmlns:r="http://schemas.openxmlformats.org/officeDocument/2006/relationships" id="2147483655" r:id="R928e321734c0427b"/>
    <p:sldLayoutId xmlns:r="http://schemas.openxmlformats.org/officeDocument/2006/relationships" id="2147483656" r:id="R7ddf1b7663934a1c"/>
    <p:sldLayoutId xmlns:r="http://schemas.openxmlformats.org/officeDocument/2006/relationships" id="2147483657" r:id="R111f7b9a599942a9"/>
    <p:sldLayoutId xmlns:r="http://schemas.openxmlformats.org/officeDocument/2006/relationships" id="2147483658" r:id="Rba77063a791842de"/>
    <p:sldLayoutId xmlns:r="http://schemas.openxmlformats.org/officeDocument/2006/relationships" id="2147483659" r:id="R663341dbe25f41e7"/>
    <p:sldLayoutId xmlns:r="http://schemas.openxmlformats.org/officeDocument/2006/relationships" id="2147483660" r:id="R418a4bb991544563"/>
    <p:sldLayoutId xmlns:r="http://schemas.openxmlformats.org/officeDocument/2006/relationships" id="2147483661" r:id="Ra880eef991dd43a6"/>
    <p:sldLayoutId xmlns:r="http://schemas.openxmlformats.org/officeDocument/2006/relationships" id="2147483662" r:id="Rd177009ff02f4757"/>
    <p:sldLayoutId xmlns:r="http://schemas.openxmlformats.org/officeDocument/2006/relationships" id="2147483663" r:id="R2bd6a5d3e32c4691"/>
    <p:sldLayoutId xmlns:r="http://schemas.openxmlformats.org/officeDocument/2006/relationships" id="2147483664" r:id="Ra0d9273216a049b9"/>
    <p:sldLayoutId xmlns:r="http://schemas.openxmlformats.org/officeDocument/2006/relationships" id="2147483665" r:id="Rc0b9e2904d184e40"/>
    <p:sldLayoutId xmlns:r="http://schemas.openxmlformats.org/officeDocument/2006/relationships" id="2147483666" r:id="R7e6fa11f5b3343be"/>
    <p:sldLayoutId xmlns:r="http://schemas.openxmlformats.org/officeDocument/2006/relationships" id="2147483667" r:id="Rf8e18e75bdbb4ea8"/>
  </p:sldLayoutIdLst>
  <p:hf hdr="0" ftr="0" dt="0"/>
  <p:txStyles>
    <p:titleStyle>
      <a:lvl1pPr xmlns:a="http://schemas.openxmlformats.org/drawingml/2006/main" algn="l" defTabSz="914400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spcBef>
          <a:spcPts val="1800"/>
        </a:spcBef>
        <a:buClr>
          <a:schemeClr val="accent1"/>
        </a:buClr>
        <a:buSzPct val="100000"/>
        <a:buFont typeface="Wingdings 2"/>
        <a:buChar char="¡"/>
        <a:defRPr sz="2000" kern="1200">
          <a:solidFill>
            <a:schemeClr val="tx2"/>
          </a:solidFill>
          <a:latin typeface="+mn-lt"/>
          <a:ea typeface="+mn-lt"/>
          <a:cs typeface="+mn-lt"/>
        </a:defRPr>
      </a:lvl1pPr>
      <a:lvl2pPr xmlns:a="http://schemas.openxmlformats.org/drawingml/2006/main" marL="457200" indent="-228600" algn="l" defTabSz="914400">
        <a:spcBef>
          <a:spcPts val="600"/>
        </a:spcBef>
        <a:buClr>
          <a:schemeClr val="accent1">
            <a:lumMod val="50000"/>
          </a:schemeClr>
        </a:buClr>
        <a:buSzPct val="100000"/>
        <a:buFont typeface="Wingdings 2"/>
        <a:buChar char="¡"/>
        <a:defRPr sz="1800" kern="1200">
          <a:solidFill>
            <a:schemeClr val="tx2"/>
          </a:solidFill>
          <a:latin typeface="+mn-lt"/>
          <a:ea typeface="+mn-lt"/>
          <a:cs typeface="+mn-lt"/>
        </a:defRPr>
      </a:lvl2pPr>
      <a:lvl3pPr xmlns:a="http://schemas.openxmlformats.org/drawingml/2006/main" marL="685800" indent="-228600" algn="l" defTabSz="914400">
        <a:spcBef>
          <a:spcPts val="600"/>
        </a:spcBef>
        <a:buClr>
          <a:schemeClr val="accent1"/>
        </a:buClr>
        <a:buSzPct val="100000"/>
        <a:buFont typeface="Wingdings 2"/>
        <a:buChar char="¡"/>
        <a:defRPr sz="1800" kern="1200">
          <a:solidFill>
            <a:schemeClr val="tx2"/>
          </a:solidFill>
          <a:latin typeface="+mn-lt"/>
          <a:ea typeface="+mn-lt"/>
          <a:cs typeface="+mn-lt"/>
        </a:defRPr>
      </a:lvl3pPr>
      <a:lvl4pPr xmlns:a="http://schemas.openxmlformats.org/drawingml/2006/main" marL="914400" indent="-228600" algn="l" defTabSz="914400">
        <a:spcBef>
          <a:spcPts val="600"/>
        </a:spcBef>
        <a:buClr>
          <a:schemeClr val="accent1">
            <a:lumMod val="50000"/>
          </a:schemeClr>
        </a:buClr>
        <a:buSzPct val="100000"/>
        <a:buFont typeface="Wingdings 2"/>
        <a:buChar char="¡"/>
        <a:defRPr sz="1800" kern="1200">
          <a:solidFill>
            <a:schemeClr val="tx2"/>
          </a:solidFill>
          <a:latin typeface="+mn-lt"/>
          <a:ea typeface="+mn-lt"/>
          <a:cs typeface="+mn-lt"/>
        </a:defRPr>
      </a:lvl4pPr>
      <a:lvl5pPr xmlns:a="http://schemas.openxmlformats.org/drawingml/2006/main" marL="1143000" indent="-228600" algn="l" defTabSz="914400">
        <a:spcBef>
          <a:spcPts val="600"/>
        </a:spcBef>
        <a:buClr>
          <a:schemeClr val="accent1"/>
        </a:buClr>
        <a:buSzPct val="100000"/>
        <a:buFont typeface="Wingdings 2"/>
        <a:buChar char="¡"/>
        <a:defRPr sz="1800" kern="1200">
          <a:solidFill>
            <a:schemeClr val="tx2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Plaza">
  <a:themeElements>
    <a:clrScheme name="Plaza">
      <a:dk1>
        <a:sysClr val="windowText" lastClr="000000"/>
      </a:dk1>
      <a:lt1>
        <a:sysClr val="window" lastClr="FFFFFF"/>
      </a:lt1>
      <a:dk2>
        <a:srgbClr val="333333"/>
      </a:dk2>
      <a:lt2>
        <a:srgbClr val="CCCCCC"/>
      </a:lt2>
      <a:accent1>
        <a:srgbClr val="990000"/>
      </a:accent1>
      <a:accent2>
        <a:srgbClr val="580101"/>
      </a:accent2>
      <a:accent3>
        <a:srgbClr val="E94A00"/>
      </a:accent3>
      <a:accent4>
        <a:srgbClr val="EB8F00"/>
      </a:accent4>
      <a:accent5>
        <a:srgbClr val="A4A4A4"/>
      </a:accent5>
      <a:accent6>
        <a:srgbClr val="666666"/>
      </a:accent6>
      <a:hlink>
        <a:srgbClr val="D01010"/>
      </a:hlink>
      <a:folHlink>
        <a:srgbClr val="E6682E"/>
      </a:folHlink>
    </a:clrScheme>
    <a:fontScheme name="Plaza">
      <a:majorFont>
        <a:latin typeface="Century Gothic"/>
        <a:ea typeface=""/>
        <a:cs typeface=""/>
        <a:font script="Jpan" typeface="メイリオ"/>
      </a:majorFont>
      <a:minorFont>
        <a:latin typeface="Century Gothic"/>
        <a:ea typeface=""/>
        <a:cs typeface=""/>
        <a:font script="Jpan" typeface="メイリオ"/>
      </a:minorFont>
    </a:fontScheme>
    <a:fmtScheme name="Plaza">
      <a: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60000"/>
                <a:satMod val="135000"/>
              </a:schemeClr>
            </a:gs>
            <a:gs pos="100000">
              <a:schemeClr val="phClr">
                <a:tint val="100000"/>
                <a:shade val="100000"/>
                <a:satMod val="135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70000"/>
                <a:satMod val="120000"/>
              </a:schemeClr>
            </a:gs>
            <a:gs pos="35000">
              <a:schemeClr val="phClr">
                <a:shade val="100000"/>
                <a:satMod val="150000"/>
              </a:schemeClr>
            </a:gs>
            <a:gs pos="70000">
              <a:schemeClr val="phClr">
                <a:tint val="100000"/>
                <a:shade val="100000"/>
                <a:satMod val="200000"/>
              </a:schemeClr>
            </a:gs>
            <a:gs pos="100000">
              <a:schemeClr val="phClr">
                <a:tint val="100000"/>
                <a:shade val="100000"/>
                <a:satMod val="250000"/>
              </a:schemeClr>
            </a:gs>
          </a:gsLst>
          <a:lin ang="16200000" scaled="1"/>
        </a:gradFill>
      </a:fillStyleLst>
      <a:lnStyleLst>
        <a:ln w="12700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17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190500" dist="63500" dir="5400000">
              <a:srgbClr val="FFFFFF">
                <a:alpha val="65000"/>
              </a:srgbClr>
            </a:innerShdw>
          </a:effectLst>
        </a:effectStyle>
        <a:effectStyle>
          <a:effectLst>
            <a:innerShdw blurRad="50800" dist="25400" dir="13500000">
              <a:srgbClr val="FFFFFF">
                <a:alpha val="75000"/>
              </a:srgbClr>
            </a:innerShdw>
            <a:outerShdw blurRad="88900" dist="38100" dir="6600000" sx="101000" sy="101000" rotWithShape="0">
              <a:srgbClr val="000000">
                <a:alpha val="5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6363bf97294318" /><Relationship Type="http://schemas.openxmlformats.org/officeDocument/2006/relationships/image" Target="/ppt/media/image.png" Id="R1dc62a82428a4c74" /><Relationship Type="http://schemas.openxmlformats.org/officeDocument/2006/relationships/image" Target="/ppt/media/image2.png" Id="R88411d769939484d" /><Relationship Type="http://schemas.openxmlformats.org/officeDocument/2006/relationships/notesSlide" Target="/ppt/notesSlides/notesSlide1.xml" Id="R74497adc04f44e1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3.xml" Id="R35ead749e4e242ae" /><Relationship Type="http://schemas.openxmlformats.org/officeDocument/2006/relationships/notesSlide" Target="/ppt/notesSlides/notesSlide2.xml" Id="Rfb40691c0bdd413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3.xml" Id="R1b059ae7cfbc48b3" /><Relationship Type="http://schemas.openxmlformats.org/officeDocument/2006/relationships/image" Target="/ppt/media/image3.png" Id="Ra6ced9a5e5e840ef" /><Relationship Type="http://schemas.openxmlformats.org/officeDocument/2006/relationships/image" Target="/ppt/media/image.jpeg" Id="Reca547ce1d6e442c" /><Relationship Type="http://schemas.openxmlformats.org/officeDocument/2006/relationships/image" Target="/ppt/media/image2.jpeg" Id="R6cfcd21e8afe4e4f" /><Relationship Type="http://schemas.openxmlformats.org/officeDocument/2006/relationships/image" Target="/ppt/media/image3.jpeg" Id="R2a2f34db8855461b" /><Relationship Type="http://schemas.openxmlformats.org/officeDocument/2006/relationships/image" Target="/ppt/media/image4.jpeg" Id="R8127d3cc86674581" /><Relationship Type="http://schemas.openxmlformats.org/officeDocument/2006/relationships/notesSlide" Target="/ppt/notesSlides/notesSlide3.xml" Id="R355c386b9af6454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3.xml" Id="Re4a595eef3e640dc" /><Relationship Type="http://schemas.openxmlformats.org/officeDocument/2006/relationships/notesSlide" Target="/ppt/notesSlides/notesSlide4.xml" Id="Rc83824d4931f4ce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3.xml" Id="Rb3fd5c92def445f8" /><Relationship Type="http://schemas.openxmlformats.org/officeDocument/2006/relationships/notesSlide" Target="/ppt/notesSlides/notesSlide5.xml" Id="Rdeb492c29df147f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3.xml" Id="R64e5342daa8e4189" /><Relationship Type="http://schemas.openxmlformats.org/officeDocument/2006/relationships/notesSlide" Target="/ppt/notesSlides/notesSlide6.xml" Id="R24b3a1b1710141c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3.xml" Id="Re9dcb5cac07e480b" /><Relationship Type="http://schemas.openxmlformats.org/officeDocument/2006/relationships/notesSlide" Target="/ppt/notesSlides/notesSlide7.xml" Id="Ra5e6c5a25f34423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3.xml" Id="Ra5ed1bd16504403e" /><Relationship Type="http://schemas.openxmlformats.org/officeDocument/2006/relationships/notesSlide" Target="/ppt/notesSlides/notesSlide8.xml" Id="Rf796f7712dd2446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3.xml" Id="R970058b1b5104773" /><Relationship Type="http://schemas.openxmlformats.org/officeDocument/2006/relationships/notesSlide" Target="/ppt/notesSlides/notesSlide9.xml" Id="R7e8462d555d44ac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3.xml" Id="R184a6c54d98f4880" /><Relationship Type="http://schemas.openxmlformats.org/officeDocument/2006/relationships/notesSlide" Target="/ppt/notesSlides/notesSlide10.xml" Id="R02aa8448f11b4dc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3.xml" Id="Rde7326e3f4f047d7" /><Relationship Type="http://schemas.openxmlformats.org/officeDocument/2006/relationships/notesSlide" Target="/ppt/notesSlides/notesSlide11.xml" Id="Rcc9bb2e3433f459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3.xml" Id="Rf6ed34f66f3b4361" /><Relationship Type="http://schemas.openxmlformats.org/officeDocument/2006/relationships/notesSlide" Target="/ppt/notesSlides/notesSlide12.xml" Id="R76e987a9e8cd4b05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3.xml" Id="Rbc3f8ac6b7c242f7" /><Relationship Type="http://schemas.openxmlformats.org/officeDocument/2006/relationships/notesSlide" Target="/ppt/notesSlides/notesSlide13.xml" Id="R79b6a8c739c24951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3.xml" Id="R08850ff054e544fc" /><Relationship Type="http://schemas.openxmlformats.org/officeDocument/2006/relationships/notesSlide" Target="/ppt/notesSlides/notesSlide14.xml" Id="R3f8f3da503ca4679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3.xml" Id="Ra9cac36bc5b14bb2" /><Relationship Type="http://schemas.openxmlformats.org/officeDocument/2006/relationships/notesSlide" Target="/ppt/notesSlides/notesSlide15.xml" Id="R1a092a3b46fc4e64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3.xml" Id="R3e51aba587b54706" /><Relationship Type="http://schemas.openxmlformats.org/officeDocument/2006/relationships/notesSlide" Target="/ppt/notesSlides/notesSlide16.xml" Id="R4fac958343de40e4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3.xml" Id="R8f1dfa9189ee4db8" /><Relationship Type="http://schemas.openxmlformats.org/officeDocument/2006/relationships/notesSlide" Target="/ppt/notesSlides/notesSlide17.xml" Id="R3bafb535cbf0436b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3.xml" Id="Rf332c1eacc814f46" /><Relationship Type="http://schemas.openxmlformats.org/officeDocument/2006/relationships/notesSlide" Target="/ppt/notesSlides/notesSlide18.xml" Id="R911f06e37b144657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3.xml" Id="R022d2495760d4ab2" /><Relationship Type="http://schemas.openxmlformats.org/officeDocument/2006/relationships/notesSlide" Target="/ppt/notesSlides/notesSlide19.xml" Id="Ra4e10154ed5c414a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3.xml" Id="Rc9ca5ae1f2f843ea" /><Relationship Type="http://schemas.openxmlformats.org/officeDocument/2006/relationships/notesSlide" Target="/ppt/notesSlides/notesSlide20.xml" Id="R6cc5f372aa1d4d43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3.xml" Id="R58887e2b98e94087" /><Relationship Type="http://schemas.openxmlformats.org/officeDocument/2006/relationships/notesSlide" Target="/ppt/notesSlides/notesSlide21.xml" Id="Rd3ccd6ca1ca54ea9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3.xml" Id="Re3d22b515fbe434e" /><Relationship Type="http://schemas.openxmlformats.org/officeDocument/2006/relationships/notesSlide" Target="/ppt/notesSlides/notesSlide22.xml" Id="Re66e649950a24385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3.xml" Id="R3730ba8229f94911" /><Relationship Type="http://schemas.openxmlformats.org/officeDocument/2006/relationships/notesSlide" Target="/ppt/notesSlides/notesSlide23.xml" Id="Rf44c0f0b2f6d493e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3.xml" Id="Rc7af8fad4cdc4ae2" /><Relationship Type="http://schemas.openxmlformats.org/officeDocument/2006/relationships/notesSlide" Target="/ppt/notesSlides/notesSlide24.xml" Id="R9b0be734c4ef468b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3.xml" Id="Rdc2d33c3c2ad47ac" /><Relationship Type="http://schemas.openxmlformats.org/officeDocument/2006/relationships/notesSlide" Target="/ppt/notesSlides/notesSlide25.xml" Id="Re519cfafb9704276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3.xml" Id="R5793df895a174028" /><Relationship Type="http://schemas.openxmlformats.org/officeDocument/2006/relationships/notesSlide" Target="/ppt/notesSlides/notesSlide26.xml" Id="R50475369263f471c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3.xml" Id="R8458ce63466b4d88" /><Relationship Type="http://schemas.openxmlformats.org/officeDocument/2006/relationships/notesSlide" Target="/ppt/notesSlides/notesSlide27.xml" Id="R5de3179e48534fa2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3.xml" Id="R0d3d6c2659cd446e" /><Relationship Type="http://schemas.openxmlformats.org/officeDocument/2006/relationships/notesSlide" Target="/ppt/notesSlides/notesSlide28.xml" Id="R8a9ea6fa5a684dd1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3.xml" Id="R33faa356817f4eae" /><Relationship Type="http://schemas.openxmlformats.org/officeDocument/2006/relationships/notesSlide" Target="/ppt/notesSlides/notesSlide29.xml" Id="Ra05d4981075b4304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3.xml" Id="Rffa8b0f75bc846f1" /><Relationship Type="http://schemas.openxmlformats.org/officeDocument/2006/relationships/notesSlide" Target="/ppt/notesSlides/notesSlide30.xml" Id="R6d5c634072534ba7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3.xml" Id="R16a83c8d6f4b42fc" /><Relationship Type="http://schemas.openxmlformats.org/officeDocument/2006/relationships/notesSlide" Target="/ppt/notesSlides/notesSlide31.xml" Id="R6379a20a9f494690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3.xml" Id="R9a0fbe68413e492e" /><Relationship Type="http://schemas.openxmlformats.org/officeDocument/2006/relationships/notesSlide" Target="/ppt/notesSlides/notesSlide32.xml" Id="R77b747288a044ee6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3.xml" Id="R969a721ce2df4c9d" /><Relationship Type="http://schemas.openxmlformats.org/officeDocument/2006/relationships/notesSlide" Target="/ppt/notesSlides/notesSlide33.xml" Id="R0216f8fa0027420a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3.xml" Id="Re6b5484958374a7a" /><Relationship Type="http://schemas.openxmlformats.org/officeDocument/2006/relationships/notesSlide" Target="/ppt/notesSlides/notesSlide34.xml" Id="Rb9387168dce64f96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3.xml" Id="R3929f1d397a74920" /><Relationship Type="http://schemas.openxmlformats.org/officeDocument/2006/relationships/notesSlide" Target="/ppt/notesSlides/notesSlide35.xml" Id="R73e9e1880ca948ec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3.xml" Id="Rf0c23e77b68b4ab6" /><Relationship Type="http://schemas.openxmlformats.org/officeDocument/2006/relationships/notesSlide" Target="/ppt/notesSlides/notesSlide36.xml" Id="R0bd2a1699de9411c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3.xml" Id="Rc41c93adfbb14c13" /><Relationship Type="http://schemas.openxmlformats.org/officeDocument/2006/relationships/notesSlide" Target="/ppt/notesSlides/notesSlide37.xml" Id="R75520d77ce86471c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3.xml" Id="R0fc681df2ddf4b5e" /><Relationship Type="http://schemas.openxmlformats.org/officeDocument/2006/relationships/notesSlide" Target="/ppt/notesSlides/notesSlide38.xml" Id="R03a3f60a934e48cc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3.xml" Id="Rcd1151474b1f4e82" /><Relationship Type="http://schemas.openxmlformats.org/officeDocument/2006/relationships/notesSlide" Target="/ppt/notesSlides/notesSlide39.xml" Id="R58400d2937d54387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3.xml" Id="Ra6155b7446344096" /><Relationship Type="http://schemas.openxmlformats.org/officeDocument/2006/relationships/notesSlide" Target="/ppt/notesSlides/notesSlide40.xml" Id="R41b39c73bc774fb9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3.xml" Id="R1b983fc4b2534981" /><Relationship Type="http://schemas.openxmlformats.org/officeDocument/2006/relationships/notesSlide" Target="/ppt/notesSlides/notesSlide41.xml" Id="Rd9df2f079fbb4861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3.xml" Id="Rfcc1016ab6334e51" /><Relationship Type="http://schemas.openxmlformats.org/officeDocument/2006/relationships/notesSlide" Target="/ppt/notesSlides/notesSlide42.xml" Id="R6d08ce223cfa4b82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3.xml" Id="Rb6c9d2c2117b4ee6" /><Relationship Type="http://schemas.openxmlformats.org/officeDocument/2006/relationships/notesSlide" Target="/ppt/notesSlides/notesSlide43.xml" Id="R4b16a2c5ca09413c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3.xml" Id="R4987206ad4724ec9" /><Relationship Type="http://schemas.openxmlformats.org/officeDocument/2006/relationships/notesSlide" Target="/ppt/notesSlides/notesSlide44.xml" Id="Re46ab968817e42d4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3.xml" Id="R6a9fb20ff8434740" /><Relationship Type="http://schemas.openxmlformats.org/officeDocument/2006/relationships/notesSlide" Target="/ppt/notesSlides/notesSlide45.xml" Id="Rbc44bad0d1e74ea2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3.xml" Id="R68c891d140d940f0" /><Relationship Type="http://schemas.openxmlformats.org/officeDocument/2006/relationships/notesSlide" Target="/ppt/notesSlides/notesSlide46.xml" Id="R307ce401398e420e" /></Relationships>
</file>

<file path=ppt/slides/_rels/slide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3.xml" Id="R1550e63a684e4f64" /><Relationship Type="http://schemas.openxmlformats.org/officeDocument/2006/relationships/notesSlide" Target="/ppt/notesSlides/notesSlide47.xml" Id="R7f91a426a2b9404d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5F3511E-CD74-4EF5-84EB-4C9E32AF9F87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704676" y="3786412"/>
            <a:ext cx="7908056" cy="2100225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800" b="1">
                <a:latin typeface="Times New Roman"/>
                <a:ea typeface="Times New Roman"/>
                <a:cs typeface="Times New Roman"/>
              </a:rPr>
              <a:t>KMB689: Big Data for Business Applications</a:t>
            </a:r>
            <a:endParaRPr sz="2800"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algn="ctr">
              <a:buNone/>
            </a:pPr>
            <a:r>
              <a:rPr sz="2800" b="1">
                <a:latin typeface="Times New Roman"/>
                <a:ea typeface="Times New Roman"/>
                <a:cs typeface="Times New Roman"/>
              </a:rPr>
              <a:t/>
            </a:r>
            <a:endParaRPr sz="2800"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algn="ctr">
              <a:buNone/>
            </a:pPr>
            <a:r>
              <a:rPr sz="2800" b="1">
                <a:latin typeface="Times New Roman"/>
                <a:ea typeface="Times New Roman"/>
                <a:cs typeface="Times New Roman"/>
              </a:rPr>
              <a:t>Seminar 1</a:t>
            </a:r>
            <a:endParaRPr sz="2800"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algn="ctr">
              <a:buNone/>
            </a:pPr>
            <a:r>
              <a:rPr sz="2800" b="1">
                <a:latin typeface="Times New Roman"/>
                <a:ea typeface="Times New Roman"/>
                <a:cs typeface="Times New Roman"/>
              </a:rPr>
              <a:t>Course Introduction</a:t>
            </a:r>
            <a:endParaRPr sz="280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CDC4BCC5-22C3-431F-8C35-975D8BA476CD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892141" y="5886637"/>
            <a:ext cx="7707253" cy="998469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000" i="1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</a:rPr>
              <a:t>Instructor: Prof. Gun-woong </a:t>
            </a:r>
            <a:r>
              <a:rPr sz="2000" i="1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</a:rPr>
              <a:t>Lee </a:t>
            </a:r>
            <a:endParaRPr sz="2000" i="1">
              <a:solidFill>
                <a:schemeClr val="accent2"/>
              </a:solidFill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algn="ctr">
              <a:buNone/>
            </a:pPr>
            <a:r>
              <a:rPr sz="2000" i="1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</a:rPr>
              <a:t>Korea</a:t>
            </a:r>
            <a:r>
              <a:rPr sz="2000" i="1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2000" i="1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</a:rPr>
              <a:t>University </a:t>
            </a:r>
            <a:r>
              <a:rPr sz="2000" i="1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</a:rPr>
              <a:t>Business School</a:t>
            </a:r>
          </a:p>
          <a:p xmlns:a="http://schemas.openxmlformats.org/drawingml/2006/main">
            <a:endParaRPr sz="200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011A1E5-F6C8-4B32-8BC9-23E340C89CE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AD75FED6-38D0-DE9C-92C0-6E7FA635581C}" type="slidenum">
              <a:rPr>
                <a:latin typeface="Times New Roman"/>
                <a:ea typeface="Times New Roman"/>
                <a:cs typeface="Times New Roman"/>
              </a:rPr>
              <a:t>1</a:t>
            </a:fld>
            <a:endParaRPr>
              <a:latin typeface="Times New Roman"/>
              <a:ea typeface="Times New Roman"/>
              <a:cs typeface="Times New Roman"/>
            </a:endParaRPr>
          </a:p>
        </p:txBody>
      </p:sp>
      <p:pic>
        <p:nvPicPr>
          <p:cNvPr id="14" name="Picture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c62a82428a4c74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4676" y="301142"/>
            <a:ext cx="2189527" cy="67319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7" name="AutoShape 4">
            <a:extLst xmlns:a="http://schemas.openxmlformats.org/drawingml/2006/main">
              <a:ext uri="{FF2B5EF4-FFF2-40B4-BE49-F238E27FC236}">
                <a16:creationId xmlns:a16="http://schemas.microsoft.com/office/drawing/2014/main" id="{1F3A2FD8-B7AA-0ABF-CB4C-7801835EE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276600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AutoShape 6">
            <a:extLst xmlns:a="http://schemas.openxmlformats.org/drawingml/2006/main">
              <a:ext uri="{FF2B5EF4-FFF2-40B4-BE49-F238E27FC236}">
                <a16:creationId xmlns:a16="http://schemas.microsoft.com/office/drawing/2014/main" id="{F66D9CC3-D19D-7FAD-DDDE-D547DB8ED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731982"/>
            <a:ext cx="3001818" cy="300181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17" name="Picture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8411d769939484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63117" y="301142"/>
            <a:ext cx="5553223" cy="380603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4713518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Number Placeholder 1">
            <a:extLst xmlns:a="http://schemas.openxmlformats.org/drawingml/2006/main">
              <a:ext uri="{FF2B5EF4-FFF2-40B4-BE49-F238E27FC236}">
                <a16:creationId xmlns:a16="http://schemas.microsoft.com/office/drawing/2014/main" id="{7A530F9C-DFE1-0934-66F6-E74036D1F40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598689-54C9-18A7-3A19-ED76AA08988F}" type="slidenum">
              <a:t>2</a:t>
            </a:fld>
            <a:endParaRPr/>
          </a:p>
        </p:txBody>
      </p:sp>
      <p:sp>
        <p:nvSpPr>
          <p:cNvPr id="3" name="wk1-title">
            <a:extLst xmlns:a="http://schemas.openxmlformats.org/drawingml/2006/main">
              <a:ext uri="{FF2B5EF4-FFF2-40B4-BE49-F238E27FC236}">
                <a16:creationId xmlns:a16="http://schemas.microsoft.com/office/drawing/2014/main" id="{628FB698-24DF-436B-9550-C34C22C7E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7334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A5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A50000"/>
                </a:solidFill>
                <a:latin typeface="Apple SD Gothic Neo"/>
                <a:ea typeface="Apple SD Gothic Neo"/>
                <a:cs typeface="Apple SD Gothic Neo"/>
              </a:rPr>
              <a:t>오늘의 흐름</a:t>
            </a:r>
          </a:p>
        </p:txBody>
      </p:sp>
      <p:sp>
        <p:nvSpPr>
          <p:cNvPr id="4" name="wk1-section">
            <a:extLst xmlns:a="http://schemas.openxmlformats.org/drawingml/2006/main">
              <a:ext uri="{FF2B5EF4-FFF2-40B4-BE49-F238E27FC236}">
                <a16:creationId xmlns:a16="http://schemas.microsoft.com/office/drawing/2014/main" id="{727EF82A-26F6-4DD6-B569-7D7A145FC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885825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0206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002060"/>
                </a:solidFill>
                <a:latin typeface="Apple SD Gothic Neo"/>
                <a:ea typeface="Apple SD Gothic Neo"/>
                <a:cs typeface="Apple SD Gothic Neo"/>
              </a:rPr>
              <a:t>ORIENTATION</a:t>
            </a:r>
          </a:p>
        </p:txBody>
      </p:sp>
      <p:sp>
        <p:nvSpPr>
          <p:cNvPr id="5" name="wk1-bullets">
            <a:extLst xmlns:a="http://schemas.openxmlformats.org/drawingml/2006/main">
              <a:ext uri="{FF2B5EF4-FFF2-40B4-BE49-F238E27FC236}">
                <a16:creationId xmlns:a16="http://schemas.microsoft.com/office/drawing/2014/main" id="{D4F95EFB-7473-44A2-A849-0EAA0019D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1524000"/>
            <a:ext cx="676275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marL="304800" indent="-152400">
              <a:lnSpc>
                <a:spcPct val="112000"/>
              </a:lnSpc>
              <a:spcAft>
                <a:spcPts val="1800"/>
              </a:spcAft>
              <a:buNone/>
              <a:defRPr sz="2025">
                <a:solidFill>
                  <a:srgbClr val="3333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>
                <a:solidFill>
                  <a:srgbClr val="333333"/>
                </a:solidFill>
                <a:latin typeface="Apple SD Gothic Neo"/>
                <a:ea typeface="Apple SD Gothic Neo"/>
                <a:cs typeface="Apple SD Gothic Neo"/>
              </a:rPr>
              <a:t>오리엔테이션과 과목의 범위</a:t>
            </a:r>
          </a:p>
          <a:p xmlns:a="http://schemas.openxmlformats.org/drawingml/2006/main">
            <a:pPr marL="304800" indent="-152400">
              <a:lnSpc>
                <a:spcPct val="112000"/>
              </a:lnSpc>
              <a:spcAft>
                <a:spcPts val="1800"/>
              </a:spcAft>
              <a:buNone/>
              <a:defRPr sz="2025">
                <a:solidFill>
                  <a:srgbClr val="3333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>
                <a:solidFill>
                  <a:srgbClr val="333333"/>
                </a:solidFill>
                <a:latin typeface="Apple SD Gothic Neo"/>
                <a:ea typeface="Apple SD Gothic Neo"/>
                <a:cs typeface="Apple SD Gothic Neo"/>
              </a:rPr>
              <a:t>왜 관리자가 분석을 감독하는가</a:t>
            </a:r>
          </a:p>
          <a:p xmlns:a="http://schemas.openxmlformats.org/drawingml/2006/main">
            <a:pPr marL="304800" indent="-152400">
              <a:lnSpc>
                <a:spcPct val="112000"/>
              </a:lnSpc>
              <a:spcAft>
                <a:spcPts val="1800"/>
              </a:spcAft>
              <a:buNone/>
              <a:defRPr sz="2025">
                <a:solidFill>
                  <a:srgbClr val="3333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>
                <a:solidFill>
                  <a:srgbClr val="333333"/>
                </a:solidFill>
                <a:latin typeface="Apple SD Gothic Neo"/>
                <a:ea typeface="Apple SD Gothic Neo"/>
                <a:cs typeface="Apple SD Gothic Neo"/>
              </a:rPr>
              <a:t>두 개의 보고서를 읽고 각자 판정</a:t>
            </a:r>
          </a:p>
          <a:p xmlns:a="http://schemas.openxmlformats.org/drawingml/2006/main">
            <a:pPr marL="304800" indent="-152400">
              <a:lnSpc>
                <a:spcPct val="112000"/>
              </a:lnSpc>
              <a:spcAft>
                <a:spcPts val="1800"/>
              </a:spcAft>
              <a:buNone/>
              <a:defRPr sz="2025">
                <a:solidFill>
                  <a:srgbClr val="3333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>
                <a:solidFill>
                  <a:srgbClr val="333333"/>
                </a:solidFill>
                <a:latin typeface="Apple SD Gothic Neo"/>
                <a:ea typeface="Apple SD Gothic Neo"/>
                <a:cs typeface="Apple SD Gothic Neo"/>
              </a:rPr>
              <a:t>학생의 질문을 16주 로드맵에 연결</a:t>
            </a:r>
          </a:p>
        </p:txBody>
      </p:sp>
    </p:spTree>
    <p:extLst>
      <p:ext uri="{BB962C8B-B14F-4D97-AF65-F5344CB8AC3E}">
        <p14:creationId xmlns:p14="http://schemas.microsoft.com/office/powerpoint/2010/main" val="186225597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 1">
            <a:extLst xmlns:a="http://schemas.openxmlformats.org/drawingml/2006/main">
              <a:ext uri="{FF2B5EF4-FFF2-40B4-BE49-F238E27FC236}">
                <a16:creationId xmlns:a16="http://schemas.microsoft.com/office/drawing/2014/main" id="{EB5E97F3-033F-444E-B4C4-8F57D57C0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338" y="428657"/>
            <a:ext cx="6807201" cy="61623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algn="l" defTabSz="914400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r>
              <a:rPr sz="3200" b="1">
                <a:latin typeface="+mn-lt"/>
                <a:ea typeface="+mn-lt"/>
                <a:cs typeface="+mn-lt"/>
              </a:rPr>
              <a:t>강사소개</a:t>
            </a:r>
            <a:endParaRPr sz="3200" b="1">
              <a:latin typeface="+mn-lt"/>
              <a:ea typeface="+mn-lt"/>
              <a:cs typeface="+mn-lt"/>
            </a:endParaRPr>
          </a:p>
        </p:txBody>
      </p:sp>
      <p:sp>
        <p:nvSpPr>
          <p:cNvPr id="6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84B8AB76-65C7-4AB6-831B-AE77F3EDC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394" y="1399263"/>
            <a:ext cx="8803210" cy="273800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228600" indent="-228600" algn="l" defTabSz="914400">
              <a:spcBef>
                <a:spcPts val="1800"/>
              </a:spcBef>
              <a:buClr>
                <a:schemeClr val="accent1"/>
              </a:buClr>
              <a:buSzPct val="100000"/>
              <a:buFont typeface="Wingdings 2"/>
              <a:buChar char="¡"/>
              <a:defRPr sz="2000" kern="1200">
                <a:solidFill>
                  <a:schemeClr val="tx2"/>
                </a:solidFill>
                <a:latin typeface="+mn-lt"/>
                <a:ea typeface="+mn-lt"/>
                <a:cs typeface="+mn-lt"/>
              </a:defRPr>
            </a:lvl1pPr>
            <a:lvl2pPr marL="457200" indent="-228600" algn="l" defTabSz="914400">
              <a:spcBef>
                <a:spcPts val="600"/>
              </a:spcBef>
              <a:buClr>
                <a:schemeClr val="accent1">
                  <a:lumMod val="50000"/>
                </a:schemeClr>
              </a:buClr>
              <a:buSzPct val="100000"/>
              <a:buFont typeface="Wingdings 2"/>
              <a:buChar char="¡"/>
              <a:defRPr sz="1800" kern="1200">
                <a:solidFill>
                  <a:schemeClr val="tx2"/>
                </a:solidFill>
                <a:latin typeface="+mn-lt"/>
                <a:ea typeface="+mn-lt"/>
                <a:cs typeface="+mn-lt"/>
              </a:defRPr>
            </a:lvl2pPr>
            <a:lvl3pPr marL="685800" indent="-228600" algn="l" defTabSz="914400">
              <a:spcBef>
                <a:spcPts val="600"/>
              </a:spcBef>
              <a:buClr>
                <a:schemeClr val="accent1"/>
              </a:buClr>
              <a:buSzPct val="100000"/>
              <a:buFont typeface="Wingdings 2"/>
              <a:buChar char="¡"/>
              <a:defRPr sz="1800" kern="1200">
                <a:solidFill>
                  <a:schemeClr val="tx2"/>
                </a:solidFill>
                <a:latin typeface="+mn-lt"/>
                <a:ea typeface="+mn-lt"/>
                <a:cs typeface="+mn-lt"/>
              </a:defRPr>
            </a:lvl3pPr>
            <a:lvl4pPr marL="914400" indent="-228600" algn="l" defTabSz="914400">
              <a:spcBef>
                <a:spcPts val="600"/>
              </a:spcBef>
              <a:buClr>
                <a:schemeClr val="accent1">
                  <a:lumMod val="50000"/>
                </a:schemeClr>
              </a:buClr>
              <a:buSzPct val="100000"/>
              <a:buFont typeface="Wingdings 2"/>
              <a:buChar char="¡"/>
              <a:defRPr sz="1800" kern="1200">
                <a:solidFill>
                  <a:schemeClr val="tx2"/>
                </a:solidFill>
                <a:latin typeface="+mn-lt"/>
                <a:ea typeface="+mn-lt"/>
                <a:cs typeface="+mn-lt"/>
              </a:defRPr>
            </a:lvl4pPr>
            <a:lvl5pPr marL="1143000" indent="-228600" algn="l" defTabSz="914400">
              <a:spcBef>
                <a:spcPts val="600"/>
              </a:spcBef>
              <a:buClr>
                <a:schemeClr val="accent1"/>
              </a:buClr>
              <a:buSzPct val="100000"/>
              <a:buFont typeface="Wingdings 2"/>
              <a:buChar char="¡"/>
              <a:defRPr sz="1800" kern="1200">
                <a:solidFill>
                  <a:schemeClr val="tx2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lvl="1">
              <a:buNone/>
            </a:pPr>
            <a:r>
              <a:rPr sz="2400" b="1">
                <a:solidFill>
                  <a:schemeClr val="accent1"/>
                </a:solidFill>
              </a:rPr>
              <a:t>이름</a:t>
            </a:r>
            <a:r>
              <a:rPr sz="2400" b="1">
                <a:solidFill>
                  <a:schemeClr val="tx1"/>
                </a:solidFill>
              </a:rPr>
              <a:t>: </a:t>
            </a:r>
            <a:r>
              <a:rPr sz="2400" b="1">
                <a:solidFill>
                  <a:schemeClr val="tx1"/>
                </a:solidFill>
              </a:rPr>
              <a:t>이건웅</a:t>
            </a:r>
            <a:endParaRPr sz="2400" b="1">
              <a:solidFill>
                <a:schemeClr val="tx1"/>
              </a:solidFill>
            </a:endParaRPr>
          </a:p>
          <a:p xmlns:a="http://schemas.openxmlformats.org/drawingml/2006/main">
            <a:pPr lvl="1">
              <a:buNone/>
            </a:pPr>
            <a:endParaRPr sz="2400" b="1">
              <a:solidFill>
                <a:schemeClr val="tx1"/>
              </a:solidFill>
            </a:endParaRPr>
          </a:p>
          <a:p xmlns:a="http://schemas.openxmlformats.org/drawingml/2006/main">
            <a:pPr lvl="1">
              <a:buNone/>
            </a:pPr>
            <a:r>
              <a:rPr sz="2400" b="1">
                <a:solidFill>
                  <a:schemeClr val="accent1"/>
                </a:solidFill>
              </a:rPr>
              <a:t>직책</a:t>
            </a:r>
            <a:r>
              <a:rPr sz="2400" b="1">
                <a:solidFill>
                  <a:schemeClr val="tx1"/>
                </a:solidFill>
              </a:rPr>
              <a:t>: </a:t>
            </a:r>
            <a:r>
              <a:rPr sz="2400" b="1">
                <a:solidFill>
                  <a:schemeClr val="tx1"/>
                </a:solidFill>
              </a:rPr>
              <a:t>고려대학교 경영대학</a:t>
            </a:r>
            <a:r>
              <a:rPr sz="2400" b="1">
                <a:solidFill>
                  <a:schemeClr val="tx1"/>
                </a:solidFill>
              </a:rPr>
              <a:t>, </a:t>
            </a:r>
            <a:r>
              <a:rPr sz="2400" b="1">
                <a:solidFill>
                  <a:schemeClr val="tx1"/>
                </a:solidFill>
              </a:rPr>
              <a:t>경영정보 </a:t>
            </a:r>
            <a:r>
              <a:rPr sz="2400" b="1">
                <a:solidFill>
                  <a:schemeClr val="tx1"/>
                </a:solidFill>
              </a:rPr>
              <a:t>(IS) </a:t>
            </a:r>
            <a:r>
              <a:rPr sz="2400" b="1">
                <a:solidFill>
                  <a:schemeClr val="tx1"/>
                </a:solidFill>
              </a:rPr>
              <a:t>전공</a:t>
            </a:r>
            <a:r>
              <a:rPr sz="2400" b="1">
                <a:solidFill>
                  <a:schemeClr val="tx1"/>
                </a:solidFill>
              </a:rPr>
              <a:t> </a:t>
            </a:r>
            <a:r>
              <a:rPr sz="2400" b="1">
                <a:solidFill>
                  <a:schemeClr val="tx1"/>
                </a:solidFill>
              </a:rPr>
              <a:t>교수</a:t>
            </a:r>
            <a:endParaRPr sz="2400" b="1">
              <a:solidFill>
                <a:schemeClr val="tx1"/>
              </a:solidFill>
            </a:endParaRPr>
          </a:p>
          <a:p xmlns:a="http://schemas.openxmlformats.org/drawingml/2006/main">
            <a:pPr marL="228600" lvl="1" indent="0">
              <a:buNone/>
            </a:pPr>
            <a:endParaRPr sz="2400" b="1">
              <a:solidFill>
                <a:schemeClr val="tx1"/>
              </a:solidFill>
            </a:endParaRPr>
          </a:p>
          <a:p xmlns:a="http://schemas.openxmlformats.org/drawingml/2006/main">
            <a:pPr marL="228600" lvl="1" indent="0">
              <a:buNone/>
            </a:pPr>
            <a:endParaRPr sz="2400" b="1" u="sng">
              <a:solidFill>
                <a:schemeClr val="tx1"/>
              </a:solidFill>
            </a:endParaRPr>
          </a:p>
          <a:p xmlns:a="http://schemas.openxmlformats.org/drawingml/2006/main">
            <a:pPr marL="228600" lvl="1" indent="0">
              <a:buNone/>
            </a:pPr>
            <a:r>
              <a:rPr sz="1600" b="1">
                <a:solidFill>
                  <a:schemeClr val="accent1"/>
                </a:solidFill>
              </a:rPr>
              <a:t> </a:t>
            </a:r>
          </a:p>
          <a:p xmlns:a="http://schemas.openxmlformats.org/drawingml/2006/main">
            <a:pPr marL="228600" lvl="1" indent="0">
              <a:buNone/>
            </a:pPr>
            <a:endParaRPr sz="1400"/>
          </a:p>
          <a:p xmlns:a="http://schemas.openxmlformats.org/drawingml/2006/main">
            <a:pPr lvl="1">
              <a:buNone/>
            </a:pPr>
            <a:endParaRPr sz="1400" b="1"/>
          </a:p>
          <a:p xmlns:a="http://schemas.openxmlformats.org/drawingml/2006/main">
            <a:pPr lvl="1">
              <a:buNone/>
            </a:pPr>
            <a:endParaRPr sz="1400" b="1"/>
          </a:p>
          <a:p xmlns:a="http://schemas.openxmlformats.org/drawingml/2006/main">
            <a:pPr marL="228600" lvl="1" indent="0">
              <a:lnSpc>
                <a:spcPct val="150000"/>
              </a:lnSpc>
              <a:buNone/>
            </a:pPr>
            <a:endParaRPr sz="1400"/>
          </a:p>
          <a:p xmlns:a="http://schemas.openxmlformats.org/drawingml/2006/main">
            <a:pPr>
              <a:lnSpc>
                <a:spcPct val="150000"/>
              </a:lnSpc>
              <a:buNone/>
            </a:pPr>
            <a:endParaRPr sz="1600" b="1"/>
          </a:p>
          <a:p xmlns:a="http://schemas.openxmlformats.org/drawingml/2006/main">
            <a:pPr>
              <a:lnSpc>
                <a:spcPct val="150000"/>
              </a:lnSpc>
              <a:buNone/>
            </a:pPr>
            <a:endParaRPr sz="1600" b="1"/>
          </a:p>
          <a:p xmlns:a="http://schemas.openxmlformats.org/drawingml/2006/main">
            <a:pPr>
              <a:lnSpc>
                <a:spcPct val="150000"/>
              </a:lnSpc>
              <a:buNone/>
            </a:pPr>
            <a:endParaRPr sz="1600" b="1"/>
          </a:p>
          <a:p xmlns:a="http://schemas.openxmlformats.org/drawingml/2006/main">
            <a:pPr>
              <a:lnSpc>
                <a:spcPct val="150000"/>
              </a:lnSpc>
              <a:buNone/>
            </a:pPr>
            <a:endParaRPr sz="1600" b="1"/>
          </a:p>
          <a:p xmlns:a="http://schemas.openxmlformats.org/drawingml/2006/main">
            <a:pPr>
              <a:lnSpc>
                <a:spcPct val="150000"/>
              </a:lnSpc>
              <a:buNone/>
            </a:pPr>
            <a:endParaRPr sz="1600" b="1"/>
          </a:p>
          <a:p xmlns:a="http://schemas.openxmlformats.org/drawingml/2006/main">
            <a:pPr marL="0" indent="0">
              <a:lnSpc>
                <a:spcPct val="150000"/>
              </a:lnSpc>
              <a:buNone/>
            </a:pPr>
            <a:endParaRPr sz="1600"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A5FFA961-8265-42F8-8CD2-0D191350D17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256494" y="371649"/>
            <a:ext cx="506506" cy="3651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02359C0-8A7A-196E-DD58-8E6569619F09}" type="slidenum">
              <a:t>3</a:t>
            </a:fld>
            <a:endParaRPr/>
          </a:p>
        </p:txBody>
      </p:sp>
      <p:pic>
        <p:nvPicPr>
          <p:cNvPr id="27" name="Pictur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ced9a5e5e840ef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74234" y="3350030"/>
            <a:ext cx="1380449" cy="1807796"/>
          </a:xfrm>
          <a:prstGeom xmlns:a="http://schemas.openxmlformats.org/drawingml/2006/main" prst="rect">
            <a:avLst/>
          </a:prstGeom>
        </p:spPr>
      </p:pic>
      <p:pic>
        <p:nvPicPr>
          <p:cNvPr id="28" name="Picture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a547ce1d6e442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627453" y="3504532"/>
            <a:ext cx="775664" cy="1542566"/>
          </a:xfrm>
          <a:prstGeom xmlns:a="http://schemas.openxmlformats.org/drawingml/2006/main" prst="rect">
            <a:avLst/>
          </a:prstGeom>
        </p:spPr>
      </p:pic>
      <p:sp>
        <p:nvSpPr>
          <p:cNvPr id="11" name="오른쪽 화살표 19">
            <a:extLst xmlns:a="http://schemas.openxmlformats.org/drawingml/2006/main">
              <a:ext uri="{FF2B5EF4-FFF2-40B4-BE49-F238E27FC236}">
                <a16:creationId xmlns:a16="http://schemas.microsoft.com/office/drawing/2014/main" id="{E733831D-11BF-606B-A595-A81865C6E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3379" y="4042706"/>
            <a:ext cx="157526" cy="395823"/>
          </a:xfrm>
          <a:prstGeom xmlns:a="http://schemas.openxmlformats.org/drawingml/2006/main" prst="rightArrow">
            <a:avLst/>
          </a:prstGeom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350"/>
          </a:p>
        </p:txBody>
      </p:sp>
      <p:pic>
        <p:nvPicPr>
          <p:cNvPr id="30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fcd21e8afe4e4f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2625" y="3471746"/>
            <a:ext cx="1492302" cy="1540154"/>
          </a:xfrm>
          <a:prstGeom xmlns:a="http://schemas.openxmlformats.org/drawingml/2006/main" prst="rect">
            <a:avLst/>
          </a:prstGeom>
        </p:spPr>
      </p:pic>
      <p:sp>
        <p:nvSpPr>
          <p:cNvPr id="13" name="오른쪽 화살표 13">
            <a:extLst xmlns:a="http://schemas.openxmlformats.org/drawingml/2006/main">
              <a:ext uri="{FF2B5EF4-FFF2-40B4-BE49-F238E27FC236}">
                <a16:creationId xmlns:a16="http://schemas.microsoft.com/office/drawing/2014/main" id="{E8BCE82A-8DB9-699A-63D8-F98306EE6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7880" y="4116962"/>
            <a:ext cx="157526" cy="395823"/>
          </a:xfrm>
          <a:prstGeom xmlns:a="http://schemas.openxmlformats.org/drawingml/2006/main" prst="rightArrow">
            <a:avLst/>
          </a:prstGeom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350"/>
          </a:p>
        </p:txBody>
      </p:sp>
      <p:sp>
        <p:nvSpPr>
          <p:cNvPr id="14" name="오른쪽 화살표 19">
            <a:extLst xmlns:a="http://schemas.openxmlformats.org/drawingml/2006/main">
              <a:ext uri="{FF2B5EF4-FFF2-40B4-BE49-F238E27FC236}">
                <a16:creationId xmlns:a16="http://schemas.microsoft.com/office/drawing/2014/main" id="{C58224B6-BEE0-425F-72D9-C0DAA53B7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7981" y="4116963"/>
            <a:ext cx="157526" cy="395823"/>
          </a:xfrm>
          <a:prstGeom xmlns:a="http://schemas.openxmlformats.org/drawingml/2006/main" prst="rightArrow">
            <a:avLst/>
          </a:prstGeom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350"/>
          </a:p>
        </p:txBody>
      </p:sp>
      <p:pic>
        <p:nvPicPr>
          <p:cNvPr id="33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2f34db8855461b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78461" y="3496768"/>
            <a:ext cx="1079999" cy="1542566"/>
          </a:xfrm>
          <a:prstGeom xmlns:a="http://schemas.openxmlformats.org/drawingml/2006/main" prst="rect">
            <a:avLst/>
          </a:prstGeom>
        </p:spPr>
      </p:pic>
      <p:pic>
        <p:nvPicPr>
          <p:cNvPr id="34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27d3cc8667458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978609" y="3469334"/>
            <a:ext cx="1186781" cy="1542565"/>
          </a:xfrm>
          <a:prstGeom xmlns:a="http://schemas.openxmlformats.org/drawingml/2006/main" prst="rect">
            <a:avLst/>
          </a:prstGeom>
        </p:spPr>
      </p:pic>
      <p:sp>
        <p:nvSpPr>
          <p:cNvPr id="18" name="오른쪽 화살표 19">
            <a:extLst xmlns:a="http://schemas.openxmlformats.org/drawingml/2006/main">
              <a:ext uri="{FF2B5EF4-FFF2-40B4-BE49-F238E27FC236}">
                <a16:creationId xmlns:a16="http://schemas.microsoft.com/office/drawing/2014/main" id="{C454C74E-694B-E780-5F46-588508CED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607" y="4077905"/>
            <a:ext cx="157526" cy="395823"/>
          </a:xfrm>
          <a:prstGeom xmlns:a="http://schemas.openxmlformats.org/drawingml/2006/main" prst="rightArrow">
            <a:avLst/>
          </a:prstGeom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350"/>
          </a:p>
        </p:txBody>
      </p:sp>
    </p:spTree>
    <p:extLst>
      <p:ext uri="{BB962C8B-B14F-4D97-AF65-F5344CB8AC3E}">
        <p14:creationId xmlns:p14="http://schemas.microsoft.com/office/powerpoint/2010/main" val="88093906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Number Placeholder 1">
            <a:extLst xmlns:a="http://schemas.openxmlformats.org/drawingml/2006/main">
              <a:ext uri="{FF2B5EF4-FFF2-40B4-BE49-F238E27FC236}">
                <a16:creationId xmlns:a16="http://schemas.microsoft.com/office/drawing/2014/main" id="{7A530F9C-DFE1-0934-66F6-E74036D1F40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FD6AB9A-5F9E-5F59-51AB-3C8734130965}" type="slidenum">
              <a:t>4</a:t>
            </a:fld>
            <a:endParaRPr/>
          </a:p>
        </p:txBody>
      </p:sp>
      <p:sp>
        <p:nvSpPr>
          <p:cNvPr id="3" name="wk1-title">
            <a:extLst xmlns:a="http://schemas.openxmlformats.org/drawingml/2006/main">
              <a:ext uri="{FF2B5EF4-FFF2-40B4-BE49-F238E27FC236}">
                <a16:creationId xmlns:a16="http://schemas.microsoft.com/office/drawing/2014/main" id="{762E741B-5F8B-4542-B51B-ED5528EB5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7334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A5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A50000"/>
                </a:solidFill>
                <a:latin typeface="Apple SD Gothic Neo"/>
                <a:ea typeface="Apple SD Gothic Neo"/>
                <a:cs typeface="Apple SD Gothic Neo"/>
              </a:rPr>
              <a:t>강사소개 · 산업과 연구</a:t>
            </a:r>
          </a:p>
        </p:txBody>
      </p:sp>
      <p:sp>
        <p:nvSpPr>
          <p:cNvPr id="4" name="wk1-section">
            <a:extLst xmlns:a="http://schemas.openxmlformats.org/drawingml/2006/main">
              <a:ext uri="{FF2B5EF4-FFF2-40B4-BE49-F238E27FC236}">
                <a16:creationId xmlns:a16="http://schemas.microsoft.com/office/drawing/2014/main" id="{3886A94A-1E17-4E5A-B0AB-D608B9756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885825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0206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002060"/>
                </a:solidFill>
                <a:latin typeface="Apple SD Gothic Neo"/>
                <a:ea typeface="Apple SD Gothic Neo"/>
                <a:cs typeface="Apple SD Gothic Neo"/>
              </a:rPr>
              <a:t>ORIENTATION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857250" y="1571625"/>
          <a:ext xmlns:a="http://schemas.openxmlformats.org/drawingml/2006/main" cx="7429500" cy="3238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714750"/>
                <a:gridCol w="3714750"/>
              </a:tblGrid>
              <a:tr h="809625">
                <a:tc>
                  <a:txBody>
                    <a:bodyPr lIns="28575" tIns="19050" rIns="28575" bIns="19050">
                      <a:normAutofit/>
                    </a:bodyPr>
                    <a:lstStyle/>
                    <a:p>
                      <a:pPr algn="ctr"/>
                      <a:r>
                        <a:rPr sz="165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산업 데이터 분석</a:t>
                      </a:r>
                    </a:p>
                  </a:txBody>
                  <a:tcPr marL="91440" marR="91440" marT="45720" marB="45720" anchor="ctr">
                    <a:solidFill>
                      <a:srgbClr val="A50000"/>
                    </a:solidFill>
                  </a:tcPr>
                </a:tc>
                <a:tc>
                  <a:txBody>
                    <a:bodyPr lIns="28575" tIns="19050" rIns="28575" bIns="19050">
                      <a:normAutofit/>
                    </a:bodyPr>
                    <a:lstStyle/>
                    <a:p>
                      <a:pPr algn="ctr"/>
                      <a:r>
                        <a:rPr sz="165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플랫폼·AI 연구</a:t>
                      </a:r>
                    </a:p>
                  </a:txBody>
                  <a:tcPr marL="91440" marR="91440" marT="45720" marB="45720" anchor="ctr">
                    <a:solidFill>
                      <a:srgbClr val="A50000"/>
                    </a:solidFill>
                  </a:tcPr>
                </a:tc>
              </a:tr>
              <a:tr h="809625">
                <a:tc>
                  <a:txBody>
                    <a:bodyPr lIns="28575" tIns="19050" rIns="28575" bIns="19050">
                      <a:normAutofit/>
                    </a:bodyPr>
                    <a:lstStyle/>
                    <a:p>
                      <a:pPr algn="ctr"/>
                      <a:r>
                        <a:rPr sz="1575" b="0">
                          <a:solidFill>
                            <a:srgbClr val="33333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Medicine / Healthcare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28575" tIns="19050" rIns="28575" bIns="19050">
                      <a:normAutofit/>
                    </a:bodyPr>
                    <a:lstStyle/>
                    <a:p>
                      <a:pPr algn="ctr"/>
                      <a:r>
                        <a:rPr sz="1575" b="0">
                          <a:solidFill>
                            <a:srgbClr val="33333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AI 추천과 소비자 선택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809625">
                <a:tc>
                  <a:txBody>
                    <a:bodyPr lIns="28575" tIns="19050" rIns="28575" bIns="19050">
                      <a:normAutofit/>
                    </a:bodyPr>
                    <a:lstStyle/>
                    <a:p>
                      <a:pPr algn="ctr"/>
                      <a:r>
                        <a:rPr sz="1575" b="0">
                          <a:solidFill>
                            <a:srgbClr val="33333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Finance · Law</a:t>
                      </a:r>
                    </a:p>
                  </a:txBody>
                  <a:tcPr marL="91440" marR="91440" marT="45720" marB="45720" anchor="ctr">
                    <a:solidFill>
                      <a:srgbClr val="F3F4F6"/>
                    </a:solidFill>
                  </a:tcPr>
                </a:tc>
                <a:tc>
                  <a:txBody>
                    <a:bodyPr lIns="28575" tIns="19050" rIns="28575" bIns="19050">
                      <a:normAutofit/>
                    </a:bodyPr>
                    <a:lstStyle/>
                    <a:p>
                      <a:pPr algn="ctr"/>
                      <a:r>
                        <a:rPr sz="1575" b="0">
                          <a:solidFill>
                            <a:srgbClr val="33333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디지털 경제와 기업 의사결정</a:t>
                      </a:r>
                    </a:p>
                  </a:txBody>
                  <a:tcPr marL="91440" marR="91440" marT="45720" marB="45720" anchor="ctr">
                    <a:solidFill>
                      <a:srgbClr val="F3F4F6"/>
                    </a:solidFill>
                  </a:tcPr>
                </a:tc>
              </a:tr>
              <a:tr h="809625">
                <a:tc>
                  <a:txBody>
                    <a:bodyPr lIns="28575" tIns="19050" rIns="28575" bIns="19050">
                      <a:normAutofit/>
                    </a:bodyPr>
                    <a:lstStyle/>
                    <a:p>
                      <a:pPr algn="ctr"/>
                      <a:r>
                        <a:rPr sz="1575" b="0">
                          <a:solidFill>
                            <a:srgbClr val="33333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IT Industry · Retailing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28575" tIns="19050" rIns="28575" bIns="19050">
                      <a:normAutofit/>
                    </a:bodyPr>
                    <a:lstStyle/>
                    <a:p>
                      <a:pPr algn="ctr"/>
                      <a:r>
                        <a:rPr sz="1575" b="0">
                          <a:solidFill>
                            <a:srgbClr val="33333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데이터 기반 경영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instructor-link">
            <a:extLst xmlns:a="http://schemas.openxmlformats.org/drawingml/2006/main">
              <a:ext uri="{FF2B5EF4-FFF2-40B4-BE49-F238E27FC236}">
                <a16:creationId xmlns:a16="http://schemas.microsoft.com/office/drawing/2014/main" id="{0692638B-8B19-489A-BFE4-3F8865FDB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191125"/>
            <a:ext cx="704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>
                <a:solidFill>
                  <a:srgbClr val="00206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>
                <a:solidFill>
                  <a:srgbClr val="002060"/>
                </a:solidFill>
                <a:latin typeface="Apple SD Gothic Neo"/>
                <a:ea typeface="Apple SD Gothic Neo"/>
                <a:cs typeface="Apple SD Gothic Neo"/>
              </a:rPr>
              <a:t>분석을 만드는 경험과 분석을 판단하는 연구를 이 수업에서 연결합니다.</a:t>
            </a:r>
          </a:p>
        </p:txBody>
      </p:sp>
    </p:spTree>
    <p:extLst>
      <p:ext uri="{BB962C8B-B14F-4D97-AF65-F5344CB8AC3E}">
        <p14:creationId xmlns:p14="http://schemas.microsoft.com/office/powerpoint/2010/main" val="186225597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Number Placeholder 1">
            <a:extLst xmlns:a="http://schemas.openxmlformats.org/drawingml/2006/main">
              <a:ext uri="{FF2B5EF4-FFF2-40B4-BE49-F238E27FC236}">
                <a16:creationId xmlns:a16="http://schemas.microsoft.com/office/drawing/2014/main" id="{7A530F9C-DFE1-0934-66F6-E74036D1F40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E5B3003-2C54-13C6-9832-7637201064DE}" type="slidenum">
              <a:t>5</a:t>
            </a:fld>
            <a:endParaRPr/>
          </a:p>
        </p:txBody>
      </p:sp>
      <p:sp>
        <p:nvSpPr>
          <p:cNvPr id="3" name="wk1-title">
            <a:extLst xmlns:a="http://schemas.openxmlformats.org/drawingml/2006/main">
              <a:ext uri="{FF2B5EF4-FFF2-40B4-BE49-F238E27FC236}">
                <a16:creationId xmlns:a16="http://schemas.microsoft.com/office/drawing/2014/main" id="{FD82A00F-EBEF-417B-BC6D-47AB24065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7334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A5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A50000"/>
                </a:solidFill>
                <a:latin typeface="Apple SD Gothic Neo"/>
                <a:ea typeface="Apple SD Gothic Neo"/>
                <a:cs typeface="Apple SD Gothic Neo"/>
              </a:rPr>
              <a:t>강사소개 · 수업 밖에서</a:t>
            </a:r>
          </a:p>
        </p:txBody>
      </p:sp>
      <p:sp>
        <p:nvSpPr>
          <p:cNvPr id="4" name="wk1-section">
            <a:extLst xmlns:a="http://schemas.openxmlformats.org/drawingml/2006/main">
              <a:ext uri="{FF2B5EF4-FFF2-40B4-BE49-F238E27FC236}">
                <a16:creationId xmlns:a16="http://schemas.microsoft.com/office/drawing/2014/main" id="{B71B534E-6CF3-4115-B7D4-5E11D141D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885825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0206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002060"/>
                </a:solidFill>
                <a:latin typeface="Apple SD Gothic Neo"/>
                <a:ea typeface="Apple SD Gothic Neo"/>
                <a:cs typeface="Apple SD Gothic Neo"/>
              </a:rPr>
              <a:t>ORIENTATION</a:t>
            </a:r>
          </a:p>
        </p:txBody>
      </p:sp>
      <p:sp>
        <p:nvSpPr>
          <p:cNvPr id="5" name="wk1-quote">
            <a:extLst xmlns:a="http://schemas.openxmlformats.org/drawingml/2006/main">
              <a:ext uri="{FF2B5EF4-FFF2-40B4-BE49-F238E27FC236}">
                <a16:creationId xmlns:a16="http://schemas.microsoft.com/office/drawing/2014/main" id="{06251CB1-0763-45D4-96CB-836285170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09750"/>
            <a:ext cx="7239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A5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>
                <a:solidFill>
                  <a:srgbClr val="A50000"/>
                </a:solidFill>
                <a:latin typeface="Apple SD Gothic Neo"/>
                <a:ea typeface="Apple SD Gothic Neo"/>
                <a:cs typeface="Apple SD Gothic Neo"/>
              </a:rPr>
              <a:t>What I liked to do …</a:t>
            </a:r>
          </a:p>
          <a:p xmlns:a="http://schemas.openxmlformats.org/drawingml/2006/main">
            <a:pPr algn="ctr">
              <a:defRPr sz="2325" b="1">
                <a:solidFill>
                  <a:srgbClr val="A5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>
                <a:solidFill>
                  <a:srgbClr val="A50000"/>
                </a:solidFill>
                <a:latin typeface="Apple SD Gothic Neo"/>
                <a:ea typeface="Apple SD Gothic Neo"/>
                <a:cs typeface="Apple SD Gothic Neo"/>
              </a:rPr>
              <a:t>I also loved to do …</a:t>
            </a:r>
          </a:p>
          <a:p xmlns:a="http://schemas.openxmlformats.org/drawingml/2006/main">
            <a:pPr algn="ctr">
              <a:defRPr sz="2325" b="1">
                <a:solidFill>
                  <a:srgbClr val="A5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>
                <a:solidFill>
                  <a:srgbClr val="A50000"/>
                </a:solidFill>
                <a:latin typeface="Apple SD Gothic Neo"/>
                <a:ea typeface="Apple SD Gothic Neo"/>
                <a:cs typeface="Apple SD Gothic Neo"/>
              </a:rPr>
              <a:t>BUT I have to do …</a:t>
            </a:r>
          </a:p>
        </p:txBody>
      </p:sp>
      <p:sp>
        <p:nvSpPr>
          <p:cNvPr id="6" name="wk1-quote-detail">
            <a:extLst xmlns:a="http://schemas.openxmlformats.org/drawingml/2006/main">
              <a:ext uri="{FF2B5EF4-FFF2-40B4-BE49-F238E27FC236}">
                <a16:creationId xmlns:a16="http://schemas.microsoft.com/office/drawing/2014/main" id="{C56CA44D-4BD1-4D32-BC24-ADA58131A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857625"/>
            <a:ext cx="67627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>
                <a:solidFill>
                  <a:srgbClr val="66666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>
                <a:solidFill>
                  <a:srgbClr val="666666"/>
                </a:solidFill>
                <a:latin typeface="Apple SD Gothic Neo"/>
                <a:ea typeface="Apple SD Gothic Neo"/>
                <a:cs typeface="Apple SD Gothic Neo"/>
              </a:rPr>
              <a:t>교수의 소개 뒤에는 여러분의 소개가 이어집니다.</a:t>
            </a:r>
          </a:p>
        </p:txBody>
      </p:sp>
    </p:spTree>
    <p:extLst>
      <p:ext uri="{BB962C8B-B14F-4D97-AF65-F5344CB8AC3E}">
        <p14:creationId xmlns:p14="http://schemas.microsoft.com/office/powerpoint/2010/main" val="186225597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482F92D6-05DC-4F71-97F5-C8567A470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361" y="1730687"/>
            <a:ext cx="9000639" cy="331257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228600" indent="-228600" algn="l" defTabSz="914400">
              <a:spcBef>
                <a:spcPts val="1800"/>
              </a:spcBef>
              <a:buClr>
                <a:schemeClr val="accent1"/>
              </a:buClr>
              <a:buSzPct val="100000"/>
              <a:buFont typeface="Wingdings 2"/>
              <a:buChar char="¡"/>
              <a:defRPr sz="2000" kern="1200">
                <a:solidFill>
                  <a:schemeClr val="tx2"/>
                </a:solidFill>
                <a:latin typeface="+mn-lt"/>
                <a:ea typeface="+mn-lt"/>
                <a:cs typeface="+mn-lt"/>
              </a:defRPr>
            </a:lvl1pPr>
            <a:lvl2pPr marL="457200" indent="-228600" algn="l" defTabSz="914400">
              <a:spcBef>
                <a:spcPts val="600"/>
              </a:spcBef>
              <a:buClr>
                <a:schemeClr val="accent1">
                  <a:lumMod val="50000"/>
                </a:schemeClr>
              </a:buClr>
              <a:buSzPct val="100000"/>
              <a:buFont typeface="Wingdings 2"/>
              <a:buChar char="¡"/>
              <a:defRPr sz="1800" kern="1200">
                <a:solidFill>
                  <a:schemeClr val="tx2"/>
                </a:solidFill>
                <a:latin typeface="+mn-lt"/>
                <a:ea typeface="+mn-lt"/>
                <a:cs typeface="+mn-lt"/>
              </a:defRPr>
            </a:lvl2pPr>
            <a:lvl3pPr marL="685800" indent="-228600" algn="l" defTabSz="914400">
              <a:spcBef>
                <a:spcPts val="600"/>
              </a:spcBef>
              <a:buClr>
                <a:schemeClr val="accent1"/>
              </a:buClr>
              <a:buSzPct val="100000"/>
              <a:buFont typeface="Wingdings 2"/>
              <a:buChar char="¡"/>
              <a:defRPr sz="1800" kern="1200">
                <a:solidFill>
                  <a:schemeClr val="tx2"/>
                </a:solidFill>
                <a:latin typeface="+mn-lt"/>
                <a:ea typeface="+mn-lt"/>
                <a:cs typeface="+mn-lt"/>
              </a:defRPr>
            </a:lvl3pPr>
            <a:lvl4pPr marL="914400" indent="-228600" algn="l" defTabSz="914400">
              <a:spcBef>
                <a:spcPts val="600"/>
              </a:spcBef>
              <a:buClr>
                <a:schemeClr val="accent1">
                  <a:lumMod val="50000"/>
                </a:schemeClr>
              </a:buClr>
              <a:buSzPct val="100000"/>
              <a:buFont typeface="Wingdings 2"/>
              <a:buChar char="¡"/>
              <a:defRPr sz="1800" kern="1200">
                <a:solidFill>
                  <a:schemeClr val="tx2"/>
                </a:solidFill>
                <a:latin typeface="+mn-lt"/>
                <a:ea typeface="+mn-lt"/>
                <a:cs typeface="+mn-lt"/>
              </a:defRPr>
            </a:lvl4pPr>
            <a:lvl5pPr marL="1143000" indent="-228600" algn="l" defTabSz="914400">
              <a:spcBef>
                <a:spcPts val="600"/>
              </a:spcBef>
              <a:buClr>
                <a:schemeClr val="accent1"/>
              </a:buClr>
              <a:buSzPct val="100000"/>
              <a:buFont typeface="Wingdings 2"/>
              <a:buChar char="¡"/>
              <a:defRPr sz="1800" kern="1200">
                <a:solidFill>
                  <a:schemeClr val="tx2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514350" indent="-514350">
              <a:lnSpc>
                <a:spcPct val="200000"/>
              </a:lnSpc>
              <a:buAutoNum type="arabicPeriod"/>
            </a:pPr>
            <a:r>
              <a:rPr sz="2800" b="1">
                <a:solidFill>
                  <a:srgbClr val="002060"/>
                </a:solidFill>
              </a:rPr>
              <a:t>이름</a:t>
            </a:r>
            <a:r>
              <a:rPr sz="2800" b="1">
                <a:solidFill>
                  <a:srgbClr val="002060"/>
                </a:solidFill>
              </a:rPr>
              <a:t>, </a:t>
            </a:r>
            <a:r>
              <a:rPr sz="2800" b="1">
                <a:solidFill>
                  <a:srgbClr val="002060"/>
                </a:solidFill>
              </a:rPr>
              <a:t>이력</a:t>
            </a:r>
            <a:r>
              <a:rPr sz="2800" b="1">
                <a:solidFill>
                  <a:srgbClr val="002060"/>
                </a:solidFill>
              </a:rPr>
              <a:t>/</a:t>
            </a:r>
            <a:r>
              <a:rPr sz="2800" b="1">
                <a:solidFill>
                  <a:srgbClr val="002060"/>
                </a:solidFill>
              </a:rPr>
              <a:t>경력 등</a:t>
            </a:r>
            <a:endParaRPr sz="2800" b="1">
              <a:solidFill>
                <a:srgbClr val="002060"/>
              </a:solidFill>
            </a:endParaRPr>
          </a:p>
          <a:p xmlns:a="http://schemas.openxmlformats.org/drawingml/2006/main">
            <a:pPr marL="514350" indent="-514350">
              <a:lnSpc>
                <a:spcPct val="200000"/>
              </a:lnSpc>
              <a:buAutoNum type="arabicPeriod"/>
            </a:pPr>
            <a:r>
              <a:rPr sz="2800" b="1">
                <a:solidFill>
                  <a:srgbClr val="C00000"/>
                </a:solidFill>
              </a:rPr>
              <a:t>나는 이런 사람이야</a:t>
            </a:r>
            <a:r>
              <a:rPr sz="2800" b="1">
                <a:solidFill>
                  <a:srgbClr val="C00000"/>
                </a:solidFill>
              </a:rPr>
              <a:t>!</a:t>
            </a:r>
            <a:endParaRPr sz="2800" b="1">
              <a:solidFill>
                <a:srgbClr val="002060"/>
              </a:solidFill>
            </a:endParaRPr>
          </a:p>
          <a:p xmlns:a="http://schemas.openxmlformats.org/drawingml/2006/main">
            <a:pPr marL="514350" indent="-514350">
              <a:lnSpc>
                <a:spcPct val="200000"/>
              </a:lnSpc>
              <a:buAutoNum type="arabicPeriod"/>
            </a:pPr>
            <a:r>
              <a:rPr sz="2800" b="1">
                <a:solidFill>
                  <a:srgbClr val="002060"/>
                </a:solidFill>
              </a:rPr>
              <a:t>본 과목을 통해 얻고 싶은 건</a:t>
            </a:r>
            <a:r>
              <a:rPr sz="2800" b="1">
                <a:solidFill>
                  <a:srgbClr val="002060"/>
                </a:solidFill>
              </a:rPr>
              <a:t>…</a:t>
            </a:r>
            <a:endParaRPr>
              <a:solidFill>
                <a:srgbClr val="002060"/>
              </a:solidFill>
            </a:endParaRPr>
          </a:p>
          <a:p xmlns:a="http://schemas.openxmlformats.org/drawingml/2006/main">
            <a:pPr>
              <a:lnSpc>
                <a:spcPct val="200000"/>
              </a:lnSpc>
              <a:buNone/>
            </a:pPr>
            <a:endParaRPr b="1">
              <a:solidFill>
                <a:srgbClr val="002060"/>
              </a:solidFill>
            </a:endParaRPr>
          </a:p>
          <a:p xmlns:a="http://schemas.openxmlformats.org/drawingml/2006/main">
            <a:pPr>
              <a:lnSpc>
                <a:spcPct val="200000"/>
              </a:lnSpc>
              <a:buNone/>
            </a:pPr>
            <a:endParaRPr b="1">
              <a:solidFill>
                <a:srgbClr val="002060"/>
              </a:solidFill>
            </a:endParaRPr>
          </a:p>
          <a:p xmlns:a="http://schemas.openxmlformats.org/drawingml/2006/main">
            <a:pPr>
              <a:lnSpc>
                <a:spcPct val="200000"/>
              </a:lnSpc>
              <a:buNone/>
            </a:pPr>
            <a:endParaRPr b="1">
              <a:solidFill>
                <a:srgbClr val="002060"/>
              </a:solidFill>
            </a:endParaRPr>
          </a:p>
          <a:p xmlns:a="http://schemas.openxmlformats.org/drawingml/2006/main">
            <a:pPr>
              <a:lnSpc>
                <a:spcPct val="200000"/>
              </a:lnSpc>
              <a:buNone/>
            </a:pPr>
            <a:endParaRPr b="1">
              <a:solidFill>
                <a:srgbClr val="002060"/>
              </a:solidFill>
            </a:endParaRPr>
          </a:p>
          <a:p xmlns:a="http://schemas.openxmlformats.org/drawingml/2006/main">
            <a:pPr>
              <a:lnSpc>
                <a:spcPct val="200000"/>
              </a:lnSpc>
              <a:buNone/>
            </a:pPr>
            <a:endParaRPr b="1">
              <a:solidFill>
                <a:srgbClr val="002060"/>
              </a:solidFill>
            </a:endParaRPr>
          </a:p>
          <a:p xmlns:a="http://schemas.openxmlformats.org/drawingml/2006/main">
            <a:pPr marL="0" indent="0">
              <a:lnSpc>
                <a:spcPct val="200000"/>
              </a:lnSpc>
              <a:buNone/>
            </a:pPr>
            <a:endParaRPr>
              <a:solidFill>
                <a:srgbClr val="002060"/>
              </a:solidFill>
            </a:endParaRP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3EA6728E-C2CA-4232-822E-2DDD3F9399E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256494" y="371649"/>
            <a:ext cx="506506" cy="3651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C630A04-5A25-9E0C-9436-126091DB86B3}" type="slidenum">
              <a:t>6</a:t>
            </a:fld>
            <a:endParaRPr/>
          </a:p>
        </p:txBody>
      </p:sp>
      <p:sp>
        <p:nvSpPr>
          <p:cNvPr id="4" name="Title 1">
            <a:extLst xmlns:a="http://schemas.openxmlformats.org/drawingml/2006/main">
              <a:ext uri="{FF2B5EF4-FFF2-40B4-BE49-F238E27FC236}">
                <a16:creationId xmlns:a16="http://schemas.microsoft.com/office/drawing/2014/main" id="{24469563-52C1-4FB4-8848-803D78EF4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628" y="287698"/>
            <a:ext cx="6921795" cy="72239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algn="l" defTabSz="914400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r>
              <a:rPr sz="2800" b="1"/>
              <a:t>Getting to Know Each Other!</a:t>
            </a:r>
          </a:p>
          <a:p xmlns:a="http://schemas.openxmlformats.org/drawingml/2006/main">
            <a:endParaRPr sz="1400" b="1"/>
          </a:p>
        </p:txBody>
      </p:sp>
    </p:spTree>
    <p:extLst>
      <p:ext uri="{BB962C8B-B14F-4D97-AF65-F5344CB8AC3E}">
        <p14:creationId xmlns:p14="http://schemas.microsoft.com/office/powerpoint/2010/main" val="4036206898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Number Placeholder 1">
            <a:extLst xmlns:a="http://schemas.openxmlformats.org/drawingml/2006/main">
              <a:ext uri="{FF2B5EF4-FFF2-40B4-BE49-F238E27FC236}">
                <a16:creationId xmlns:a16="http://schemas.microsoft.com/office/drawing/2014/main" id="{F7559F3A-7CEB-94CB-2D03-718D6017C35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3D7D1C8-AE23-AA48-DF65-C742588DBE47}" type="slidenum">
              <a:t>7</a:t>
            </a:fld>
            <a:endParaRPr/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7D7DFBF7-22C3-1A9B-D042-E0256CDF6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649" y="1736802"/>
            <a:ext cx="6921795" cy="277595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200000"/>
              </a:lnSpc>
              <a:buNone/>
            </a:pPr>
            <a:r>
              <a:rPr b="1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Q1: </a:t>
            </a:r>
            <a:r>
              <a:rPr b="1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현재 회사에 재직중인가요</a:t>
            </a:r>
            <a:r>
              <a:rPr b="1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?</a:t>
            </a:r>
          </a:p>
          <a:p xmlns:a="http://schemas.openxmlformats.org/drawingml/2006/main">
            <a:pPr algn="l">
              <a:lnSpc>
                <a:spcPct val="200000"/>
              </a:lnSpc>
              <a:buNone/>
            </a:pPr>
            <a:endParaRPr b="1">
              <a:solidFill>
                <a:srgbClr val="333333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l">
              <a:lnSpc>
                <a:spcPct val="200000"/>
              </a:lnSpc>
              <a:buNone/>
            </a:pPr>
            <a:r>
              <a:rPr b="1">
                <a:solidFill>
                  <a:srgbClr val="333333"/>
                </a:solidFill>
                <a:latin typeface="Arial"/>
                <a:ea typeface="Arial"/>
                <a:cs typeface="Arial"/>
              </a:rPr>
              <a:t>Q2:</a:t>
            </a:r>
            <a:r>
              <a:rPr b="1">
                <a:solidFill>
                  <a:srgbClr val="333333"/>
                </a:solidFill>
                <a:latin typeface="Arial"/>
                <a:ea typeface="Arial"/>
                <a:cs typeface="Arial"/>
              </a:rPr>
              <a:t> </a:t>
            </a:r>
            <a:r>
              <a:rPr b="1">
                <a:solidFill>
                  <a:srgbClr val="333333"/>
                </a:solidFill>
                <a:latin typeface="Arial"/>
                <a:ea typeface="Arial"/>
                <a:cs typeface="Arial"/>
              </a:rPr>
              <a:t>IT</a:t>
            </a:r>
            <a:r>
              <a:rPr b="1">
                <a:solidFill>
                  <a:srgbClr val="333333"/>
                </a:solidFill>
                <a:latin typeface="Arial"/>
                <a:ea typeface="Arial"/>
                <a:cs typeface="Arial"/>
              </a:rPr>
              <a:t> 또는</a:t>
            </a:r>
            <a:r>
              <a:rPr b="1">
                <a:solidFill>
                  <a:srgbClr val="333333"/>
                </a:solidFill>
                <a:latin typeface="Arial"/>
                <a:ea typeface="Arial"/>
                <a:cs typeface="Arial"/>
              </a:rPr>
              <a:t> </a:t>
            </a:r>
            <a:r>
              <a:rPr b="1">
                <a:solidFill>
                  <a:srgbClr val="333333"/>
                </a:solidFill>
                <a:latin typeface="Arial"/>
                <a:ea typeface="Arial"/>
                <a:cs typeface="Arial"/>
              </a:rPr>
              <a:t>데이터 관련 업무를 담당 하시나요</a:t>
            </a:r>
            <a:r>
              <a:rPr b="1">
                <a:solidFill>
                  <a:srgbClr val="333333"/>
                </a:solidFill>
                <a:latin typeface="Arial"/>
                <a:ea typeface="Arial"/>
                <a:cs typeface="Arial"/>
              </a:rPr>
              <a:t>?</a:t>
            </a:r>
          </a:p>
          <a:p xmlns:a="http://schemas.openxmlformats.org/drawingml/2006/main">
            <a:pPr algn="l">
              <a:lnSpc>
                <a:spcPct val="200000"/>
              </a:lnSpc>
              <a:buNone/>
            </a:pPr>
            <a:endParaRPr b="1" i="0">
              <a:solidFill>
                <a:srgbClr val="333333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l">
              <a:lnSpc>
                <a:spcPct val="200000"/>
              </a:lnSpc>
              <a:buNone/>
            </a:pPr>
            <a:r>
              <a:rPr b="1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Q3:</a:t>
            </a:r>
            <a:r>
              <a:rPr b="1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 </a:t>
            </a:r>
            <a:r>
              <a:rPr b="1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AI </a:t>
            </a:r>
            <a:r>
              <a:rPr b="1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를 믿으시나요</a:t>
            </a:r>
            <a:r>
              <a:rPr b="1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?</a:t>
            </a:r>
          </a:p>
        </p:txBody>
      </p:sp>
      <p:sp>
        <p:nvSpPr>
          <p:cNvPr id="4" name="Title 1">
            <a:extLst xmlns:a="http://schemas.openxmlformats.org/drawingml/2006/main">
              <a:ext uri="{FF2B5EF4-FFF2-40B4-BE49-F238E27FC236}">
                <a16:creationId xmlns:a16="http://schemas.microsoft.com/office/drawing/2014/main" id="{4B3FCF90-E5D8-D895-18CB-B69EFE25F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659" y="223883"/>
            <a:ext cx="6921795" cy="63844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algn="l" defTabSz="914400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algn="ctr">
              <a:buNone/>
            </a:pPr>
            <a:r>
              <a:rPr sz="3200" b="1">
                <a:latin typeface="Times New Roman"/>
                <a:ea typeface="Times New Roman"/>
                <a:cs typeface="Times New Roman"/>
              </a:rPr>
              <a:t>Quick Survey</a:t>
            </a:r>
            <a:endParaRPr sz="1600" b="1">
              <a:latin typeface="Times New Roman"/>
              <a:ea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419110108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Number Placeholder 1">
            <a:extLst xmlns:a="http://schemas.openxmlformats.org/drawingml/2006/main">
              <a:ext uri="{FF2B5EF4-FFF2-40B4-BE49-F238E27FC236}">
                <a16:creationId xmlns:a16="http://schemas.microsoft.com/office/drawing/2014/main" id="{7A530F9C-DFE1-0934-66F6-E74036D1F40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A58DA2A-B818-18A9-29C1-B697728D5BCE}" type="slidenum">
              <a:t>8</a:t>
            </a:fld>
            <a:endParaRPr/>
          </a:p>
        </p:txBody>
      </p:sp>
      <p:sp>
        <p:nvSpPr>
          <p:cNvPr id="3" name="wk1-title">
            <a:extLst xmlns:a="http://schemas.openxmlformats.org/drawingml/2006/main">
              <a:ext uri="{FF2B5EF4-FFF2-40B4-BE49-F238E27FC236}">
                <a16:creationId xmlns:a16="http://schemas.microsoft.com/office/drawing/2014/main" id="{08C8235E-154D-417C-A786-8D266EAD2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7334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A5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A50000"/>
                </a:solidFill>
                <a:latin typeface="Apple SD Gothic Neo"/>
                <a:ea typeface="Apple SD Gothic Neo"/>
                <a:cs typeface="Apple SD Gothic Neo"/>
              </a:rPr>
              <a:t>강의 정보</a:t>
            </a:r>
          </a:p>
        </p:txBody>
      </p:sp>
      <p:sp>
        <p:nvSpPr>
          <p:cNvPr id="4" name="wk1-section">
            <a:extLst xmlns:a="http://schemas.openxmlformats.org/drawingml/2006/main">
              <a:ext uri="{FF2B5EF4-FFF2-40B4-BE49-F238E27FC236}">
                <a16:creationId xmlns:a16="http://schemas.microsoft.com/office/drawing/2014/main" id="{A69C3BA6-8619-45AC-92AD-C2F1D6704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885825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0206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002060"/>
                </a:solidFill>
                <a:latin typeface="Apple SD Gothic Neo"/>
                <a:ea typeface="Apple SD Gothic Neo"/>
                <a:cs typeface="Apple SD Gothic Neo"/>
              </a:rPr>
              <a:t>ORIENTATION · SYLLABUS PENDING</a:t>
            </a:r>
          </a:p>
        </p:txBody>
      </p:sp>
    </p:spTree>
    <p:extLst>
      <p:ext uri="{BB962C8B-B14F-4D97-AF65-F5344CB8AC3E}">
        <p14:creationId xmlns:p14="http://schemas.microsoft.com/office/powerpoint/2010/main" val="186225597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Number Placeholder 1">
            <a:extLst xmlns:a="http://schemas.openxmlformats.org/drawingml/2006/main">
              <a:ext uri="{FF2B5EF4-FFF2-40B4-BE49-F238E27FC236}">
                <a16:creationId xmlns:a16="http://schemas.microsoft.com/office/drawing/2014/main" id="{7A530F9C-DFE1-0934-66F6-E74036D1F40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88657AE-30A1-5A7A-6A7F-315D84436430}" type="slidenum">
              <a:t>9</a:t>
            </a:fld>
            <a:endParaRPr/>
          </a:p>
        </p:txBody>
      </p:sp>
      <p:sp>
        <p:nvSpPr>
          <p:cNvPr id="3" name="wk1-title">
            <a:extLst xmlns:a="http://schemas.openxmlformats.org/drawingml/2006/main">
              <a:ext uri="{FF2B5EF4-FFF2-40B4-BE49-F238E27FC236}">
                <a16:creationId xmlns:a16="http://schemas.microsoft.com/office/drawing/2014/main" id="{EB2456D0-2EAE-4409-A832-3175296CA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7334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A5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A50000"/>
                </a:solidFill>
                <a:latin typeface="Apple SD Gothic Neo"/>
                <a:ea typeface="Apple SD Gothic Neo"/>
                <a:cs typeface="Apple SD Gothic Neo"/>
              </a:rPr>
              <a:t>수업의 두 블록</a:t>
            </a:r>
          </a:p>
        </p:txBody>
      </p:sp>
      <p:sp>
        <p:nvSpPr>
          <p:cNvPr id="4" name="wk1-section">
            <a:extLst xmlns:a="http://schemas.openxmlformats.org/drawingml/2006/main">
              <a:ext uri="{FF2B5EF4-FFF2-40B4-BE49-F238E27FC236}">
                <a16:creationId xmlns:a16="http://schemas.microsoft.com/office/drawing/2014/main" id="{F4721E9A-C383-47D4-9AEE-9D6EA61C7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885825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0206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002060"/>
                </a:solidFill>
                <a:latin typeface="Apple SD Gothic Neo"/>
                <a:ea typeface="Apple SD Gothic Neo"/>
                <a:cs typeface="Apple SD Gothic Neo"/>
              </a:rPr>
              <a:t>ORIENTATION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66750" y="2143125"/>
          <a:ext xmlns:a="http://schemas.openxmlformats.org/drawingml/2006/main" cx="7810500" cy="2095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952750"/>
                <a:gridCol w="1905000"/>
                <a:gridCol w="2952750"/>
              </a:tblGrid>
              <a:tr h="1047750">
                <a:tc>
                  <a:txBody>
                    <a:bodyPr lIns="28575" tIns="19050" rIns="28575" bIns="19050">
                      <a:normAutofit/>
                    </a:bodyPr>
                    <a:lstStyle/>
                    <a:p>
                      <a:pPr algn="ctr"/>
                      <a:r>
                        <a:rPr sz="165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블록 1 · 75분</a:t>
                      </a:r>
                    </a:p>
                  </a:txBody>
                  <a:tcPr marL="91440" marR="91440" marT="45720" marB="45720" anchor="ctr">
                    <a:solidFill>
                      <a:srgbClr val="A50000"/>
                    </a:solidFill>
                  </a:tcPr>
                </a:tc>
                <a:tc>
                  <a:txBody>
                    <a:bodyPr lIns="28575" tIns="19050" rIns="28575" bIns="19050">
                      <a:normAutofit/>
                    </a:bodyPr>
                    <a:lstStyle/>
                    <a:p>
                      <a:pPr algn="ctr"/>
                      <a:r>
                        <a:rPr sz="165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휴식 · 10분</a:t>
                      </a:r>
                    </a:p>
                  </a:txBody>
                  <a:tcPr marL="91440" marR="91440" marT="45720" marB="45720" anchor="ctr">
                    <a:solidFill>
                      <a:srgbClr val="A50000"/>
                    </a:solidFill>
                  </a:tcPr>
                </a:tc>
                <a:tc>
                  <a:txBody>
                    <a:bodyPr lIns="28575" tIns="19050" rIns="28575" bIns="19050">
                      <a:normAutofit/>
                    </a:bodyPr>
                    <a:lstStyle/>
                    <a:p>
                      <a:pPr algn="ctr"/>
                      <a:r>
                        <a:rPr sz="165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블록 2 · 75분</a:t>
                      </a:r>
                    </a:p>
                  </a:txBody>
                  <a:tcPr marL="91440" marR="91440" marT="45720" marB="45720" anchor="ctr">
                    <a:solidFill>
                      <a:srgbClr val="A50000"/>
                    </a:solidFill>
                  </a:tcPr>
                </a:tc>
              </a:tr>
              <a:tr h="1047750">
                <a:tc>
                  <a:txBody>
                    <a:bodyPr lIns="28575" tIns="19050" rIns="28575" bIns="19050">
                      <a:norm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33333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개념과 읽는 법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28575" tIns="19050" rIns="28575" bIns="19050">
                      <a:norm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33333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판정을 손에 쥔 채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28575" tIns="19050" rIns="28575" bIns="19050">
                      <a:norm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33333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사례와 감독 판단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class-duration">
            <a:extLst xmlns:a="http://schemas.openxmlformats.org/drawingml/2006/main">
              <a:ext uri="{FF2B5EF4-FFF2-40B4-BE49-F238E27FC236}">
                <a16:creationId xmlns:a16="http://schemas.microsoft.com/office/drawing/2014/main" id="{A661FE5D-3198-49DA-A3E3-B518DD320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762500"/>
            <a:ext cx="4953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0206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002060"/>
                </a:solidFill>
                <a:latin typeface="Apple SD Gothic Neo"/>
                <a:ea typeface="Apple SD Gothic Neo"/>
                <a:cs typeface="Apple SD Gothic Neo"/>
              </a:rPr>
              <a:t>한 주 수업은 2시간 40분입니다.</a:t>
            </a:r>
          </a:p>
        </p:txBody>
      </p:sp>
    </p:spTree>
    <p:extLst>
      <p:ext uri="{BB962C8B-B14F-4D97-AF65-F5344CB8AC3E}">
        <p14:creationId xmlns:p14="http://schemas.microsoft.com/office/powerpoint/2010/main" val="186225597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Number Placeholder 1">
            <a:extLst xmlns:a="http://schemas.openxmlformats.org/drawingml/2006/main">
              <a:ext uri="{FF2B5EF4-FFF2-40B4-BE49-F238E27FC236}">
                <a16:creationId xmlns:a16="http://schemas.microsoft.com/office/drawing/2014/main" id="{7A530F9C-DFE1-0934-66F6-E74036D1F40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B7BEEEC-A170-5376-2B6E-CB54687B0CB1}" type="slidenum">
              <a:t>10</a:t>
            </a:fld>
            <a:endParaRPr/>
          </a:p>
        </p:txBody>
      </p:sp>
      <p:sp>
        <p:nvSpPr>
          <p:cNvPr id="3" name="wk1-title">
            <a:extLst xmlns:a="http://schemas.openxmlformats.org/drawingml/2006/main">
              <a:ext uri="{FF2B5EF4-FFF2-40B4-BE49-F238E27FC236}">
                <a16:creationId xmlns:a16="http://schemas.microsoft.com/office/drawing/2014/main" id="{92DBB19B-969E-434D-8DC1-270ECB526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7334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A5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A50000"/>
                </a:solidFill>
                <a:latin typeface="Apple SD Gothic Neo"/>
                <a:ea typeface="Apple SD Gothic Neo"/>
                <a:cs typeface="Apple SD Gothic Neo"/>
              </a:rPr>
              <a:t>평가와 시험</a:t>
            </a:r>
          </a:p>
        </p:txBody>
      </p:sp>
      <p:sp>
        <p:nvSpPr>
          <p:cNvPr id="4" name="wk1-section">
            <a:extLst xmlns:a="http://schemas.openxmlformats.org/drawingml/2006/main">
              <a:ext uri="{FF2B5EF4-FFF2-40B4-BE49-F238E27FC236}">
                <a16:creationId xmlns:a16="http://schemas.microsoft.com/office/drawing/2014/main" id="{E5E0A075-6F00-490E-82C5-0447E681F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885825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0206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002060"/>
                </a:solidFill>
                <a:latin typeface="Apple SD Gothic Neo"/>
                <a:ea typeface="Apple SD Gothic Neo"/>
                <a:cs typeface="Apple SD Gothic Neo"/>
              </a:rPr>
              <a:t>ORIENTATION · SYLLABUS PENDING</a:t>
            </a:r>
          </a:p>
        </p:txBody>
      </p:sp>
    </p:spTree>
    <p:extLst>
      <p:ext uri="{BB962C8B-B14F-4D97-AF65-F5344CB8AC3E}">
        <p14:creationId xmlns:p14="http://schemas.microsoft.com/office/powerpoint/2010/main" val="186225597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Number Placeholder 1">
            <a:extLst xmlns:a="http://schemas.openxmlformats.org/drawingml/2006/main">
              <a:ext uri="{FF2B5EF4-FFF2-40B4-BE49-F238E27FC236}">
                <a16:creationId xmlns:a16="http://schemas.microsoft.com/office/drawing/2014/main" id="{7A530F9C-DFE1-0934-66F6-E74036D1F40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0394428-F1DC-E5F6-DB0C-7DE31F3D8A23}" type="slidenum">
              <a:t>11</a:t>
            </a:fld>
            <a:endParaRPr/>
          </a:p>
        </p:txBody>
      </p:sp>
      <p:sp>
        <p:nvSpPr>
          <p:cNvPr id="3" name="wk1-title">
            <a:extLst xmlns:a="http://schemas.openxmlformats.org/drawingml/2006/main">
              <a:ext uri="{FF2B5EF4-FFF2-40B4-BE49-F238E27FC236}">
                <a16:creationId xmlns:a16="http://schemas.microsoft.com/office/drawing/2014/main" id="{44ACD42A-2B60-45E0-A4AF-D7D3EC6E6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7334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A5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A50000"/>
                </a:solidFill>
                <a:latin typeface="Apple SD Gothic Neo"/>
                <a:ea typeface="Apple SD Gothic Neo"/>
                <a:cs typeface="Apple SD Gothic Neo"/>
              </a:rPr>
              <a:t>출석과 참여</a:t>
            </a:r>
          </a:p>
        </p:txBody>
      </p:sp>
      <p:sp>
        <p:nvSpPr>
          <p:cNvPr id="4" name="wk1-section">
            <a:extLst xmlns:a="http://schemas.openxmlformats.org/drawingml/2006/main">
              <a:ext uri="{FF2B5EF4-FFF2-40B4-BE49-F238E27FC236}">
                <a16:creationId xmlns:a16="http://schemas.microsoft.com/office/drawing/2014/main" id="{5541CE25-022F-4BA2-833B-D965BFF94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885825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0206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002060"/>
                </a:solidFill>
                <a:latin typeface="Apple SD Gothic Neo"/>
                <a:ea typeface="Apple SD Gothic Neo"/>
                <a:cs typeface="Apple SD Gothic Neo"/>
              </a:rPr>
              <a:t>ORIENTATION · SYLLABUS PENDING</a:t>
            </a:r>
          </a:p>
        </p:txBody>
      </p:sp>
    </p:spTree>
    <p:extLst>
      <p:ext uri="{BB962C8B-B14F-4D97-AF65-F5344CB8AC3E}">
        <p14:creationId xmlns:p14="http://schemas.microsoft.com/office/powerpoint/2010/main" val="186225597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Number Placeholder 1">
            <a:extLst xmlns:a="http://schemas.openxmlformats.org/drawingml/2006/main">
              <a:ext uri="{FF2B5EF4-FFF2-40B4-BE49-F238E27FC236}">
                <a16:creationId xmlns:a16="http://schemas.microsoft.com/office/drawing/2014/main" id="{7A530F9C-DFE1-0934-66F6-E74036D1F40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DB16885-0D3F-A391-B669-3211DB3B26E8}" type="slidenum">
              <a:t>12</a:t>
            </a:fld>
            <a:endParaRPr/>
          </a:p>
        </p:txBody>
      </p:sp>
      <p:sp>
        <p:nvSpPr>
          <p:cNvPr id="3" name="wk1-title">
            <a:extLst xmlns:a="http://schemas.openxmlformats.org/drawingml/2006/main">
              <a:ext uri="{FF2B5EF4-FFF2-40B4-BE49-F238E27FC236}">
                <a16:creationId xmlns:a16="http://schemas.microsoft.com/office/drawing/2014/main" id="{00668631-17F0-4493-92F9-312B1A914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7334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A5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A50000"/>
                </a:solidFill>
                <a:latin typeface="Apple SD Gothic Neo"/>
                <a:ea typeface="Apple SD Gothic Neo"/>
                <a:cs typeface="Apple SD Gothic Neo"/>
              </a:rPr>
              <a:t>오늘의 운영 원칙</a:t>
            </a:r>
          </a:p>
        </p:txBody>
      </p:sp>
      <p:sp>
        <p:nvSpPr>
          <p:cNvPr id="4" name="wk1-section">
            <a:extLst xmlns:a="http://schemas.openxmlformats.org/drawingml/2006/main">
              <a:ext uri="{FF2B5EF4-FFF2-40B4-BE49-F238E27FC236}">
                <a16:creationId xmlns:a16="http://schemas.microsoft.com/office/drawing/2014/main" id="{61F5E065-5078-4D0F-AC98-3F035544C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885825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0206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002060"/>
                </a:solidFill>
                <a:latin typeface="Apple SD Gothic Neo"/>
                <a:ea typeface="Apple SD Gothic Neo"/>
                <a:cs typeface="Apple SD Gothic Neo"/>
              </a:rPr>
              <a:t>ORIENTATION</a:t>
            </a:r>
          </a:p>
        </p:txBody>
      </p:sp>
      <p:sp>
        <p:nvSpPr>
          <p:cNvPr id="5" name="wk1-bullets">
            <a:extLst xmlns:a="http://schemas.openxmlformats.org/drawingml/2006/main">
              <a:ext uri="{FF2B5EF4-FFF2-40B4-BE49-F238E27FC236}">
                <a16:creationId xmlns:a16="http://schemas.microsoft.com/office/drawing/2014/main" id="{0C1BCB4D-AF0F-46CD-884D-36525DC91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524000"/>
            <a:ext cx="7239000" cy="400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marL="304800" indent="-152400">
              <a:lnSpc>
                <a:spcPct val="112000"/>
              </a:lnSpc>
              <a:spcAft>
                <a:spcPts val="1700"/>
              </a:spcAft>
              <a:buNone/>
              <a:defRPr sz="1875">
                <a:solidFill>
                  <a:srgbClr val="3333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>
                <a:solidFill>
                  <a:srgbClr val="333333"/>
                </a:solidFill>
                <a:latin typeface="Apple SD Gothic Neo"/>
                <a:ea typeface="Apple SD Gothic Neo"/>
                <a:cs typeface="Apple SD Gothic Neo"/>
              </a:rPr>
              <a:t>판정은 먼저 각자 기록한 뒤 조별로 대조합니다.</a:t>
            </a:r>
          </a:p>
          <a:p xmlns:a="http://schemas.openxmlformats.org/drawingml/2006/main">
            <a:pPr marL="304800" indent="-152400">
              <a:lnSpc>
                <a:spcPct val="112000"/>
              </a:lnSpc>
              <a:spcAft>
                <a:spcPts val="1700"/>
              </a:spcAft>
              <a:buNone/>
              <a:defRPr sz="1875">
                <a:solidFill>
                  <a:srgbClr val="3333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>
                <a:solidFill>
                  <a:srgbClr val="333333"/>
                </a:solidFill>
                <a:latin typeface="Apple SD Gothic Neo"/>
                <a:ea typeface="Apple SD Gothic Neo"/>
                <a:cs typeface="Apple SD Gothic Neo"/>
              </a:rPr>
              <a:t>학생의 질문은 강사 용어로 고쳐 쓰지 않고 그대로 모읍니다.</a:t>
            </a:r>
          </a:p>
          <a:p xmlns:a="http://schemas.openxmlformats.org/drawingml/2006/main">
            <a:pPr marL="304800" indent="-152400">
              <a:lnSpc>
                <a:spcPct val="112000"/>
              </a:lnSpc>
              <a:spcAft>
                <a:spcPts val="1700"/>
              </a:spcAft>
              <a:buNone/>
              <a:defRPr sz="1875">
                <a:solidFill>
                  <a:srgbClr val="3333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>
                <a:solidFill>
                  <a:srgbClr val="333333"/>
                </a:solidFill>
                <a:latin typeface="Apple SD Gothic Neo"/>
                <a:ea typeface="Apple SD Gothic Neo"/>
                <a:cs typeface="Apple SD Gothic Neo"/>
              </a:rPr>
              <a:t>표를 직접 정렬하고 계산을 검산하는 행동을 권장합니다.</a:t>
            </a:r>
          </a:p>
          <a:p xmlns:a="http://schemas.openxmlformats.org/drawingml/2006/main">
            <a:pPr marL="304800" indent="-152400">
              <a:lnSpc>
                <a:spcPct val="112000"/>
              </a:lnSpc>
              <a:spcAft>
                <a:spcPts val="1700"/>
              </a:spcAft>
              <a:buNone/>
              <a:defRPr sz="1875">
                <a:solidFill>
                  <a:srgbClr val="3333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>
                <a:solidFill>
                  <a:srgbClr val="333333"/>
                </a:solidFill>
                <a:latin typeface="Apple SD Gothic Neo"/>
                <a:ea typeface="Apple SD Gothic Neo"/>
                <a:cs typeface="Apple SD Gothic Neo"/>
              </a:rPr>
              <a:t>어느 보고서가 정답인지 미리 신호를 주지 않습니다.</a:t>
            </a:r>
          </a:p>
        </p:txBody>
      </p:sp>
    </p:spTree>
    <p:extLst>
      <p:ext uri="{BB962C8B-B14F-4D97-AF65-F5344CB8AC3E}">
        <p14:creationId xmlns:p14="http://schemas.microsoft.com/office/powerpoint/2010/main" val="186225597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Number Placeholder 1">
            <a:extLst xmlns:a="http://schemas.openxmlformats.org/drawingml/2006/main">
              <a:ext uri="{FF2B5EF4-FFF2-40B4-BE49-F238E27FC236}">
                <a16:creationId xmlns:a16="http://schemas.microsoft.com/office/drawing/2014/main" id="{7A530F9C-DFE1-0934-66F6-E74036D1F40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DD23107-4986-8758-3A93-3D74F35908CC}" type="slidenum">
              <a:t>13</a:t>
            </a:fld>
            <a:endParaRPr/>
          </a:p>
        </p:txBody>
      </p:sp>
      <p:sp>
        <p:nvSpPr>
          <p:cNvPr id="3" name="wk1-title">
            <a:extLst xmlns:a="http://schemas.openxmlformats.org/drawingml/2006/main">
              <a:ext uri="{FF2B5EF4-FFF2-40B4-BE49-F238E27FC236}">
                <a16:creationId xmlns:a16="http://schemas.microsoft.com/office/drawing/2014/main" id="{C2F2DB47-97EE-4243-9E60-A4FC714B1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7334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A5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A50000"/>
                </a:solidFill>
                <a:latin typeface="Apple SD Gothic Neo"/>
                <a:ea typeface="Apple SD Gothic Neo"/>
                <a:cs typeface="Apple SD Gothic Neo"/>
              </a:rPr>
              <a:t>자료 · LMS · 조 편성</a:t>
            </a:r>
          </a:p>
        </p:txBody>
      </p:sp>
      <p:sp>
        <p:nvSpPr>
          <p:cNvPr id="4" name="wk1-section">
            <a:extLst xmlns:a="http://schemas.openxmlformats.org/drawingml/2006/main">
              <a:ext uri="{FF2B5EF4-FFF2-40B4-BE49-F238E27FC236}">
                <a16:creationId xmlns:a16="http://schemas.microsoft.com/office/drawing/2014/main" id="{51435B36-3761-494B-9C3F-F6A7001E2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885825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0206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002060"/>
                </a:solidFill>
                <a:latin typeface="Apple SD Gothic Neo"/>
                <a:ea typeface="Apple SD Gothic Neo"/>
                <a:cs typeface="Apple SD Gothic Neo"/>
              </a:rPr>
              <a:t>ORIENTATION · SYLLABUS PENDING</a:t>
            </a:r>
          </a:p>
        </p:txBody>
      </p:sp>
    </p:spTree>
    <p:extLst>
      <p:ext uri="{BB962C8B-B14F-4D97-AF65-F5344CB8AC3E}">
        <p14:creationId xmlns:p14="http://schemas.microsoft.com/office/powerpoint/2010/main" val="186225597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Number Placeholder 1">
            <a:extLst xmlns:a="http://schemas.openxmlformats.org/drawingml/2006/main">
              <a:ext uri="{FF2B5EF4-FFF2-40B4-BE49-F238E27FC236}">
                <a16:creationId xmlns:a16="http://schemas.microsoft.com/office/drawing/2014/main" id="{7A530F9C-DFE1-0934-66F6-E74036D1F40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27921A4-25C4-3DB4-06B1-32693CEE2241}" type="slidenum">
              <a:t>14</a:t>
            </a:fld>
            <a:endParaRPr/>
          </a:p>
        </p:txBody>
      </p:sp>
      <p:sp>
        <p:nvSpPr>
          <p:cNvPr id="3" name="wk1-title">
            <a:extLst xmlns:a="http://schemas.openxmlformats.org/drawingml/2006/main">
              <a:ext uri="{FF2B5EF4-FFF2-40B4-BE49-F238E27FC236}">
                <a16:creationId xmlns:a16="http://schemas.microsoft.com/office/drawing/2014/main" id="{083EC602-D1A8-4E3B-9491-55F522982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7334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A5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A50000"/>
                </a:solidFill>
                <a:latin typeface="Apple SD Gothic Neo"/>
                <a:ea typeface="Apple SD Gothic Neo"/>
                <a:cs typeface="Apple SD Gothic Neo"/>
              </a:rPr>
              <a:t>과제와 마감</a:t>
            </a:r>
          </a:p>
        </p:txBody>
      </p:sp>
      <p:sp>
        <p:nvSpPr>
          <p:cNvPr id="4" name="wk1-section">
            <a:extLst xmlns:a="http://schemas.openxmlformats.org/drawingml/2006/main">
              <a:ext uri="{FF2B5EF4-FFF2-40B4-BE49-F238E27FC236}">
                <a16:creationId xmlns:a16="http://schemas.microsoft.com/office/drawing/2014/main" id="{6217C690-76BF-4417-8DA3-0AC810EFC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885825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0206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002060"/>
                </a:solidFill>
                <a:latin typeface="Apple SD Gothic Neo"/>
                <a:ea typeface="Apple SD Gothic Neo"/>
                <a:cs typeface="Apple SD Gothic Neo"/>
              </a:rPr>
              <a:t>ORIENTATION · SYLLABUS PENDING</a:t>
            </a:r>
          </a:p>
        </p:txBody>
      </p:sp>
    </p:spTree>
    <p:extLst>
      <p:ext uri="{BB962C8B-B14F-4D97-AF65-F5344CB8AC3E}">
        <p14:creationId xmlns:p14="http://schemas.microsoft.com/office/powerpoint/2010/main" val="186225597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Number Placeholder 1">
            <a:extLst xmlns:a="http://schemas.openxmlformats.org/drawingml/2006/main">
              <a:ext uri="{FF2B5EF4-FFF2-40B4-BE49-F238E27FC236}">
                <a16:creationId xmlns:a16="http://schemas.microsoft.com/office/drawing/2014/main" id="{7A530F9C-DFE1-0934-66F6-E74036D1F40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A83FA91-883A-0168-8075-96CEB9DCA3C2}" type="slidenum">
              <a:t>15</a:t>
            </a:fld>
            <a:endParaRPr/>
          </a:p>
        </p:txBody>
      </p:sp>
      <p:sp>
        <p:nvSpPr>
          <p:cNvPr id="3" name="wk1-title">
            <a:extLst xmlns:a="http://schemas.openxmlformats.org/drawingml/2006/main">
              <a:ext uri="{FF2B5EF4-FFF2-40B4-BE49-F238E27FC236}">
                <a16:creationId xmlns:a16="http://schemas.microsoft.com/office/drawing/2014/main" id="{FD6E4D41-D122-4D90-A4AF-C4C55D5EC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7334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A5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A50000"/>
                </a:solidFill>
                <a:latin typeface="Apple SD Gothic Neo"/>
                <a:ea typeface="Apple SD Gothic Neo"/>
                <a:cs typeface="Apple SD Gothic Neo"/>
              </a:rPr>
              <a:t>요구하는 것과 요구하지 않는 것</a:t>
            </a:r>
          </a:p>
        </p:txBody>
      </p:sp>
      <p:sp>
        <p:nvSpPr>
          <p:cNvPr id="4" name="wk1-section">
            <a:extLst xmlns:a="http://schemas.openxmlformats.org/drawingml/2006/main">
              <a:ext uri="{FF2B5EF4-FFF2-40B4-BE49-F238E27FC236}">
                <a16:creationId xmlns:a16="http://schemas.microsoft.com/office/drawing/2014/main" id="{E6DFE3D5-A3DB-4AB3-834C-02B3CFC5D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885825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0206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002060"/>
                </a:solidFill>
                <a:latin typeface="Apple SD Gothic Neo"/>
                <a:ea typeface="Apple SD Gothic Neo"/>
                <a:cs typeface="Apple SD Gothic Neo"/>
              </a:rPr>
              <a:t>COURSE SCOPE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857250" y="1571625"/>
          <a:ext xmlns:a="http://schemas.openxmlformats.org/drawingml/2006/main" cx="7429500" cy="3143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4572000"/>
              </a:tblGrid>
              <a:tr h="785813">
                <a:tc>
                  <a:txBody>
                    <a:bodyPr lIns="28575" tIns="19050" rIns="28575" bIns="19050">
                      <a:normAutofit/>
                    </a:bodyPr>
                    <a:lstStyle/>
                    <a:p>
                      <a:pPr algn="ctr"/>
                      <a:r>
                        <a:rPr sz="1725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요구하지 않음</a:t>
                      </a:r>
                    </a:p>
                  </a:txBody>
                  <a:tcPr marL="91440" marR="91440" marT="45720" marB="45720" anchor="ctr">
                    <a:solidFill>
                      <a:srgbClr val="A50000"/>
                    </a:solidFill>
                  </a:tcPr>
                </a:tc>
                <a:tc>
                  <a:txBody>
                    <a:bodyPr lIns="28575" tIns="19050" rIns="28575" bIns="19050">
                      <a:normAutofit/>
                    </a:bodyPr>
                    <a:lstStyle/>
                    <a:p>
                      <a:pPr algn="ctr"/>
                      <a:r>
                        <a:rPr sz="1725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요구함</a:t>
                      </a:r>
                    </a:p>
                  </a:txBody>
                  <a:tcPr marL="91440" marR="91440" marT="45720" marB="45720" anchor="ctr">
                    <a:solidFill>
                      <a:srgbClr val="A50000"/>
                    </a:solidFill>
                  </a:tcPr>
                </a:tc>
              </a:tr>
              <a:tr h="785813">
                <a:tc>
                  <a:txBody>
                    <a:bodyPr lIns="28575" tIns="19050" rIns="28575" bIns="19050">
                      <a:norm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33333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코딩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28575" tIns="19050" rIns="28575" bIns="19050">
                      <a:norm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33333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읽기 — 결과가 무엇을 말하는지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85813">
                <a:tc>
                  <a:txBody>
                    <a:bodyPr lIns="28575" tIns="19050" rIns="28575" bIns="19050">
                      <a:norm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33333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통계 이론</a:t>
                      </a:r>
                    </a:p>
                  </a:txBody>
                  <a:tcPr marL="91440" marR="91440" marT="45720" marB="45720" anchor="ctr">
                    <a:solidFill>
                      <a:srgbClr val="F3F4F6"/>
                    </a:solidFill>
                  </a:tcPr>
                </a:tc>
                <a:tc>
                  <a:txBody>
                    <a:bodyPr lIns="28575" tIns="19050" rIns="28575" bIns="19050">
                      <a:norm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33333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되묻기 — 무엇을 말하지 않는지</a:t>
                      </a:r>
                    </a:p>
                  </a:txBody>
                  <a:tcPr marL="91440" marR="91440" marT="45720" marB="45720" anchor="ctr">
                    <a:solidFill>
                      <a:srgbClr val="F3F4F6"/>
                    </a:solidFill>
                  </a:tcPr>
                </a:tc>
              </a:tr>
              <a:tr h="785813">
                <a:tc>
                  <a:txBody>
                    <a:bodyPr lIns="28575" tIns="19050" rIns="28575" bIns="19050">
                      <a:norm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33333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수식 유도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28575" tIns="19050" rIns="28575" bIns="19050">
                      <a:norm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33333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결정 — 그래서 무엇을 할 것인지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course-scope-line">
            <a:extLst xmlns:a="http://schemas.openxmlformats.org/drawingml/2006/main">
              <a:ext uri="{FF2B5EF4-FFF2-40B4-BE49-F238E27FC236}">
                <a16:creationId xmlns:a16="http://schemas.microsoft.com/office/drawing/2014/main" id="{11AB6E34-1F33-4621-9DD6-BCF775B22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143500"/>
            <a:ext cx="6953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0206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002060"/>
                </a:solidFill>
                <a:latin typeface="Apple SD Gothic Neo"/>
                <a:ea typeface="Apple SD Gothic Neo"/>
                <a:cs typeface="Apple SD Gothic Neo"/>
              </a:rPr>
              <a:t>이 과목은 여러분을 분석을 감독하는 사람으로 만듭니다.</a:t>
            </a:r>
          </a:p>
        </p:txBody>
      </p:sp>
    </p:spTree>
    <p:extLst>
      <p:ext uri="{BB962C8B-B14F-4D97-AF65-F5344CB8AC3E}">
        <p14:creationId xmlns:p14="http://schemas.microsoft.com/office/powerpoint/2010/main" val="186225597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Number Placeholder 1">
            <a:extLst xmlns:a="http://schemas.openxmlformats.org/drawingml/2006/main">
              <a:ext uri="{FF2B5EF4-FFF2-40B4-BE49-F238E27FC236}">
                <a16:creationId xmlns:a16="http://schemas.microsoft.com/office/drawing/2014/main" id="{7A530F9C-DFE1-0934-66F6-E74036D1F40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C9C7607-4BA3-B4DC-A00F-2E67A9FCFF7E}" type="slidenum">
              <a:t>16</a:t>
            </a:fld>
            <a:endParaRPr/>
          </a:p>
        </p:txBody>
      </p:sp>
      <p:sp>
        <p:nvSpPr>
          <p:cNvPr id="3" name="wk1-title">
            <a:extLst xmlns:a="http://schemas.openxmlformats.org/drawingml/2006/main">
              <a:ext uri="{FF2B5EF4-FFF2-40B4-BE49-F238E27FC236}">
                <a16:creationId xmlns:a16="http://schemas.microsoft.com/office/drawing/2014/main" id="{A2C130BB-0FAF-435A-ACF0-6F26C4D64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7334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A5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A50000"/>
                </a:solidFill>
                <a:latin typeface="Apple SD Gothic Neo"/>
                <a:ea typeface="Apple SD Gothic Neo"/>
                <a:cs typeface="Apple SD Gothic Neo"/>
              </a:rPr>
              <a:t>선행 지식보다 필요한 것</a:t>
            </a:r>
          </a:p>
        </p:txBody>
      </p:sp>
      <p:sp>
        <p:nvSpPr>
          <p:cNvPr id="4" name="wk1-section">
            <a:extLst xmlns:a="http://schemas.openxmlformats.org/drawingml/2006/main">
              <a:ext uri="{FF2B5EF4-FFF2-40B4-BE49-F238E27FC236}">
                <a16:creationId xmlns:a16="http://schemas.microsoft.com/office/drawing/2014/main" id="{621C146A-E63D-454B-A902-B0069E6F9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885825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0206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002060"/>
                </a:solidFill>
                <a:latin typeface="Apple SD Gothic Neo"/>
                <a:ea typeface="Apple SD Gothic Neo"/>
                <a:cs typeface="Apple SD Gothic Neo"/>
              </a:rPr>
              <a:t>COURSE SCOPE</a:t>
            </a:r>
          </a:p>
        </p:txBody>
      </p:sp>
      <p:sp>
        <p:nvSpPr>
          <p:cNvPr id="5" name="wk1-quote">
            <a:extLst xmlns:a="http://schemas.openxmlformats.org/drawingml/2006/main">
              <a:ext uri="{FF2B5EF4-FFF2-40B4-BE49-F238E27FC236}">
                <a16:creationId xmlns:a16="http://schemas.microsoft.com/office/drawing/2014/main" id="{38172E0B-B04D-43F1-9807-CEBFFA98E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09750"/>
            <a:ext cx="7239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00206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002060"/>
                </a:solidFill>
                <a:latin typeface="Apple SD Gothic Neo"/>
                <a:ea typeface="Apple SD Gothic Neo"/>
                <a:cs typeface="Apple SD Gothic Neo"/>
              </a:rPr>
              <a:t>코딩 경험은 선행 조건이 아닙니다</a:t>
            </a:r>
          </a:p>
        </p:txBody>
      </p:sp>
      <p:sp>
        <p:nvSpPr>
          <p:cNvPr id="6" name="wk1-quote-detail">
            <a:extLst xmlns:a="http://schemas.openxmlformats.org/drawingml/2006/main">
              <a:ext uri="{FF2B5EF4-FFF2-40B4-BE49-F238E27FC236}">
                <a16:creationId xmlns:a16="http://schemas.microsoft.com/office/drawing/2014/main" id="{6294CF52-BF5A-4C7D-89DB-C432B8044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857625"/>
            <a:ext cx="67627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66666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>
                <a:solidFill>
                  <a:srgbClr val="666666"/>
                </a:solidFill>
                <a:latin typeface="Apple SD Gothic Neo"/>
                <a:ea typeface="Apple SD Gothic Neo"/>
                <a:cs typeface="Apple SD Gothic Neo"/>
              </a:rPr>
              <a:t>결과를 읽고, 무엇이 부족한지 되묻고, 결정하려는 태도가 필요합니다.</a:t>
            </a:r>
          </a:p>
        </p:txBody>
      </p:sp>
    </p:spTree>
    <p:extLst>
      <p:ext uri="{BB962C8B-B14F-4D97-AF65-F5344CB8AC3E}">
        <p14:creationId xmlns:p14="http://schemas.microsoft.com/office/powerpoint/2010/main" val="186225597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Number Placeholder 1">
            <a:extLst xmlns:a="http://schemas.openxmlformats.org/drawingml/2006/main">
              <a:ext uri="{FF2B5EF4-FFF2-40B4-BE49-F238E27FC236}">
                <a16:creationId xmlns:a16="http://schemas.microsoft.com/office/drawing/2014/main" id="{7A530F9C-DFE1-0934-66F6-E74036D1F40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0F7333B-44AC-F7E9-D49D-FE92F45E0477}" type="slidenum">
              <a:t>17</a:t>
            </a:fld>
            <a:endParaRPr/>
          </a:p>
        </p:txBody>
      </p:sp>
      <p:sp>
        <p:nvSpPr>
          <p:cNvPr id="3" name="wk1-title">
            <a:extLst xmlns:a="http://schemas.openxmlformats.org/drawingml/2006/main">
              <a:ext uri="{FF2B5EF4-FFF2-40B4-BE49-F238E27FC236}">
                <a16:creationId xmlns:a16="http://schemas.microsoft.com/office/drawing/2014/main" id="{4DC04AAF-A875-4C42-8EE7-23F783FC5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7334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A5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A50000"/>
                </a:solidFill>
                <a:latin typeface="Apple SD Gothic Neo"/>
                <a:ea typeface="Apple SD Gothic Neo"/>
                <a:cs typeface="Apple SD Gothic Neo"/>
              </a:rPr>
              <a:t>왜 관리자가 분석을 감독하는가</a:t>
            </a:r>
          </a:p>
        </p:txBody>
      </p:sp>
      <p:sp>
        <p:nvSpPr>
          <p:cNvPr id="4" name="wk1-section">
            <a:extLst xmlns:a="http://schemas.openxmlformats.org/drawingml/2006/main">
              <a:ext uri="{FF2B5EF4-FFF2-40B4-BE49-F238E27FC236}">
                <a16:creationId xmlns:a16="http://schemas.microsoft.com/office/drawing/2014/main" id="{105A6515-530F-4C3F-A377-DAFB2408E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885825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0206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002060"/>
                </a:solidFill>
                <a:latin typeface="Apple SD Gothic Neo"/>
                <a:ea typeface="Apple SD Gothic Neo"/>
                <a:cs typeface="Apple SD Gothic Neo"/>
              </a:rPr>
              <a:t>SUPERVISION PHILOSOPHY</a:t>
            </a:r>
          </a:p>
        </p:txBody>
      </p:sp>
      <p:sp>
        <p:nvSpPr>
          <p:cNvPr id="5" name="wk1-quote">
            <a:extLst xmlns:a="http://schemas.openxmlformats.org/drawingml/2006/main">
              <a:ext uri="{FF2B5EF4-FFF2-40B4-BE49-F238E27FC236}">
                <a16:creationId xmlns:a16="http://schemas.microsoft.com/office/drawing/2014/main" id="{D0938E50-8142-4669-BB9D-8BA3E65B4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09750"/>
            <a:ext cx="7239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A5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00" b="1">
                <a:solidFill>
                  <a:srgbClr val="A50000"/>
                </a:solidFill>
                <a:latin typeface="Apple SD Gothic Neo"/>
                <a:ea typeface="Apple SD Gothic Neo"/>
                <a:cs typeface="Apple SD Gothic Neo"/>
              </a:rPr>
              <a:t>분석은 빨라졌습니다</a:t>
            </a:r>
          </a:p>
          <a:p xmlns:a="http://schemas.openxmlformats.org/drawingml/2006/main">
            <a:pPr algn="ctr">
              <a:defRPr sz="2700" b="1">
                <a:solidFill>
                  <a:srgbClr val="A5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00" b="1">
                <a:solidFill>
                  <a:srgbClr val="A50000"/>
                </a:solidFill>
                <a:latin typeface="Apple SD Gothic Neo"/>
                <a:ea typeface="Apple SD Gothic Neo"/>
                <a:cs typeface="Apple SD Gothic Neo"/>
              </a:rPr>
              <a:t>판단의 책임은 남았습니다</a:t>
            </a:r>
          </a:p>
        </p:txBody>
      </p:sp>
      <p:sp>
        <p:nvSpPr>
          <p:cNvPr id="6" name="wk1-quote-detail">
            <a:extLst xmlns:a="http://schemas.openxmlformats.org/drawingml/2006/main">
              <a:ext uri="{FF2B5EF4-FFF2-40B4-BE49-F238E27FC236}">
                <a16:creationId xmlns:a16="http://schemas.microsoft.com/office/drawing/2014/main" id="{9E5263A9-DC52-4BF9-905F-3FCD5D855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857625"/>
            <a:ext cx="67627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>
                <a:solidFill>
                  <a:srgbClr val="66666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>
                <a:solidFill>
                  <a:srgbClr val="666666"/>
                </a:solidFill>
                <a:latin typeface="Apple SD Gothic Neo"/>
                <a:ea typeface="Apple SD Gothic Neo"/>
                <a:cs typeface="Apple SD Gothic Neo"/>
              </a:rPr>
              <a:t>그 사이가 관리자가 서 있는 자리입니다.</a:t>
            </a:r>
          </a:p>
        </p:txBody>
      </p:sp>
    </p:spTree>
    <p:extLst>
      <p:ext uri="{BB962C8B-B14F-4D97-AF65-F5344CB8AC3E}">
        <p14:creationId xmlns:p14="http://schemas.microsoft.com/office/powerpoint/2010/main" val="186225597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Number Placeholder 1">
            <a:extLst xmlns:a="http://schemas.openxmlformats.org/drawingml/2006/main">
              <a:ext uri="{FF2B5EF4-FFF2-40B4-BE49-F238E27FC236}">
                <a16:creationId xmlns:a16="http://schemas.microsoft.com/office/drawing/2014/main" id="{7A530F9C-DFE1-0934-66F6-E74036D1F40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1C6C81E-38B9-7560-621D-5A151A79DF9B}" type="slidenum">
              <a:t>18</a:t>
            </a:fld>
            <a:endParaRPr/>
          </a:p>
        </p:txBody>
      </p:sp>
      <p:sp>
        <p:nvSpPr>
          <p:cNvPr id="3" name="wk1-title">
            <a:extLst xmlns:a="http://schemas.openxmlformats.org/drawingml/2006/main">
              <a:ext uri="{FF2B5EF4-FFF2-40B4-BE49-F238E27FC236}">
                <a16:creationId xmlns:a16="http://schemas.microsoft.com/office/drawing/2014/main" id="{D6A9A10F-FB06-4E9C-BBD5-CE3CBE7C4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7334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A5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A50000"/>
                </a:solidFill>
                <a:latin typeface="Apple SD Gothic Neo"/>
                <a:ea typeface="Apple SD Gothic Neo"/>
                <a:cs typeface="Apple SD Gothic Neo"/>
              </a:rPr>
              <a:t>분석을 얻는 방식의 변화</a:t>
            </a:r>
          </a:p>
        </p:txBody>
      </p:sp>
      <p:sp>
        <p:nvSpPr>
          <p:cNvPr id="4" name="wk1-section">
            <a:extLst xmlns:a="http://schemas.openxmlformats.org/drawingml/2006/main">
              <a:ext uri="{FF2B5EF4-FFF2-40B4-BE49-F238E27FC236}">
                <a16:creationId xmlns:a16="http://schemas.microsoft.com/office/drawing/2014/main" id="{16ACD86A-160E-476D-A3C7-8A72B9AB9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885825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0206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002060"/>
                </a:solidFill>
                <a:latin typeface="Apple SD Gothic Neo"/>
                <a:ea typeface="Apple SD Gothic Neo"/>
                <a:cs typeface="Apple SD Gothic Neo"/>
              </a:rPr>
              <a:t>SUPERVISION PHILOSOPHY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857250" y="1571625"/>
          <a:ext xmlns:a="http://schemas.openxmlformats.org/drawingml/2006/main" cx="7429500" cy="3333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714750"/>
                <a:gridCol w="3714750"/>
              </a:tblGrid>
              <a:tr h="833438">
                <a:tc>
                  <a:txBody>
                    <a:bodyPr lIns="28575" tIns="19050" rIns="28575" bIns="19050">
                      <a:normAutofit/>
                    </a:bodyPr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몇 년 전</a:t>
                      </a:r>
                    </a:p>
                  </a:txBody>
                  <a:tcPr marL="91440" marR="91440" marT="45720" marB="45720" anchor="ctr">
                    <a:solidFill>
                      <a:srgbClr val="A50000"/>
                    </a:solidFill>
                  </a:tcPr>
                </a:tc>
                <a:tc>
                  <a:txBody>
                    <a:bodyPr lIns="28575" tIns="19050" rIns="28575" bIns="19050">
                      <a:normAutofit/>
                    </a:bodyPr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지금</a:t>
                      </a:r>
                    </a:p>
                  </a:txBody>
                  <a:tcPr marL="91440" marR="91440" marT="45720" marB="45720" anchor="ctr">
                    <a:solidFill>
                      <a:srgbClr val="A50000"/>
                    </a:solidFill>
                  </a:tcPr>
                </a:tc>
              </a:tr>
              <a:tr h="833438">
                <a:tc>
                  <a:txBody>
                    <a:bodyPr lIns="28575" tIns="19050" rIns="28575" bIns="19050">
                      <a:normAutofit/>
                    </a:bodyPr>
                    <a:lstStyle/>
                    <a:p>
                      <a:pPr algn="ctr"/>
                      <a:r>
                        <a:rPr sz="1650" b="0">
                          <a:solidFill>
                            <a:srgbClr val="33333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데이터팀에 요청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28575" tIns="19050" rIns="28575" bIns="19050">
                      <a:normAutofit/>
                    </a:bodyPr>
                    <a:lstStyle/>
                    <a:p>
                      <a:pPr algn="ctr"/>
                      <a:r>
                        <a:rPr sz="1650" b="0">
                          <a:solidFill>
                            <a:srgbClr val="33333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데이터를 붙여 넣고 한 문장 입력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833438">
                <a:tc>
                  <a:txBody>
                    <a:bodyPr lIns="28575" tIns="19050" rIns="28575" bIns="19050">
                      <a:normAutofit/>
                    </a:bodyPr>
                    <a:lstStyle/>
                    <a:p>
                      <a:pPr algn="ctr"/>
                      <a:r>
                        <a:rPr sz="1650" b="0">
                          <a:solidFill>
                            <a:srgbClr val="33333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순번을 기다림</a:t>
                      </a:r>
                    </a:p>
                  </a:txBody>
                  <a:tcPr marL="91440" marR="91440" marT="45720" marB="45720" anchor="ctr">
                    <a:solidFill>
                      <a:srgbClr val="F3F4F6"/>
                    </a:solidFill>
                  </a:tcPr>
                </a:tc>
                <a:tc>
                  <a:txBody>
                    <a:bodyPr lIns="28575" tIns="19050" rIns="28575" bIns="19050">
                      <a:normAutofit/>
                    </a:bodyPr>
                    <a:lstStyle/>
                    <a:p>
                      <a:pPr algn="ctr"/>
                      <a:r>
                        <a:rPr sz="1650" b="0">
                          <a:solidFill>
                            <a:srgbClr val="33333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몇 초 안에 결과</a:t>
                      </a:r>
                    </a:p>
                  </a:txBody>
                  <a:tcPr marL="91440" marR="91440" marT="45720" marB="45720" anchor="ctr">
                    <a:solidFill>
                      <a:srgbClr val="F3F4F6"/>
                    </a:solidFill>
                  </a:tcPr>
                </a:tc>
              </a:tr>
              <a:tr h="833438">
                <a:tc>
                  <a:txBody>
                    <a:bodyPr lIns="28575" tIns="19050" rIns="28575" bIns="19050">
                      <a:normAutofit/>
                    </a:bodyPr>
                    <a:lstStyle/>
                    <a:p>
                      <a:pPr algn="ctr"/>
                      <a:r>
                        <a:rPr sz="1650" b="0">
                          <a:solidFill>
                            <a:srgbClr val="33333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분석은 희소한 자원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28575" tIns="19050" rIns="28575" bIns="19050">
                      <a:normAutofit/>
                    </a:bodyPr>
                    <a:lstStyle/>
                    <a:p>
                      <a:pPr algn="ctr"/>
                      <a:r>
                        <a:rPr sz="1650" b="0">
                          <a:solidFill>
                            <a:srgbClr val="33333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표·그림·권고안까지 즉시 생성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6225597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Number Placeholder 1">
            <a:extLst xmlns:a="http://schemas.openxmlformats.org/drawingml/2006/main">
              <a:ext uri="{FF2B5EF4-FFF2-40B4-BE49-F238E27FC236}">
                <a16:creationId xmlns:a16="http://schemas.microsoft.com/office/drawing/2014/main" id="{7A530F9C-DFE1-0934-66F6-E74036D1F40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CF91274-D221-1BB4-3BF9-836E3AD31EBE}" type="slidenum">
              <a:t>19</a:t>
            </a:fld>
            <a:endParaRPr/>
          </a:p>
        </p:txBody>
      </p:sp>
      <p:sp>
        <p:nvSpPr>
          <p:cNvPr id="3" name="wk1-title">
            <a:extLst xmlns:a="http://schemas.openxmlformats.org/drawingml/2006/main">
              <a:ext uri="{FF2B5EF4-FFF2-40B4-BE49-F238E27FC236}">
                <a16:creationId xmlns:a16="http://schemas.microsoft.com/office/drawing/2014/main" id="{DE98121B-F606-4FF7-90DA-E9B140A28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7334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A5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A50000"/>
                </a:solidFill>
                <a:latin typeface="Apple SD Gothic Neo"/>
                <a:ea typeface="Apple SD Gothic Neo"/>
                <a:cs typeface="Apple SD Gothic Neo"/>
              </a:rPr>
              <a:t>잘못된 결정의 비용</a:t>
            </a:r>
          </a:p>
        </p:txBody>
      </p:sp>
      <p:sp>
        <p:nvSpPr>
          <p:cNvPr id="4" name="wk1-section">
            <a:extLst xmlns:a="http://schemas.openxmlformats.org/drawingml/2006/main">
              <a:ext uri="{FF2B5EF4-FFF2-40B4-BE49-F238E27FC236}">
                <a16:creationId xmlns:a16="http://schemas.microsoft.com/office/drawing/2014/main" id="{DF09EB9F-1AEB-4C2F-BE9F-B06D3CB21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885825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0206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002060"/>
                </a:solidFill>
                <a:latin typeface="Apple SD Gothic Neo"/>
                <a:ea typeface="Apple SD Gothic Neo"/>
                <a:cs typeface="Apple SD Gothic Neo"/>
              </a:rPr>
              <a:t>SUPERVISION PHILOSOPHY</a:t>
            </a:r>
          </a:p>
        </p:txBody>
      </p:sp>
      <p:sp>
        <p:nvSpPr>
          <p:cNvPr id="5" name="wk1-quote">
            <a:extLst xmlns:a="http://schemas.openxmlformats.org/drawingml/2006/main">
              <a:ext uri="{FF2B5EF4-FFF2-40B4-BE49-F238E27FC236}">
                <a16:creationId xmlns:a16="http://schemas.microsoft.com/office/drawing/2014/main" id="{6A7A9632-C769-4199-8D46-A2033A423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09750"/>
            <a:ext cx="7239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A5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>
                <a:solidFill>
                  <a:srgbClr val="A50000"/>
                </a:solidFill>
                <a:latin typeface="Apple SD Gothic Neo"/>
                <a:ea typeface="Apple SD Gothic Neo"/>
                <a:cs typeface="Apple SD Gothic Neo"/>
              </a:rPr>
              <a:t>분석의 생산 비용이 낮아져도</a:t>
            </a:r>
          </a:p>
          <a:p xmlns:a="http://schemas.openxmlformats.org/drawingml/2006/main">
            <a:pPr algn="ctr">
              <a:defRPr sz="2325" b="1">
                <a:solidFill>
                  <a:srgbClr val="A5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>
                <a:solidFill>
                  <a:srgbClr val="A50000"/>
                </a:solidFill>
                <a:latin typeface="Apple SD Gothic Neo"/>
                <a:ea typeface="Apple SD Gothic Neo"/>
                <a:cs typeface="Apple SD Gothic Neo"/>
              </a:rPr>
              <a:t>틀린 명단으로 쓴 예산은 실제로 사라집니다</a:t>
            </a:r>
          </a:p>
        </p:txBody>
      </p:sp>
      <p:sp>
        <p:nvSpPr>
          <p:cNvPr id="6" name="wk1-quote-detail">
            <a:extLst xmlns:a="http://schemas.openxmlformats.org/drawingml/2006/main">
              <a:ext uri="{FF2B5EF4-FFF2-40B4-BE49-F238E27FC236}">
                <a16:creationId xmlns:a16="http://schemas.microsoft.com/office/drawing/2014/main" id="{E102E6E6-47D6-46E7-BF0B-CC71D3BA0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857625"/>
            <a:ext cx="67627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>
                <a:solidFill>
                  <a:srgbClr val="66666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>
                <a:solidFill>
                  <a:srgbClr val="666666"/>
                </a:solidFill>
                <a:latin typeface="Apple SD Gothic Neo"/>
                <a:ea typeface="Apple SD Gothic Neo"/>
                <a:cs typeface="Apple SD Gothic Neo"/>
              </a:rPr>
              <a:t>분석이 틀렸을 때 치르는 대가는 그대로입니다.</a:t>
            </a:r>
          </a:p>
        </p:txBody>
      </p:sp>
    </p:spTree>
    <p:extLst>
      <p:ext uri="{BB962C8B-B14F-4D97-AF65-F5344CB8AC3E}">
        <p14:creationId xmlns:p14="http://schemas.microsoft.com/office/powerpoint/2010/main" val="186225597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Number Placeholder 1">
            <a:extLst xmlns:a="http://schemas.openxmlformats.org/drawingml/2006/main">
              <a:ext uri="{FF2B5EF4-FFF2-40B4-BE49-F238E27FC236}">
                <a16:creationId xmlns:a16="http://schemas.microsoft.com/office/drawing/2014/main" id="{7A530F9C-DFE1-0934-66F6-E74036D1F40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44E025A-983C-6D44-79C6-4612AACD43FC}" type="slidenum">
              <a:t>20</a:t>
            </a:fld>
            <a:endParaRPr/>
          </a:p>
        </p:txBody>
      </p:sp>
      <p:sp>
        <p:nvSpPr>
          <p:cNvPr id="3" name="wk1-title">
            <a:extLst xmlns:a="http://schemas.openxmlformats.org/drawingml/2006/main">
              <a:ext uri="{FF2B5EF4-FFF2-40B4-BE49-F238E27FC236}">
                <a16:creationId xmlns:a16="http://schemas.microsoft.com/office/drawing/2014/main" id="{7189F2BA-B115-4E84-81C7-6F5DC0564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7334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A5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A50000"/>
                </a:solidFill>
                <a:latin typeface="Apple SD Gothic Neo"/>
                <a:ea typeface="Apple SD Gothic Neo"/>
                <a:cs typeface="Apple SD Gothic Neo"/>
              </a:rPr>
              <a:t>결정의 책임</a:t>
            </a:r>
          </a:p>
        </p:txBody>
      </p:sp>
      <p:sp>
        <p:nvSpPr>
          <p:cNvPr id="4" name="wk1-section">
            <a:extLst xmlns:a="http://schemas.openxmlformats.org/drawingml/2006/main">
              <a:ext uri="{FF2B5EF4-FFF2-40B4-BE49-F238E27FC236}">
                <a16:creationId xmlns:a16="http://schemas.microsoft.com/office/drawing/2014/main" id="{25C3F6DC-0025-4D33-A704-5AB0DF603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885825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0206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002060"/>
                </a:solidFill>
                <a:latin typeface="Apple SD Gothic Neo"/>
                <a:ea typeface="Apple SD Gothic Neo"/>
                <a:cs typeface="Apple SD Gothic Neo"/>
              </a:rPr>
              <a:t>SUPERVISION PHILOSOPHY</a:t>
            </a:r>
          </a:p>
        </p:txBody>
      </p:sp>
      <p:sp>
        <p:nvSpPr>
          <p:cNvPr id="5" name="wk1-quote">
            <a:extLst xmlns:a="http://schemas.openxmlformats.org/drawingml/2006/main">
              <a:ext uri="{FF2B5EF4-FFF2-40B4-BE49-F238E27FC236}">
                <a16:creationId xmlns:a16="http://schemas.microsoft.com/office/drawing/2014/main" id="{CA6F4448-856B-4C99-A63D-3E4A751EE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09750"/>
            <a:ext cx="7239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00206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002060"/>
                </a:solidFill>
                <a:latin typeface="Apple SD Gothic Neo"/>
                <a:ea typeface="Apple SD Gothic Neo"/>
                <a:cs typeface="Apple SD Gothic Neo"/>
              </a:rPr>
              <a:t>AI가 분석을 만들 수 있습니다</a:t>
            </a:r>
          </a:p>
          <a:p xmlns:a="http://schemas.openxmlformats.org/drawingml/2006/main">
            <a:pPr algn="ctr">
              <a:defRPr sz="2400" b="1">
                <a:solidFill>
                  <a:srgbClr val="00206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002060"/>
                </a:solidFill>
                <a:latin typeface="Apple SD Gothic Neo"/>
                <a:ea typeface="Apple SD Gothic Neo"/>
                <a:cs typeface="Apple SD Gothic Neo"/>
              </a:rPr>
              <a:t>결정을 책임지는 사람은 바뀌지 않습니다</a:t>
            </a:r>
          </a:p>
        </p:txBody>
      </p:sp>
      <p:sp>
        <p:nvSpPr>
          <p:cNvPr id="6" name="wk1-quote-detail">
            <a:extLst xmlns:a="http://schemas.openxmlformats.org/drawingml/2006/main">
              <a:ext uri="{FF2B5EF4-FFF2-40B4-BE49-F238E27FC236}">
                <a16:creationId xmlns:a16="http://schemas.microsoft.com/office/drawing/2014/main" id="{714258E8-FB81-4AF4-97A8-2A0D7EAA8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857625"/>
            <a:ext cx="67627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>
                <a:solidFill>
                  <a:srgbClr val="66666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>
                <a:solidFill>
                  <a:srgbClr val="666666"/>
                </a:solidFill>
                <a:latin typeface="Apple SD Gothic Neo"/>
                <a:ea typeface="Apple SD Gothic Neo"/>
                <a:cs typeface="Apple SD Gothic Neo"/>
              </a:rPr>
              <a:t>결정을 내린 사람이 그 결과를 책임집니다.</a:t>
            </a:r>
          </a:p>
        </p:txBody>
      </p:sp>
    </p:spTree>
    <p:extLst>
      <p:ext uri="{BB962C8B-B14F-4D97-AF65-F5344CB8AC3E}">
        <p14:creationId xmlns:p14="http://schemas.microsoft.com/office/powerpoint/2010/main" val="186225597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Number Placeholder 1">
            <a:extLst xmlns:a="http://schemas.openxmlformats.org/drawingml/2006/main">
              <a:ext uri="{FF2B5EF4-FFF2-40B4-BE49-F238E27FC236}">
                <a16:creationId xmlns:a16="http://schemas.microsoft.com/office/drawing/2014/main" id="{7A530F9C-DFE1-0934-66F6-E74036D1F40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DF2BE2-2DFA-1C03-677D-BDC2260D6D92}" type="slidenum">
              <a:t>21</a:t>
            </a:fld>
            <a:endParaRPr/>
          </a:p>
        </p:txBody>
      </p:sp>
      <p:sp>
        <p:nvSpPr>
          <p:cNvPr id="3" name="wk1-title">
            <a:extLst xmlns:a="http://schemas.openxmlformats.org/drawingml/2006/main">
              <a:ext uri="{FF2B5EF4-FFF2-40B4-BE49-F238E27FC236}">
                <a16:creationId xmlns:a16="http://schemas.microsoft.com/office/drawing/2014/main" id="{ADE6D07D-B536-4818-B276-C375CF8AC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7334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A5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A50000"/>
                </a:solidFill>
                <a:latin typeface="Apple SD Gothic Neo"/>
                <a:ea typeface="Apple SD Gothic Neo"/>
                <a:cs typeface="Apple SD Gothic Neo"/>
              </a:rPr>
              <a:t>판별하는 일</a:t>
            </a:r>
          </a:p>
        </p:txBody>
      </p:sp>
      <p:sp>
        <p:nvSpPr>
          <p:cNvPr id="4" name="wk1-section">
            <a:extLst xmlns:a="http://schemas.openxmlformats.org/drawingml/2006/main">
              <a:ext uri="{FF2B5EF4-FFF2-40B4-BE49-F238E27FC236}">
                <a16:creationId xmlns:a16="http://schemas.microsoft.com/office/drawing/2014/main" id="{FA81CB2F-CA6B-41AA-B347-2B87687B8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885825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0206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002060"/>
                </a:solidFill>
                <a:latin typeface="Apple SD Gothic Neo"/>
                <a:ea typeface="Apple SD Gothic Neo"/>
                <a:cs typeface="Apple SD Gothic Neo"/>
              </a:rPr>
              <a:t>SUPERVISION PHILOSOPHY</a:t>
            </a:r>
          </a:p>
        </p:txBody>
      </p:sp>
      <p:sp>
        <p:nvSpPr>
          <p:cNvPr id="5" name="wk1-quote">
            <a:extLst xmlns:a="http://schemas.openxmlformats.org/drawingml/2006/main">
              <a:ext uri="{FF2B5EF4-FFF2-40B4-BE49-F238E27FC236}">
                <a16:creationId xmlns:a16="http://schemas.microsoft.com/office/drawing/2014/main" id="{61B82927-942C-4546-9820-BCA0EA109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09750"/>
            <a:ext cx="7239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A5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A50000"/>
                </a:solidFill>
                <a:latin typeface="Apple SD Gothic Neo"/>
                <a:ea typeface="Apple SD Gothic Neo"/>
                <a:cs typeface="Apple SD Gothic Neo"/>
              </a:rPr>
              <a:t>결과가 맞는지 판별하는 일은</a:t>
            </a:r>
          </a:p>
          <a:p xmlns:a="http://schemas.openxmlformats.org/drawingml/2006/main">
            <a:pPr algn="ctr">
              <a:defRPr sz="2550" b="1">
                <a:solidFill>
                  <a:srgbClr val="A5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A50000"/>
                </a:solidFill>
                <a:latin typeface="Apple SD Gothic Neo"/>
                <a:ea typeface="Apple SD Gothic Neo"/>
                <a:cs typeface="Apple SD Gothic Neo"/>
              </a:rPr>
              <a:t>오히려 어려워졌습니다</a:t>
            </a:r>
          </a:p>
        </p:txBody>
      </p:sp>
      <p:sp>
        <p:nvSpPr>
          <p:cNvPr id="6" name="wk1-quote-detail">
            <a:extLst xmlns:a="http://schemas.openxmlformats.org/drawingml/2006/main">
              <a:ext uri="{FF2B5EF4-FFF2-40B4-BE49-F238E27FC236}">
                <a16:creationId xmlns:a16="http://schemas.microsoft.com/office/drawing/2014/main" id="{86FA8A17-6BF3-4518-BEDF-CC659A768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857625"/>
            <a:ext cx="67627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>
                <a:solidFill>
                  <a:srgbClr val="66666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>
                <a:solidFill>
                  <a:srgbClr val="666666"/>
                </a:solidFill>
                <a:latin typeface="Apple SD Gothic Neo"/>
                <a:ea typeface="Apple SD Gothic Neo"/>
                <a:cs typeface="Apple SD Gothic Neo"/>
              </a:rPr>
              <a:t>분석이 더 많이, 더 빠르게 나오기 때문입니다.</a:t>
            </a:r>
          </a:p>
        </p:txBody>
      </p:sp>
    </p:spTree>
    <p:extLst>
      <p:ext uri="{BB962C8B-B14F-4D97-AF65-F5344CB8AC3E}">
        <p14:creationId xmlns:p14="http://schemas.microsoft.com/office/powerpoint/2010/main" val="186225597"/>
      </p:ext>
    </p:extLst>
  </p:cSld>
</p:sld>
</file>

<file path=ppt/slides/slide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Number Placeholder 1">
            <a:extLst xmlns:a="http://schemas.openxmlformats.org/drawingml/2006/main">
              <a:ext uri="{FF2B5EF4-FFF2-40B4-BE49-F238E27FC236}">
                <a16:creationId xmlns:a16="http://schemas.microsoft.com/office/drawing/2014/main" id="{7A530F9C-DFE1-0934-66F6-E74036D1F40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BB18BA8-60F4-C50D-CD9B-1BB87D3E8506}" type="slidenum">
              <a:t>22</a:t>
            </a:fld>
            <a:endParaRPr/>
          </a:p>
        </p:txBody>
      </p:sp>
      <p:sp>
        <p:nvSpPr>
          <p:cNvPr id="3" name="wk1-title">
            <a:extLst xmlns:a="http://schemas.openxmlformats.org/drawingml/2006/main">
              <a:ext uri="{FF2B5EF4-FFF2-40B4-BE49-F238E27FC236}">
                <a16:creationId xmlns:a16="http://schemas.microsoft.com/office/drawing/2014/main" id="{37E8BCE3-EC66-4158-BD7E-C611FEEF0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7334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A5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A50000"/>
                </a:solidFill>
                <a:latin typeface="Apple SD Gothic Neo"/>
                <a:ea typeface="Apple SD Gothic Neo"/>
                <a:cs typeface="Apple SD Gothic Neo"/>
              </a:rPr>
              <a:t>만드는 일과 판별하는 일</a:t>
            </a:r>
          </a:p>
        </p:txBody>
      </p:sp>
      <p:sp>
        <p:nvSpPr>
          <p:cNvPr id="4" name="wk1-section">
            <a:extLst xmlns:a="http://schemas.openxmlformats.org/drawingml/2006/main">
              <a:ext uri="{FF2B5EF4-FFF2-40B4-BE49-F238E27FC236}">
                <a16:creationId xmlns:a16="http://schemas.microsoft.com/office/drawing/2014/main" id="{DB488DC2-884A-423C-88E8-E32536D1A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885825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0206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002060"/>
                </a:solidFill>
                <a:latin typeface="Apple SD Gothic Neo"/>
                <a:ea typeface="Apple SD Gothic Neo"/>
                <a:cs typeface="Apple SD Gothic Neo"/>
              </a:rPr>
              <a:t>SUPERVISION PHILOSOPHY</a:t>
            </a:r>
          </a:p>
        </p:txBody>
      </p:sp>
      <p:sp>
        <p:nvSpPr>
          <p:cNvPr id="5" name="wk1-quote">
            <a:extLst xmlns:a="http://schemas.openxmlformats.org/drawingml/2006/main">
              <a:ext uri="{FF2B5EF4-FFF2-40B4-BE49-F238E27FC236}">
                <a16:creationId xmlns:a16="http://schemas.microsoft.com/office/drawing/2014/main" id="{53771884-66B7-4CEF-B142-FAD987BD0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09750"/>
            <a:ext cx="7239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A5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150" b="1">
                <a:solidFill>
                  <a:srgbClr val="A50000"/>
                </a:solidFill>
                <a:latin typeface="Apple SD Gothic Neo"/>
                <a:ea typeface="Apple SD Gothic Neo"/>
                <a:cs typeface="Apple SD Gothic Neo"/>
              </a:rPr>
              <a:t>만드는 일은 싸졌고,</a:t>
            </a:r>
          </a:p>
          <a:p xmlns:a="http://schemas.openxmlformats.org/drawingml/2006/main">
            <a:pPr algn="ctr">
              <a:defRPr sz="3150" b="1">
                <a:solidFill>
                  <a:srgbClr val="A5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150" b="1">
                <a:solidFill>
                  <a:srgbClr val="A50000"/>
                </a:solidFill>
                <a:latin typeface="Apple SD Gothic Neo"/>
                <a:ea typeface="Apple SD Gothic Neo"/>
                <a:cs typeface="Apple SD Gothic Neo"/>
              </a:rPr>
              <a:t>판별하는 일은 그대로다</a:t>
            </a:r>
          </a:p>
        </p:txBody>
      </p:sp>
      <p:sp>
        <p:nvSpPr>
          <p:cNvPr id="6" name="wk1-quote-detail">
            <a:extLst xmlns:a="http://schemas.openxmlformats.org/drawingml/2006/main">
              <a:ext uri="{FF2B5EF4-FFF2-40B4-BE49-F238E27FC236}">
                <a16:creationId xmlns:a16="http://schemas.microsoft.com/office/drawing/2014/main" id="{7CC01C28-0EE9-47E3-8C3F-885659BC7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857625"/>
            <a:ext cx="67627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>
                <a:solidFill>
                  <a:srgbClr val="66666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>
                <a:solidFill>
                  <a:srgbClr val="666666"/>
                </a:solidFill>
                <a:latin typeface="Apple SD Gothic Neo"/>
                <a:ea typeface="Apple SD Gothic Neo"/>
                <a:cs typeface="Apple SD Gothic Neo"/>
              </a:rPr>
              <a:t>그 격차가 벌어진 자리가 오늘날 관리자가 서 있는 곳입니다.</a:t>
            </a:r>
          </a:p>
        </p:txBody>
      </p:sp>
    </p:spTree>
    <p:extLst>
      <p:ext uri="{BB962C8B-B14F-4D97-AF65-F5344CB8AC3E}">
        <p14:creationId xmlns:p14="http://schemas.microsoft.com/office/powerpoint/2010/main" val="186225597"/>
      </p:ext>
    </p:extLst>
  </p:cSld>
</p:sld>
</file>

<file path=ppt/slides/slide2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Number Placeholder 1">
            <a:extLst xmlns:a="http://schemas.openxmlformats.org/drawingml/2006/main">
              <a:ext uri="{FF2B5EF4-FFF2-40B4-BE49-F238E27FC236}">
                <a16:creationId xmlns:a16="http://schemas.microsoft.com/office/drawing/2014/main" id="{7A530F9C-DFE1-0934-66F6-E74036D1F40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A4E99CEF-AF55-BA3C-ADF8-4E52E186DD8F}" type="slidenum">
              <a:t>23</a:t>
            </a:fld>
            <a:endParaRPr/>
          </a:p>
        </p:txBody>
      </p:sp>
      <p:sp>
        <p:nvSpPr>
          <p:cNvPr id="3" name="wk1-title">
            <a:extLst xmlns:a="http://schemas.openxmlformats.org/drawingml/2006/main">
              <a:ext uri="{FF2B5EF4-FFF2-40B4-BE49-F238E27FC236}">
                <a16:creationId xmlns:a16="http://schemas.microsoft.com/office/drawing/2014/main" id="{D96B292F-B41F-4B3D-B910-A2FEAAE15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7334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A5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A50000"/>
                </a:solidFill>
                <a:latin typeface="Apple SD Gothic Neo"/>
                <a:ea typeface="Apple SD Gothic Neo"/>
                <a:cs typeface="Apple SD Gothic Neo"/>
              </a:rPr>
              <a:t>조직에서 결과를 보는 네 자리</a:t>
            </a:r>
          </a:p>
        </p:txBody>
      </p:sp>
      <p:sp>
        <p:nvSpPr>
          <p:cNvPr id="4" name="wk1-section">
            <a:extLst xmlns:a="http://schemas.openxmlformats.org/drawingml/2006/main">
              <a:ext uri="{FF2B5EF4-FFF2-40B4-BE49-F238E27FC236}">
                <a16:creationId xmlns:a16="http://schemas.microsoft.com/office/drawing/2014/main" id="{97334398-E47F-40D3-BD02-FEA31A11D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885825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0206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002060"/>
                </a:solidFill>
                <a:latin typeface="Apple SD Gothic Neo"/>
                <a:ea typeface="Apple SD Gothic Neo"/>
                <a:cs typeface="Apple SD Gothic Neo"/>
              </a:rPr>
              <a:t>SUPERVISION PHILOSOPHY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66750" y="1381125"/>
          <a:ext xmlns:a="http://schemas.openxmlformats.org/drawingml/2006/main" cx="7810500" cy="3905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714500"/>
                <a:gridCol w="2857500"/>
                <a:gridCol w="3238500"/>
              </a:tblGrid>
              <a:tr h="781050">
                <a:tc>
                  <a:txBody>
                    <a:bodyPr lIns="28575" tIns="19050" rIns="28575" bIns="19050">
                      <a:normAutofit/>
                    </a:bodyPr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자리</a:t>
                      </a:r>
                    </a:p>
                  </a:txBody>
                  <a:tcPr marL="91440" marR="91440" marT="45720" marB="45720" anchor="ctr">
                    <a:solidFill>
                      <a:srgbClr val="A50000"/>
                    </a:solidFill>
                  </a:tcPr>
                </a:tc>
                <a:tc>
                  <a:txBody>
                    <a:bodyPr lIns="28575" tIns="19050" rIns="28575" bIns="19050">
                      <a:normAutofit/>
                    </a:bodyPr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볼 수 있는 것</a:t>
                      </a:r>
                    </a:p>
                  </a:txBody>
                  <a:tcPr marL="91440" marR="91440" marT="45720" marB="45720" anchor="ctr">
                    <a:solidFill>
                      <a:srgbClr val="A50000"/>
                    </a:solidFill>
                  </a:tcPr>
                </a:tc>
                <a:tc>
                  <a:txBody>
                    <a:bodyPr lIns="28575" tIns="19050" rIns="28575" bIns="19050">
                      <a:normAutofit/>
                    </a:bodyPr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놓치기 쉬운 것</a:t>
                      </a:r>
                    </a:p>
                  </a:txBody>
                  <a:tcPr marL="91440" marR="91440" marT="45720" marB="45720" anchor="ctr">
                    <a:solidFill>
                      <a:srgbClr val="A50000"/>
                    </a:solidFill>
                  </a:tcPr>
                </a:tc>
              </a:tr>
              <a:tr h="781050">
                <a:tc>
                  <a:txBody>
                    <a:bodyPr lIns="28575" tIns="19050" rIns="28575" bIns="19050">
                      <a:norm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33333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분석을 만든 사람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28575" tIns="19050" rIns="28575" bIns="19050">
                      <a:norm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33333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도구와 산출물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28575" tIns="19050" rIns="28575" bIns="19050">
                      <a:norm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33333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결정의 조직 맥락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81050">
                <a:tc>
                  <a:txBody>
                    <a:bodyPr lIns="28575" tIns="19050" rIns="28575" bIns="19050">
                      <a:norm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33333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데이터 전문가</a:t>
                      </a:r>
                    </a:p>
                  </a:txBody>
                  <a:tcPr marL="91440" marR="91440" marT="45720" marB="45720" anchor="ctr">
                    <a:solidFill>
                      <a:srgbClr val="F3F4F6"/>
                    </a:solidFill>
                  </a:tcPr>
                </a:tc>
                <a:tc>
                  <a:txBody>
                    <a:bodyPr lIns="28575" tIns="19050" rIns="28575" bIns="19050">
                      <a:norm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33333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방법론</a:t>
                      </a:r>
                    </a:p>
                  </a:txBody>
                  <a:tcPr marL="91440" marR="91440" marT="45720" marB="45720" anchor="ctr">
                    <a:solidFill>
                      <a:srgbClr val="F3F4F6"/>
                    </a:solidFill>
                  </a:tcPr>
                </a:tc>
                <a:tc>
                  <a:txBody>
                    <a:bodyPr lIns="28575" tIns="19050" rIns="28575" bIns="19050">
                      <a:norm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33333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회사의 현재 고민</a:t>
                      </a:r>
                    </a:p>
                  </a:txBody>
                  <a:tcPr marL="91440" marR="91440" marT="45720" marB="45720" anchor="ctr">
                    <a:solidFill>
                      <a:srgbClr val="F3F4F6"/>
                    </a:solidFill>
                  </a:tcPr>
                </a:tc>
              </a:tr>
              <a:tr h="781050">
                <a:tc>
                  <a:txBody>
                    <a:bodyPr lIns="28575" tIns="19050" rIns="28575" bIns="19050">
                      <a:norm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33333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경영진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28575" tIns="19050" rIns="28575" bIns="19050">
                      <a:norm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33333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조직 맥락과 결론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28575" tIns="19050" rIns="28575" bIns="19050">
                      <a:norm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33333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결론에 딸린 단서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81050">
                <a:tc>
                  <a:txBody>
                    <a:bodyPr lIns="28575" tIns="19050" rIns="28575" bIns="19050">
                      <a:norm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33333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관리자</a:t>
                      </a:r>
                    </a:p>
                  </a:txBody>
                  <a:tcPr marL="91440" marR="91440" marT="45720" marB="45720" anchor="ctr">
                    <a:solidFill>
                      <a:srgbClr val="F3F4F6"/>
                    </a:solidFill>
                  </a:tcPr>
                </a:tc>
                <a:tc>
                  <a:txBody>
                    <a:bodyPr lIns="28575" tIns="19050" rIns="28575" bIns="19050">
                      <a:norm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33333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분석 내용과 조직 맥락</a:t>
                      </a:r>
                    </a:p>
                  </a:txBody>
                  <a:tcPr marL="91440" marR="91440" marT="45720" marB="45720" anchor="ctr">
                    <a:solidFill>
                      <a:srgbClr val="F3F4F6"/>
                    </a:solidFill>
                  </a:tcPr>
                </a:tc>
                <a:tc>
                  <a:txBody>
                    <a:bodyPr lIns="28575" tIns="19050" rIns="28575" bIns="19050">
                      <a:norm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33333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둘을 함께 판단해야 함</a:t>
                      </a:r>
                    </a:p>
                  </a:txBody>
                  <a:tcPr marL="91440" marR="91440" marT="45720" marB="45720" anchor="ctr"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6225597"/>
      </p:ext>
    </p:extLst>
  </p:cSld>
</p:sld>
</file>

<file path=ppt/slides/slide2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Number Placeholder 1">
            <a:extLst xmlns:a="http://schemas.openxmlformats.org/drawingml/2006/main">
              <a:ext uri="{FF2B5EF4-FFF2-40B4-BE49-F238E27FC236}">
                <a16:creationId xmlns:a16="http://schemas.microsoft.com/office/drawing/2014/main" id="{7A530F9C-DFE1-0934-66F6-E74036D1F40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A59AF09-D197-0193-A7DE-FAAF0B691058}" type="slidenum">
              <a:t>24</a:t>
            </a:fld>
            <a:endParaRPr/>
          </a:p>
        </p:txBody>
      </p:sp>
      <p:sp>
        <p:nvSpPr>
          <p:cNvPr id="3" name="wk1-title">
            <a:extLst xmlns:a="http://schemas.openxmlformats.org/drawingml/2006/main">
              <a:ext uri="{FF2B5EF4-FFF2-40B4-BE49-F238E27FC236}">
                <a16:creationId xmlns:a16="http://schemas.microsoft.com/office/drawing/2014/main" id="{F1F514FB-93ED-4E06-A19A-814A3C49B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7334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A5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A50000"/>
                </a:solidFill>
                <a:latin typeface="Apple SD Gothic Neo"/>
                <a:ea typeface="Apple SD Gothic Neo"/>
                <a:cs typeface="Apple SD Gothic Neo"/>
              </a:rPr>
              <a:t>관리자의 자리</a:t>
            </a:r>
          </a:p>
        </p:txBody>
      </p:sp>
      <p:sp>
        <p:nvSpPr>
          <p:cNvPr id="4" name="wk1-section">
            <a:extLst xmlns:a="http://schemas.openxmlformats.org/drawingml/2006/main">
              <a:ext uri="{FF2B5EF4-FFF2-40B4-BE49-F238E27FC236}">
                <a16:creationId xmlns:a16="http://schemas.microsoft.com/office/drawing/2014/main" id="{BA550F46-B245-406C-AAC8-A5C567E17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885825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0206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002060"/>
                </a:solidFill>
                <a:latin typeface="Apple SD Gothic Neo"/>
                <a:ea typeface="Apple SD Gothic Neo"/>
                <a:cs typeface="Apple SD Gothic Neo"/>
              </a:rPr>
              <a:t>SUPERVISION PHILOSOPHY</a:t>
            </a:r>
          </a:p>
        </p:txBody>
      </p:sp>
      <p:sp>
        <p:nvSpPr>
          <p:cNvPr id="5" name="wk1-quote">
            <a:extLst xmlns:a="http://schemas.openxmlformats.org/drawingml/2006/main">
              <a:ext uri="{FF2B5EF4-FFF2-40B4-BE49-F238E27FC236}">
                <a16:creationId xmlns:a16="http://schemas.microsoft.com/office/drawing/2014/main" id="{DC641716-2D9D-493B-91AB-D4F390470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09750"/>
            <a:ext cx="7239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A5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850" b="1">
                <a:solidFill>
                  <a:srgbClr val="A50000"/>
                </a:solidFill>
                <a:latin typeface="Apple SD Gothic Neo"/>
                <a:ea typeface="Apple SD Gothic Neo"/>
                <a:cs typeface="Apple SD Gothic Neo"/>
              </a:rPr>
              <a:t>분석의 내용과 조직의 맥락을</a:t>
            </a:r>
          </a:p>
          <a:p xmlns:a="http://schemas.openxmlformats.org/drawingml/2006/main">
            <a:pPr algn="ctr">
              <a:defRPr sz="2850" b="1">
                <a:solidFill>
                  <a:srgbClr val="A5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850" b="1">
                <a:solidFill>
                  <a:srgbClr val="A50000"/>
                </a:solidFill>
                <a:latin typeface="Apple SD Gothic Neo"/>
                <a:ea typeface="Apple SD Gothic Neo"/>
                <a:cs typeface="Apple SD Gothic Neo"/>
              </a:rPr>
              <a:t>동시에 아는 사람</a:t>
            </a:r>
          </a:p>
        </p:txBody>
      </p:sp>
      <p:sp>
        <p:nvSpPr>
          <p:cNvPr id="6" name="wk1-quote-detail">
            <a:extLst xmlns:a="http://schemas.openxmlformats.org/drawingml/2006/main">
              <a:ext uri="{FF2B5EF4-FFF2-40B4-BE49-F238E27FC236}">
                <a16:creationId xmlns:a16="http://schemas.microsoft.com/office/drawing/2014/main" id="{7115088D-CB0D-4820-AD9E-D54773340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857625"/>
            <a:ext cx="67627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>
                <a:solidFill>
                  <a:srgbClr val="66666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>
                <a:solidFill>
                  <a:srgbClr val="666666"/>
                </a:solidFill>
                <a:latin typeface="Apple SD Gothic Neo"/>
                <a:ea typeface="Apple SD Gothic Neo"/>
                <a:cs typeface="Apple SD Gothic Neo"/>
              </a:rPr>
              <a:t>관리자입니다. 유능해서가 아니라 그 자리에 있기 때문에 맡는 일입니다.</a:t>
            </a:r>
          </a:p>
        </p:txBody>
      </p:sp>
    </p:spTree>
    <p:extLst>
      <p:ext uri="{BB962C8B-B14F-4D97-AF65-F5344CB8AC3E}">
        <p14:creationId xmlns:p14="http://schemas.microsoft.com/office/powerpoint/2010/main" val="186225597"/>
      </p:ext>
    </p:extLst>
  </p:cSld>
</p:sld>
</file>

<file path=ppt/slides/slide2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Number Placeholder 1">
            <a:extLst xmlns:a="http://schemas.openxmlformats.org/drawingml/2006/main">
              <a:ext uri="{FF2B5EF4-FFF2-40B4-BE49-F238E27FC236}">
                <a16:creationId xmlns:a16="http://schemas.microsoft.com/office/drawing/2014/main" id="{7A530F9C-DFE1-0934-66F6-E74036D1F40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3AE1AE4-D79E-94D6-E825-3FC6C21A77D2}" type="slidenum">
              <a:t>25</a:t>
            </a:fld>
            <a:endParaRPr/>
          </a:p>
        </p:txBody>
      </p:sp>
      <p:sp>
        <p:nvSpPr>
          <p:cNvPr id="3" name="wk1-title">
            <a:extLst xmlns:a="http://schemas.openxmlformats.org/drawingml/2006/main">
              <a:ext uri="{FF2B5EF4-FFF2-40B4-BE49-F238E27FC236}">
                <a16:creationId xmlns:a16="http://schemas.microsoft.com/office/drawing/2014/main" id="{2B6CE392-FEC3-417B-AAE2-2D112676D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7334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A5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A50000"/>
                </a:solidFill>
                <a:latin typeface="Apple SD Gothic Neo"/>
                <a:ea typeface="Apple SD Gothic Neo"/>
                <a:cs typeface="Apple SD Gothic Neo"/>
              </a:rPr>
              <a:t>이 과목의 약속</a:t>
            </a:r>
          </a:p>
        </p:txBody>
      </p:sp>
      <p:sp>
        <p:nvSpPr>
          <p:cNvPr id="4" name="wk1-section">
            <a:extLst xmlns:a="http://schemas.openxmlformats.org/drawingml/2006/main">
              <a:ext uri="{FF2B5EF4-FFF2-40B4-BE49-F238E27FC236}">
                <a16:creationId xmlns:a16="http://schemas.microsoft.com/office/drawing/2014/main" id="{F9BBB81D-A466-45FC-9BD0-BF71EF4EF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885825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0206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002060"/>
                </a:solidFill>
                <a:latin typeface="Apple SD Gothic Neo"/>
                <a:ea typeface="Apple SD Gothic Neo"/>
                <a:cs typeface="Apple SD Gothic Neo"/>
              </a:rPr>
              <a:t>SUPERVISION PHILOSOPHY</a:t>
            </a:r>
          </a:p>
        </p:txBody>
      </p:sp>
      <p:sp>
        <p:nvSpPr>
          <p:cNvPr id="5" name="wk1-bullets">
            <a:extLst xmlns:a="http://schemas.openxmlformats.org/drawingml/2006/main">
              <a:ext uri="{FF2B5EF4-FFF2-40B4-BE49-F238E27FC236}">
                <a16:creationId xmlns:a16="http://schemas.microsoft.com/office/drawing/2014/main" id="{862FA78F-7F65-4492-B27A-132766983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428750"/>
            <a:ext cx="72390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marL="304800" indent="-152400">
              <a:lnSpc>
                <a:spcPct val="112000"/>
              </a:lnSpc>
              <a:spcAft>
                <a:spcPts val="1800"/>
              </a:spcAft>
              <a:buNone/>
              <a:defRPr sz="1875">
                <a:solidFill>
                  <a:srgbClr val="3333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>
                <a:solidFill>
                  <a:srgbClr val="333333"/>
                </a:solidFill>
                <a:latin typeface="Apple SD Gothic Neo"/>
                <a:ea typeface="Apple SD Gothic Neo"/>
                <a:cs typeface="Apple SD Gothic Neo"/>
              </a:rPr>
              <a:t>결과가 무엇을 말하고 무엇을 말하지 않는지 구분합니다.</a:t>
            </a:r>
          </a:p>
          <a:p xmlns:a="http://schemas.openxmlformats.org/drawingml/2006/main">
            <a:pPr marL="304800" indent="-152400">
              <a:lnSpc>
                <a:spcPct val="112000"/>
              </a:lnSpc>
              <a:spcAft>
                <a:spcPts val="1800"/>
              </a:spcAft>
              <a:buNone/>
              <a:defRPr sz="1875">
                <a:solidFill>
                  <a:srgbClr val="3333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>
                <a:solidFill>
                  <a:srgbClr val="333333"/>
                </a:solidFill>
                <a:latin typeface="Apple SD Gothic Neo"/>
                <a:ea typeface="Apple SD Gothic Neo"/>
                <a:cs typeface="Apple SD Gothic Neo"/>
              </a:rPr>
              <a:t>결정을 뒷받침하기에 충분한지 판단합니다.</a:t>
            </a:r>
          </a:p>
          <a:p xmlns:a="http://schemas.openxmlformats.org/drawingml/2006/main">
            <a:pPr marL="304800" indent="-152400">
              <a:lnSpc>
                <a:spcPct val="112000"/>
              </a:lnSpc>
              <a:spcAft>
                <a:spcPts val="1800"/>
              </a:spcAft>
              <a:buNone/>
              <a:defRPr sz="1875">
                <a:solidFill>
                  <a:srgbClr val="3333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>
                <a:solidFill>
                  <a:srgbClr val="333333"/>
                </a:solidFill>
                <a:latin typeface="Apple SD Gothic Neo"/>
                <a:ea typeface="Apple SD Gothic Neo"/>
                <a:cs typeface="Apple SD Gothic Neo"/>
              </a:rPr>
              <a:t>부족하면 무엇을 더 물어야 하는지 압니다.</a:t>
            </a:r>
          </a:p>
          <a:p xmlns:a="http://schemas.openxmlformats.org/drawingml/2006/main">
            <a:pPr marL="304800" indent="-152400">
              <a:lnSpc>
                <a:spcPct val="112000"/>
              </a:lnSpc>
              <a:spcAft>
                <a:spcPts val="1800"/>
              </a:spcAft>
              <a:buNone/>
              <a:defRPr sz="1875">
                <a:solidFill>
                  <a:srgbClr val="3333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>
                <a:solidFill>
                  <a:srgbClr val="333333"/>
                </a:solidFill>
                <a:latin typeface="Apple SD Gothic Neo"/>
                <a:ea typeface="Apple SD Gothic Neo"/>
                <a:cs typeface="Apple SD Gothic Neo"/>
              </a:rPr>
              <a:t>그래서 올릴지 되돌릴지 결정합니다.</a:t>
            </a:r>
          </a:p>
        </p:txBody>
      </p:sp>
    </p:spTree>
    <p:extLst>
      <p:ext uri="{BB962C8B-B14F-4D97-AF65-F5344CB8AC3E}">
        <p14:creationId xmlns:p14="http://schemas.microsoft.com/office/powerpoint/2010/main" val="186225597"/>
      </p:ext>
    </p:extLst>
  </p:cSld>
</p:sld>
</file>

<file path=ppt/slides/slide2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Number Placeholder 1">
            <a:extLst xmlns:a="http://schemas.openxmlformats.org/drawingml/2006/main">
              <a:ext uri="{FF2B5EF4-FFF2-40B4-BE49-F238E27FC236}">
                <a16:creationId xmlns:a16="http://schemas.microsoft.com/office/drawing/2014/main" id="{7A530F9C-DFE1-0934-66F6-E74036D1F40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AB55966-FA28-BC73-EA9E-53DF014DF033}" type="slidenum">
              <a:t>26</a:t>
            </a:fld>
            <a:endParaRPr/>
          </a:p>
        </p:txBody>
      </p:sp>
      <p:sp>
        <p:nvSpPr>
          <p:cNvPr id="3" name="wk1-title">
            <a:extLst xmlns:a="http://schemas.openxmlformats.org/drawingml/2006/main">
              <a:ext uri="{FF2B5EF4-FFF2-40B4-BE49-F238E27FC236}">
                <a16:creationId xmlns:a16="http://schemas.microsoft.com/office/drawing/2014/main" id="{C0CD6FE1-5817-40D9-86A1-C3B3C8A0E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7334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A5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A50000"/>
                </a:solidFill>
                <a:latin typeface="Apple SD Gothic Neo"/>
                <a:ea typeface="Apple SD Gothic Neo"/>
                <a:cs typeface="Apple SD Gothic Neo"/>
              </a:rPr>
              <a:t>감독은 생산과 다른 기술</a:t>
            </a:r>
          </a:p>
        </p:txBody>
      </p:sp>
      <p:sp>
        <p:nvSpPr>
          <p:cNvPr id="4" name="wk1-section">
            <a:extLst xmlns:a="http://schemas.openxmlformats.org/drawingml/2006/main">
              <a:ext uri="{FF2B5EF4-FFF2-40B4-BE49-F238E27FC236}">
                <a16:creationId xmlns:a16="http://schemas.microsoft.com/office/drawing/2014/main" id="{02BCE562-4CEF-457C-BACB-6CF94674C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885825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0206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002060"/>
                </a:solidFill>
                <a:latin typeface="Apple SD Gothic Neo"/>
                <a:ea typeface="Apple SD Gothic Neo"/>
                <a:cs typeface="Apple SD Gothic Neo"/>
              </a:rPr>
              <a:t>SUPERVISION PHILOSOPHY</a:t>
            </a:r>
          </a:p>
        </p:txBody>
      </p:sp>
      <p:sp>
        <p:nvSpPr>
          <p:cNvPr id="5" name="wk1-quote">
            <a:extLst xmlns:a="http://schemas.openxmlformats.org/drawingml/2006/main">
              <a:ext uri="{FF2B5EF4-FFF2-40B4-BE49-F238E27FC236}">
                <a16:creationId xmlns:a16="http://schemas.microsoft.com/office/drawing/2014/main" id="{BFD1A08B-E31F-4C03-A8A4-08FA6D9B9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09750"/>
            <a:ext cx="7239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00206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00" b="1">
                <a:solidFill>
                  <a:srgbClr val="002060"/>
                </a:solidFill>
                <a:latin typeface="Apple SD Gothic Neo"/>
                <a:ea typeface="Apple SD Gothic Neo"/>
                <a:cs typeface="Apple SD Gothic Neo"/>
              </a:rPr>
              <a:t>편집자가 소설을 쓰지 못해도</a:t>
            </a:r>
          </a:p>
          <a:p xmlns:a="http://schemas.openxmlformats.org/drawingml/2006/main">
            <a:pPr algn="ctr">
              <a:defRPr sz="2700" b="1">
                <a:solidFill>
                  <a:srgbClr val="00206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00" b="1">
                <a:solidFill>
                  <a:srgbClr val="002060"/>
                </a:solidFill>
                <a:latin typeface="Apple SD Gothic Neo"/>
                <a:ea typeface="Apple SD Gothic Neo"/>
                <a:cs typeface="Apple SD Gothic Neo"/>
              </a:rPr>
              <a:t>원고를 판단할 수 있습니다</a:t>
            </a:r>
          </a:p>
        </p:txBody>
      </p:sp>
      <p:sp>
        <p:nvSpPr>
          <p:cNvPr id="6" name="wk1-quote-detail">
            <a:extLst xmlns:a="http://schemas.openxmlformats.org/drawingml/2006/main">
              <a:ext uri="{FF2B5EF4-FFF2-40B4-BE49-F238E27FC236}">
                <a16:creationId xmlns:a16="http://schemas.microsoft.com/office/drawing/2014/main" id="{33B7DFEB-CFD5-465C-8F9F-1DC0840B2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857625"/>
            <a:ext cx="67627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>
                <a:solidFill>
                  <a:srgbClr val="66666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>
                <a:solidFill>
                  <a:srgbClr val="666666"/>
                </a:solidFill>
                <a:latin typeface="Apple SD Gothic Neo"/>
                <a:ea typeface="Apple SD Gothic Neo"/>
                <a:cs typeface="Apple SD Gothic Neo"/>
              </a:rPr>
              <a:t>이 과목은 모형을 세우거나 코드를 작성하는 법을 가르치지 않습니다.</a:t>
            </a:r>
          </a:p>
        </p:txBody>
      </p:sp>
    </p:spTree>
    <p:extLst>
      <p:ext uri="{BB962C8B-B14F-4D97-AF65-F5344CB8AC3E}">
        <p14:creationId xmlns:p14="http://schemas.microsoft.com/office/powerpoint/2010/main" val="186225597"/>
      </p:ext>
    </p:extLst>
  </p:cSld>
</p:sld>
</file>

<file path=ppt/slides/slide2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Number Placeholder 1">
            <a:extLst xmlns:a="http://schemas.openxmlformats.org/drawingml/2006/main">
              <a:ext uri="{FF2B5EF4-FFF2-40B4-BE49-F238E27FC236}">
                <a16:creationId xmlns:a16="http://schemas.microsoft.com/office/drawing/2014/main" id="{7A530F9C-DFE1-0934-66F6-E74036D1F40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2F15020-66A7-620A-7B7A-C05C4312DEAE}" type="slidenum">
              <a:t>27</a:t>
            </a:fld>
            <a:endParaRPr/>
          </a:p>
        </p:txBody>
      </p:sp>
      <p:sp>
        <p:nvSpPr>
          <p:cNvPr id="3" name="wk1-title">
            <a:extLst xmlns:a="http://schemas.openxmlformats.org/drawingml/2006/main">
              <a:ext uri="{FF2B5EF4-FFF2-40B4-BE49-F238E27FC236}">
                <a16:creationId xmlns:a16="http://schemas.microsoft.com/office/drawing/2014/main" id="{4F896892-D83D-404B-ACFA-72B2DF9F3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7334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A5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A50000"/>
                </a:solidFill>
                <a:latin typeface="Apple SD Gothic Neo"/>
                <a:ea typeface="Apple SD Gothic Neo"/>
                <a:cs typeface="Apple SD Gothic Neo"/>
              </a:rPr>
              <a:t>감독 신조</a:t>
            </a:r>
          </a:p>
        </p:txBody>
      </p:sp>
      <p:sp>
        <p:nvSpPr>
          <p:cNvPr id="4" name="wk1-section">
            <a:extLst xmlns:a="http://schemas.openxmlformats.org/drawingml/2006/main">
              <a:ext uri="{FF2B5EF4-FFF2-40B4-BE49-F238E27FC236}">
                <a16:creationId xmlns:a16="http://schemas.microsoft.com/office/drawing/2014/main" id="{1BAF272F-4228-43C6-87B3-4717CE767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885825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0206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002060"/>
                </a:solidFill>
                <a:latin typeface="Apple SD Gothic Neo"/>
                <a:ea typeface="Apple SD Gothic Neo"/>
                <a:cs typeface="Apple SD Gothic Neo"/>
              </a:rPr>
              <a:t>SUPERVISION PHILOSOPHY</a:t>
            </a:r>
          </a:p>
        </p:txBody>
      </p:sp>
      <p:sp>
        <p:nvSpPr>
          <p:cNvPr id="5" name="canonical-creed">
            <a:extLst xmlns:a="http://schemas.openxmlformats.org/drawingml/2006/main">
              <a:ext uri="{FF2B5EF4-FFF2-40B4-BE49-F238E27FC236}">
                <a16:creationId xmlns:a16="http://schemas.microsoft.com/office/drawing/2014/main" id="{6EAC7FF4-082C-4C13-AA64-3E3C3B11A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333625"/>
            <a:ext cx="8096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A5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>
                <a:solidFill>
                  <a:srgbClr val="A50000"/>
                </a:solidFill>
                <a:latin typeface="Apple SD Gothic Neo"/>
                <a:ea typeface="Apple SD Gothic Neo"/>
                <a:cs typeface="Apple SD Gothic Neo"/>
              </a:rPr>
              <a:t>기준을 세운다 → AI에게 시킨다 → 검증한다 → 결정한다</a:t>
            </a:r>
          </a:p>
        </p:txBody>
      </p:sp>
      <p:sp>
        <p:nvSpPr>
          <p:cNvPr id="6" name="canonical-creed-footer">
            <a:extLst xmlns:a="http://schemas.openxmlformats.org/drawingml/2006/main">
              <a:ext uri="{FF2B5EF4-FFF2-40B4-BE49-F238E27FC236}">
                <a16:creationId xmlns:a16="http://schemas.microsoft.com/office/drawing/2014/main" id="{B543B35C-E29D-435E-BBBF-7E5F03603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810000"/>
            <a:ext cx="6953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>
                <a:solidFill>
                  <a:srgbClr val="00206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>
                <a:solidFill>
                  <a:srgbClr val="002060"/>
                </a:solidFill>
                <a:latin typeface="Apple SD Gothic Neo"/>
                <a:ea typeface="Apple SD Gothic Neo"/>
                <a:cs typeface="Apple SD Gothic Neo"/>
              </a:rPr>
              <a:t>분석을 직접 하지 말고, 결과를 읽고 검증한 뒤 결정한다.</a:t>
            </a:r>
          </a:p>
        </p:txBody>
      </p:sp>
    </p:spTree>
    <p:extLst>
      <p:ext uri="{BB962C8B-B14F-4D97-AF65-F5344CB8AC3E}">
        <p14:creationId xmlns:p14="http://schemas.microsoft.com/office/powerpoint/2010/main" val="186225597"/>
      </p:ext>
    </p:extLst>
  </p:cSld>
</p:sld>
</file>

<file path=ppt/slides/slide2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Number Placeholder 1">
            <a:extLst xmlns:a="http://schemas.openxmlformats.org/drawingml/2006/main">
              <a:ext uri="{FF2B5EF4-FFF2-40B4-BE49-F238E27FC236}">
                <a16:creationId xmlns:a16="http://schemas.microsoft.com/office/drawing/2014/main" id="{7A530F9C-DFE1-0934-66F6-E74036D1F40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8AD4375-9F50-F53A-6F9F-DD8473067C05}" type="slidenum">
              <a:t>28</a:t>
            </a:fld>
            <a:endParaRPr/>
          </a:p>
        </p:txBody>
      </p:sp>
      <p:sp>
        <p:nvSpPr>
          <p:cNvPr id="3" name="wk1-title">
            <a:extLst xmlns:a="http://schemas.openxmlformats.org/drawingml/2006/main">
              <a:ext uri="{FF2B5EF4-FFF2-40B4-BE49-F238E27FC236}">
                <a16:creationId xmlns:a16="http://schemas.microsoft.com/office/drawing/2014/main" id="{F2CAEFC9-E033-4FF9-8D6D-29B21DA6C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7334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A5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A50000"/>
                </a:solidFill>
                <a:latin typeface="Apple SD Gothic Neo"/>
                <a:ea typeface="Apple SD Gothic Neo"/>
                <a:cs typeface="Apple SD Gothic Neo"/>
              </a:rPr>
              <a:t>대성식자재의 결정</a:t>
            </a:r>
          </a:p>
        </p:txBody>
      </p:sp>
      <p:sp>
        <p:nvSpPr>
          <p:cNvPr id="4" name="wk1-section">
            <a:extLst xmlns:a="http://schemas.openxmlformats.org/drawingml/2006/main">
              <a:ext uri="{FF2B5EF4-FFF2-40B4-BE49-F238E27FC236}">
                <a16:creationId xmlns:a16="http://schemas.microsoft.com/office/drawing/2014/main" id="{8123DA61-2523-4D89-B9BB-9C717C175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885825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0206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002060"/>
                </a:solidFill>
                <a:latin typeface="Apple SD Gothic Neo"/>
                <a:ea typeface="Apple SD Gothic Neo"/>
                <a:cs typeface="Apple SD Gothic Neo"/>
              </a:rPr>
              <a:t>DEMO · BLOCK 1</a:t>
            </a:r>
          </a:p>
        </p:txBody>
      </p:sp>
      <p:sp>
        <p:nvSpPr>
          <p:cNvPr id="5" name="wk1-quote">
            <a:extLst xmlns:a="http://schemas.openxmlformats.org/drawingml/2006/main">
              <a:ext uri="{FF2B5EF4-FFF2-40B4-BE49-F238E27FC236}">
                <a16:creationId xmlns:a16="http://schemas.microsoft.com/office/drawing/2014/main" id="{FBF24E3D-E78D-44F9-8E80-7B62EF86D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09750"/>
            <a:ext cx="7239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000" b="1">
                <a:solidFill>
                  <a:srgbClr val="A5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000" b="1">
                <a:solidFill>
                  <a:srgbClr val="A50000"/>
                </a:solidFill>
                <a:latin typeface="Apple SD Gothic Neo"/>
                <a:ea typeface="Apple SD Gothic Neo"/>
                <a:cs typeface="Apple SD Gothic Neo"/>
              </a:rPr>
              <a:t>우리 최고 고객은 누구인가</a:t>
            </a:r>
          </a:p>
        </p:txBody>
      </p:sp>
      <p:sp>
        <p:nvSpPr>
          <p:cNvPr id="6" name="wk1-quote-detail">
            <a:extLst xmlns:a="http://schemas.openxmlformats.org/drawingml/2006/main">
              <a:ext uri="{FF2B5EF4-FFF2-40B4-BE49-F238E27FC236}">
                <a16:creationId xmlns:a16="http://schemas.microsoft.com/office/drawing/2014/main" id="{8C34F663-414A-43AA-9193-38F77685D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857625"/>
            <a:ext cx="67627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>
                <a:solidFill>
                  <a:srgbClr val="66666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>
                <a:solidFill>
                  <a:srgbClr val="666666"/>
                </a:solidFill>
                <a:latin typeface="Apple SD Gothic Neo"/>
                <a:ea typeface="Apple SD Gothic Neo"/>
                <a:cs typeface="Apple SD Gothic Neo"/>
              </a:rPr>
              <a:t>원두와 식자재를 카페·식당·소매점에 납품하는 소규모 유통사의 관리자입니다.</a:t>
            </a:r>
          </a:p>
        </p:txBody>
      </p:sp>
    </p:spTree>
    <p:extLst>
      <p:ext uri="{BB962C8B-B14F-4D97-AF65-F5344CB8AC3E}">
        <p14:creationId xmlns:p14="http://schemas.microsoft.com/office/powerpoint/2010/main" val="186225597"/>
      </p:ext>
    </p:extLst>
  </p:cSld>
</p:sld>
</file>

<file path=ppt/slides/slide2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Number Placeholder 1">
            <a:extLst xmlns:a="http://schemas.openxmlformats.org/drawingml/2006/main">
              <a:ext uri="{FF2B5EF4-FFF2-40B4-BE49-F238E27FC236}">
                <a16:creationId xmlns:a16="http://schemas.microsoft.com/office/drawing/2014/main" id="{7A530F9C-DFE1-0934-66F6-E74036D1F40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1680313-6E64-04FF-399A-57B7CADE95A9}" type="slidenum">
              <a:t>29</a:t>
            </a:fld>
            <a:endParaRPr/>
          </a:p>
        </p:txBody>
      </p:sp>
      <p:sp>
        <p:nvSpPr>
          <p:cNvPr id="3" name="wk1-title">
            <a:extLst xmlns:a="http://schemas.openxmlformats.org/drawingml/2006/main">
              <a:ext uri="{FF2B5EF4-FFF2-40B4-BE49-F238E27FC236}">
                <a16:creationId xmlns:a16="http://schemas.microsoft.com/office/drawing/2014/main" id="{84B4DFAF-96E9-4016-9F0E-E14CAE547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7334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A5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A50000"/>
                </a:solidFill>
                <a:latin typeface="Apple SD Gothic Neo"/>
                <a:ea typeface="Apple SD Gothic Neo"/>
                <a:cs typeface="Apple SD Gothic Neo"/>
              </a:rPr>
              <a:t>연말을 앞둔 두 계획</a:t>
            </a:r>
          </a:p>
        </p:txBody>
      </p:sp>
      <p:sp>
        <p:nvSpPr>
          <p:cNvPr id="4" name="wk1-section">
            <a:extLst xmlns:a="http://schemas.openxmlformats.org/drawingml/2006/main">
              <a:ext uri="{FF2B5EF4-FFF2-40B4-BE49-F238E27FC236}">
                <a16:creationId xmlns:a16="http://schemas.microsoft.com/office/drawing/2014/main" id="{76BA9F7D-A2EC-4A8C-85E1-154C62077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885825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0206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002060"/>
                </a:solidFill>
                <a:latin typeface="Apple SD Gothic Neo"/>
                <a:ea typeface="Apple SD Gothic Neo"/>
                <a:cs typeface="Apple SD Gothic Neo"/>
              </a:rPr>
              <a:t>DEMO · BLOCK 1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857250" y="1666875"/>
          <a:ext xmlns:a="http://schemas.openxmlformats.org/drawingml/2006/main" cx="7429500" cy="3238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714750"/>
                <a:gridCol w="3714750"/>
              </a:tblGrid>
              <a:tr h="809625">
                <a:tc>
                  <a:txBody>
                    <a:bodyPr lIns="28575" tIns="19050" rIns="28575" bIns="19050">
                      <a:normAutofit/>
                    </a:bodyPr>
                    <a:lstStyle/>
                    <a:p>
                      <a:pPr algn="ctr"/>
                      <a:r>
                        <a:rPr sz="1725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계획 1</a:t>
                      </a:r>
                    </a:p>
                  </a:txBody>
                  <a:tcPr marL="91440" marR="91440" marT="45720" marB="45720" anchor="ctr">
                    <a:solidFill>
                      <a:srgbClr val="A50000"/>
                    </a:solidFill>
                  </a:tcPr>
                </a:tc>
                <a:tc>
                  <a:txBody>
                    <a:bodyPr lIns="28575" tIns="19050" rIns="28575" bIns="19050">
                      <a:normAutofit/>
                    </a:bodyPr>
                    <a:lstStyle/>
                    <a:p>
                      <a:pPr algn="ctr"/>
                      <a:r>
                        <a:rPr sz="1725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계획 2</a:t>
                      </a:r>
                    </a:p>
                  </a:txBody>
                  <a:tcPr marL="91440" marR="91440" marT="45720" marB="45720" anchor="ctr">
                    <a:solidFill>
                      <a:srgbClr val="A50000"/>
                    </a:solidFill>
                  </a:tcPr>
                </a:tc>
              </a:tr>
              <a:tr h="809625">
                <a:tc>
                  <a:txBody>
                    <a:bodyPr lIns="28575" tIns="19050" rIns="28575" bIns="19050">
                      <a:norm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33333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주요 거래처 감사 선물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28575" tIns="19050" rIns="28575" bIns="19050">
                      <a:norm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33333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신제품 원두 체험단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809625">
                <a:tc>
                  <a:txBody>
                    <a:bodyPr lIns="28575" tIns="19050" rIns="28575" bIns="19050">
                      <a:norm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33333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먼저 정할 것</a:t>
                      </a:r>
                    </a:p>
                  </a:txBody>
                  <a:tcPr marL="91440" marR="91440" marT="45720" marB="45720" anchor="ctr">
                    <a:solidFill>
                      <a:srgbClr val="F3F4F6"/>
                    </a:solidFill>
                  </a:tcPr>
                </a:tc>
                <a:tc>
                  <a:txBody>
                    <a:bodyPr lIns="28575" tIns="19050" rIns="28575" bIns="19050">
                      <a:norm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33333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먼저 정할 것</a:t>
                      </a:r>
                    </a:p>
                  </a:txBody>
                  <a:tcPr marL="91440" marR="91440" marT="45720" marB="45720" anchor="ctr">
                    <a:solidFill>
                      <a:srgbClr val="F3F4F6"/>
                    </a:solidFill>
                  </a:tcPr>
                </a:tc>
              </a:tr>
              <a:tr h="809625">
                <a:tc>
                  <a:txBody>
                    <a:bodyPr lIns="28575" tIns="19050" rIns="28575" bIns="19050">
                      <a:norm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33333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우리 최고 고객 5곳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28575" tIns="19050" rIns="28575" bIns="19050">
                      <a:norm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33333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우리 최고 고객 5곳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demo-no-prompt">
            <a:extLst xmlns:a="http://schemas.openxmlformats.org/drawingml/2006/main">
              <a:ext uri="{FF2B5EF4-FFF2-40B4-BE49-F238E27FC236}">
                <a16:creationId xmlns:a16="http://schemas.microsoft.com/office/drawing/2014/main" id="{402D1C06-9483-454F-A64A-8CAD80653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238750"/>
            <a:ext cx="6477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>
                <a:solidFill>
                  <a:srgbClr val="00206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>
                <a:solidFill>
                  <a:srgbClr val="002060"/>
                </a:solidFill>
                <a:latin typeface="Apple SD Gothic Neo"/>
                <a:ea typeface="Apple SD Gothic Neo"/>
                <a:cs typeface="Apple SD Gothic Neo"/>
              </a:rPr>
              <a:t>인턴이 두 번 물었고, 두 개의 보고서를 가져왔습니다.</a:t>
            </a:r>
          </a:p>
        </p:txBody>
      </p:sp>
    </p:spTree>
    <p:extLst>
      <p:ext uri="{BB962C8B-B14F-4D97-AF65-F5344CB8AC3E}">
        <p14:creationId xmlns:p14="http://schemas.microsoft.com/office/powerpoint/2010/main" val="186225597"/>
      </p:ext>
    </p:extLst>
  </p:cSld>
</p:sld>
</file>

<file path=ppt/slides/slide3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Number Placeholder 1">
            <a:extLst xmlns:a="http://schemas.openxmlformats.org/drawingml/2006/main">
              <a:ext uri="{FF2B5EF4-FFF2-40B4-BE49-F238E27FC236}">
                <a16:creationId xmlns:a16="http://schemas.microsoft.com/office/drawing/2014/main" id="{7A530F9C-DFE1-0934-66F6-E74036D1F40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FEBBBCE-9E16-527A-0EE3-E5839422D847}" type="slidenum">
              <a:t>30</a:t>
            </a:fld>
            <a:endParaRPr/>
          </a:p>
        </p:txBody>
      </p:sp>
      <p:sp>
        <p:nvSpPr>
          <p:cNvPr id="3" name="wk1-title">
            <a:extLst xmlns:a="http://schemas.openxmlformats.org/drawingml/2006/main">
              <a:ext uri="{FF2B5EF4-FFF2-40B4-BE49-F238E27FC236}">
                <a16:creationId xmlns:a16="http://schemas.microsoft.com/office/drawing/2014/main" id="{17C817D8-0EA3-4220-A668-446436041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7334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A5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A50000"/>
                </a:solidFill>
                <a:latin typeface="Apple SD Gothic Neo"/>
                <a:ea typeface="Apple SD Gothic Neo"/>
                <a:cs typeface="Apple SD Gothic Neo"/>
              </a:rPr>
              <a:t>거래처 14곳의 거래 요약</a:t>
            </a:r>
          </a:p>
        </p:txBody>
      </p:sp>
      <p:sp>
        <p:nvSpPr>
          <p:cNvPr id="4" name="wk1-section">
            <a:extLst xmlns:a="http://schemas.openxmlformats.org/drawingml/2006/main">
              <a:ext uri="{FF2B5EF4-FFF2-40B4-BE49-F238E27FC236}">
                <a16:creationId xmlns:a16="http://schemas.microsoft.com/office/drawing/2014/main" id="{3B33BE79-9733-4451-862A-AF9116DE9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885825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0206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002060"/>
                </a:solidFill>
                <a:latin typeface="Apple SD Gothic Neo"/>
                <a:ea typeface="Apple SD Gothic Neo"/>
                <a:cs typeface="Apple SD Gothic Neo"/>
              </a:rPr>
              <a:t>DEMO · BLOCK 1</a:t>
            </a:r>
          </a:p>
        </p:txBody>
      </p:sp>
      <p:sp>
        <p:nvSpPr>
          <p:cNvPr id="5" name="reference-date">
            <a:extLst xmlns:a="http://schemas.openxmlformats.org/drawingml/2006/main">
              <a:ext uri="{FF2B5EF4-FFF2-40B4-BE49-F238E27FC236}">
                <a16:creationId xmlns:a16="http://schemas.microsoft.com/office/drawing/2014/main" id="{C3DD71B9-44E3-43B4-B80E-F2AEF3DD8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9144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6666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>
                <a:solidFill>
                  <a:srgbClr val="666666"/>
                </a:solidFill>
                <a:latin typeface="Apple SD Gothic Neo"/>
                <a:ea typeface="Apple SD Gothic Neo"/>
                <a:cs typeface="Apple SD Gothic Neo"/>
              </a:rPr>
              <a:t>기준일: 2026년 7월 17일 · 교육용 가상 데이터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457200" y="1190625"/>
          <a:ext xmlns:a="http://schemas.openxmlformats.org/drawingml/2006/main" cx="8239125" cy="5000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714500"/>
                <a:gridCol w="762000"/>
                <a:gridCol w="1905000"/>
                <a:gridCol w="2000250"/>
                <a:gridCol w="952500"/>
              </a:tblGrid>
              <a:tr h="333375">
                <a:tc>
                  <a:txBody>
                    <a:bodyPr lIns="28575" tIns="19050" rIns="28575" bIns="19050">
                      <a:normAutofit/>
                    </a:bodyPr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거래처</a:t>
                      </a:r>
                    </a:p>
                  </a:txBody>
                  <a:tcPr marL="91440" marR="91440" marT="45720" marB="45720" anchor="ctr">
                    <a:solidFill>
                      <a:srgbClr val="A50000"/>
                    </a:solidFill>
                  </a:tcPr>
                </a:tc>
                <a:tc>
                  <a:txBody>
                    <a:bodyPr lIns="28575" tIns="19050" rIns="28575" bIns="19050">
                      <a:normAutofit/>
                    </a:bodyPr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주문</a:t>
                      </a:r>
                    </a:p>
                  </a:txBody>
                  <a:tcPr marL="91440" marR="91440" marT="45720" marB="45720" anchor="ctr">
                    <a:solidFill>
                      <a:srgbClr val="A50000"/>
                    </a:solidFill>
                  </a:tcPr>
                </a:tc>
                <a:tc>
                  <a:txBody>
                    <a:bodyPr lIns="28575" tIns="19050" rIns="28575" bIns="19050">
                      <a:normAutofit/>
                    </a:bodyPr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누적 거래액(원)</a:t>
                      </a:r>
                    </a:p>
                  </a:txBody>
                  <a:tcPr marL="91440" marR="91440" marT="45720" marB="45720" anchor="ctr">
                    <a:solidFill>
                      <a:srgbClr val="A50000"/>
                    </a:solidFill>
                  </a:tcPr>
                </a:tc>
                <a:tc>
                  <a:txBody>
                    <a:bodyPr lIns="28575" tIns="19050" rIns="28575" bIns="19050">
                      <a:normAutofit/>
                    </a:bodyPr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최종 주문일</a:t>
                      </a:r>
                    </a:p>
                  </a:txBody>
                  <a:tcPr marL="91440" marR="91440" marT="45720" marB="45720" anchor="ctr">
                    <a:solidFill>
                      <a:srgbClr val="A50000"/>
                    </a:solidFill>
                  </a:tcPr>
                </a:tc>
                <a:tc>
                  <a:txBody>
                    <a:bodyPr lIns="28575" tIns="19050" rIns="28575" bIns="19050">
                      <a:normAutofit/>
                    </a:bodyPr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경과일</a:t>
                      </a:r>
                    </a:p>
                  </a:txBody>
                  <a:tcPr marL="91440" marR="91440" marT="45720" marB="45720" anchor="ctr">
                    <a:solidFill>
                      <a:srgbClr val="A50000"/>
                    </a:solidFill>
                  </a:tcPr>
                </a:tc>
              </a:tr>
              <a:tr h="333375">
                <a:tc>
                  <a:txBody>
                    <a:bodyPr lIns="28575" tIns="19050" rIns="28575" bIns="19050">
                      <a:normAutofit/>
                    </a:bodyPr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서진F&amp;B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28575" tIns="19050" rIns="28575" bIns="19050">
                      <a:normAutofit/>
                    </a:bodyPr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28575" tIns="19050" rIns="28575" bIns="19050">
                      <a:normAutofit/>
                    </a:bodyPr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2,578,100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28575" tIns="19050" rIns="28575" bIns="19050">
                      <a:normAutofit/>
                    </a:bodyPr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2026-06-25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28575" tIns="19050" rIns="28575" bIns="19050">
                      <a:normAutofit/>
                    </a:bodyPr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22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33375">
                <a:tc>
                  <a:txBody>
                    <a:bodyPr lIns="28575" tIns="19050" rIns="28575" bIns="19050">
                      <a:normAutofit/>
                    </a:bodyPr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카페 온</a:t>
                      </a:r>
                    </a:p>
                  </a:txBody>
                  <a:tcPr marL="91440" marR="91440" marT="45720" marB="45720" anchor="ctr">
                    <a:solidFill>
                      <a:srgbClr val="F3F4F6"/>
                    </a:solidFill>
                  </a:tcPr>
                </a:tc>
                <a:tc>
                  <a:txBody>
                    <a:bodyPr lIns="28575" tIns="19050" rIns="28575" bIns="19050">
                      <a:normAutofit/>
                    </a:bodyPr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11</a:t>
                      </a:r>
                    </a:p>
                  </a:txBody>
                  <a:tcPr marL="91440" marR="91440" marT="45720" marB="45720" anchor="ctr">
                    <a:solidFill>
                      <a:srgbClr val="F3F4F6"/>
                    </a:solidFill>
                  </a:tcPr>
                </a:tc>
                <a:tc>
                  <a:txBody>
                    <a:bodyPr lIns="28575" tIns="19050" rIns="28575" bIns="19050">
                      <a:normAutofit/>
                    </a:bodyPr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1,011,600</a:t>
                      </a:r>
                    </a:p>
                  </a:txBody>
                  <a:tcPr marL="91440" marR="91440" marT="45720" marB="45720" anchor="ctr">
                    <a:solidFill>
                      <a:srgbClr val="F3F4F6"/>
                    </a:solidFill>
                  </a:tcPr>
                </a:tc>
                <a:tc>
                  <a:txBody>
                    <a:bodyPr lIns="28575" tIns="19050" rIns="28575" bIns="19050">
                      <a:normAutofit/>
                    </a:bodyPr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2026-07-11</a:t>
                      </a:r>
                    </a:p>
                  </a:txBody>
                  <a:tcPr marL="91440" marR="91440" marT="45720" marB="45720" anchor="ctr">
                    <a:solidFill>
                      <a:srgbClr val="F3F4F6"/>
                    </a:solidFill>
                  </a:tcPr>
                </a:tc>
                <a:tc>
                  <a:txBody>
                    <a:bodyPr lIns="28575" tIns="19050" rIns="28575" bIns="19050">
                      <a:normAutofit/>
                    </a:bodyPr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6</a:t>
                      </a:r>
                    </a:p>
                  </a:txBody>
                  <a:tcPr marL="91440" marR="91440" marT="45720" marB="45720" anchor="ctr">
                    <a:solidFill>
                      <a:srgbClr val="F3F4F6"/>
                    </a:solidFill>
                  </a:tcPr>
                </a:tc>
              </a:tr>
              <a:tr h="333375">
                <a:tc>
                  <a:txBody>
                    <a:bodyPr lIns="28575" tIns="19050" rIns="28575" bIns="19050">
                      <a:normAutofit/>
                    </a:bodyPr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한성물산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28575" tIns="19050" rIns="28575" bIns="19050">
                      <a:normAutofit/>
                    </a:bodyPr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28575" tIns="19050" rIns="28575" bIns="19050">
                      <a:normAutofit/>
                    </a:bodyPr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9,321,500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28575" tIns="19050" rIns="28575" bIns="19050">
                      <a:normAutofit/>
                    </a:bodyPr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2025-01-03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28575" tIns="19050" rIns="28575" bIns="19050">
                      <a:normAutofit/>
                    </a:bodyPr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560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33375">
                <a:tc>
                  <a:txBody>
                    <a:bodyPr lIns="28575" tIns="19050" rIns="28575" bIns="19050">
                      <a:normAutofit/>
                    </a:bodyPr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명진식품</a:t>
                      </a:r>
                    </a:p>
                  </a:txBody>
                  <a:tcPr marL="91440" marR="91440" marT="45720" marB="45720" anchor="ctr">
                    <a:solidFill>
                      <a:srgbClr val="F3F4F6"/>
                    </a:solidFill>
                  </a:tcPr>
                </a:tc>
                <a:tc>
                  <a:txBody>
                    <a:bodyPr lIns="28575" tIns="19050" rIns="28575" bIns="19050">
                      <a:normAutofit/>
                    </a:bodyPr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4</a:t>
                      </a:r>
                    </a:p>
                  </a:txBody>
                  <a:tcPr marL="91440" marR="91440" marT="45720" marB="45720" anchor="ctr">
                    <a:solidFill>
                      <a:srgbClr val="F3F4F6"/>
                    </a:solidFill>
                  </a:tcPr>
                </a:tc>
                <a:tc>
                  <a:txBody>
                    <a:bodyPr lIns="28575" tIns="19050" rIns="28575" bIns="19050">
                      <a:normAutofit/>
                    </a:bodyPr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3,571,100</a:t>
                      </a:r>
                    </a:p>
                  </a:txBody>
                  <a:tcPr marL="91440" marR="91440" marT="45720" marB="45720" anchor="ctr">
                    <a:solidFill>
                      <a:srgbClr val="F3F4F6"/>
                    </a:solidFill>
                  </a:tcPr>
                </a:tc>
                <a:tc>
                  <a:txBody>
                    <a:bodyPr lIns="28575" tIns="19050" rIns="28575" bIns="19050">
                      <a:normAutofit/>
                    </a:bodyPr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2026-02-27</a:t>
                      </a:r>
                    </a:p>
                  </a:txBody>
                  <a:tcPr marL="91440" marR="91440" marT="45720" marB="45720" anchor="ctr">
                    <a:solidFill>
                      <a:srgbClr val="F3F4F6"/>
                    </a:solidFill>
                  </a:tcPr>
                </a:tc>
                <a:tc>
                  <a:txBody>
                    <a:bodyPr lIns="28575" tIns="19050" rIns="28575" bIns="19050">
                      <a:normAutofit/>
                    </a:bodyPr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140</a:t>
                      </a:r>
                    </a:p>
                  </a:txBody>
                  <a:tcPr marL="91440" marR="91440" marT="45720" marB="45720" anchor="ctr">
                    <a:solidFill>
                      <a:srgbClr val="F3F4F6"/>
                    </a:solidFill>
                  </a:tcPr>
                </a:tc>
              </a:tr>
              <a:tr h="333375">
                <a:tc>
                  <a:txBody>
                    <a:bodyPr lIns="28575" tIns="19050" rIns="28575" bIns="19050">
                      <a:normAutofit/>
                    </a:bodyPr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신광기업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28575" tIns="19050" rIns="28575" bIns="19050">
                      <a:normAutofit/>
                    </a:bodyPr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4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28575" tIns="19050" rIns="28575" bIns="19050">
                      <a:normAutofit/>
                    </a:bodyPr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8,257,300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28575" tIns="19050" rIns="28575" bIns="19050">
                      <a:normAutofit/>
                    </a:bodyPr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2026-06-23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28575" tIns="19050" rIns="28575" bIns="19050">
                      <a:normAutofit/>
                    </a:bodyPr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24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33375">
                <a:tc>
                  <a:txBody>
                    <a:bodyPr lIns="28575" tIns="19050" rIns="28575" bIns="19050">
                      <a:normAutofit/>
                    </a:bodyPr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라운드테이블</a:t>
                      </a:r>
                    </a:p>
                  </a:txBody>
                  <a:tcPr marL="91440" marR="91440" marT="45720" marB="45720" anchor="ctr">
                    <a:solidFill>
                      <a:srgbClr val="F3F4F6"/>
                    </a:solidFill>
                  </a:tcPr>
                </a:tc>
                <a:tc>
                  <a:txBody>
                    <a:bodyPr lIns="28575" tIns="19050" rIns="28575" bIns="19050">
                      <a:normAutofit/>
                    </a:bodyPr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8</a:t>
                      </a:r>
                    </a:p>
                  </a:txBody>
                  <a:tcPr marL="91440" marR="91440" marT="45720" marB="45720" anchor="ctr">
                    <a:solidFill>
                      <a:srgbClr val="F3F4F6"/>
                    </a:solidFill>
                  </a:tcPr>
                </a:tc>
                <a:tc>
                  <a:txBody>
                    <a:bodyPr lIns="28575" tIns="19050" rIns="28575" bIns="19050">
                      <a:normAutofit/>
                    </a:bodyPr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840,900</a:t>
                      </a:r>
                    </a:p>
                  </a:txBody>
                  <a:tcPr marL="91440" marR="91440" marT="45720" marB="45720" anchor="ctr">
                    <a:solidFill>
                      <a:srgbClr val="F3F4F6"/>
                    </a:solidFill>
                  </a:tcPr>
                </a:tc>
                <a:tc>
                  <a:txBody>
                    <a:bodyPr lIns="28575" tIns="19050" rIns="28575" bIns="19050">
                      <a:normAutofit/>
                    </a:bodyPr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2026-06-30</a:t>
                      </a:r>
                    </a:p>
                  </a:txBody>
                  <a:tcPr marL="91440" marR="91440" marT="45720" marB="45720" anchor="ctr">
                    <a:solidFill>
                      <a:srgbClr val="F3F4F6"/>
                    </a:solidFill>
                  </a:tcPr>
                </a:tc>
                <a:tc>
                  <a:txBody>
                    <a:bodyPr lIns="28575" tIns="19050" rIns="28575" bIns="19050">
                      <a:normAutofit/>
                    </a:bodyPr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17</a:t>
                      </a:r>
                    </a:p>
                  </a:txBody>
                  <a:tcPr marL="91440" marR="91440" marT="45720" marB="45720" anchor="ctr">
                    <a:solidFill>
                      <a:srgbClr val="F3F4F6"/>
                    </a:solidFill>
                  </a:tcPr>
                </a:tc>
              </a:tr>
              <a:tr h="333375">
                <a:tc>
                  <a:txBody>
                    <a:bodyPr lIns="28575" tIns="19050" rIns="28575" bIns="19050">
                      <a:normAutofit/>
                    </a:bodyPr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대림상사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28575" tIns="19050" rIns="28575" bIns="19050">
                      <a:normAutofit/>
                    </a:bodyPr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28575" tIns="19050" rIns="28575" bIns="19050">
                      <a:normAutofit/>
                    </a:bodyPr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8,994,800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28575" tIns="19050" rIns="28575" bIns="19050">
                      <a:normAutofit/>
                    </a:bodyPr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2025-04-05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28575" tIns="19050" rIns="28575" bIns="19050">
                      <a:normAutofit/>
                    </a:bodyPr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468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33375">
                <a:tc>
                  <a:txBody>
                    <a:bodyPr lIns="28575" tIns="19050" rIns="28575" bIns="19050">
                      <a:normAutofit/>
                    </a:bodyPr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우성상회</a:t>
                      </a:r>
                    </a:p>
                  </a:txBody>
                  <a:tcPr marL="91440" marR="91440" marT="45720" marB="45720" anchor="ctr">
                    <a:solidFill>
                      <a:srgbClr val="F3F4F6"/>
                    </a:solidFill>
                  </a:tcPr>
                </a:tc>
                <a:tc>
                  <a:txBody>
                    <a:bodyPr lIns="28575" tIns="19050" rIns="28575" bIns="19050">
                      <a:normAutofit/>
                    </a:bodyPr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7</a:t>
                      </a:r>
                    </a:p>
                  </a:txBody>
                  <a:tcPr marL="91440" marR="91440" marT="45720" marB="45720" anchor="ctr">
                    <a:solidFill>
                      <a:srgbClr val="F3F4F6"/>
                    </a:solidFill>
                  </a:tcPr>
                </a:tc>
                <a:tc>
                  <a:txBody>
                    <a:bodyPr lIns="28575" tIns="19050" rIns="28575" bIns="19050">
                      <a:normAutofit/>
                    </a:bodyPr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3,104,000</a:t>
                      </a:r>
                    </a:p>
                  </a:txBody>
                  <a:tcPr marL="91440" marR="91440" marT="45720" marB="45720" anchor="ctr">
                    <a:solidFill>
                      <a:srgbClr val="F3F4F6"/>
                    </a:solidFill>
                  </a:tcPr>
                </a:tc>
                <a:tc>
                  <a:txBody>
                    <a:bodyPr lIns="28575" tIns="19050" rIns="28575" bIns="19050">
                      <a:normAutofit/>
                    </a:bodyPr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2026-05-31</a:t>
                      </a:r>
                    </a:p>
                  </a:txBody>
                  <a:tcPr marL="91440" marR="91440" marT="45720" marB="45720" anchor="ctr">
                    <a:solidFill>
                      <a:srgbClr val="F3F4F6"/>
                    </a:solidFill>
                  </a:tcPr>
                </a:tc>
                <a:tc>
                  <a:txBody>
                    <a:bodyPr lIns="28575" tIns="19050" rIns="28575" bIns="19050">
                      <a:normAutofit/>
                    </a:bodyPr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47</a:t>
                      </a:r>
                    </a:p>
                  </a:txBody>
                  <a:tcPr marL="91440" marR="91440" marT="45720" marB="45720" anchor="ctr">
                    <a:solidFill>
                      <a:srgbClr val="F3F4F6"/>
                    </a:solidFill>
                  </a:tcPr>
                </a:tc>
              </a:tr>
              <a:tr h="333375">
                <a:tc>
                  <a:txBody>
                    <a:bodyPr lIns="28575" tIns="19050" rIns="28575" bIns="19050">
                      <a:normAutofit/>
                    </a:bodyPr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브루하우스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28575" tIns="19050" rIns="28575" bIns="19050">
                      <a:normAutofit/>
                    </a:bodyPr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10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28575" tIns="19050" rIns="28575" bIns="19050">
                      <a:normAutofit/>
                    </a:bodyPr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2,756,600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28575" tIns="19050" rIns="28575" bIns="19050">
                      <a:normAutofit/>
                    </a:bodyPr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2026-07-05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28575" tIns="19050" rIns="28575" bIns="19050">
                      <a:normAutofit/>
                    </a:bodyPr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12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33375">
                <a:tc>
                  <a:txBody>
                    <a:bodyPr lIns="28575" tIns="19050" rIns="28575" bIns="19050">
                      <a:normAutofit/>
                    </a:bodyPr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가온마켓</a:t>
                      </a:r>
                    </a:p>
                  </a:txBody>
                  <a:tcPr marL="91440" marR="91440" marT="45720" marB="45720" anchor="ctr">
                    <a:solidFill>
                      <a:srgbClr val="F3F4F6"/>
                    </a:solidFill>
                  </a:tcPr>
                </a:tc>
                <a:tc>
                  <a:txBody>
                    <a:bodyPr lIns="28575" tIns="19050" rIns="28575" bIns="19050">
                      <a:normAutofit/>
                    </a:bodyPr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3</a:t>
                      </a:r>
                    </a:p>
                  </a:txBody>
                  <a:tcPr marL="91440" marR="91440" marT="45720" marB="45720" anchor="ctr">
                    <a:solidFill>
                      <a:srgbClr val="F3F4F6"/>
                    </a:solidFill>
                  </a:tcPr>
                </a:tc>
                <a:tc>
                  <a:txBody>
                    <a:bodyPr lIns="28575" tIns="19050" rIns="28575" bIns="19050">
                      <a:normAutofit/>
                    </a:bodyPr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3,689,500</a:t>
                      </a:r>
                    </a:p>
                  </a:txBody>
                  <a:tcPr marL="91440" marR="91440" marT="45720" marB="45720" anchor="ctr">
                    <a:solidFill>
                      <a:srgbClr val="F3F4F6"/>
                    </a:solidFill>
                  </a:tcPr>
                </a:tc>
                <a:tc>
                  <a:txBody>
                    <a:bodyPr lIns="28575" tIns="19050" rIns="28575" bIns="19050">
                      <a:normAutofit/>
                    </a:bodyPr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2025-07-14</a:t>
                      </a:r>
                    </a:p>
                  </a:txBody>
                  <a:tcPr marL="91440" marR="91440" marT="45720" marB="45720" anchor="ctr">
                    <a:solidFill>
                      <a:srgbClr val="F3F4F6"/>
                    </a:solidFill>
                  </a:tcPr>
                </a:tc>
                <a:tc>
                  <a:txBody>
                    <a:bodyPr lIns="28575" tIns="19050" rIns="28575" bIns="19050">
                      <a:normAutofit/>
                    </a:bodyPr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368</a:t>
                      </a:r>
                    </a:p>
                  </a:txBody>
                  <a:tcPr marL="91440" marR="91440" marT="45720" marB="45720" anchor="ctr">
                    <a:solidFill>
                      <a:srgbClr val="F3F4F6"/>
                    </a:solidFill>
                  </a:tcPr>
                </a:tc>
              </a:tr>
              <a:tr h="333375">
                <a:tc>
                  <a:txBody>
                    <a:bodyPr lIns="28575" tIns="19050" rIns="28575" bIns="19050">
                      <a:normAutofit/>
                    </a:bodyPr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동아유통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28575" tIns="19050" rIns="28575" bIns="19050">
                      <a:normAutofit/>
                    </a:bodyPr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3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28575" tIns="19050" rIns="28575" bIns="19050">
                      <a:normAutofit/>
                    </a:bodyPr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12,029,000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28575" tIns="19050" rIns="28575" bIns="19050">
                      <a:normAutofit/>
                    </a:bodyPr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2025-03-17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28575" tIns="19050" rIns="28575" bIns="19050">
                      <a:normAutofit/>
                    </a:bodyPr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487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33375">
                <a:tc>
                  <a:txBody>
                    <a:bodyPr lIns="28575" tIns="19050" rIns="28575" bIns="19050">
                      <a:normAutofit/>
                    </a:bodyPr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하늘상사</a:t>
                      </a:r>
                    </a:p>
                  </a:txBody>
                  <a:tcPr marL="91440" marR="91440" marT="45720" marB="45720" anchor="ctr">
                    <a:solidFill>
                      <a:srgbClr val="F3F4F6"/>
                    </a:solidFill>
                  </a:tcPr>
                </a:tc>
                <a:tc>
                  <a:txBody>
                    <a:bodyPr lIns="28575" tIns="19050" rIns="28575" bIns="19050">
                      <a:normAutofit/>
                    </a:bodyPr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5</a:t>
                      </a:r>
                    </a:p>
                  </a:txBody>
                  <a:tcPr marL="91440" marR="91440" marT="45720" marB="45720" anchor="ctr">
                    <a:solidFill>
                      <a:srgbClr val="F3F4F6"/>
                    </a:solidFill>
                  </a:tcPr>
                </a:tc>
                <a:tc>
                  <a:txBody>
                    <a:bodyPr lIns="28575" tIns="19050" rIns="28575" bIns="19050">
                      <a:normAutofit/>
                    </a:bodyPr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1,395,700</a:t>
                      </a:r>
                    </a:p>
                  </a:txBody>
                  <a:tcPr marL="91440" marR="91440" marT="45720" marB="45720" anchor="ctr">
                    <a:solidFill>
                      <a:srgbClr val="F3F4F6"/>
                    </a:solidFill>
                  </a:tcPr>
                </a:tc>
                <a:tc>
                  <a:txBody>
                    <a:bodyPr lIns="28575" tIns="19050" rIns="28575" bIns="19050">
                      <a:normAutofit/>
                    </a:bodyPr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2026-05-29</a:t>
                      </a:r>
                    </a:p>
                  </a:txBody>
                  <a:tcPr marL="91440" marR="91440" marT="45720" marB="45720" anchor="ctr">
                    <a:solidFill>
                      <a:srgbClr val="F3F4F6"/>
                    </a:solidFill>
                  </a:tcPr>
                </a:tc>
                <a:tc>
                  <a:txBody>
                    <a:bodyPr lIns="28575" tIns="19050" rIns="28575" bIns="19050">
                      <a:normAutofit/>
                    </a:bodyPr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49</a:t>
                      </a:r>
                    </a:p>
                  </a:txBody>
                  <a:tcPr marL="91440" marR="91440" marT="45720" marB="45720" anchor="ctr">
                    <a:solidFill>
                      <a:srgbClr val="F3F4F6"/>
                    </a:solidFill>
                  </a:tcPr>
                </a:tc>
              </a:tr>
              <a:tr h="333375">
                <a:tc>
                  <a:txBody>
                    <a:bodyPr lIns="28575" tIns="19050" rIns="28575" bIns="19050">
                      <a:normAutofit/>
                    </a:bodyPr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정우유통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28575" tIns="19050" rIns="28575" bIns="19050">
                      <a:normAutofit/>
                    </a:bodyPr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4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28575" tIns="19050" rIns="28575" bIns="19050">
                      <a:normAutofit/>
                    </a:bodyPr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2,098,900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28575" tIns="19050" rIns="28575" bIns="19050">
                      <a:normAutofit/>
                    </a:bodyPr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2026-04-16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28575" tIns="19050" rIns="28575" bIns="19050">
                      <a:normAutofit/>
                    </a:bodyPr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92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33375">
                <a:tc>
                  <a:txBody>
                    <a:bodyPr lIns="28575" tIns="19050" rIns="28575" bIns="19050">
                      <a:normAutofit/>
                    </a:bodyPr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모닝빈</a:t>
                      </a:r>
                    </a:p>
                  </a:txBody>
                  <a:tcPr marL="91440" marR="91440" marT="45720" marB="45720" anchor="ctr">
                    <a:solidFill>
                      <a:srgbClr val="F3F4F6"/>
                    </a:solidFill>
                  </a:tcPr>
                </a:tc>
                <a:tc>
                  <a:txBody>
                    <a:bodyPr lIns="28575" tIns="19050" rIns="28575" bIns="19050">
                      <a:normAutofit/>
                    </a:bodyPr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9</a:t>
                      </a:r>
                    </a:p>
                  </a:txBody>
                  <a:tcPr marL="91440" marR="91440" marT="45720" marB="45720" anchor="ctr">
                    <a:solidFill>
                      <a:srgbClr val="F3F4F6"/>
                    </a:solidFill>
                  </a:tcPr>
                </a:tc>
                <a:tc>
                  <a:txBody>
                    <a:bodyPr lIns="28575" tIns="19050" rIns="28575" bIns="19050">
                      <a:normAutofit/>
                    </a:bodyPr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943,000</a:t>
                      </a:r>
                    </a:p>
                  </a:txBody>
                  <a:tcPr marL="91440" marR="91440" marT="45720" marB="45720" anchor="ctr">
                    <a:solidFill>
                      <a:srgbClr val="F3F4F6"/>
                    </a:solidFill>
                  </a:tcPr>
                </a:tc>
                <a:tc>
                  <a:txBody>
                    <a:bodyPr lIns="28575" tIns="19050" rIns="28575" bIns="19050">
                      <a:normAutofit/>
                    </a:bodyPr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2026-06-30</a:t>
                      </a:r>
                    </a:p>
                  </a:txBody>
                  <a:tcPr marL="91440" marR="91440" marT="45720" marB="45720" anchor="ctr">
                    <a:solidFill>
                      <a:srgbClr val="F3F4F6"/>
                    </a:solidFill>
                  </a:tcPr>
                </a:tc>
                <a:tc>
                  <a:txBody>
                    <a:bodyPr lIns="28575" tIns="19050" rIns="28575" bIns="19050">
                      <a:normAutofit/>
                    </a:bodyPr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17</a:t>
                      </a:r>
                    </a:p>
                  </a:txBody>
                  <a:tcPr marL="91440" marR="91440" marT="45720" marB="45720" anchor="ctr"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6225597"/>
      </p:ext>
    </p:extLst>
  </p:cSld>
</p:sld>
</file>

<file path=ppt/slides/slide3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Number Placeholder 1">
            <a:extLst xmlns:a="http://schemas.openxmlformats.org/drawingml/2006/main">
              <a:ext uri="{FF2B5EF4-FFF2-40B4-BE49-F238E27FC236}">
                <a16:creationId xmlns:a16="http://schemas.microsoft.com/office/drawing/2014/main" id="{7A530F9C-DFE1-0934-66F6-E74036D1F40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172A7C5-A0CC-7B36-F236-345181E6AD72}" type="slidenum">
              <a:t>31</a:t>
            </a:fld>
            <a:endParaRPr/>
          </a:p>
        </p:txBody>
      </p:sp>
      <p:sp>
        <p:nvSpPr>
          <p:cNvPr id="3" name="wk1-title">
            <a:extLst xmlns:a="http://schemas.openxmlformats.org/drawingml/2006/main">
              <a:ext uri="{FF2B5EF4-FFF2-40B4-BE49-F238E27FC236}">
                <a16:creationId xmlns:a16="http://schemas.microsoft.com/office/drawing/2014/main" id="{4F4C16AF-F776-4C87-89AF-D6CAF5ABE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7334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A5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A50000"/>
                </a:solidFill>
                <a:latin typeface="Apple SD Gothic Neo"/>
                <a:ea typeface="Apple SD Gothic Neo"/>
                <a:cs typeface="Apple SD Gothic Neo"/>
              </a:rPr>
              <a:t>보고서 A · 누적 거래액</a:t>
            </a:r>
          </a:p>
        </p:txBody>
      </p:sp>
      <p:sp>
        <p:nvSpPr>
          <p:cNvPr id="4" name="wk1-section">
            <a:extLst xmlns:a="http://schemas.openxmlformats.org/drawingml/2006/main">
              <a:ext uri="{FF2B5EF4-FFF2-40B4-BE49-F238E27FC236}">
                <a16:creationId xmlns:a16="http://schemas.microsoft.com/office/drawing/2014/main" id="{C0AFE685-B66F-4D45-93E8-0D2D4E17F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885825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0206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002060"/>
                </a:solidFill>
                <a:latin typeface="Apple SD Gothic Neo"/>
                <a:ea typeface="Apple SD Gothic Neo"/>
                <a:cs typeface="Apple SD Gothic Neo"/>
              </a:rPr>
              <a:t>DEMO · BLOCK 1</a:t>
            </a:r>
          </a:p>
        </p:txBody>
      </p:sp>
      <p:sp>
        <p:nvSpPr>
          <p:cNvPr id="5" name="report-a-basis">
            <a:extLst xmlns:a="http://schemas.openxmlformats.org/drawingml/2006/main">
              <a:ext uri="{FF2B5EF4-FFF2-40B4-BE49-F238E27FC236}">
                <a16:creationId xmlns:a16="http://schemas.microsoft.com/office/drawing/2014/main" id="{E873AD73-DAE0-45FC-9E72-DF116BCFD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190625"/>
            <a:ext cx="7715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>
                <a:solidFill>
                  <a:srgbClr val="00206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>
                <a:solidFill>
                  <a:srgbClr val="002060"/>
                </a:solidFill>
                <a:latin typeface="Apple SD Gothic Neo"/>
                <a:ea typeface="Apple SD Gothic Neo"/>
                <a:cs typeface="Apple SD Gothic Neo"/>
              </a:rPr>
              <a:t>최고 고객을 판단하는 가장 직접적인 근거는 그 거래처가 실제로 가져다준 매출입니다.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1047750" y="2000250"/>
          <a:ext xmlns:a="http://schemas.openxmlformats.org/drawingml/2006/main" cx="7048500" cy="2857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952500"/>
                <a:gridCol w="2190750"/>
                <a:gridCol w="2571750"/>
                <a:gridCol w="1333500"/>
              </a:tblGrid>
              <a:tr h="476250">
                <a:tc>
                  <a:txBody>
                    <a:bodyPr lIns="28575" tIns="19050" rIns="28575" bIns="19050">
                      <a:norm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순위</a:t>
                      </a:r>
                    </a:p>
                  </a:txBody>
                  <a:tcPr marL="91440" marR="91440" marT="45720" marB="45720" anchor="ctr">
                    <a:solidFill>
                      <a:srgbClr val="A50000"/>
                    </a:solidFill>
                  </a:tcPr>
                </a:tc>
                <a:tc>
                  <a:txBody>
                    <a:bodyPr lIns="28575" tIns="19050" rIns="28575" bIns="19050">
                      <a:norm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거래처</a:t>
                      </a:r>
                    </a:p>
                  </a:txBody>
                  <a:tcPr marL="91440" marR="91440" marT="45720" marB="45720" anchor="ctr">
                    <a:solidFill>
                      <a:srgbClr val="A50000"/>
                    </a:solidFill>
                  </a:tcPr>
                </a:tc>
                <a:tc>
                  <a:txBody>
                    <a:bodyPr lIns="28575" tIns="19050" rIns="28575" bIns="19050">
                      <a:norm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누적 거래액(원)</a:t>
                      </a:r>
                    </a:p>
                  </a:txBody>
                  <a:tcPr marL="91440" marR="91440" marT="45720" marB="45720" anchor="ctr">
                    <a:solidFill>
                      <a:srgbClr val="A50000"/>
                    </a:solidFill>
                  </a:tcPr>
                </a:tc>
                <a:tc>
                  <a:txBody>
                    <a:bodyPr lIns="28575" tIns="19050" rIns="28575" bIns="19050">
                      <a:norm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주문 건수</a:t>
                      </a:r>
                    </a:p>
                  </a:txBody>
                  <a:tcPr marL="91440" marR="91440" marT="45720" marB="45720" anchor="ctr">
                    <a:solidFill>
                      <a:srgbClr val="A50000"/>
                    </a:solidFill>
                  </a:tcPr>
                </a:tc>
              </a:tr>
              <a:tr h="476250">
                <a:tc>
                  <a:txBody>
                    <a:bodyPr lIns="28575" tIns="19050" rIns="28575" bIns="19050">
                      <a:norm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33333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28575" tIns="19050" rIns="28575" bIns="19050">
                      <a:norm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33333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동아유통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28575" tIns="19050" rIns="28575" bIns="19050">
                      <a:norm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33333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12,029,000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28575" tIns="19050" rIns="28575" bIns="19050">
                      <a:norm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33333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3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 lIns="28575" tIns="19050" rIns="28575" bIns="19050">
                      <a:norm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33333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2</a:t>
                      </a:r>
                    </a:p>
                  </a:txBody>
                  <a:tcPr marL="91440" marR="91440" marT="45720" marB="45720" anchor="ctr">
                    <a:solidFill>
                      <a:srgbClr val="F3F4F6"/>
                    </a:solidFill>
                  </a:tcPr>
                </a:tc>
                <a:tc>
                  <a:txBody>
                    <a:bodyPr lIns="28575" tIns="19050" rIns="28575" bIns="19050">
                      <a:norm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33333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한성물산</a:t>
                      </a:r>
                    </a:p>
                  </a:txBody>
                  <a:tcPr marL="91440" marR="91440" marT="45720" marB="45720" anchor="ctr">
                    <a:solidFill>
                      <a:srgbClr val="F3F4F6"/>
                    </a:solidFill>
                  </a:tcPr>
                </a:tc>
                <a:tc>
                  <a:txBody>
                    <a:bodyPr lIns="28575" tIns="19050" rIns="28575" bIns="19050">
                      <a:norm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33333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9,321,500</a:t>
                      </a:r>
                    </a:p>
                  </a:txBody>
                  <a:tcPr marL="91440" marR="91440" marT="45720" marB="45720" anchor="ctr">
                    <a:solidFill>
                      <a:srgbClr val="F3F4F6"/>
                    </a:solidFill>
                  </a:tcPr>
                </a:tc>
                <a:tc>
                  <a:txBody>
                    <a:bodyPr lIns="28575" tIns="19050" rIns="28575" bIns="19050">
                      <a:norm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33333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2</a:t>
                      </a:r>
                    </a:p>
                  </a:txBody>
                  <a:tcPr marL="91440" marR="91440" marT="45720" marB="45720" anchor="ctr">
                    <a:solidFill>
                      <a:srgbClr val="F3F4F6"/>
                    </a:solidFill>
                  </a:tcPr>
                </a:tc>
              </a:tr>
              <a:tr h="476250">
                <a:tc>
                  <a:txBody>
                    <a:bodyPr lIns="28575" tIns="19050" rIns="28575" bIns="19050">
                      <a:norm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33333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3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28575" tIns="19050" rIns="28575" bIns="19050">
                      <a:norm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33333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대림상사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28575" tIns="19050" rIns="28575" bIns="19050">
                      <a:norm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33333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8,994,800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28575" tIns="19050" rIns="28575" bIns="19050">
                      <a:norm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33333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 lIns="28575" tIns="19050" rIns="28575" bIns="19050">
                      <a:norm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33333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4</a:t>
                      </a:r>
                    </a:p>
                  </a:txBody>
                  <a:tcPr marL="91440" marR="91440" marT="45720" marB="45720" anchor="ctr">
                    <a:solidFill>
                      <a:srgbClr val="F3F4F6"/>
                    </a:solidFill>
                  </a:tcPr>
                </a:tc>
                <a:tc>
                  <a:txBody>
                    <a:bodyPr lIns="28575" tIns="19050" rIns="28575" bIns="19050">
                      <a:norm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33333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신광기업</a:t>
                      </a:r>
                    </a:p>
                  </a:txBody>
                  <a:tcPr marL="91440" marR="91440" marT="45720" marB="45720" anchor="ctr">
                    <a:solidFill>
                      <a:srgbClr val="F3F4F6"/>
                    </a:solidFill>
                  </a:tcPr>
                </a:tc>
                <a:tc>
                  <a:txBody>
                    <a:bodyPr lIns="28575" tIns="19050" rIns="28575" bIns="19050">
                      <a:norm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33333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8,257,300</a:t>
                      </a:r>
                    </a:p>
                  </a:txBody>
                  <a:tcPr marL="91440" marR="91440" marT="45720" marB="45720" anchor="ctr">
                    <a:solidFill>
                      <a:srgbClr val="F3F4F6"/>
                    </a:solidFill>
                  </a:tcPr>
                </a:tc>
                <a:tc>
                  <a:txBody>
                    <a:bodyPr lIns="28575" tIns="19050" rIns="28575" bIns="19050">
                      <a:norm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33333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4</a:t>
                      </a:r>
                    </a:p>
                  </a:txBody>
                  <a:tcPr marL="91440" marR="91440" marT="45720" marB="45720" anchor="ctr">
                    <a:solidFill>
                      <a:srgbClr val="F3F4F6"/>
                    </a:solidFill>
                  </a:tcPr>
                </a:tc>
              </a:tr>
              <a:tr h="476250">
                <a:tc>
                  <a:txBody>
                    <a:bodyPr lIns="28575" tIns="19050" rIns="28575" bIns="19050">
                      <a:norm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33333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28575" tIns="19050" rIns="28575" bIns="19050">
                      <a:norm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33333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가온마켓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28575" tIns="19050" rIns="28575" bIns="19050">
                      <a:norm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33333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3,689,500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28575" tIns="19050" rIns="28575" bIns="19050">
                      <a:norm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33333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3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port-a-summary">
            <a:extLst xmlns:a="http://schemas.openxmlformats.org/drawingml/2006/main">
              <a:ext uri="{FF2B5EF4-FFF2-40B4-BE49-F238E27FC236}">
                <a16:creationId xmlns:a16="http://schemas.microsoft.com/office/drawing/2014/main" id="{8859D730-0DFE-4543-8312-6A7D7F877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191125"/>
            <a:ext cx="666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>
                <a:solidFill>
                  <a:srgbClr val="66666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>
                <a:solidFill>
                  <a:srgbClr val="666666"/>
                </a:solidFill>
                <a:latin typeface="Apple SD Gothic Neo"/>
                <a:ea typeface="Apple SD Gothic Neo"/>
                <a:cs typeface="Apple SD Gothic Neo"/>
              </a:rPr>
              <a:t>주문 횟수는 적지만 건당 규모가 큰 거래처가 상위에 있습니다.</a:t>
            </a:r>
          </a:p>
        </p:txBody>
      </p:sp>
    </p:spTree>
    <p:extLst>
      <p:ext uri="{BB962C8B-B14F-4D97-AF65-F5344CB8AC3E}">
        <p14:creationId xmlns:p14="http://schemas.microsoft.com/office/powerpoint/2010/main" val="186225597"/>
      </p:ext>
    </p:extLst>
  </p:cSld>
</p:sld>
</file>

<file path=ppt/slides/slide3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Number Placeholder 1">
            <a:extLst xmlns:a="http://schemas.openxmlformats.org/drawingml/2006/main">
              <a:ext uri="{FF2B5EF4-FFF2-40B4-BE49-F238E27FC236}">
                <a16:creationId xmlns:a16="http://schemas.microsoft.com/office/drawing/2014/main" id="{7A530F9C-DFE1-0934-66F6-E74036D1F40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6C3428B-053E-6B4E-39FF-75B44F3F33F6}" type="slidenum">
              <a:t>32</a:t>
            </a:fld>
            <a:endParaRPr/>
          </a:p>
        </p:txBody>
      </p:sp>
      <p:sp>
        <p:nvSpPr>
          <p:cNvPr id="3" name="wk1-title">
            <a:extLst xmlns:a="http://schemas.openxmlformats.org/drawingml/2006/main">
              <a:ext uri="{FF2B5EF4-FFF2-40B4-BE49-F238E27FC236}">
                <a16:creationId xmlns:a16="http://schemas.microsoft.com/office/drawing/2014/main" id="{A4349591-8678-4B12-8663-773EF5BB4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7334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A5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A50000"/>
                </a:solidFill>
                <a:latin typeface="Apple SD Gothic Neo"/>
                <a:ea typeface="Apple SD Gothic Neo"/>
                <a:cs typeface="Apple SD Gothic Neo"/>
              </a:rPr>
              <a:t>보고서 B · 최근성 + 빈도</a:t>
            </a:r>
          </a:p>
        </p:txBody>
      </p:sp>
      <p:sp>
        <p:nvSpPr>
          <p:cNvPr id="4" name="wk1-section">
            <a:extLst xmlns:a="http://schemas.openxmlformats.org/drawingml/2006/main">
              <a:ext uri="{FF2B5EF4-FFF2-40B4-BE49-F238E27FC236}">
                <a16:creationId xmlns:a16="http://schemas.microsoft.com/office/drawing/2014/main" id="{38F03736-201D-485B-993A-B9E304D1B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885825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0206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002060"/>
                </a:solidFill>
                <a:latin typeface="Apple SD Gothic Neo"/>
                <a:ea typeface="Apple SD Gothic Neo"/>
                <a:cs typeface="Apple SD Gothic Neo"/>
              </a:rPr>
              <a:t>DEMO · BLOCK 1</a:t>
            </a:r>
          </a:p>
        </p:txBody>
      </p:sp>
      <p:sp>
        <p:nvSpPr>
          <p:cNvPr id="5" name="report-b-basis">
            <a:extLst xmlns:a="http://schemas.openxmlformats.org/drawingml/2006/main">
              <a:ext uri="{FF2B5EF4-FFF2-40B4-BE49-F238E27FC236}">
                <a16:creationId xmlns:a16="http://schemas.microsoft.com/office/drawing/2014/main" id="{E5165ED7-9EAA-4B1E-90A3-CCDDEA120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190625"/>
            <a:ext cx="7715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>
                <a:solidFill>
                  <a:srgbClr val="00206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>
                <a:solidFill>
                  <a:srgbClr val="002060"/>
                </a:solidFill>
                <a:latin typeface="Apple SD Gothic Neo"/>
                <a:ea typeface="Apple SD Gothic Neo"/>
                <a:cs typeface="Apple SD Gothic Neo"/>
              </a:rPr>
              <a:t>최고 고객을 판단하려면 지금 우리와 실제로 거래하고 있는가를 보아야 합니다.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714375" y="2000250"/>
          <a:ext xmlns:a="http://schemas.openxmlformats.org/drawingml/2006/main" cx="7715250" cy="2857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762000"/>
                <a:gridCol w="2000250"/>
                <a:gridCol w="1238250"/>
                <a:gridCol w="1047750"/>
                <a:gridCol w="2667000"/>
              </a:tblGrid>
              <a:tr h="476250">
                <a:tc>
                  <a:txBody>
                    <a:bodyPr lIns="28575" tIns="19050" rIns="28575" bIns="19050">
                      <a:normAutofit/>
                    </a:bodyPr>
                    <a:lstStyle/>
                    <a:p>
                      <a:pPr algn="ctr"/>
                      <a:r>
                        <a:rPr sz="1275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순위</a:t>
                      </a:r>
                    </a:p>
                  </a:txBody>
                  <a:tcPr marL="91440" marR="91440" marT="45720" marB="45720" anchor="ctr">
                    <a:solidFill>
                      <a:srgbClr val="A50000"/>
                    </a:solidFill>
                  </a:tcPr>
                </a:tc>
                <a:tc>
                  <a:txBody>
                    <a:bodyPr lIns="28575" tIns="19050" rIns="28575" bIns="19050">
                      <a:normAutofit/>
                    </a:bodyPr>
                    <a:lstStyle/>
                    <a:p>
                      <a:pPr algn="ctr"/>
                      <a:r>
                        <a:rPr sz="1275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거래처</a:t>
                      </a:r>
                    </a:p>
                  </a:txBody>
                  <a:tcPr marL="91440" marR="91440" marT="45720" marB="45720" anchor="ctr">
                    <a:solidFill>
                      <a:srgbClr val="A50000"/>
                    </a:solidFill>
                  </a:tcPr>
                </a:tc>
                <a:tc>
                  <a:txBody>
                    <a:bodyPr lIns="28575" tIns="19050" rIns="28575" bIns="19050">
                      <a:normAutofit/>
                    </a:bodyPr>
                    <a:lstStyle/>
                    <a:p>
                      <a:pPr algn="ctr"/>
                      <a:r>
                        <a:rPr sz="1275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주문 건수</a:t>
                      </a:r>
                    </a:p>
                  </a:txBody>
                  <a:tcPr marL="91440" marR="91440" marT="45720" marB="45720" anchor="ctr">
                    <a:solidFill>
                      <a:srgbClr val="A50000"/>
                    </a:solidFill>
                  </a:tcPr>
                </a:tc>
                <a:tc>
                  <a:txBody>
                    <a:bodyPr lIns="28575" tIns="19050" rIns="28575" bIns="19050">
                      <a:normAutofit/>
                    </a:bodyPr>
                    <a:lstStyle/>
                    <a:p>
                      <a:pPr algn="ctr"/>
                      <a:r>
                        <a:rPr sz="1275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경과일</a:t>
                      </a:r>
                    </a:p>
                  </a:txBody>
                  <a:tcPr marL="91440" marR="91440" marT="45720" marB="45720" anchor="ctr">
                    <a:solidFill>
                      <a:srgbClr val="A50000"/>
                    </a:solidFill>
                  </a:tcPr>
                </a:tc>
                <a:tc>
                  <a:txBody>
                    <a:bodyPr lIns="28575" tIns="19050" rIns="28575" bIns="19050">
                      <a:normAutofit/>
                    </a:bodyPr>
                    <a:lstStyle/>
                    <a:p>
                      <a:pPr algn="ctr"/>
                      <a:r>
                        <a:rPr sz="1275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누적 거래액(원)</a:t>
                      </a:r>
                    </a:p>
                  </a:txBody>
                  <a:tcPr marL="91440" marR="91440" marT="45720" marB="45720" anchor="ctr">
                    <a:solidFill>
                      <a:srgbClr val="A50000"/>
                    </a:solidFill>
                  </a:tcPr>
                </a:tc>
              </a:tr>
              <a:tr h="476250">
                <a:tc>
                  <a:txBody>
                    <a:bodyPr lIns="28575" tIns="19050" rIns="28575" bIns="1905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33333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28575" tIns="19050" rIns="28575" bIns="1905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33333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카페 온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28575" tIns="19050" rIns="28575" bIns="1905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33333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11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28575" tIns="19050" rIns="28575" bIns="1905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33333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6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28575" tIns="19050" rIns="28575" bIns="1905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33333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1,011,600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 lIns="28575" tIns="19050" rIns="28575" bIns="1905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33333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2</a:t>
                      </a:r>
                    </a:p>
                  </a:txBody>
                  <a:tcPr marL="91440" marR="91440" marT="45720" marB="45720" anchor="ctr">
                    <a:solidFill>
                      <a:srgbClr val="F3F4F6"/>
                    </a:solidFill>
                  </a:tcPr>
                </a:tc>
                <a:tc>
                  <a:txBody>
                    <a:bodyPr lIns="28575" tIns="19050" rIns="28575" bIns="1905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33333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브루하우스</a:t>
                      </a:r>
                    </a:p>
                  </a:txBody>
                  <a:tcPr marL="91440" marR="91440" marT="45720" marB="45720" anchor="ctr">
                    <a:solidFill>
                      <a:srgbClr val="F3F4F6"/>
                    </a:solidFill>
                  </a:tcPr>
                </a:tc>
                <a:tc>
                  <a:txBody>
                    <a:bodyPr lIns="28575" tIns="19050" rIns="28575" bIns="1905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33333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10</a:t>
                      </a:r>
                    </a:p>
                  </a:txBody>
                  <a:tcPr marL="91440" marR="91440" marT="45720" marB="45720" anchor="ctr">
                    <a:solidFill>
                      <a:srgbClr val="F3F4F6"/>
                    </a:solidFill>
                  </a:tcPr>
                </a:tc>
                <a:tc>
                  <a:txBody>
                    <a:bodyPr lIns="28575" tIns="19050" rIns="28575" bIns="1905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33333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12</a:t>
                      </a:r>
                    </a:p>
                  </a:txBody>
                  <a:tcPr marL="91440" marR="91440" marT="45720" marB="45720" anchor="ctr">
                    <a:solidFill>
                      <a:srgbClr val="F3F4F6"/>
                    </a:solidFill>
                  </a:tcPr>
                </a:tc>
                <a:tc>
                  <a:txBody>
                    <a:bodyPr lIns="28575" tIns="19050" rIns="28575" bIns="1905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33333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2,756,600</a:t>
                      </a:r>
                    </a:p>
                  </a:txBody>
                  <a:tcPr marL="91440" marR="91440" marT="45720" marB="45720" anchor="ctr">
                    <a:solidFill>
                      <a:srgbClr val="F3F4F6"/>
                    </a:solidFill>
                  </a:tcPr>
                </a:tc>
              </a:tr>
              <a:tr h="476250">
                <a:tc>
                  <a:txBody>
                    <a:bodyPr lIns="28575" tIns="19050" rIns="28575" bIns="1905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33333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3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28575" tIns="19050" rIns="28575" bIns="1905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33333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모닝빈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28575" tIns="19050" rIns="28575" bIns="1905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33333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9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28575" tIns="19050" rIns="28575" bIns="1905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33333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17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28575" tIns="19050" rIns="28575" bIns="1905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33333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943,000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 lIns="28575" tIns="19050" rIns="28575" bIns="1905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33333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4</a:t>
                      </a:r>
                    </a:p>
                  </a:txBody>
                  <a:tcPr marL="91440" marR="91440" marT="45720" marB="45720" anchor="ctr">
                    <a:solidFill>
                      <a:srgbClr val="F3F4F6"/>
                    </a:solidFill>
                  </a:tcPr>
                </a:tc>
                <a:tc>
                  <a:txBody>
                    <a:bodyPr lIns="28575" tIns="19050" rIns="28575" bIns="1905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33333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라운드테이블</a:t>
                      </a:r>
                    </a:p>
                  </a:txBody>
                  <a:tcPr marL="91440" marR="91440" marT="45720" marB="45720" anchor="ctr">
                    <a:solidFill>
                      <a:srgbClr val="F3F4F6"/>
                    </a:solidFill>
                  </a:tcPr>
                </a:tc>
                <a:tc>
                  <a:txBody>
                    <a:bodyPr lIns="28575" tIns="19050" rIns="28575" bIns="1905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33333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8</a:t>
                      </a:r>
                    </a:p>
                  </a:txBody>
                  <a:tcPr marL="91440" marR="91440" marT="45720" marB="45720" anchor="ctr">
                    <a:solidFill>
                      <a:srgbClr val="F3F4F6"/>
                    </a:solidFill>
                  </a:tcPr>
                </a:tc>
                <a:tc>
                  <a:txBody>
                    <a:bodyPr lIns="28575" tIns="19050" rIns="28575" bIns="1905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33333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17</a:t>
                      </a:r>
                    </a:p>
                  </a:txBody>
                  <a:tcPr marL="91440" marR="91440" marT="45720" marB="45720" anchor="ctr">
                    <a:solidFill>
                      <a:srgbClr val="F3F4F6"/>
                    </a:solidFill>
                  </a:tcPr>
                </a:tc>
                <a:tc>
                  <a:txBody>
                    <a:bodyPr lIns="28575" tIns="19050" rIns="28575" bIns="1905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33333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840,900</a:t>
                      </a:r>
                    </a:p>
                  </a:txBody>
                  <a:tcPr marL="91440" marR="91440" marT="45720" marB="45720" anchor="ctr">
                    <a:solidFill>
                      <a:srgbClr val="F3F4F6"/>
                    </a:solidFill>
                  </a:tcPr>
                </a:tc>
              </a:tr>
              <a:tr h="476250">
                <a:tc>
                  <a:txBody>
                    <a:bodyPr lIns="28575" tIns="19050" rIns="28575" bIns="1905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33333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28575" tIns="19050" rIns="28575" bIns="1905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33333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서진F&amp;B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28575" tIns="19050" rIns="28575" bIns="1905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33333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28575" tIns="19050" rIns="28575" bIns="1905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33333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22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28575" tIns="19050" rIns="28575" bIns="1905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33333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2,578,100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port-b-summary">
            <a:extLst xmlns:a="http://schemas.openxmlformats.org/drawingml/2006/main">
              <a:ext uri="{FF2B5EF4-FFF2-40B4-BE49-F238E27FC236}">
                <a16:creationId xmlns:a16="http://schemas.microsoft.com/office/drawing/2014/main" id="{FFAA9204-F2ED-4299-8D4A-5E2A362B5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191125"/>
            <a:ext cx="666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>
                <a:solidFill>
                  <a:srgbClr val="66666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>
                <a:solidFill>
                  <a:srgbClr val="666666"/>
                </a:solidFill>
                <a:latin typeface="Apple SD Gothic Neo"/>
                <a:ea typeface="Apple SD Gothic Neo"/>
                <a:cs typeface="Apple SD Gothic Neo"/>
              </a:rPr>
              <a:t>최근 한 달 이내에 주문했고 주문 횟수도 상위권인 거래처입니다.</a:t>
            </a:r>
          </a:p>
        </p:txBody>
      </p:sp>
    </p:spTree>
    <p:extLst>
      <p:ext uri="{BB962C8B-B14F-4D97-AF65-F5344CB8AC3E}">
        <p14:creationId xmlns:p14="http://schemas.microsoft.com/office/powerpoint/2010/main" val="186225597"/>
      </p:ext>
    </p:extLst>
  </p:cSld>
</p:sld>
</file>

<file path=ppt/slides/slide3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Number Placeholder 1">
            <a:extLst xmlns:a="http://schemas.openxmlformats.org/drawingml/2006/main">
              <a:ext uri="{FF2B5EF4-FFF2-40B4-BE49-F238E27FC236}">
                <a16:creationId xmlns:a16="http://schemas.microsoft.com/office/drawing/2014/main" id="{7A530F9C-DFE1-0934-66F6-E74036D1F40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9F9B2FD-F323-2D0A-D581-D6E61055F9A8}" type="slidenum">
              <a:t>33</a:t>
            </a:fld>
            <a:endParaRPr/>
          </a:p>
        </p:txBody>
      </p:sp>
      <p:sp>
        <p:nvSpPr>
          <p:cNvPr id="3" name="wk1-title">
            <a:extLst xmlns:a="http://schemas.openxmlformats.org/drawingml/2006/main">
              <a:ext uri="{FF2B5EF4-FFF2-40B4-BE49-F238E27FC236}">
                <a16:creationId xmlns:a16="http://schemas.microsoft.com/office/drawing/2014/main" id="{CC07AF83-5AD7-4E50-89DF-9771A7E68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7334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A5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A50000"/>
                </a:solidFill>
                <a:latin typeface="Apple SD Gothic Neo"/>
                <a:ea typeface="Apple SD Gothic Neo"/>
                <a:cs typeface="Apple SD Gothic Neo"/>
              </a:rPr>
              <a:t>두 명단의 교집합</a:t>
            </a:r>
          </a:p>
        </p:txBody>
      </p:sp>
      <p:sp>
        <p:nvSpPr>
          <p:cNvPr id="4" name="wk1-section">
            <a:extLst xmlns:a="http://schemas.openxmlformats.org/drawingml/2006/main">
              <a:ext uri="{FF2B5EF4-FFF2-40B4-BE49-F238E27FC236}">
                <a16:creationId xmlns:a16="http://schemas.microsoft.com/office/drawing/2014/main" id="{AC2C6CAB-35E7-401D-87D8-43D33796A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885825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0206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002060"/>
                </a:solidFill>
                <a:latin typeface="Apple SD Gothic Neo"/>
                <a:ea typeface="Apple SD Gothic Neo"/>
                <a:cs typeface="Apple SD Gothic Neo"/>
              </a:rPr>
              <a:t>DEMO · BLOCK 1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1428750" y="1381125"/>
          <a:ext xmlns:a="http://schemas.openxmlformats.org/drawingml/2006/main" cx="6286500" cy="3524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143250"/>
                <a:gridCol w="3143250"/>
              </a:tblGrid>
              <a:tr h="587375">
                <a:tc>
                  <a:txBody>
                    <a:bodyPr lIns="28575" tIns="19050" rIns="28575" bIns="19050">
                      <a:normAutofit/>
                    </a:bodyPr>
                    <a:lstStyle/>
                    <a:p>
                      <a:pPr algn="ctr"/>
                      <a:r>
                        <a:rPr sz="165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보고서 A</a:t>
                      </a:r>
                    </a:p>
                  </a:txBody>
                  <a:tcPr marL="91440" marR="91440" marT="45720" marB="45720" anchor="ctr">
                    <a:solidFill>
                      <a:srgbClr val="A50000"/>
                    </a:solidFill>
                  </a:tcPr>
                </a:tc>
                <a:tc>
                  <a:txBody>
                    <a:bodyPr lIns="28575" tIns="19050" rIns="28575" bIns="19050">
                      <a:normAutofit/>
                    </a:bodyPr>
                    <a:lstStyle/>
                    <a:p>
                      <a:pPr algn="ctr"/>
                      <a:r>
                        <a:rPr sz="165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보고서 B</a:t>
                      </a:r>
                    </a:p>
                  </a:txBody>
                  <a:tcPr marL="91440" marR="91440" marT="45720" marB="45720" anchor="ctr">
                    <a:solidFill>
                      <a:srgbClr val="A50000"/>
                    </a:solidFill>
                  </a:tcPr>
                </a:tc>
              </a:tr>
              <a:tr h="587375">
                <a:tc>
                  <a:txBody>
                    <a:bodyPr lIns="28575" tIns="19050" rIns="28575" bIns="19050">
                      <a:normAutofit/>
                    </a:bodyPr>
                    <a:lstStyle/>
                    <a:p>
                      <a:pPr algn="ctr"/>
                      <a:r>
                        <a:rPr sz="1650" b="0">
                          <a:solidFill>
                            <a:srgbClr val="33333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동아유통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28575" tIns="19050" rIns="28575" bIns="19050">
                      <a:normAutofit/>
                    </a:bodyPr>
                    <a:lstStyle/>
                    <a:p>
                      <a:pPr algn="ctr"/>
                      <a:r>
                        <a:rPr sz="1650" b="0">
                          <a:solidFill>
                            <a:srgbClr val="33333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카페 온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87375">
                <a:tc>
                  <a:txBody>
                    <a:bodyPr lIns="28575" tIns="19050" rIns="28575" bIns="19050">
                      <a:normAutofit/>
                    </a:bodyPr>
                    <a:lstStyle/>
                    <a:p>
                      <a:pPr algn="ctr"/>
                      <a:r>
                        <a:rPr sz="1650" b="0">
                          <a:solidFill>
                            <a:srgbClr val="33333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한성물산</a:t>
                      </a:r>
                    </a:p>
                  </a:txBody>
                  <a:tcPr marL="91440" marR="91440" marT="45720" marB="45720" anchor="ctr">
                    <a:solidFill>
                      <a:srgbClr val="F3F4F6"/>
                    </a:solidFill>
                  </a:tcPr>
                </a:tc>
                <a:tc>
                  <a:txBody>
                    <a:bodyPr lIns="28575" tIns="19050" rIns="28575" bIns="19050">
                      <a:normAutofit/>
                    </a:bodyPr>
                    <a:lstStyle/>
                    <a:p>
                      <a:pPr algn="ctr"/>
                      <a:r>
                        <a:rPr sz="1650" b="0">
                          <a:solidFill>
                            <a:srgbClr val="33333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브루하우스</a:t>
                      </a:r>
                    </a:p>
                  </a:txBody>
                  <a:tcPr marL="91440" marR="91440" marT="45720" marB="45720" anchor="ctr">
                    <a:solidFill>
                      <a:srgbClr val="F3F4F6"/>
                    </a:solidFill>
                  </a:tcPr>
                </a:tc>
              </a:tr>
              <a:tr h="587375">
                <a:tc>
                  <a:txBody>
                    <a:bodyPr lIns="28575" tIns="19050" rIns="28575" bIns="19050">
                      <a:normAutofit/>
                    </a:bodyPr>
                    <a:lstStyle/>
                    <a:p>
                      <a:pPr algn="ctr"/>
                      <a:r>
                        <a:rPr sz="1650" b="0">
                          <a:solidFill>
                            <a:srgbClr val="33333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대림상사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28575" tIns="19050" rIns="28575" bIns="19050">
                      <a:normAutofit/>
                    </a:bodyPr>
                    <a:lstStyle/>
                    <a:p>
                      <a:pPr algn="ctr"/>
                      <a:r>
                        <a:rPr sz="1650" b="0">
                          <a:solidFill>
                            <a:srgbClr val="33333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모닝빈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87375">
                <a:tc>
                  <a:txBody>
                    <a:bodyPr lIns="28575" tIns="19050" rIns="28575" bIns="19050">
                      <a:normAutofit/>
                    </a:bodyPr>
                    <a:lstStyle/>
                    <a:p>
                      <a:pPr algn="ctr"/>
                      <a:r>
                        <a:rPr sz="1650" b="0">
                          <a:solidFill>
                            <a:srgbClr val="33333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신광기업</a:t>
                      </a:r>
                    </a:p>
                  </a:txBody>
                  <a:tcPr marL="91440" marR="91440" marT="45720" marB="45720" anchor="ctr">
                    <a:solidFill>
                      <a:srgbClr val="F3F4F6"/>
                    </a:solidFill>
                  </a:tcPr>
                </a:tc>
                <a:tc>
                  <a:txBody>
                    <a:bodyPr lIns="28575" tIns="19050" rIns="28575" bIns="19050">
                      <a:normAutofit/>
                    </a:bodyPr>
                    <a:lstStyle/>
                    <a:p>
                      <a:pPr algn="ctr"/>
                      <a:r>
                        <a:rPr sz="1650" b="0">
                          <a:solidFill>
                            <a:srgbClr val="33333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라운드테이블</a:t>
                      </a:r>
                    </a:p>
                  </a:txBody>
                  <a:tcPr marL="91440" marR="91440" marT="45720" marB="45720" anchor="ctr">
                    <a:solidFill>
                      <a:srgbClr val="F3F4F6"/>
                    </a:solidFill>
                  </a:tcPr>
                </a:tc>
              </a:tr>
              <a:tr h="587375">
                <a:tc>
                  <a:txBody>
                    <a:bodyPr lIns="28575" tIns="19050" rIns="28575" bIns="19050">
                      <a:normAutofit/>
                    </a:bodyPr>
                    <a:lstStyle/>
                    <a:p>
                      <a:pPr algn="ctr"/>
                      <a:r>
                        <a:rPr sz="1650" b="0">
                          <a:solidFill>
                            <a:srgbClr val="33333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가온마켓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28575" tIns="19050" rIns="28575" bIns="19050">
                      <a:normAutofit/>
                    </a:bodyPr>
                    <a:lstStyle/>
                    <a:p>
                      <a:pPr algn="ctr"/>
                      <a:r>
                        <a:rPr sz="1650" b="0">
                          <a:solidFill>
                            <a:srgbClr val="33333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서진F&amp;B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zero-overlap">
            <a:extLst xmlns:a="http://schemas.openxmlformats.org/drawingml/2006/main">
              <a:ext uri="{FF2B5EF4-FFF2-40B4-BE49-F238E27FC236}">
                <a16:creationId xmlns:a16="http://schemas.microsoft.com/office/drawing/2014/main" id="{0B14FEC7-E319-412A-97ED-4D7F896E8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5238750"/>
            <a:ext cx="4572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A5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>
                <a:solidFill>
                  <a:srgbClr val="A50000"/>
                </a:solidFill>
                <a:latin typeface="Apple SD Gothic Neo"/>
                <a:ea typeface="Apple SD Gothic Neo"/>
                <a:cs typeface="Apple SD Gothic Neo"/>
              </a:rPr>
              <a:t>겹치는 거래처 0곳</a:t>
            </a:r>
          </a:p>
        </p:txBody>
      </p:sp>
    </p:spTree>
    <p:extLst>
      <p:ext uri="{BB962C8B-B14F-4D97-AF65-F5344CB8AC3E}">
        <p14:creationId xmlns:p14="http://schemas.microsoft.com/office/powerpoint/2010/main" val="186225597"/>
      </p:ext>
    </p:extLst>
  </p:cSld>
</p:sld>
</file>

<file path=ppt/slides/slide3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Number Placeholder 1">
            <a:extLst xmlns:a="http://schemas.openxmlformats.org/drawingml/2006/main">
              <a:ext uri="{FF2B5EF4-FFF2-40B4-BE49-F238E27FC236}">
                <a16:creationId xmlns:a16="http://schemas.microsoft.com/office/drawing/2014/main" id="{7A530F9C-DFE1-0934-66F6-E74036D1F40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6C2EC43-E3B9-C9B0-67FF-5447EB7F3925}" type="slidenum">
              <a:t>34</a:t>
            </a:fld>
            <a:endParaRPr/>
          </a:p>
        </p:txBody>
      </p:sp>
      <p:sp>
        <p:nvSpPr>
          <p:cNvPr id="3" name="wk1-title">
            <a:extLst xmlns:a="http://schemas.openxmlformats.org/drawingml/2006/main">
              <a:ext uri="{FF2B5EF4-FFF2-40B4-BE49-F238E27FC236}">
                <a16:creationId xmlns:a16="http://schemas.microsoft.com/office/drawing/2014/main" id="{DA3D785B-685E-4AC1-B78F-7C36EC71C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7334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A5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A50000"/>
                </a:solidFill>
                <a:latin typeface="Apple SD Gothic Neo"/>
                <a:ea typeface="Apple SD Gothic Neo"/>
                <a:cs typeface="Apple SD Gothic Neo"/>
              </a:rPr>
              <a:t>판정 기록지</a:t>
            </a:r>
          </a:p>
        </p:txBody>
      </p:sp>
      <p:sp>
        <p:nvSpPr>
          <p:cNvPr id="4" name="wk1-section">
            <a:extLst xmlns:a="http://schemas.openxmlformats.org/drawingml/2006/main">
              <a:ext uri="{FF2B5EF4-FFF2-40B4-BE49-F238E27FC236}">
                <a16:creationId xmlns:a16="http://schemas.microsoft.com/office/drawing/2014/main" id="{F430D3E6-AEBF-4174-B627-FFE31D440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885825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0206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002060"/>
                </a:solidFill>
                <a:latin typeface="Apple SD Gothic Neo"/>
                <a:ea typeface="Apple SD Gothic Neo"/>
                <a:cs typeface="Apple SD Gothic Neo"/>
              </a:rPr>
              <a:t>DEMO · BLOCK 1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904875" y="1571625"/>
          <a:ext xmlns:a="http://schemas.openxmlformats.org/drawingml/2006/main" cx="7334250" cy="3333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952500"/>
                <a:gridCol w="6381750"/>
              </a:tblGrid>
              <a:tr h="666750">
                <a:tc>
                  <a:txBody>
                    <a:bodyPr lIns="28575" tIns="19050" rIns="28575" bIns="19050">
                      <a:normAutofit/>
                    </a:bodyPr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문항</a:t>
                      </a:r>
                    </a:p>
                  </a:txBody>
                  <a:tcPr marL="91440" marR="91440" marT="45720" marB="45720" anchor="ctr">
                    <a:solidFill>
                      <a:srgbClr val="A50000"/>
                    </a:solidFill>
                  </a:tcPr>
                </a:tc>
                <a:tc>
                  <a:txBody>
                    <a:bodyPr lIns="28575" tIns="19050" rIns="28575" bIns="19050">
                      <a:normAutofit/>
                    </a:bodyPr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기록할 것</a:t>
                      </a:r>
                    </a:p>
                  </a:txBody>
                  <a:tcPr marL="91440" marR="91440" marT="45720" marB="45720" anchor="ctr">
                    <a:solidFill>
                      <a:srgbClr val="A50000"/>
                    </a:solidFill>
                  </a:tcPr>
                </a:tc>
              </a:tr>
              <a:tr h="666750">
                <a:tc>
                  <a:txBody>
                    <a:bodyPr lIns="28575" tIns="19050" rIns="28575" bIns="19050">
                      <a:norm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33333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28575" tIns="19050" rIns="28575" bIns="19050">
                      <a:norm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33333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어느 보고서를 경영진에 올리겠는가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 lIns="28575" tIns="19050" rIns="28575" bIns="19050">
                      <a:norm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33333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2</a:t>
                      </a:r>
                    </a:p>
                  </a:txBody>
                  <a:tcPr marL="91440" marR="91440" marT="45720" marB="45720" anchor="ctr">
                    <a:solidFill>
                      <a:srgbClr val="F3F4F6"/>
                    </a:solidFill>
                  </a:tcPr>
                </a:tc>
                <a:tc>
                  <a:txBody>
                    <a:bodyPr lIns="28575" tIns="19050" rIns="28575" bIns="19050">
                      <a:norm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33333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왜 그렇게 판정했는가</a:t>
                      </a:r>
                    </a:p>
                  </a:txBody>
                  <a:tcPr marL="91440" marR="91440" marT="45720" marB="45720" anchor="ctr">
                    <a:solidFill>
                      <a:srgbClr val="F3F4F6"/>
                    </a:solidFill>
                  </a:tcPr>
                </a:tc>
              </a:tr>
              <a:tr h="666750">
                <a:tc>
                  <a:txBody>
                    <a:bodyPr lIns="28575" tIns="19050" rIns="28575" bIns="19050">
                      <a:norm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33333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3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28575" tIns="19050" rIns="28575" bIns="19050">
                      <a:norm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33333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그 판정에 얼마나 확신하는가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 lIns="28575" tIns="19050" rIns="28575" bIns="19050">
                      <a:norm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33333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4</a:t>
                      </a:r>
                    </a:p>
                  </a:txBody>
                  <a:tcPr marL="91440" marR="91440" marT="45720" marB="45720" anchor="ctr">
                    <a:solidFill>
                      <a:srgbClr val="F3F4F6"/>
                    </a:solidFill>
                  </a:tcPr>
                </a:tc>
                <a:tc>
                  <a:txBody>
                    <a:bodyPr lIns="28575" tIns="19050" rIns="28575" bIns="19050">
                      <a:norm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33333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무엇을 알면 판별할 수 있겠는가</a:t>
                      </a:r>
                    </a:p>
                  </a:txBody>
                  <a:tcPr marL="91440" marR="91440" marT="45720" marB="45720" anchor="ctr"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  <p:sp>
        <p:nvSpPr>
          <p:cNvPr id="6" name="judgment-emphasis">
            <a:extLst xmlns:a="http://schemas.openxmlformats.org/drawingml/2006/main">
              <a:ext uri="{FF2B5EF4-FFF2-40B4-BE49-F238E27FC236}">
                <a16:creationId xmlns:a16="http://schemas.microsoft.com/office/drawing/2014/main" id="{191AF548-A889-4925-811A-130543DFD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286375"/>
            <a:ext cx="666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A5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A50000"/>
                </a:solidFill>
                <a:latin typeface="Apple SD Gothic Neo"/>
                <a:ea typeface="Apple SD Gothic Neo"/>
                <a:cs typeface="Apple SD Gothic Neo"/>
              </a:rPr>
              <a:t>4번을 특히 채웁니다. 질문 형태로 세 개까지 적습니다.</a:t>
            </a:r>
          </a:p>
        </p:txBody>
      </p:sp>
    </p:spTree>
    <p:extLst>
      <p:ext uri="{BB962C8B-B14F-4D97-AF65-F5344CB8AC3E}">
        <p14:creationId xmlns:p14="http://schemas.microsoft.com/office/powerpoint/2010/main" val="186225597"/>
      </p:ext>
    </p:extLst>
  </p:cSld>
</p:sld>
</file>

<file path=ppt/slides/slide3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Number Placeholder 1">
            <a:extLst xmlns:a="http://schemas.openxmlformats.org/drawingml/2006/main">
              <a:ext uri="{FF2B5EF4-FFF2-40B4-BE49-F238E27FC236}">
                <a16:creationId xmlns:a16="http://schemas.microsoft.com/office/drawing/2014/main" id="{7A530F9C-DFE1-0934-66F6-E74036D1F40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A4FA566-8B12-6DD2-DDB5-FA6393938FB6}" type="slidenum">
              <a:t>35</a:t>
            </a:fld>
            <a:endParaRPr/>
          </a:p>
        </p:txBody>
      </p:sp>
      <p:sp>
        <p:nvSpPr>
          <p:cNvPr id="3" name="wk1-title">
            <a:extLst xmlns:a="http://schemas.openxmlformats.org/drawingml/2006/main">
              <a:ext uri="{FF2B5EF4-FFF2-40B4-BE49-F238E27FC236}">
                <a16:creationId xmlns:a16="http://schemas.microsoft.com/office/drawing/2014/main" id="{28A55E2A-3B30-48CA-B2A2-3FA5EAA40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7334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A5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A50000"/>
                </a:solidFill>
                <a:latin typeface="Apple SD Gothic Neo"/>
                <a:ea typeface="Apple SD Gothic Neo"/>
                <a:cs typeface="Apple SD Gothic Neo"/>
              </a:rPr>
              <a:t>개별 판정</a:t>
            </a:r>
          </a:p>
        </p:txBody>
      </p:sp>
      <p:sp>
        <p:nvSpPr>
          <p:cNvPr id="4" name="wk1-section">
            <a:extLst xmlns:a="http://schemas.openxmlformats.org/drawingml/2006/main">
              <a:ext uri="{FF2B5EF4-FFF2-40B4-BE49-F238E27FC236}">
                <a16:creationId xmlns:a16="http://schemas.microsoft.com/office/drawing/2014/main" id="{B5DE5D73-2D98-4472-94F3-163D9795C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885825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0206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002060"/>
                </a:solidFill>
                <a:latin typeface="Apple SD Gothic Neo"/>
                <a:ea typeface="Apple SD Gothic Neo"/>
                <a:cs typeface="Apple SD Gothic Neo"/>
              </a:rPr>
              <a:t>DEMO · BLOCK 1</a:t>
            </a:r>
          </a:p>
        </p:txBody>
      </p:sp>
      <p:sp>
        <p:nvSpPr>
          <p:cNvPr id="5" name="wk1-bullets">
            <a:extLst xmlns:a="http://schemas.openxmlformats.org/drawingml/2006/main">
              <a:ext uri="{FF2B5EF4-FFF2-40B4-BE49-F238E27FC236}">
                <a16:creationId xmlns:a16="http://schemas.microsoft.com/office/drawing/2014/main" id="{B7F793B4-969B-421C-8EC5-39B851A9B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1666875"/>
            <a:ext cx="6572250" cy="276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marL="304800" indent="-152400">
              <a:lnSpc>
                <a:spcPct val="112000"/>
              </a:lnSpc>
              <a:spcAft>
                <a:spcPts val="2000"/>
              </a:spcAft>
              <a:buNone/>
              <a:defRPr sz="2100">
                <a:solidFill>
                  <a:srgbClr val="3333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>
                <a:solidFill>
                  <a:srgbClr val="333333"/>
                </a:solidFill>
                <a:latin typeface="Apple SD Gothic Neo"/>
                <a:ea typeface="Apple SD Gothic Neo"/>
                <a:cs typeface="Apple SD Gothic Neo"/>
              </a:rPr>
              <a:t>논의하지 않고 각자 기록합니다.</a:t>
            </a:r>
          </a:p>
          <a:p xmlns:a="http://schemas.openxmlformats.org/drawingml/2006/main">
            <a:pPr marL="304800" indent="-152400">
              <a:lnSpc>
                <a:spcPct val="112000"/>
              </a:lnSpc>
              <a:spcAft>
                <a:spcPts val="2000"/>
              </a:spcAft>
              <a:buNone/>
              <a:defRPr sz="2100">
                <a:solidFill>
                  <a:srgbClr val="3333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>
                <a:solidFill>
                  <a:srgbClr val="333333"/>
                </a:solidFill>
                <a:latin typeface="Apple SD Gothic Neo"/>
                <a:ea typeface="Apple SD Gothic Neo"/>
                <a:cs typeface="Apple SD Gothic Neo"/>
              </a:rPr>
              <a:t>기록지는 걷지 않습니다. 각자 보관합니다.</a:t>
            </a:r>
          </a:p>
          <a:p xmlns:a="http://schemas.openxmlformats.org/drawingml/2006/main">
            <a:pPr marL="304800" indent="-152400">
              <a:lnSpc>
                <a:spcPct val="112000"/>
              </a:lnSpc>
              <a:spcAft>
                <a:spcPts val="2000"/>
              </a:spcAft>
              <a:buNone/>
              <a:defRPr sz="2100">
                <a:solidFill>
                  <a:srgbClr val="3333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>
                <a:solidFill>
                  <a:srgbClr val="333333"/>
                </a:solidFill>
                <a:latin typeface="Apple SD Gothic Neo"/>
                <a:ea typeface="Apple SD Gothic Neo"/>
                <a:cs typeface="Apple SD Gothic Neo"/>
              </a:rPr>
              <a:t>블록 2에서 조별로 판정을 맞춰 봅니다.</a:t>
            </a:r>
          </a:p>
        </p:txBody>
      </p:sp>
      <p:sp>
        <p:nvSpPr>
          <p:cNvPr id="6" name="break-line">
            <a:extLst xmlns:a="http://schemas.openxmlformats.org/drawingml/2006/main">
              <a:ext uri="{FF2B5EF4-FFF2-40B4-BE49-F238E27FC236}">
                <a16:creationId xmlns:a16="http://schemas.microsoft.com/office/drawing/2014/main" id="{A3B54A1E-9B81-4E3C-9374-C704DFF00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905375"/>
            <a:ext cx="5905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A5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A50000"/>
                </a:solidFill>
                <a:latin typeface="Apple SD Gothic Neo"/>
                <a:ea typeface="Apple SD Gothic Neo"/>
                <a:cs typeface="Apple SD Gothic Neo"/>
              </a:rPr>
              <a:t>1:15–1:25 · 판정을 손에 쥔 채 휴식</a:t>
            </a:r>
          </a:p>
        </p:txBody>
      </p:sp>
    </p:spTree>
    <p:extLst>
      <p:ext uri="{BB962C8B-B14F-4D97-AF65-F5344CB8AC3E}">
        <p14:creationId xmlns:p14="http://schemas.microsoft.com/office/powerpoint/2010/main" val="186225597"/>
      </p:ext>
    </p:extLst>
  </p:cSld>
</p:sld>
</file>

<file path=ppt/slides/slide3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Number Placeholder 1">
            <a:extLst xmlns:a="http://schemas.openxmlformats.org/drawingml/2006/main">
              <a:ext uri="{FF2B5EF4-FFF2-40B4-BE49-F238E27FC236}">
                <a16:creationId xmlns:a16="http://schemas.microsoft.com/office/drawing/2014/main" id="{7A530F9C-DFE1-0934-66F6-E74036D1F40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39A338D-B192-3127-EB9A-53A2665A0BB7}" type="slidenum">
              <a:t>36</a:t>
            </a:fld>
            <a:endParaRPr/>
          </a:p>
        </p:txBody>
      </p:sp>
      <p:sp>
        <p:nvSpPr>
          <p:cNvPr id="3" name="wk1-title">
            <a:extLst xmlns:a="http://schemas.openxmlformats.org/drawingml/2006/main">
              <a:ext uri="{FF2B5EF4-FFF2-40B4-BE49-F238E27FC236}">
                <a16:creationId xmlns:a16="http://schemas.microsoft.com/office/drawing/2014/main" id="{79D228F2-8095-42E9-A7F4-0FCCF8946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7334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A5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A50000"/>
                </a:solidFill>
                <a:latin typeface="Apple SD Gothic Neo"/>
                <a:ea typeface="Apple SD Gothic Neo"/>
                <a:cs typeface="Apple SD Gothic Neo"/>
              </a:rPr>
              <a:t>판정 공유</a:t>
            </a:r>
          </a:p>
        </p:txBody>
      </p:sp>
      <p:sp>
        <p:nvSpPr>
          <p:cNvPr id="4" name="wk1-section">
            <a:extLst xmlns:a="http://schemas.openxmlformats.org/drawingml/2006/main">
              <a:ext uri="{FF2B5EF4-FFF2-40B4-BE49-F238E27FC236}">
                <a16:creationId xmlns:a16="http://schemas.microsoft.com/office/drawing/2014/main" id="{4A18EC5C-3B38-4873-BE8B-34F590CFC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885825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0206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002060"/>
                </a:solidFill>
                <a:latin typeface="Apple SD Gothic Neo"/>
                <a:ea typeface="Apple SD Gothic Neo"/>
                <a:cs typeface="Apple SD Gothic Neo"/>
              </a:rPr>
              <a:t>BLOCK 2 · DISCUSSION</a:t>
            </a:r>
          </a:p>
        </p:txBody>
      </p:sp>
      <p:sp>
        <p:nvSpPr>
          <p:cNvPr id="5" name="wk1-quote">
            <a:extLst xmlns:a="http://schemas.openxmlformats.org/drawingml/2006/main">
              <a:ext uri="{FF2B5EF4-FFF2-40B4-BE49-F238E27FC236}">
                <a16:creationId xmlns:a16="http://schemas.microsoft.com/office/drawing/2014/main" id="{8EDFC95C-33F6-4A19-B0B7-EA9C80324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09750"/>
            <a:ext cx="7239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00206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00" b="1">
                <a:solidFill>
                  <a:srgbClr val="002060"/>
                </a:solidFill>
                <a:latin typeface="Apple SD Gothic Neo"/>
                <a:ea typeface="Apple SD Gothic Neo"/>
                <a:cs typeface="Apple SD Gothic Neo"/>
              </a:rPr>
              <a:t>어느 보고서를 올리시겠습니까?</a:t>
            </a:r>
          </a:p>
          <a:p xmlns:a="http://schemas.openxmlformats.org/drawingml/2006/main">
            <a:pPr algn="ctr">
              <a:defRPr sz="2700" b="1">
                <a:solidFill>
                  <a:srgbClr val="00206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00" b="1">
                <a:solidFill>
                  <a:srgbClr val="002060"/>
                </a:solidFill>
                <a:latin typeface="Apple SD Gothic Neo"/>
                <a:ea typeface="Apple SD Gothic Neo"/>
                <a:cs typeface="Apple SD Gothic Neo"/>
              </a:rPr>
              <a:t>그리고 왜입니까?</a:t>
            </a:r>
          </a:p>
        </p:txBody>
      </p:sp>
      <p:sp>
        <p:nvSpPr>
          <p:cNvPr id="6" name="wk1-quote-detail">
            <a:extLst xmlns:a="http://schemas.openxmlformats.org/drawingml/2006/main">
              <a:ext uri="{FF2B5EF4-FFF2-40B4-BE49-F238E27FC236}">
                <a16:creationId xmlns:a16="http://schemas.microsoft.com/office/drawing/2014/main" id="{EE0D1CD0-2BFE-47F5-B78C-C761E2272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857625"/>
            <a:ext cx="67627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>
                <a:solidFill>
                  <a:srgbClr val="66666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>
                <a:solidFill>
                  <a:srgbClr val="666666"/>
                </a:solidFill>
                <a:latin typeface="Apple SD Gothic Neo"/>
                <a:ea typeface="Apple SD Gothic Neo"/>
                <a:cs typeface="Apple SD Gothic Neo"/>
              </a:rPr>
              <a:t>한 사람당 1분. 조 안에서 의견이 갈리는지 확인합니다.</a:t>
            </a:r>
          </a:p>
        </p:txBody>
      </p:sp>
    </p:spTree>
    <p:extLst>
      <p:ext uri="{BB962C8B-B14F-4D97-AF65-F5344CB8AC3E}">
        <p14:creationId xmlns:p14="http://schemas.microsoft.com/office/powerpoint/2010/main" val="186225597"/>
      </p:ext>
    </p:extLst>
  </p:cSld>
</p:sld>
</file>

<file path=ppt/slides/slide3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Number Placeholder 1">
            <a:extLst xmlns:a="http://schemas.openxmlformats.org/drawingml/2006/main">
              <a:ext uri="{FF2B5EF4-FFF2-40B4-BE49-F238E27FC236}">
                <a16:creationId xmlns:a16="http://schemas.microsoft.com/office/drawing/2014/main" id="{7A530F9C-DFE1-0934-66F6-E74036D1F40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D334276-4C85-190E-BA41-5CA1CBB04E4E}" type="slidenum">
              <a:t>37</a:t>
            </a:fld>
            <a:endParaRPr/>
          </a:p>
        </p:txBody>
      </p:sp>
      <p:sp>
        <p:nvSpPr>
          <p:cNvPr id="3" name="wk1-title">
            <a:extLst xmlns:a="http://schemas.openxmlformats.org/drawingml/2006/main">
              <a:ext uri="{FF2B5EF4-FFF2-40B4-BE49-F238E27FC236}">
                <a16:creationId xmlns:a16="http://schemas.microsoft.com/office/drawing/2014/main" id="{DBA42083-BCBD-41C3-8662-E31950A79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7334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A5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A50000"/>
                </a:solidFill>
                <a:latin typeface="Apple SD Gothic Neo"/>
                <a:ea typeface="Apple SD Gothic Neo"/>
                <a:cs typeface="Apple SD Gothic Neo"/>
              </a:rPr>
              <a:t>조별 핵심 질문</a:t>
            </a:r>
          </a:p>
        </p:txBody>
      </p:sp>
      <p:sp>
        <p:nvSpPr>
          <p:cNvPr id="4" name="wk1-section">
            <a:extLst xmlns:a="http://schemas.openxmlformats.org/drawingml/2006/main">
              <a:ext uri="{FF2B5EF4-FFF2-40B4-BE49-F238E27FC236}">
                <a16:creationId xmlns:a16="http://schemas.microsoft.com/office/drawing/2014/main" id="{69F4BE3B-51B9-41D5-944E-8138432A4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885825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0206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002060"/>
                </a:solidFill>
                <a:latin typeface="Apple SD Gothic Neo"/>
                <a:ea typeface="Apple SD Gothic Neo"/>
                <a:cs typeface="Apple SD Gothic Neo"/>
              </a:rPr>
              <a:t>BLOCK 2 · DISCUSSION</a:t>
            </a:r>
          </a:p>
        </p:txBody>
      </p:sp>
      <p:sp>
        <p:nvSpPr>
          <p:cNvPr id="5" name="wk1-quote">
            <a:extLst xmlns:a="http://schemas.openxmlformats.org/drawingml/2006/main">
              <a:ext uri="{FF2B5EF4-FFF2-40B4-BE49-F238E27FC236}">
                <a16:creationId xmlns:a16="http://schemas.microsoft.com/office/drawing/2014/main" id="{55F9E602-0337-431A-A194-D3C07A1DD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09750"/>
            <a:ext cx="7239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925" b="1">
                <a:solidFill>
                  <a:srgbClr val="A5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925" b="1">
                <a:solidFill>
                  <a:srgbClr val="A50000"/>
                </a:solidFill>
                <a:latin typeface="Apple SD Gothic Neo"/>
                <a:ea typeface="Apple SD Gothic Neo"/>
                <a:cs typeface="Apple SD Gothic Neo"/>
              </a:rPr>
              <a:t>무엇을 알면 판별할 수 있겠습니까?</a:t>
            </a:r>
          </a:p>
        </p:txBody>
      </p:sp>
      <p:sp>
        <p:nvSpPr>
          <p:cNvPr id="6" name="wk1-quote-detail">
            <a:extLst xmlns:a="http://schemas.openxmlformats.org/drawingml/2006/main">
              <a:ext uri="{FF2B5EF4-FFF2-40B4-BE49-F238E27FC236}">
                <a16:creationId xmlns:a16="http://schemas.microsoft.com/office/drawing/2014/main" id="{479420DB-B562-425E-83A5-6FE9F0554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857625"/>
            <a:ext cx="67627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>
                <a:solidFill>
                  <a:srgbClr val="66666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>
                <a:solidFill>
                  <a:srgbClr val="666666"/>
                </a:solidFill>
                <a:latin typeface="Apple SD Gothic Neo"/>
                <a:ea typeface="Apple SD Gothic Neo"/>
                <a:cs typeface="Apple SD Gothic Neo"/>
              </a:rPr>
              <a:t>판정 기록지 4번을 꺼내 조별로 질문 세 개를 고릅니다.</a:t>
            </a:r>
          </a:p>
        </p:txBody>
      </p:sp>
    </p:spTree>
    <p:extLst>
      <p:ext uri="{BB962C8B-B14F-4D97-AF65-F5344CB8AC3E}">
        <p14:creationId xmlns:p14="http://schemas.microsoft.com/office/powerpoint/2010/main" val="186225597"/>
      </p:ext>
    </p:extLst>
  </p:cSld>
</p:sld>
</file>

<file path=ppt/slides/slide3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Number Placeholder 1">
            <a:extLst xmlns:a="http://schemas.openxmlformats.org/drawingml/2006/main">
              <a:ext uri="{FF2B5EF4-FFF2-40B4-BE49-F238E27FC236}">
                <a16:creationId xmlns:a16="http://schemas.microsoft.com/office/drawing/2014/main" id="{7A530F9C-DFE1-0934-66F6-E74036D1F40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55A7F00-3259-A23D-D734-A322A9F9DD63}" type="slidenum">
              <a:t>38</a:t>
            </a:fld>
            <a:endParaRPr/>
          </a:p>
        </p:txBody>
      </p:sp>
      <p:sp>
        <p:nvSpPr>
          <p:cNvPr id="3" name="wk1-title">
            <a:extLst xmlns:a="http://schemas.openxmlformats.org/drawingml/2006/main">
              <a:ext uri="{FF2B5EF4-FFF2-40B4-BE49-F238E27FC236}">
                <a16:creationId xmlns:a16="http://schemas.microsoft.com/office/drawing/2014/main" id="{112D7A44-1206-4591-99D1-5DCA00CFC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7334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A5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A50000"/>
                </a:solidFill>
                <a:latin typeface="Apple SD Gothic Neo"/>
                <a:ea typeface="Apple SD Gothic Neo"/>
                <a:cs typeface="Apple SD Gothic Neo"/>
              </a:rPr>
              <a:t>질문을 모으는 방식</a:t>
            </a:r>
          </a:p>
        </p:txBody>
      </p:sp>
      <p:sp>
        <p:nvSpPr>
          <p:cNvPr id="4" name="wk1-section">
            <a:extLst xmlns:a="http://schemas.openxmlformats.org/drawingml/2006/main">
              <a:ext uri="{FF2B5EF4-FFF2-40B4-BE49-F238E27FC236}">
                <a16:creationId xmlns:a16="http://schemas.microsoft.com/office/drawing/2014/main" id="{A84D9342-4DC3-4497-97CE-61FC57D3F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885825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0206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002060"/>
                </a:solidFill>
                <a:latin typeface="Apple SD Gothic Neo"/>
                <a:ea typeface="Apple SD Gothic Neo"/>
                <a:cs typeface="Apple SD Gothic Neo"/>
              </a:rPr>
              <a:t>BLOCK 2 · DISCUSSION</a:t>
            </a:r>
          </a:p>
        </p:txBody>
      </p:sp>
      <p:sp>
        <p:nvSpPr>
          <p:cNvPr id="5" name="wk1-bullets">
            <a:extLst xmlns:a="http://schemas.openxmlformats.org/drawingml/2006/main">
              <a:ext uri="{FF2B5EF4-FFF2-40B4-BE49-F238E27FC236}">
                <a16:creationId xmlns:a16="http://schemas.microsoft.com/office/drawing/2014/main" id="{4643E4FC-05DF-4F2D-87FC-F3D341C86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1524000"/>
            <a:ext cx="695325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marL="304800" indent="-152400">
              <a:lnSpc>
                <a:spcPct val="112000"/>
              </a:lnSpc>
              <a:spcAft>
                <a:spcPts val="1800"/>
              </a:spcAft>
              <a:buNone/>
              <a:defRPr sz="1950">
                <a:solidFill>
                  <a:srgbClr val="3333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>
                <a:solidFill>
                  <a:srgbClr val="333333"/>
                </a:solidFill>
                <a:latin typeface="Apple SD Gothic Neo"/>
                <a:ea typeface="Apple SD Gothic Neo"/>
                <a:cs typeface="Apple SD Gothic Neo"/>
              </a:rPr>
              <a:t>조별로 질문 세 개를 고릅니다.</a:t>
            </a:r>
          </a:p>
          <a:p xmlns:a="http://schemas.openxmlformats.org/drawingml/2006/main">
            <a:pPr marL="304800" indent="-152400">
              <a:lnSpc>
                <a:spcPct val="112000"/>
              </a:lnSpc>
              <a:spcAft>
                <a:spcPts val="1800"/>
              </a:spcAft>
              <a:buNone/>
              <a:defRPr sz="1950">
                <a:solidFill>
                  <a:srgbClr val="3333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>
                <a:solidFill>
                  <a:srgbClr val="333333"/>
                </a:solidFill>
                <a:latin typeface="Apple SD Gothic Neo"/>
                <a:ea typeface="Apple SD Gothic Neo"/>
                <a:cs typeface="Apple SD Gothic Neo"/>
              </a:rPr>
              <a:t>조당 1분 동안 발표합니다.</a:t>
            </a:r>
          </a:p>
          <a:p xmlns:a="http://schemas.openxmlformats.org/drawingml/2006/main">
            <a:pPr marL="304800" indent="-152400">
              <a:lnSpc>
                <a:spcPct val="112000"/>
              </a:lnSpc>
              <a:spcAft>
                <a:spcPts val="1800"/>
              </a:spcAft>
              <a:buNone/>
              <a:defRPr sz="1950">
                <a:solidFill>
                  <a:srgbClr val="3333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>
                <a:solidFill>
                  <a:srgbClr val="333333"/>
                </a:solidFill>
                <a:latin typeface="Apple SD Gothic Neo"/>
                <a:ea typeface="Apple SD Gothic Neo"/>
                <a:cs typeface="Apple SD Gothic Neo"/>
              </a:rPr>
              <a:t>강사는 학생의 표현을 그대로 칠판에 적습니다.</a:t>
            </a:r>
          </a:p>
          <a:p xmlns:a="http://schemas.openxmlformats.org/drawingml/2006/main">
            <a:pPr marL="304800" indent="-152400">
              <a:lnSpc>
                <a:spcPct val="112000"/>
              </a:lnSpc>
              <a:spcAft>
                <a:spcPts val="1800"/>
              </a:spcAft>
              <a:buNone/>
              <a:defRPr sz="1950">
                <a:solidFill>
                  <a:srgbClr val="3333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>
                <a:solidFill>
                  <a:srgbClr val="333333"/>
                </a:solidFill>
                <a:latin typeface="Apple SD Gothic Neo"/>
                <a:ea typeface="Apple SD Gothic Neo"/>
                <a:cs typeface="Apple SD Gothic Neo"/>
              </a:rPr>
              <a:t>칠판에는 7–10개를 모읍니다.</a:t>
            </a:r>
          </a:p>
        </p:txBody>
      </p:sp>
    </p:spTree>
    <p:extLst>
      <p:ext uri="{BB962C8B-B14F-4D97-AF65-F5344CB8AC3E}">
        <p14:creationId xmlns:p14="http://schemas.microsoft.com/office/powerpoint/2010/main" val="186225597"/>
      </p:ext>
    </p:extLst>
  </p:cSld>
</p:sld>
</file>

<file path=ppt/slides/slide3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Number Placeholder 1">
            <a:extLst xmlns:a="http://schemas.openxmlformats.org/drawingml/2006/main">
              <a:ext uri="{FF2B5EF4-FFF2-40B4-BE49-F238E27FC236}">
                <a16:creationId xmlns:a16="http://schemas.microsoft.com/office/drawing/2014/main" id="{7A530F9C-DFE1-0934-66F6-E74036D1F40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66C477-A387-35CF-F492-F54B4FA4FEC9}" type="slidenum">
              <a:t>39</a:t>
            </a:fld>
            <a:endParaRPr/>
          </a:p>
        </p:txBody>
      </p:sp>
      <p:sp>
        <p:nvSpPr>
          <p:cNvPr id="3" name="wk1-title">
            <a:extLst xmlns:a="http://schemas.openxmlformats.org/drawingml/2006/main">
              <a:ext uri="{FF2B5EF4-FFF2-40B4-BE49-F238E27FC236}">
                <a16:creationId xmlns:a16="http://schemas.microsoft.com/office/drawing/2014/main" id="{510E697C-5820-416F-BBF7-9543509F8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7334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A5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A50000"/>
                </a:solidFill>
                <a:latin typeface="Apple SD Gothic Neo"/>
                <a:ea typeface="Apple SD Gothic Neo"/>
                <a:cs typeface="Apple SD Gothic Neo"/>
              </a:rPr>
              <a:t>인턴이 AI에게 물은 두 질문</a:t>
            </a:r>
          </a:p>
        </p:txBody>
      </p:sp>
      <p:sp>
        <p:nvSpPr>
          <p:cNvPr id="4" name="wk1-section">
            <a:extLst xmlns:a="http://schemas.openxmlformats.org/drawingml/2006/main">
              <a:ext uri="{FF2B5EF4-FFF2-40B4-BE49-F238E27FC236}">
                <a16:creationId xmlns:a16="http://schemas.microsoft.com/office/drawing/2014/main" id="{0F41A726-869B-4DCC-A1B7-94FF3DB1B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885825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0206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002060"/>
                </a:solidFill>
                <a:latin typeface="Apple SD Gothic Neo"/>
                <a:ea typeface="Apple SD Gothic Neo"/>
                <a:cs typeface="Apple SD Gothic Neo"/>
              </a:rPr>
              <a:t>BLOCK 2 · REVEAL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19125" y="1666875"/>
          <a:ext xmlns:a="http://schemas.openxmlformats.org/drawingml/2006/main" cx="7905750" cy="2952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952875"/>
                <a:gridCol w="3952875"/>
              </a:tblGrid>
              <a:tr h="1476375">
                <a:tc>
                  <a:txBody>
                    <a:bodyPr lIns="28575" tIns="19050" rIns="28575" bIns="19050">
                      <a:normAutofit/>
                    </a:bodyPr>
                    <a:lstStyle/>
                    <a:p>
                      <a:pPr algn="ctr"/>
                      <a:r>
                        <a:rPr sz="1725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첫 번째</a:t>
                      </a:r>
                    </a:p>
                  </a:txBody>
                  <a:tcPr marL="91440" marR="91440" marT="45720" marB="45720" anchor="ctr">
                    <a:solidFill>
                      <a:srgbClr val="A50000"/>
                    </a:solidFill>
                  </a:tcPr>
                </a:tc>
                <a:tc>
                  <a:txBody>
                    <a:bodyPr lIns="28575" tIns="19050" rIns="28575" bIns="19050">
                      <a:normAutofit/>
                    </a:bodyPr>
                    <a:lstStyle/>
                    <a:p>
                      <a:pPr algn="ctr"/>
                      <a:r>
                        <a:rPr sz="1725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두 번째</a:t>
                      </a:r>
                    </a:p>
                  </a:txBody>
                  <a:tcPr marL="91440" marR="91440" marT="45720" marB="45720" anchor="ctr">
                    <a:solidFill>
                      <a:srgbClr val="A50000"/>
                    </a:solidFill>
                  </a:tcPr>
                </a:tc>
              </a:tr>
              <a:tr h="1476375">
                <a:tc>
                  <a:txBody>
                    <a:bodyPr lIns="28575" tIns="19050" rIns="28575" bIns="19050">
                      <a:norm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33333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우리 최고 고객 5명을 뽑아줘.</a:t>
                      </a:r>
                    </a:p>
                    <a:p>
                      <a:pPr algn="ctr"/>
                      <a:r>
                        <a:rPr sz="1725" b="0">
                          <a:solidFill>
                            <a:srgbClr val="33333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연말 감사 선물을 보내려고 해.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28575" tIns="19050" rIns="28575" bIns="19050">
                      <a:norm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33333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우리 최고 고객 5명을 뽑아줘.</a:t>
                      </a:r>
                    </a:p>
                    <a:p>
                      <a:pPr algn="ctr"/>
                      <a:r>
                        <a:rPr sz="1725" b="0">
                          <a:solidFill>
                            <a:srgbClr val="33333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신제품 체험단으로 초대하려고 해.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prompt-question">
            <a:extLst xmlns:a="http://schemas.openxmlformats.org/drawingml/2006/main">
              <a:ext uri="{FF2B5EF4-FFF2-40B4-BE49-F238E27FC236}">
                <a16:creationId xmlns:a16="http://schemas.microsoft.com/office/drawing/2014/main" id="{3537FD6A-92A6-471C-8F1B-92544DD24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095875"/>
            <a:ext cx="5715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A5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A50000"/>
                </a:solidFill>
                <a:latin typeface="Apple SD Gothic Neo"/>
                <a:ea typeface="Apple SD Gothic Neo"/>
                <a:cs typeface="Apple SD Gothic Neo"/>
              </a:rPr>
              <a:t>두 질문이 다르다고 느끼셨습니까?</a:t>
            </a:r>
          </a:p>
        </p:txBody>
      </p:sp>
    </p:spTree>
    <p:extLst>
      <p:ext uri="{BB962C8B-B14F-4D97-AF65-F5344CB8AC3E}">
        <p14:creationId xmlns:p14="http://schemas.microsoft.com/office/powerpoint/2010/main" val="186225597"/>
      </p:ext>
    </p:extLst>
  </p:cSld>
</p:sld>
</file>

<file path=ppt/slides/slide4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Number Placeholder 1">
            <a:extLst xmlns:a="http://schemas.openxmlformats.org/drawingml/2006/main">
              <a:ext uri="{FF2B5EF4-FFF2-40B4-BE49-F238E27FC236}">
                <a16:creationId xmlns:a16="http://schemas.microsoft.com/office/drawing/2014/main" id="{7A530F9C-DFE1-0934-66F6-E74036D1F40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0C89EF0-BE71-8D92-BDDF-FF7D05F0AC04}" type="slidenum">
              <a:t>40</a:t>
            </a:fld>
            <a:endParaRPr/>
          </a:p>
        </p:txBody>
      </p:sp>
      <p:sp>
        <p:nvSpPr>
          <p:cNvPr id="3" name="wk1-title">
            <a:extLst xmlns:a="http://schemas.openxmlformats.org/drawingml/2006/main">
              <a:ext uri="{FF2B5EF4-FFF2-40B4-BE49-F238E27FC236}">
                <a16:creationId xmlns:a16="http://schemas.microsoft.com/office/drawing/2014/main" id="{EEFC638C-8C3C-4003-9DF7-EBB65E1E5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7334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A5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A50000"/>
                </a:solidFill>
                <a:latin typeface="Apple SD Gothic Neo"/>
                <a:ea typeface="Apple SD Gothic Neo"/>
                <a:cs typeface="Apple SD Gothic Neo"/>
              </a:rPr>
              <a:t>다른 것은 목적 한 줄</a:t>
            </a:r>
          </a:p>
        </p:txBody>
      </p:sp>
      <p:sp>
        <p:nvSpPr>
          <p:cNvPr id="4" name="wk1-section">
            <a:extLst xmlns:a="http://schemas.openxmlformats.org/drawingml/2006/main">
              <a:ext uri="{FF2B5EF4-FFF2-40B4-BE49-F238E27FC236}">
                <a16:creationId xmlns:a16="http://schemas.microsoft.com/office/drawing/2014/main" id="{505F9567-DBE5-44AA-8E25-8BB6A8C4C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885825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0206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002060"/>
                </a:solidFill>
                <a:latin typeface="Apple SD Gothic Neo"/>
                <a:ea typeface="Apple SD Gothic Neo"/>
                <a:cs typeface="Apple SD Gothic Neo"/>
              </a:rPr>
              <a:t>BLOCK 2 · REVEAL</a:t>
            </a:r>
          </a:p>
        </p:txBody>
      </p:sp>
      <p:sp>
        <p:nvSpPr>
          <p:cNvPr id="5" name="wk1-quote">
            <a:extLst xmlns:a="http://schemas.openxmlformats.org/drawingml/2006/main">
              <a:ext uri="{FF2B5EF4-FFF2-40B4-BE49-F238E27FC236}">
                <a16:creationId xmlns:a16="http://schemas.microsoft.com/office/drawing/2014/main" id="{B6DE6C07-7E3A-4196-B456-2714CF678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09750"/>
            <a:ext cx="7239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775" b="1">
                <a:solidFill>
                  <a:srgbClr val="A5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75" b="1">
                <a:solidFill>
                  <a:srgbClr val="A50000"/>
                </a:solidFill>
                <a:latin typeface="Apple SD Gothic Neo"/>
                <a:ea typeface="Apple SD Gothic Neo"/>
                <a:cs typeface="Apple SD Gothic Neo"/>
              </a:rPr>
              <a:t>앞부분은 글자 하나까지 같습니다</a:t>
            </a:r>
          </a:p>
        </p:txBody>
      </p:sp>
      <p:sp>
        <p:nvSpPr>
          <p:cNvPr id="6" name="wk1-quote-detail">
            <a:extLst xmlns:a="http://schemas.openxmlformats.org/drawingml/2006/main">
              <a:ext uri="{FF2B5EF4-FFF2-40B4-BE49-F238E27FC236}">
                <a16:creationId xmlns:a16="http://schemas.microsoft.com/office/drawing/2014/main" id="{BD4A91B8-FB58-49CE-98F1-3BE7534A3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857625"/>
            <a:ext cx="67627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>
                <a:solidFill>
                  <a:srgbClr val="66666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>
                <a:solidFill>
                  <a:srgbClr val="666666"/>
                </a:solidFill>
                <a:latin typeface="Apple SD Gothic Neo"/>
                <a:ea typeface="Apple SD Gothic Neo"/>
                <a:cs typeface="Apple SD Gothic Neo"/>
              </a:rPr>
              <a:t>다른 것은 뒤에 붙은 목적 한 줄뿐입니다. 감사 선물이냐, 체험단이냐.</a:t>
            </a:r>
          </a:p>
        </p:txBody>
      </p:sp>
    </p:spTree>
    <p:extLst>
      <p:ext uri="{BB962C8B-B14F-4D97-AF65-F5344CB8AC3E}">
        <p14:creationId xmlns:p14="http://schemas.microsoft.com/office/powerpoint/2010/main" val="186225597"/>
      </p:ext>
    </p:extLst>
  </p:cSld>
</p:sld>
</file>

<file path=ppt/slides/slide4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Number Placeholder 1">
            <a:extLst xmlns:a="http://schemas.openxmlformats.org/drawingml/2006/main">
              <a:ext uri="{FF2B5EF4-FFF2-40B4-BE49-F238E27FC236}">
                <a16:creationId xmlns:a16="http://schemas.microsoft.com/office/drawing/2014/main" id="{7A530F9C-DFE1-0934-66F6-E74036D1F40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CAEC632-A9E6-82AB-6034-3014BC3905A0}" type="slidenum">
              <a:t>41</a:t>
            </a:fld>
            <a:endParaRPr/>
          </a:p>
        </p:txBody>
      </p:sp>
      <p:sp>
        <p:nvSpPr>
          <p:cNvPr id="3" name="wk1-title">
            <a:extLst xmlns:a="http://schemas.openxmlformats.org/drawingml/2006/main">
              <a:ext uri="{FF2B5EF4-FFF2-40B4-BE49-F238E27FC236}">
                <a16:creationId xmlns:a16="http://schemas.microsoft.com/office/drawing/2014/main" id="{6B15FE48-957F-4652-A649-6AA64B7BA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7334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A5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A50000"/>
                </a:solidFill>
                <a:latin typeface="Apple SD Gothic Neo"/>
                <a:ea typeface="Apple SD Gothic Neo"/>
                <a:cs typeface="Apple SD Gothic Neo"/>
              </a:rPr>
              <a:t>관리자가 아는 것</a:t>
            </a:r>
          </a:p>
        </p:txBody>
      </p:sp>
      <p:sp>
        <p:nvSpPr>
          <p:cNvPr id="4" name="wk1-section">
            <a:extLst xmlns:a="http://schemas.openxmlformats.org/drawingml/2006/main">
              <a:ext uri="{FF2B5EF4-FFF2-40B4-BE49-F238E27FC236}">
                <a16:creationId xmlns:a16="http://schemas.microsoft.com/office/drawing/2014/main" id="{03E052E5-2123-4B88-AAD9-01A39AACF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885825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0206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002060"/>
                </a:solidFill>
                <a:latin typeface="Apple SD Gothic Neo"/>
                <a:ea typeface="Apple SD Gothic Neo"/>
                <a:cs typeface="Apple SD Gothic Neo"/>
              </a:rPr>
              <a:t>BLOCK 2 · REVEAL</a:t>
            </a:r>
          </a:p>
        </p:txBody>
      </p:sp>
      <p:sp>
        <p:nvSpPr>
          <p:cNvPr id="5" name="wk1-quote">
            <a:extLst xmlns:a="http://schemas.openxmlformats.org/drawingml/2006/main">
              <a:ext uri="{FF2B5EF4-FFF2-40B4-BE49-F238E27FC236}">
                <a16:creationId xmlns:a16="http://schemas.microsoft.com/office/drawing/2014/main" id="{30B529ED-574A-4F95-BBB5-A42E4ABF3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09750"/>
            <a:ext cx="7239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075" b="1">
                <a:solidFill>
                  <a:srgbClr val="00206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075" b="1">
                <a:solidFill>
                  <a:srgbClr val="002060"/>
                </a:solidFill>
                <a:latin typeface="Apple SD Gothic Neo"/>
                <a:ea typeface="Apple SD Gothic Neo"/>
                <a:cs typeface="Apple SD Gothic Neo"/>
              </a:rPr>
              <a:t>우리 최고 고객 좀 뽑아 봐</a:t>
            </a:r>
          </a:p>
        </p:txBody>
      </p:sp>
      <p:sp>
        <p:nvSpPr>
          <p:cNvPr id="6" name="wk1-quote-detail">
            <a:extLst xmlns:a="http://schemas.openxmlformats.org/drawingml/2006/main">
              <a:ext uri="{FF2B5EF4-FFF2-40B4-BE49-F238E27FC236}">
                <a16:creationId xmlns:a16="http://schemas.microsoft.com/office/drawing/2014/main" id="{2AA16655-5DA1-4CEC-A563-7D787DAD6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857625"/>
            <a:ext cx="67627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66666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>
                <a:solidFill>
                  <a:srgbClr val="666666"/>
                </a:solidFill>
                <a:latin typeface="Apple SD Gothic Neo"/>
                <a:ea typeface="Apple SD Gothic Neo"/>
                <a:cs typeface="Apple SD Gothic Neo"/>
              </a:rPr>
              <a:t>인턴이 어느 쪽으로 물었든, 관리자는 자기가 어느 쪽을 시켰는지 알지 못합니다.</a:t>
            </a:r>
          </a:p>
        </p:txBody>
      </p:sp>
    </p:spTree>
    <p:extLst>
      <p:ext uri="{BB962C8B-B14F-4D97-AF65-F5344CB8AC3E}">
        <p14:creationId xmlns:p14="http://schemas.microsoft.com/office/powerpoint/2010/main" val="186225597"/>
      </p:ext>
    </p:extLst>
  </p:cSld>
</p:sld>
</file>

<file path=ppt/slides/slide4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Number Placeholder 1">
            <a:extLst xmlns:a="http://schemas.openxmlformats.org/drawingml/2006/main">
              <a:ext uri="{FF2B5EF4-FFF2-40B4-BE49-F238E27FC236}">
                <a16:creationId xmlns:a16="http://schemas.microsoft.com/office/drawing/2014/main" id="{7A530F9C-DFE1-0934-66F6-E74036D1F40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75CE1F1-F8E2-E359-8FD1-A9FA98B3A676}" type="slidenum">
              <a:t>42</a:t>
            </a:fld>
            <a:endParaRPr/>
          </a:p>
        </p:txBody>
      </p:sp>
      <p:sp>
        <p:nvSpPr>
          <p:cNvPr id="3" name="wk1-title">
            <a:extLst xmlns:a="http://schemas.openxmlformats.org/drawingml/2006/main">
              <a:ext uri="{FF2B5EF4-FFF2-40B4-BE49-F238E27FC236}">
                <a16:creationId xmlns:a16="http://schemas.microsoft.com/office/drawing/2014/main" id="{FC6B26F2-5549-4D7F-9E91-546C55546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7334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A5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A50000"/>
                </a:solidFill>
                <a:latin typeface="Apple SD Gothic Neo"/>
                <a:ea typeface="Apple SD Gothic Neo"/>
                <a:cs typeface="Apple SD Gothic Neo"/>
              </a:rPr>
              <a:t>감독 격차</a:t>
            </a:r>
          </a:p>
        </p:txBody>
      </p:sp>
      <p:sp>
        <p:nvSpPr>
          <p:cNvPr id="4" name="wk1-section">
            <a:extLst xmlns:a="http://schemas.openxmlformats.org/drawingml/2006/main">
              <a:ext uri="{FF2B5EF4-FFF2-40B4-BE49-F238E27FC236}">
                <a16:creationId xmlns:a16="http://schemas.microsoft.com/office/drawing/2014/main" id="{E60AA83F-7A69-4E58-BB1E-2A131C236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885825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0206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002060"/>
                </a:solidFill>
                <a:latin typeface="Apple SD Gothic Neo"/>
                <a:ea typeface="Apple SD Gothic Neo"/>
                <a:cs typeface="Apple SD Gothic Neo"/>
              </a:rPr>
              <a:t>BLOCK 2 · REVEAL</a:t>
            </a:r>
          </a:p>
        </p:txBody>
      </p:sp>
      <p:sp>
        <p:nvSpPr>
          <p:cNvPr id="5" name="wk1-quote">
            <a:extLst xmlns:a="http://schemas.openxmlformats.org/drawingml/2006/main">
              <a:ext uri="{FF2B5EF4-FFF2-40B4-BE49-F238E27FC236}">
                <a16:creationId xmlns:a16="http://schemas.microsoft.com/office/drawing/2014/main" id="{58A53E96-1A9A-430B-BFAF-F873FB923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285875"/>
            <a:ext cx="7429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A5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1">
                <a:solidFill>
                  <a:srgbClr val="A50000"/>
                </a:solidFill>
                <a:latin typeface="Apple SD Gothic Neo"/>
                <a:ea typeface="Apple SD Gothic Neo"/>
                <a:cs typeface="Apple SD Gothic Neo"/>
              </a:rPr>
              <a:t>이 차이를 알아채신 분?</a:t>
            </a:r>
          </a:p>
          <a:p xmlns:a="http://schemas.openxmlformats.org/drawingml/2006/main">
            <a:pPr algn="ctr">
              <a:defRPr sz="2175" b="1">
                <a:solidFill>
                  <a:srgbClr val="A5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1">
                <a:solidFill>
                  <a:srgbClr val="A50000"/>
                </a:solidFill>
                <a:latin typeface="Apple SD Gothic Neo"/>
                <a:ea typeface="Apple SD Gothic Neo"/>
                <a:cs typeface="Apple SD Gothic Neo"/>
              </a:rPr>
              <a:t>그게 이 과목이 15주 동안 기르려는 능력입니다.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2175" b="1">
                <a:solidFill>
                  <a:srgbClr val="A5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1">
                <a:solidFill>
                  <a:srgbClr val="A50000"/>
                </a:solidFill>
                <a:latin typeface="Apple SD Gothic Neo"/>
                <a:ea typeface="Apple SD Gothic Neo"/>
                <a:cs typeface="Apple SD Gothic Neo"/>
              </a:rPr>
              <a:t>못 알아채신 분?</a:t>
            </a:r>
          </a:p>
          <a:p xmlns:a="http://schemas.openxmlformats.org/drawingml/2006/main">
            <a:pPr algn="ctr">
              <a:defRPr sz="2175" b="1">
                <a:solidFill>
                  <a:srgbClr val="A5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1">
                <a:solidFill>
                  <a:srgbClr val="A50000"/>
                </a:solidFill>
                <a:latin typeface="Apple SD Gothic Neo"/>
                <a:ea typeface="Apple SD Gothic Neo"/>
                <a:cs typeface="Apple SD Gothic Neo"/>
              </a:rPr>
              <a:t>오늘이 그 출발점입니다.</a:t>
            </a:r>
          </a:p>
        </p:txBody>
      </p:sp>
      <p:sp>
        <p:nvSpPr>
          <p:cNvPr id="6" name="wk1-quote-detail">
            <a:extLst xmlns:a="http://schemas.openxmlformats.org/drawingml/2006/main">
              <a:ext uri="{FF2B5EF4-FFF2-40B4-BE49-F238E27FC236}">
                <a16:creationId xmlns:a16="http://schemas.microsoft.com/office/drawing/2014/main" id="{1902392A-1358-4113-B02A-53F8DFB22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762500"/>
            <a:ext cx="6667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>
                <a:solidFill>
                  <a:srgbClr val="66666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>
                <a:solidFill>
                  <a:srgbClr val="666666"/>
                </a:solidFill>
                <a:latin typeface="Apple SD Gothic Neo"/>
                <a:ea typeface="Apple SD Gothic Neo"/>
                <a:cs typeface="Apple SD Gothic Neo"/>
              </a:rPr>
              <a:t>왜 목적 한 줄이 분석을 바꾸는지는 오늘 설명하지 않습니다.</a:t>
            </a:r>
          </a:p>
        </p:txBody>
      </p:sp>
    </p:spTree>
    <p:extLst>
      <p:ext uri="{BB962C8B-B14F-4D97-AF65-F5344CB8AC3E}">
        <p14:creationId xmlns:p14="http://schemas.microsoft.com/office/powerpoint/2010/main" val="186225597"/>
      </p:ext>
    </p:extLst>
  </p:cSld>
</p:sld>
</file>

<file path=ppt/slides/slide4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Number Placeholder 1">
            <a:extLst xmlns:a="http://schemas.openxmlformats.org/drawingml/2006/main">
              <a:ext uri="{FF2B5EF4-FFF2-40B4-BE49-F238E27FC236}">
                <a16:creationId xmlns:a16="http://schemas.microsoft.com/office/drawing/2014/main" id="{7A530F9C-DFE1-0934-66F6-E74036D1F40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70EE3B2-1325-F8E9-D276-8EA80C32ED19}" type="slidenum">
              <a:t>43</a:t>
            </a:fld>
            <a:endParaRPr/>
          </a:p>
        </p:txBody>
      </p:sp>
      <p:sp>
        <p:nvSpPr>
          <p:cNvPr id="3" name="wk1-title">
            <a:extLst xmlns:a="http://schemas.openxmlformats.org/drawingml/2006/main">
              <a:ext uri="{FF2B5EF4-FFF2-40B4-BE49-F238E27FC236}">
                <a16:creationId xmlns:a16="http://schemas.microsoft.com/office/drawing/2014/main" id="{0C9C812E-34D3-434F-AE13-924728F01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7334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A5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A50000"/>
                </a:solidFill>
                <a:latin typeface="Apple SD Gothic Neo"/>
                <a:ea typeface="Apple SD Gothic Neo"/>
                <a:cs typeface="Apple SD Gothic Neo"/>
              </a:rPr>
              <a:t>여러분의 질문이 이 과목의 목차</a:t>
            </a:r>
          </a:p>
        </p:txBody>
      </p:sp>
      <p:sp>
        <p:nvSpPr>
          <p:cNvPr id="4" name="wk1-section">
            <a:extLst xmlns:a="http://schemas.openxmlformats.org/drawingml/2006/main">
              <a:ext uri="{FF2B5EF4-FFF2-40B4-BE49-F238E27FC236}">
                <a16:creationId xmlns:a16="http://schemas.microsoft.com/office/drawing/2014/main" id="{636BC8F5-3AAA-4913-A1E5-336E9CCFB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885825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0206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002060"/>
                </a:solidFill>
                <a:latin typeface="Apple SD Gothic Neo"/>
                <a:ea typeface="Apple SD Gothic Neo"/>
                <a:cs typeface="Apple SD Gothic Neo"/>
              </a:rPr>
              <a:t>ROADMAP · AFTER REVEAL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19125" y="1381125"/>
          <a:ext xmlns:a="http://schemas.openxmlformats.org/drawingml/2006/main" cx="7905750" cy="4000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572000"/>
                <a:gridCol w="3333750"/>
              </a:tblGrid>
              <a:tr h="666750">
                <a:tc>
                  <a:txBody>
                    <a:bodyPr lIns="28575" tIns="19050" rIns="28575" bIns="19050">
                      <a:normAutofit/>
                    </a:bodyPr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여러분이 던진 질문</a:t>
                      </a:r>
                    </a:p>
                  </a:txBody>
                  <a:tcPr marL="91440" marR="91440" marT="45720" marB="45720" anchor="ctr">
                    <a:solidFill>
                      <a:srgbClr val="A50000"/>
                    </a:solidFill>
                  </a:tcPr>
                </a:tc>
                <a:tc>
                  <a:txBody>
                    <a:bodyPr lIns="28575" tIns="19050" rIns="28575" bIns="19050">
                      <a:normAutofit/>
                    </a:bodyPr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답하는 주</a:t>
                      </a:r>
                    </a:p>
                  </a:txBody>
                  <a:tcPr marL="91440" marR="91440" marT="45720" marB="45720" anchor="ctr">
                    <a:solidFill>
                      <a:srgbClr val="A50000"/>
                    </a:solidFill>
                  </a:tcPr>
                </a:tc>
              </a:tr>
              <a:tr h="666750">
                <a:tc>
                  <a:txBody>
                    <a:bodyPr lIns="28575" tIns="19050" rIns="28575" bIns="19050">
                      <a:normAutofit/>
                    </a:bodyPr>
                    <a:lstStyle/>
                    <a:p>
                      <a:pPr algn="l"/>
                      <a:r>
                        <a:rPr sz="1425" b="0">
                          <a:solidFill>
                            <a:srgbClr val="33333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데이터가 어떻게 만들어졌나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28575" tIns="19050" rIns="28575" bIns="19050">
                      <a:normAutofit/>
                    </a:bodyPr>
                    <a:lstStyle/>
                    <a:p>
                      <a:pPr algn="l"/>
                      <a:r>
                        <a:rPr sz="1425" b="0">
                          <a:solidFill>
                            <a:srgbClr val="33333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5주 · 데이터 관리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 lIns="28575" tIns="19050" rIns="28575" bIns="19050">
                      <a:normAutofit/>
                    </a:bodyPr>
                    <a:lstStyle/>
                    <a:p>
                      <a:pPr algn="l"/>
                      <a:r>
                        <a:rPr sz="1425" b="0">
                          <a:solidFill>
                            <a:srgbClr val="33333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어떻게 계산했는지 읽을 수 있나</a:t>
                      </a:r>
                    </a:p>
                  </a:txBody>
                  <a:tcPr marL="91440" marR="91440" marT="45720" marB="45720" anchor="ctr">
                    <a:solidFill>
                      <a:srgbClr val="F3F4F6"/>
                    </a:solidFill>
                  </a:tcPr>
                </a:tc>
                <a:tc>
                  <a:txBody>
                    <a:bodyPr lIns="28575" tIns="19050" rIns="28575" bIns="19050">
                      <a:normAutofit/>
                    </a:bodyPr>
                    <a:lstStyle/>
                    <a:p>
                      <a:pPr algn="l"/>
                      <a:r>
                        <a:rPr sz="1425" b="0">
                          <a:solidFill>
                            <a:srgbClr val="33333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3주 · R 읽기 도구</a:t>
                      </a:r>
                    </a:p>
                  </a:txBody>
                  <a:tcPr marL="91440" marR="91440" marT="45720" marB="45720" anchor="ctr">
                    <a:solidFill>
                      <a:srgbClr val="F3F4F6"/>
                    </a:solidFill>
                  </a:tcPr>
                </a:tc>
              </a:tr>
              <a:tr h="666750">
                <a:tc>
                  <a:txBody>
                    <a:bodyPr lIns="28575" tIns="19050" rIns="28575" bIns="19050">
                      <a:normAutofit/>
                    </a:bodyPr>
                    <a:lstStyle/>
                    <a:p>
                      <a:pPr algn="l"/>
                      <a:r>
                        <a:rPr sz="1425" b="0">
                          <a:solidFill>
                            <a:srgbClr val="33333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이런 분석에는 어떤 종류가 있나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28575" tIns="19050" rIns="28575" bIns="19050">
                      <a:normAutofit/>
                    </a:bodyPr>
                    <a:lstStyle/>
                    <a:p>
                      <a:pPr algn="l"/>
                      <a:r>
                        <a:rPr sz="1425" b="0">
                          <a:solidFill>
                            <a:srgbClr val="33333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4주 · 데이터과학 개념 지도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 lIns="28575" tIns="19050" rIns="28575" bIns="19050">
                      <a:normAutofit/>
                    </a:bodyPr>
                    <a:lstStyle/>
                    <a:p>
                      <a:pPr algn="l"/>
                      <a:r>
                        <a:rPr sz="1425" b="0">
                          <a:solidFill>
                            <a:srgbClr val="33333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기법마다 무엇을 조심해야 하나</a:t>
                      </a:r>
                    </a:p>
                  </a:txBody>
                  <a:tcPr marL="91440" marR="91440" marT="45720" marB="45720" anchor="ctr">
                    <a:solidFill>
                      <a:srgbClr val="F3F4F6"/>
                    </a:solidFill>
                  </a:tcPr>
                </a:tc>
                <a:tc>
                  <a:txBody>
                    <a:bodyPr lIns="28575" tIns="19050" rIns="28575" bIns="19050">
                      <a:normAutofit/>
                    </a:bodyPr>
                    <a:lstStyle/>
                    <a:p>
                      <a:pPr algn="l"/>
                      <a:r>
                        <a:rPr sz="1425" b="0">
                          <a:solidFill>
                            <a:srgbClr val="33333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8–13주 · 여섯 기법 감독</a:t>
                      </a:r>
                    </a:p>
                  </a:txBody>
                  <a:tcPr marL="91440" marR="91440" marT="45720" marB="45720" anchor="ctr">
                    <a:solidFill>
                      <a:srgbClr val="F3F4F6"/>
                    </a:solidFill>
                  </a:tcPr>
                </a:tc>
              </a:tr>
              <a:tr h="666750">
                <a:tc>
                  <a:txBody>
                    <a:bodyPr lIns="28575" tIns="19050" rIns="28575" bIns="19050">
                      <a:normAutofit/>
                    </a:bodyPr>
                    <a:lstStyle/>
                    <a:p>
                      <a:pPr algn="l"/>
                      <a:r>
                        <a:rPr sz="1425" b="0">
                          <a:solidFill>
                            <a:srgbClr val="33333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전부 합쳐 실제로 감독하려면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28575" tIns="19050" rIns="28575" bIns="19050">
                      <a:normAutofit/>
                    </a:bodyPr>
                    <a:lstStyle/>
                    <a:p>
                      <a:pPr algn="l"/>
                      <a:r>
                        <a:rPr sz="1425" b="0">
                          <a:solidFill>
                            <a:srgbClr val="33333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14주 · 캡스톤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6225597"/>
      </p:ext>
    </p:extLst>
  </p:cSld>
</p:sld>
</file>

<file path=ppt/slides/slide4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Number Placeholder 1">
            <a:extLst xmlns:a="http://schemas.openxmlformats.org/drawingml/2006/main">
              <a:ext uri="{FF2B5EF4-FFF2-40B4-BE49-F238E27FC236}">
                <a16:creationId xmlns:a16="http://schemas.microsoft.com/office/drawing/2014/main" id="{7A530F9C-DFE1-0934-66F6-E74036D1F40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110800D-D5E6-B48B-B335-F070B0EAA3B9}" type="slidenum">
              <a:t>44</a:t>
            </a:fld>
            <a:endParaRPr/>
          </a:p>
        </p:txBody>
      </p:sp>
      <p:sp>
        <p:nvSpPr>
          <p:cNvPr id="3" name="wk1-title">
            <a:extLst xmlns:a="http://schemas.openxmlformats.org/drawingml/2006/main">
              <a:ext uri="{FF2B5EF4-FFF2-40B4-BE49-F238E27FC236}">
                <a16:creationId xmlns:a16="http://schemas.microsoft.com/office/drawing/2014/main" id="{AA910A77-E69C-4792-BCD7-226B77E34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7334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A5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A50000"/>
                </a:solidFill>
                <a:latin typeface="Apple SD Gothic Neo"/>
                <a:ea typeface="Apple SD Gothic Neo"/>
                <a:cs typeface="Apple SD Gothic Neo"/>
              </a:rPr>
              <a:t>16주 주제 로드맵</a:t>
            </a:r>
          </a:p>
        </p:txBody>
      </p:sp>
      <p:sp>
        <p:nvSpPr>
          <p:cNvPr id="4" name="wk1-section">
            <a:extLst xmlns:a="http://schemas.openxmlformats.org/drawingml/2006/main">
              <a:ext uri="{FF2B5EF4-FFF2-40B4-BE49-F238E27FC236}">
                <a16:creationId xmlns:a16="http://schemas.microsoft.com/office/drawing/2014/main" id="{11BF9069-4AC9-40D4-A92B-CDA970B71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885825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0206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002060"/>
                </a:solidFill>
                <a:latin typeface="Apple SD Gothic Neo"/>
                <a:ea typeface="Apple SD Gothic Neo"/>
                <a:cs typeface="Apple SD Gothic Neo"/>
              </a:rPr>
              <a:t>ROADMAP · TOPICS ONLY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428625" y="1285875"/>
          <a:ext xmlns:a="http://schemas.openxmlformats.org/drawingml/2006/main" cx="8286750" cy="4381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619125"/>
                <a:gridCol w="3524250"/>
                <a:gridCol w="619125"/>
                <a:gridCol w="3524250"/>
              </a:tblGrid>
              <a:tr h="486833">
                <a:tc>
                  <a:txBody>
                    <a:bodyPr lIns="28575" tIns="19050" rIns="28575" bIns="19050">
                      <a:norm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주</a:t>
                      </a:r>
                    </a:p>
                  </a:txBody>
                  <a:tcPr marL="91440" marR="91440" marT="45720" marB="45720" anchor="ctr">
                    <a:solidFill>
                      <a:srgbClr val="A50000"/>
                    </a:solidFill>
                  </a:tcPr>
                </a:tc>
                <a:tc>
                  <a:txBody>
                    <a:bodyPr lIns="28575" tIns="19050" rIns="28575" bIns="19050">
                      <a:normAutofit/>
                    </a:bodyPr>
                    <a:lstStyle/>
                    <a:p>
                      <a:pPr algn="l"/>
                      <a:r>
                        <a:rPr sz="135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주제</a:t>
                      </a:r>
                    </a:p>
                  </a:txBody>
                  <a:tcPr marL="91440" marR="91440" marT="45720" marB="45720" anchor="ctr">
                    <a:solidFill>
                      <a:srgbClr val="A50000"/>
                    </a:solidFill>
                  </a:tcPr>
                </a:tc>
                <a:tc>
                  <a:txBody>
                    <a:bodyPr lIns="28575" tIns="19050" rIns="28575" bIns="19050">
                      <a:norm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주</a:t>
                      </a:r>
                    </a:p>
                  </a:txBody>
                  <a:tcPr marL="91440" marR="91440" marT="45720" marB="45720" anchor="ctr">
                    <a:solidFill>
                      <a:srgbClr val="A50000"/>
                    </a:solidFill>
                  </a:tcPr>
                </a:tc>
                <a:tc>
                  <a:txBody>
                    <a:bodyPr lIns="28575" tIns="19050" rIns="28575" bIns="19050">
                      <a:normAutofit/>
                    </a:bodyPr>
                    <a:lstStyle/>
                    <a:p>
                      <a:pPr algn="l"/>
                      <a:r>
                        <a:rPr sz="135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주제</a:t>
                      </a:r>
                    </a:p>
                  </a:txBody>
                  <a:tcPr marL="91440" marR="91440" marT="45720" marB="45720" anchor="ctr">
                    <a:solidFill>
                      <a:srgbClr val="A50000"/>
                    </a:solidFill>
                  </a:tcPr>
                </a:tc>
              </a:tr>
              <a:tr h="486833">
                <a:tc>
                  <a:txBody>
                    <a:bodyPr lIns="28575" tIns="19050" rIns="28575" bIns="19050">
                      <a:norm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33333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28575" tIns="19050" rIns="28575" bIns="19050">
                      <a:normAutofit/>
                    </a:bodyPr>
                    <a:lstStyle/>
                    <a:p>
                      <a:pPr algn="l"/>
                      <a:r>
                        <a:rPr sz="1275" b="0">
                          <a:solidFill>
                            <a:srgbClr val="33333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왜 관리자가 감독하는가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28575" tIns="19050" rIns="28575" bIns="19050">
                      <a:norm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33333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8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28575" tIns="19050" rIns="28575" bIns="19050">
                      <a:normAutofit/>
                    </a:bodyPr>
                    <a:lstStyle/>
                    <a:p>
                      <a:pPr algn="l"/>
                      <a:r>
                        <a:rPr sz="1275" b="0">
                          <a:solidFill>
                            <a:srgbClr val="33333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여섯 기법 감독 시작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86833">
                <a:tc>
                  <a:txBody>
                    <a:bodyPr lIns="28575" tIns="19050" rIns="28575" bIns="19050">
                      <a:norm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33333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2</a:t>
                      </a:r>
                    </a:p>
                  </a:txBody>
                  <a:tcPr marL="91440" marR="91440" marT="45720" marB="45720" anchor="ctr">
                    <a:solidFill>
                      <a:srgbClr val="F3F4F6"/>
                    </a:solidFill>
                  </a:tcPr>
                </a:tc>
                <a:tc>
                  <a:txBody>
                    <a:bodyPr lIns="28575" tIns="19050" rIns="28575" bIns="19050">
                      <a:normAutofit/>
                    </a:bodyPr>
                    <a:lstStyle/>
                    <a:p>
                      <a:pPr algn="l"/>
                      <a:r>
                        <a:rPr sz="1275" b="0">
                          <a:solidFill>
                            <a:srgbClr val="33333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빅데이터·비즈니스 애널리틱스</a:t>
                      </a:r>
                    </a:p>
                  </a:txBody>
                  <a:tcPr marL="91440" marR="91440" marT="45720" marB="45720" anchor="ctr">
                    <a:solidFill>
                      <a:srgbClr val="F3F4F6"/>
                    </a:solidFill>
                  </a:tcPr>
                </a:tc>
                <a:tc>
                  <a:txBody>
                    <a:bodyPr lIns="28575" tIns="19050" rIns="28575" bIns="19050">
                      <a:norm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33333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9</a:t>
                      </a:r>
                    </a:p>
                  </a:txBody>
                  <a:tcPr marL="91440" marR="91440" marT="45720" marB="45720" anchor="ctr">
                    <a:solidFill>
                      <a:srgbClr val="F3F4F6"/>
                    </a:solidFill>
                  </a:tcPr>
                </a:tc>
                <a:tc>
                  <a:txBody>
                    <a:bodyPr lIns="28575" tIns="19050" rIns="28575" bIns="19050">
                      <a:normAutofit/>
                    </a:bodyPr>
                    <a:lstStyle/>
                    <a:p>
                      <a:pPr algn="l"/>
                      <a:r>
                        <a:rPr sz="1275" b="0">
                          <a:solidFill>
                            <a:srgbClr val="33333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여섯 기법 감독</a:t>
                      </a:r>
                    </a:p>
                  </a:txBody>
                  <a:tcPr marL="91440" marR="91440" marT="45720" marB="45720" anchor="ctr">
                    <a:solidFill>
                      <a:srgbClr val="F3F4F6"/>
                    </a:solidFill>
                  </a:tcPr>
                </a:tc>
              </a:tr>
              <a:tr h="486833">
                <a:tc>
                  <a:txBody>
                    <a:bodyPr lIns="28575" tIns="19050" rIns="28575" bIns="19050">
                      <a:norm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33333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3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28575" tIns="19050" rIns="28575" bIns="19050">
                      <a:normAutofit/>
                    </a:bodyPr>
                    <a:lstStyle/>
                    <a:p>
                      <a:pPr algn="l"/>
                      <a:r>
                        <a:rPr sz="1275" b="0">
                          <a:solidFill>
                            <a:srgbClr val="33333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R 읽기 도구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28575" tIns="19050" rIns="28575" bIns="19050">
                      <a:norm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33333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10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28575" tIns="19050" rIns="28575" bIns="19050">
                      <a:normAutofit/>
                    </a:bodyPr>
                    <a:lstStyle/>
                    <a:p>
                      <a:pPr algn="l"/>
                      <a:r>
                        <a:rPr sz="1275" b="0">
                          <a:solidFill>
                            <a:srgbClr val="33333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여섯 기법 감독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86833">
                <a:tc>
                  <a:txBody>
                    <a:bodyPr lIns="28575" tIns="19050" rIns="28575" bIns="19050">
                      <a:norm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33333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4</a:t>
                      </a:r>
                    </a:p>
                  </a:txBody>
                  <a:tcPr marL="91440" marR="91440" marT="45720" marB="45720" anchor="ctr">
                    <a:solidFill>
                      <a:srgbClr val="F3F4F6"/>
                    </a:solidFill>
                  </a:tcPr>
                </a:tc>
                <a:tc>
                  <a:txBody>
                    <a:bodyPr lIns="28575" tIns="19050" rIns="28575" bIns="19050">
                      <a:normAutofit/>
                    </a:bodyPr>
                    <a:lstStyle/>
                    <a:p>
                      <a:pPr algn="l"/>
                      <a:r>
                        <a:rPr sz="1275" b="0">
                          <a:solidFill>
                            <a:srgbClr val="33333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데이터과학 개념 지도</a:t>
                      </a:r>
                    </a:p>
                  </a:txBody>
                  <a:tcPr marL="91440" marR="91440" marT="45720" marB="45720" anchor="ctr">
                    <a:solidFill>
                      <a:srgbClr val="F3F4F6"/>
                    </a:solidFill>
                  </a:tcPr>
                </a:tc>
                <a:tc>
                  <a:txBody>
                    <a:bodyPr lIns="28575" tIns="19050" rIns="28575" bIns="19050">
                      <a:norm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33333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11</a:t>
                      </a:r>
                    </a:p>
                  </a:txBody>
                  <a:tcPr marL="91440" marR="91440" marT="45720" marB="45720" anchor="ctr">
                    <a:solidFill>
                      <a:srgbClr val="F3F4F6"/>
                    </a:solidFill>
                  </a:tcPr>
                </a:tc>
                <a:tc>
                  <a:txBody>
                    <a:bodyPr lIns="28575" tIns="19050" rIns="28575" bIns="19050">
                      <a:normAutofit/>
                    </a:bodyPr>
                    <a:lstStyle/>
                    <a:p>
                      <a:pPr algn="l"/>
                      <a:r>
                        <a:rPr sz="1275" b="0">
                          <a:solidFill>
                            <a:srgbClr val="33333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여섯 기법 감독</a:t>
                      </a:r>
                    </a:p>
                  </a:txBody>
                  <a:tcPr marL="91440" marR="91440" marT="45720" marB="45720" anchor="ctr">
                    <a:solidFill>
                      <a:srgbClr val="F3F4F6"/>
                    </a:solidFill>
                  </a:tcPr>
                </a:tc>
              </a:tr>
              <a:tr h="486833">
                <a:tc>
                  <a:txBody>
                    <a:bodyPr lIns="28575" tIns="19050" rIns="28575" bIns="19050">
                      <a:norm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33333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28575" tIns="19050" rIns="28575" bIns="19050">
                      <a:normAutofit/>
                    </a:bodyPr>
                    <a:lstStyle/>
                    <a:p>
                      <a:pPr algn="l"/>
                      <a:r>
                        <a:rPr sz="1275" b="0">
                          <a:solidFill>
                            <a:srgbClr val="33333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데이터 관리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28575" tIns="19050" rIns="28575" bIns="19050">
                      <a:norm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33333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12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28575" tIns="19050" rIns="28575" bIns="19050">
                      <a:normAutofit/>
                    </a:bodyPr>
                    <a:lstStyle/>
                    <a:p>
                      <a:pPr algn="l"/>
                      <a:r>
                        <a:rPr sz="1275" b="0">
                          <a:solidFill>
                            <a:srgbClr val="33333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여섯 기법 감독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86833">
                <a:tc>
                  <a:txBody>
                    <a:bodyPr lIns="28575" tIns="19050" rIns="28575" bIns="19050">
                      <a:norm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33333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6</a:t>
                      </a:r>
                    </a:p>
                  </a:txBody>
                  <a:tcPr marL="91440" marR="91440" marT="45720" marB="45720" anchor="ctr">
                    <a:solidFill>
                      <a:srgbClr val="F3F4F6"/>
                    </a:solidFill>
                  </a:tcPr>
                </a:tc>
                <a:tc>
                  <a:txBody>
                    <a:bodyPr lIns="28575" tIns="19050" rIns="28575" bIns="19050">
                      <a:normAutofit/>
                    </a:bodyPr>
                    <a:lstStyle/>
                    <a:p>
                      <a:pPr algn="l"/>
                      <a:r>
                        <a:rPr sz="1275" b="0">
                          <a:solidFill>
                            <a:srgbClr val="33333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좋은 분석이란 무엇인가</a:t>
                      </a:r>
                    </a:p>
                    <a:p>
                      <a:pPr algn="l"/>
                      <a:r>
                        <a:rPr sz="1275" b="0">
                          <a:solidFill>
                            <a:srgbClr val="33333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모델의 기준·비즈니스 가치</a:t>
                      </a:r>
                    </a:p>
                  </a:txBody>
                  <a:tcPr marL="91440" marR="91440" marT="45720" marB="45720" anchor="ctr">
                    <a:solidFill>
                      <a:srgbClr val="F3F4F6"/>
                    </a:solidFill>
                  </a:tcPr>
                </a:tc>
                <a:tc>
                  <a:txBody>
                    <a:bodyPr lIns="28575" tIns="19050" rIns="28575" bIns="19050">
                      <a:norm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33333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13</a:t>
                      </a:r>
                    </a:p>
                  </a:txBody>
                  <a:tcPr marL="91440" marR="91440" marT="45720" marB="45720" anchor="ctr">
                    <a:solidFill>
                      <a:srgbClr val="F3F4F6"/>
                    </a:solidFill>
                  </a:tcPr>
                </a:tc>
                <a:tc>
                  <a:txBody>
                    <a:bodyPr lIns="28575" tIns="19050" rIns="28575" bIns="19050">
                      <a:normAutofit/>
                    </a:bodyPr>
                    <a:lstStyle/>
                    <a:p>
                      <a:pPr algn="l"/>
                      <a:r>
                        <a:rPr sz="1275" b="0">
                          <a:solidFill>
                            <a:srgbClr val="33333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여섯 기법 감독</a:t>
                      </a:r>
                    </a:p>
                  </a:txBody>
                  <a:tcPr marL="91440" marR="91440" marT="45720" marB="45720" anchor="ctr">
                    <a:solidFill>
                      <a:srgbClr val="F3F4F6"/>
                    </a:solidFill>
                  </a:tcPr>
                </a:tc>
              </a:tr>
              <a:tr h="486833">
                <a:tc>
                  <a:txBody>
                    <a:bodyPr lIns="28575" tIns="19050" rIns="28575" bIns="19050">
                      <a:norm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33333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7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28575" tIns="19050" rIns="28575" bIns="19050">
                      <a:normAutofit/>
                    </a:bodyPr>
                    <a:lstStyle/>
                    <a:p>
                      <a:pPr algn="l"/>
                      <a:r>
                        <a:rPr sz="1275" b="0">
                          <a:solidFill>
                            <a:srgbClr val="33333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복습 · 중간고사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28575" tIns="19050" rIns="28575" bIns="19050">
                      <a:norm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33333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14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28575" tIns="19050" rIns="28575" bIns="19050">
                      <a:normAutofit/>
                    </a:bodyPr>
                    <a:lstStyle/>
                    <a:p>
                      <a:pPr algn="l"/>
                      <a:r>
                        <a:rPr sz="1275" b="0">
                          <a:solidFill>
                            <a:srgbClr val="33333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AI 감독 캡스톤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86833">
                <a:tc>
                  <a:txBody>
                    <a:bodyPr lIns="28575" tIns="19050" rIns="28575" bIns="19050">
                      <a:norm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33333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15</a:t>
                      </a:r>
                    </a:p>
                  </a:txBody>
                  <a:tcPr marL="91440" marR="91440" marT="45720" marB="45720" anchor="ctr">
                    <a:solidFill>
                      <a:srgbClr val="F3F4F6"/>
                    </a:solidFill>
                  </a:tcPr>
                </a:tc>
                <a:tc>
                  <a:txBody>
                    <a:bodyPr lIns="28575" tIns="19050" rIns="28575" bIns="19050">
                      <a:normAutofit/>
                    </a:bodyPr>
                    <a:lstStyle/>
                    <a:p>
                      <a:pPr algn="l"/>
                      <a:r>
                        <a:rPr sz="1275" b="0">
                          <a:solidFill>
                            <a:srgbClr val="33333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복습</a:t>
                      </a:r>
                    </a:p>
                  </a:txBody>
                  <a:tcPr marL="91440" marR="91440" marT="45720" marB="45720" anchor="ctr">
                    <a:solidFill>
                      <a:srgbClr val="F3F4F6"/>
                    </a:solidFill>
                  </a:tcPr>
                </a:tc>
                <a:tc>
                  <a:txBody>
                    <a:bodyPr lIns="28575" tIns="19050" rIns="28575" bIns="19050">
                      <a:norm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33333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16</a:t>
                      </a:r>
                    </a:p>
                  </a:txBody>
                  <a:tcPr marL="91440" marR="91440" marT="45720" marB="45720" anchor="ctr">
                    <a:solidFill>
                      <a:srgbClr val="F3F4F6"/>
                    </a:solidFill>
                  </a:tcPr>
                </a:tc>
                <a:tc>
                  <a:txBody>
                    <a:bodyPr lIns="28575" tIns="19050" rIns="28575" bIns="19050">
                      <a:normAutofit/>
                    </a:bodyPr>
                    <a:lstStyle/>
                    <a:p>
                      <a:pPr algn="l"/>
                      <a:r>
                        <a:rPr sz="1275" b="0">
                          <a:solidFill>
                            <a:srgbClr val="33333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기말고사</a:t>
                      </a:r>
                    </a:p>
                  </a:txBody>
                  <a:tcPr marL="91440" marR="91440" marT="45720" marB="45720" anchor="ctr"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  <p:sp>
        <p:nvSpPr>
          <p:cNvPr id="6" name="roadmap-caveat">
            <a:extLst xmlns:a="http://schemas.openxmlformats.org/drawingml/2006/main">
              <a:ext uri="{FF2B5EF4-FFF2-40B4-BE49-F238E27FC236}">
                <a16:creationId xmlns:a16="http://schemas.microsoft.com/office/drawing/2014/main" id="{3405D25D-6665-4265-B789-6183C5485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810250"/>
            <a:ext cx="723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66666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>
                <a:solidFill>
                  <a:srgbClr val="666666"/>
                </a:solidFill>
                <a:latin typeface="Apple SD Gothic Neo"/>
                <a:ea typeface="Apple SD Gothic Neo"/>
                <a:cs typeface="Apple SD Gothic Neo"/>
              </a:rPr>
              <a:t>주 번호는 강의 계획의 순서입니다. 정확한 주차는 등록처 학사일정으로 확정합니다.</a:t>
            </a:r>
          </a:p>
        </p:txBody>
      </p:sp>
    </p:spTree>
    <p:extLst>
      <p:ext uri="{BB962C8B-B14F-4D97-AF65-F5344CB8AC3E}">
        <p14:creationId xmlns:p14="http://schemas.microsoft.com/office/powerpoint/2010/main" val="186225597"/>
      </p:ext>
    </p:extLst>
  </p:cSld>
</p:sld>
</file>

<file path=ppt/slides/slide4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Number Placeholder 1">
            <a:extLst xmlns:a="http://schemas.openxmlformats.org/drawingml/2006/main">
              <a:ext uri="{FF2B5EF4-FFF2-40B4-BE49-F238E27FC236}">
                <a16:creationId xmlns:a16="http://schemas.microsoft.com/office/drawing/2014/main" id="{7A530F9C-DFE1-0934-66F6-E74036D1F40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AE060EEA-E29B-CF3D-E7B7-BE01DFE3A2D2}" type="slidenum">
              <a:t>45</a:t>
            </a:fld>
            <a:endParaRPr/>
          </a:p>
        </p:txBody>
      </p:sp>
      <p:sp>
        <p:nvSpPr>
          <p:cNvPr id="3" name="wk1-title">
            <a:extLst xmlns:a="http://schemas.openxmlformats.org/drawingml/2006/main">
              <a:ext uri="{FF2B5EF4-FFF2-40B4-BE49-F238E27FC236}">
                <a16:creationId xmlns:a16="http://schemas.microsoft.com/office/drawing/2014/main" id="{3C0F7227-4FE3-4DD9-8ECD-E7D1895C0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7334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A5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A50000"/>
                </a:solidFill>
                <a:latin typeface="Apple SD Gothic Neo"/>
                <a:ea typeface="Apple SD Gothic Neo"/>
                <a:cs typeface="Apple SD Gothic Neo"/>
              </a:rPr>
              <a:t>16주의 세 단계</a:t>
            </a:r>
          </a:p>
        </p:txBody>
      </p:sp>
      <p:sp>
        <p:nvSpPr>
          <p:cNvPr id="4" name="wk1-section">
            <a:extLst xmlns:a="http://schemas.openxmlformats.org/drawingml/2006/main">
              <a:ext uri="{FF2B5EF4-FFF2-40B4-BE49-F238E27FC236}">
                <a16:creationId xmlns:a16="http://schemas.microsoft.com/office/drawing/2014/main" id="{D8E907FB-58D8-49C6-A291-56A375D91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885825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0206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002060"/>
                </a:solidFill>
                <a:latin typeface="Apple SD Gothic Neo"/>
                <a:ea typeface="Apple SD Gothic Neo"/>
                <a:cs typeface="Apple SD Gothic Neo"/>
              </a:rPr>
              <a:t>ROADMAP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428625" y="1714500"/>
          <a:ext xmlns:a="http://schemas.openxmlformats.org/drawingml/2006/main" cx="8286750" cy="3143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62250"/>
                <a:gridCol w="2762250"/>
                <a:gridCol w="2762250"/>
              </a:tblGrid>
              <a:tr h="1571625">
                <a:tc>
                  <a:txBody>
                    <a:bodyPr lIns="28575" tIns="19050" rIns="28575" bIns="19050">
                      <a:norm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1–2주 · 왜 그리고 무엇</a:t>
                      </a:r>
                    </a:p>
                  </a:txBody>
                  <a:tcPr marL="91440" marR="91440" marT="45720" marB="45720" anchor="ctr">
                    <a:solidFill>
                      <a:srgbClr val="A50000"/>
                    </a:solidFill>
                  </a:tcPr>
                </a:tc>
                <a:tc>
                  <a:txBody>
                    <a:bodyPr lIns="28575" tIns="19050" rIns="28575" bIns="19050">
                      <a:norm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3–6주 · 도구</a:t>
                      </a:r>
                    </a:p>
                  </a:txBody>
                  <a:tcPr marL="91440" marR="91440" marT="45720" marB="45720" anchor="ctr">
                    <a:solidFill>
                      <a:srgbClr val="A50000"/>
                    </a:solidFill>
                  </a:tcPr>
                </a:tc>
                <a:tc>
                  <a:txBody>
                    <a:bodyPr lIns="28575" tIns="19050" rIns="28575" bIns="19050">
                      <a:norm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8–14주 · 감독</a:t>
                      </a:r>
                    </a:p>
                  </a:txBody>
                  <a:tcPr marL="91440" marR="91440" marT="45720" marB="45720" anchor="ctr">
                    <a:solidFill>
                      <a:srgbClr val="A50000"/>
                    </a:solidFill>
                  </a:tcPr>
                </a:tc>
              </a:tr>
              <a:tr h="1571625">
                <a:tc>
                  <a:txBody>
                    <a:bodyPr lIns="28575" tIns="19050" rIns="28575" bIns="19050">
                      <a:norm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33333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관리자가 감독자인 이유</a:t>
                      </a:r>
                    </a:p>
                    <a:p>
                      <a:pPr algn="ctr"/>
                      <a:r>
                        <a:rPr sz="1500" b="0">
                          <a:solidFill>
                            <a:srgbClr val="33333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빅데이터와 애널리틱스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28575" tIns="19050" rIns="28575" bIns="19050">
                      <a:norm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33333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코드를 쓰지 않고 읽는 최소 문법</a:t>
                      </a:r>
                    </a:p>
                    <a:p>
                      <a:pPr algn="ctr"/>
                      <a:r>
                        <a:rPr sz="1500" b="0">
                          <a:solidFill>
                            <a:srgbClr val="33333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개념 지도와 데이터 관리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28575" tIns="19050" rIns="28575" bIns="19050">
                      <a:norm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33333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매주 실제 AI 산출물을 감독</a:t>
                      </a:r>
                    </a:p>
                    <a:p>
                      <a:pPr algn="ctr"/>
                      <a:r>
                        <a:rPr sz="1500" b="0">
                          <a:solidFill>
                            <a:srgbClr val="33333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캡스톤으로 통합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phase-bridge">
            <a:extLst xmlns:a="http://schemas.openxmlformats.org/drawingml/2006/main">
              <a:ext uri="{FF2B5EF4-FFF2-40B4-BE49-F238E27FC236}">
                <a16:creationId xmlns:a16="http://schemas.microsoft.com/office/drawing/2014/main" id="{4B7A203A-C7C5-4F07-AEE4-56C64D068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5286375"/>
            <a:ext cx="5619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0206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002060"/>
                </a:solidFill>
                <a:latin typeface="Apple SD Gothic Neo"/>
                <a:ea typeface="Apple SD Gothic Neo"/>
                <a:cs typeface="Apple SD Gothic Neo"/>
              </a:rPr>
              <a:t>오늘 갖지 못했던 도구가 3주차부터 생깁니다.</a:t>
            </a:r>
          </a:p>
        </p:txBody>
      </p:sp>
    </p:spTree>
    <p:extLst>
      <p:ext uri="{BB962C8B-B14F-4D97-AF65-F5344CB8AC3E}">
        <p14:creationId xmlns:p14="http://schemas.microsoft.com/office/powerpoint/2010/main" val="186225597"/>
      </p:ext>
    </p:extLst>
  </p:cSld>
</p:sld>
</file>

<file path=ppt/slides/slide4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Number Placeholder 1">
            <a:extLst xmlns:a="http://schemas.openxmlformats.org/drawingml/2006/main">
              <a:ext uri="{FF2B5EF4-FFF2-40B4-BE49-F238E27FC236}">
                <a16:creationId xmlns:a16="http://schemas.microsoft.com/office/drawing/2014/main" id="{7A530F9C-DFE1-0934-66F6-E74036D1F40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2DB7CE-501A-BBF4-0CAD-B084CE0A592C}" type="slidenum">
              <a:t>46</a:t>
            </a:fld>
            <a:endParaRPr/>
          </a:p>
        </p:txBody>
      </p:sp>
      <p:sp>
        <p:nvSpPr>
          <p:cNvPr id="3" name="wk1-title">
            <a:extLst xmlns:a="http://schemas.openxmlformats.org/drawingml/2006/main">
              <a:ext uri="{FF2B5EF4-FFF2-40B4-BE49-F238E27FC236}">
                <a16:creationId xmlns:a16="http://schemas.microsoft.com/office/drawing/2014/main" id="{A8C7C122-22C2-4AE6-A07B-0FF0277DE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7334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A5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A50000"/>
                </a:solidFill>
                <a:latin typeface="Apple SD Gothic Neo"/>
                <a:ea typeface="Apple SD Gothic Neo"/>
                <a:cs typeface="Apple SD Gothic Neo"/>
              </a:rPr>
              <a:t>훈련 방식과 AI 사용 규칙</a:t>
            </a:r>
          </a:p>
        </p:txBody>
      </p:sp>
      <p:sp>
        <p:nvSpPr>
          <p:cNvPr id="4" name="wk1-section">
            <a:extLst xmlns:a="http://schemas.openxmlformats.org/drawingml/2006/main">
              <a:ext uri="{FF2B5EF4-FFF2-40B4-BE49-F238E27FC236}">
                <a16:creationId xmlns:a16="http://schemas.microsoft.com/office/drawing/2014/main" id="{0A373F20-6540-47E2-8349-3CCF27B70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885825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0206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002060"/>
                </a:solidFill>
                <a:latin typeface="Apple SD Gothic Neo"/>
                <a:ea typeface="Apple SD Gothic Neo"/>
                <a:cs typeface="Apple SD Gothic Neo"/>
              </a:rPr>
              <a:t>COURSE PRACTICE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857250" y="1285875"/>
          <a:ext xmlns:a="http://schemas.openxmlformats.org/drawingml/2006/main" cx="7429500" cy="1809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714750"/>
                <a:gridCol w="3714750"/>
              </a:tblGrid>
              <a:tr h="904875">
                <a:tc>
                  <a:txBody>
                    <a:bodyPr lIns="28575" tIns="19050" rIns="28575" bIns="19050">
                      <a:normAutofit/>
                    </a:bodyPr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블록 1</a:t>
                      </a:r>
                    </a:p>
                  </a:txBody>
                  <a:tcPr marL="91440" marR="91440" marT="45720" marB="45720" anchor="ctr">
                    <a:solidFill>
                      <a:srgbClr val="A50000"/>
                    </a:solidFill>
                  </a:tcPr>
                </a:tc>
                <a:tc>
                  <a:txBody>
                    <a:bodyPr lIns="28575" tIns="19050" rIns="28575" bIns="19050">
                      <a:normAutofit/>
                    </a:bodyPr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블록 2</a:t>
                      </a:r>
                    </a:p>
                  </a:txBody>
                  <a:tcPr marL="91440" marR="91440" marT="45720" marB="45720" anchor="ctr">
                    <a:solidFill>
                      <a:srgbClr val="A50000"/>
                    </a:solidFill>
                  </a:tcPr>
                </a:tc>
              </a:tr>
              <a:tr h="904875">
                <a:tc>
                  <a:txBody>
                    <a:bodyPr lIns="28575" tIns="19050" rIns="28575" bIns="19050">
                      <a:norm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33333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그 주의 도구</a:t>
                      </a:r>
                    </a:p>
                    <a:p>
                      <a:pPr algn="ctr"/>
                      <a:r>
                        <a:rPr sz="1500" b="0">
                          <a:solidFill>
                            <a:srgbClr val="33333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개념과 읽는 법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28575" tIns="19050" rIns="28575" bIns="19050">
                      <a:norm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33333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그 도구로 실제 AI 산출물을 감독</a:t>
                      </a:r>
                    </a:p>
                    <a:p>
                      <a:pPr algn="ctr"/>
                      <a:r>
                        <a:rPr sz="1500" b="0">
                          <a:solidFill>
                            <a:srgbClr val="33333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사례와 판정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wk1-bullets">
            <a:extLst xmlns:a="http://schemas.openxmlformats.org/drawingml/2006/main">
              <a:ext uri="{FF2B5EF4-FFF2-40B4-BE49-F238E27FC236}">
                <a16:creationId xmlns:a16="http://schemas.microsoft.com/office/drawing/2014/main" id="{AEF2A464-B0B5-4991-9766-7A5E57C5D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524250"/>
            <a:ext cx="69532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marL="304800" indent="-152400">
              <a:lnSpc>
                <a:spcPct val="112000"/>
              </a:lnSpc>
              <a:spcAft>
                <a:spcPts val="1300"/>
              </a:spcAft>
              <a:buNone/>
              <a:defRPr sz="1650">
                <a:solidFill>
                  <a:srgbClr val="3333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>
                <a:solidFill>
                  <a:srgbClr val="333333"/>
                </a:solidFill>
                <a:latin typeface="Apple SD Gothic Neo"/>
                <a:ea typeface="Apple SD Gothic Neo"/>
                <a:cs typeface="Apple SD Gothic Neo"/>
              </a:rPr>
              <a:t>AI를 썼으면 어느 부분에 어떻게 썼는지 밝힙니다.</a:t>
            </a:r>
          </a:p>
          <a:p xmlns:a="http://schemas.openxmlformats.org/drawingml/2006/main">
            <a:pPr marL="304800" indent="-152400">
              <a:lnSpc>
                <a:spcPct val="112000"/>
              </a:lnSpc>
              <a:spcAft>
                <a:spcPts val="1300"/>
              </a:spcAft>
              <a:buNone/>
              <a:defRPr sz="1650">
                <a:solidFill>
                  <a:srgbClr val="3333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>
                <a:solidFill>
                  <a:srgbClr val="333333"/>
                </a:solidFill>
                <a:latin typeface="Apple SD Gothic Neo"/>
                <a:ea typeface="Apple SD Gothic Neo"/>
                <a:cs typeface="Apple SD Gothic Neo"/>
              </a:rPr>
              <a:t>AI가 만든 내용의 사실 여부는 제출자가 책임집니다.</a:t>
            </a:r>
          </a:p>
          <a:p xmlns:a="http://schemas.openxmlformats.org/drawingml/2006/main">
            <a:pPr marL="304800" indent="-152400">
              <a:lnSpc>
                <a:spcPct val="112000"/>
              </a:lnSpc>
              <a:spcAft>
                <a:spcPts val="1300"/>
              </a:spcAft>
              <a:buNone/>
              <a:defRPr sz="1650">
                <a:solidFill>
                  <a:srgbClr val="3333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>
                <a:solidFill>
                  <a:srgbClr val="333333"/>
                </a:solidFill>
                <a:latin typeface="Apple SD Gothic Neo"/>
                <a:ea typeface="Apple SD Gothic Neo"/>
                <a:cs typeface="Apple SD Gothic Neo"/>
              </a:rPr>
              <a:t>시험 중에는 AI를 사용하지 않습니다.</a:t>
            </a:r>
          </a:p>
        </p:txBody>
      </p:sp>
    </p:spTree>
    <p:extLst>
      <p:ext uri="{BB962C8B-B14F-4D97-AF65-F5344CB8AC3E}">
        <p14:creationId xmlns:p14="http://schemas.microsoft.com/office/powerpoint/2010/main" val="186225597"/>
      </p:ext>
    </p:extLst>
  </p:cSld>
</p:sld>
</file>

<file path=ppt/slides/slide4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Number Placeholder 1">
            <a:extLst xmlns:a="http://schemas.openxmlformats.org/drawingml/2006/main">
              <a:ext uri="{FF2B5EF4-FFF2-40B4-BE49-F238E27FC236}">
                <a16:creationId xmlns:a16="http://schemas.microsoft.com/office/drawing/2014/main" id="{7A530F9C-DFE1-0934-66F6-E74036D1F40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766E625-45F0-7FC0-7206-B9D4780D3461}" type="slidenum">
              <a:t>47</a:t>
            </a:fld>
            <a:endParaRPr/>
          </a:p>
        </p:txBody>
      </p:sp>
      <p:sp>
        <p:nvSpPr>
          <p:cNvPr id="3" name="wk1-title">
            <a:extLst xmlns:a="http://schemas.openxmlformats.org/drawingml/2006/main">
              <a:ext uri="{FF2B5EF4-FFF2-40B4-BE49-F238E27FC236}">
                <a16:creationId xmlns:a16="http://schemas.microsoft.com/office/drawing/2014/main" id="{C768E797-84DB-4A23-897A-5B8F4FF5F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7334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A5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A50000"/>
                </a:solidFill>
                <a:latin typeface="Apple SD Gothic Neo"/>
                <a:ea typeface="Apple SD Gothic Neo"/>
                <a:cs typeface="Apple SD Gothic Neo"/>
              </a:rPr>
              <a:t>오늘의 원칙</a:t>
            </a:r>
          </a:p>
        </p:txBody>
      </p:sp>
      <p:sp>
        <p:nvSpPr>
          <p:cNvPr id="4" name="wk1-section">
            <a:extLst xmlns:a="http://schemas.openxmlformats.org/drawingml/2006/main">
              <a:ext uri="{FF2B5EF4-FFF2-40B4-BE49-F238E27FC236}">
                <a16:creationId xmlns:a16="http://schemas.microsoft.com/office/drawing/2014/main" id="{70F464C0-18B9-43CD-AA14-63D312500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885825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0206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002060"/>
                </a:solidFill>
                <a:latin typeface="Apple SD Gothic Neo"/>
                <a:ea typeface="Apple SD Gothic Neo"/>
                <a:cs typeface="Apple SD Gothic Neo"/>
              </a:rPr>
              <a:t>CLOSE</a:t>
            </a:r>
          </a:p>
        </p:txBody>
      </p:sp>
      <p:sp>
        <p:nvSpPr>
          <p:cNvPr id="5" name="wk1-quote">
            <a:extLst xmlns:a="http://schemas.openxmlformats.org/drawingml/2006/main">
              <a:ext uri="{FF2B5EF4-FFF2-40B4-BE49-F238E27FC236}">
                <a16:creationId xmlns:a16="http://schemas.microsoft.com/office/drawing/2014/main" id="{B9689FE1-0586-4FC2-9D1A-D67C455B0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28750"/>
            <a:ext cx="7620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A5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A50000"/>
                </a:solidFill>
                <a:latin typeface="Apple SD Gothic Neo"/>
                <a:ea typeface="Apple SD Gothic Neo"/>
                <a:cs typeface="Apple SD Gothic Neo"/>
              </a:rPr>
              <a:t>AI는 답을 만든다.</a:t>
            </a:r>
          </a:p>
          <a:p xmlns:a="http://schemas.openxmlformats.org/drawingml/2006/main">
            <a:pPr algn="ctr">
              <a:defRPr sz="2550" b="1">
                <a:solidFill>
                  <a:srgbClr val="A5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A50000"/>
                </a:solidFill>
                <a:latin typeface="Apple SD Gothic Neo"/>
                <a:ea typeface="Apple SD Gothic Neo"/>
                <a:cs typeface="Apple SD Gothic Neo"/>
              </a:rPr>
              <a:t>그 답이 맞는지는 아무도 대신 묻지 않는다</a:t>
            </a:r>
          </a:p>
          <a:p xmlns:a="http://schemas.openxmlformats.org/drawingml/2006/main">
            <a:pPr algn="ctr">
              <a:defRPr sz="2550" b="1">
                <a:solidFill>
                  <a:srgbClr val="A5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A50000"/>
                </a:solidFill>
                <a:latin typeface="Apple SD Gothic Neo"/>
                <a:ea typeface="Apple SD Gothic Neo"/>
                <a:cs typeface="Apple SD Gothic Neo"/>
              </a:rPr>
              <a:t>관리자가 묻지 않으면.</a:t>
            </a:r>
          </a:p>
        </p:txBody>
      </p:sp>
      <p:sp>
        <p:nvSpPr>
          <p:cNvPr id="6" name="wk1-quote-detail">
            <a:extLst xmlns:a="http://schemas.openxmlformats.org/drawingml/2006/main">
              <a:ext uri="{FF2B5EF4-FFF2-40B4-BE49-F238E27FC236}">
                <a16:creationId xmlns:a16="http://schemas.microsoft.com/office/drawing/2014/main" id="{B79FA3CC-F769-4FDD-9481-96666ED16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762500"/>
            <a:ext cx="704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>
                <a:solidFill>
                  <a:srgbClr val="66666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>
                <a:solidFill>
                  <a:srgbClr val="666666"/>
                </a:solidFill>
                <a:latin typeface="Apple SD Gothic Neo"/>
                <a:ea typeface="Apple SD Gothic Neo"/>
                <a:cs typeface="Apple SD Gothic Neo"/>
              </a:rPr>
              <a:t>다음 주 · 빅데이터와 비즈니스 애널리틱스가 무엇이고 왜 지금 중요한가</a:t>
            </a:r>
          </a:p>
        </p:txBody>
      </p:sp>
    </p:spTree>
    <p:extLst>
      <p:ext uri="{BB962C8B-B14F-4D97-AF65-F5344CB8AC3E}">
        <p14:creationId xmlns:p14="http://schemas.microsoft.com/office/powerpoint/2010/main" val="186225597"/>
      </p:ext>
    </p:extLst>
  </p:cSld>
</p:sld>
</file>

<file path=ppt/theme/theme1.xml><?xml version="1.0" encoding="utf-8"?>
<a:theme xmlns:a="http://schemas.openxmlformats.org/drawingml/2006/main" name="Plaza">
  <a:themeElements>
    <a:clrScheme name="Plaza">
      <a:dk1>
        <a:sysClr val="windowText" lastClr="000000"/>
      </a:dk1>
      <a:lt1>
        <a:sysClr val="window" lastClr="FFFFFF"/>
      </a:lt1>
      <a:dk2>
        <a:srgbClr val="333333"/>
      </a:dk2>
      <a:lt2>
        <a:srgbClr val="CCCCCC"/>
      </a:lt2>
      <a:accent1>
        <a:srgbClr val="990000"/>
      </a:accent1>
      <a:accent2>
        <a:srgbClr val="580101"/>
      </a:accent2>
      <a:accent3>
        <a:srgbClr val="E94A00"/>
      </a:accent3>
      <a:accent4>
        <a:srgbClr val="EB8F00"/>
      </a:accent4>
      <a:accent5>
        <a:srgbClr val="A4A4A4"/>
      </a:accent5>
      <a:accent6>
        <a:srgbClr val="666666"/>
      </a:accent6>
      <a:hlink>
        <a:srgbClr val="D01010"/>
      </a:hlink>
      <a:folHlink>
        <a:srgbClr val="E6682E"/>
      </a:folHlink>
    </a:clrScheme>
    <a:fontScheme name="Plaza">
      <a:majorFont>
        <a:latin typeface="Century Gothic"/>
        <a:ea typeface=""/>
        <a:cs typeface=""/>
        <a:font script="Jpan" typeface="メイリオ"/>
      </a:majorFont>
      <a:minorFont>
        <a:latin typeface="Century Gothic"/>
        <a:ea typeface=""/>
        <a:cs typeface=""/>
        <a:font script="Jpan" typeface="メイリオ"/>
      </a:minorFont>
    </a:fontScheme>
    <a:fmtScheme name="Plaza">
      <a: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60000"/>
                <a:satMod val="135000"/>
              </a:schemeClr>
            </a:gs>
            <a:gs pos="100000">
              <a:schemeClr val="phClr">
                <a:tint val="100000"/>
                <a:shade val="100000"/>
                <a:satMod val="135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70000"/>
                <a:satMod val="120000"/>
              </a:schemeClr>
            </a:gs>
            <a:gs pos="35000">
              <a:schemeClr val="phClr">
                <a:shade val="100000"/>
                <a:satMod val="150000"/>
              </a:schemeClr>
            </a:gs>
            <a:gs pos="70000">
              <a:schemeClr val="phClr">
                <a:tint val="100000"/>
                <a:shade val="100000"/>
                <a:satMod val="200000"/>
              </a:schemeClr>
            </a:gs>
            <a:gs pos="100000">
              <a:schemeClr val="phClr">
                <a:tint val="100000"/>
                <a:shade val="100000"/>
                <a:satMod val="250000"/>
              </a:schemeClr>
            </a:gs>
          </a:gsLst>
          <a:lin ang="16200000" scaled="1"/>
        </a:gradFill>
      </a:fillStyleLst>
      <a:lnStyleLst>
        <a:ln w="12700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17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190500" dist="63500" dir="5400000">
              <a:srgbClr val="FFFFFF">
                <a:alpha val="65000"/>
              </a:srgbClr>
            </a:innerShdw>
          </a:effectLst>
        </a:effectStyle>
        <a:effectStyle>
          <a:effectLst>
            <a:innerShdw blurRad="50800" dist="25400" dir="13500000">
              <a:srgbClr val="FFFFFF">
                <a:alpha val="75000"/>
              </a:srgbClr>
            </a:innerShdw>
            <a:outerShdw blurRad="88900" dist="38100" dir="6600000" sx="101000" sy="101000" rotWithShape="0">
              <a:srgbClr val="000000">
                <a:alpha val="5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2026-09-11T04:00:18.8760000Z</dcterms:created>
  <dcterms:modified xsi:type="dcterms:W3CDTF">2026-09-11T04:00:18.8760000Z</dcterms:modified>
</coreProperties>
</file>