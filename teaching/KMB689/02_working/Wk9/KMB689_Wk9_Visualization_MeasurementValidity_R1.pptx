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964f2d6d464b3d" /><Relationship Type="http://schemas.openxmlformats.org/officeDocument/2006/relationships/extended-properties" Target="/docProps/app.xml" Id="Re60bee664ae44c37" /><Relationship Type="http://schemas.openxmlformats.org/officeDocument/2006/relationships/officeDocument" Target="/ppt/presentation.xml" Id="Rfdc97091f2f242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f1ba6740c64f2a"/>
  </p:sldMasterIdLst>
  <p:notesMasterIdLst>
    <p:notesMasterId xmlns:r="http://schemas.openxmlformats.org/officeDocument/2006/relationships" r:id="R2c9be90ac249408c"/>
  </p:notesMasterIdLst>
  <p:sldIdLst>
    <p:sldId xmlns:r="http://schemas.openxmlformats.org/officeDocument/2006/relationships" id="256" r:id="R66ebd328176d4309"/>
    <p:sldId xmlns:r="http://schemas.openxmlformats.org/officeDocument/2006/relationships" id="257" r:id="Re476c50816f54472"/>
    <p:sldId xmlns:r="http://schemas.openxmlformats.org/officeDocument/2006/relationships" id="258" r:id="R50d91bbdf3024887"/>
    <p:sldId xmlns:r="http://schemas.openxmlformats.org/officeDocument/2006/relationships" id="259" r:id="Rb630d8a7bd774e2e"/>
    <p:sldId xmlns:r="http://schemas.openxmlformats.org/officeDocument/2006/relationships" id="260" r:id="R9b458bbf232a4c6d"/>
    <p:sldId xmlns:r="http://schemas.openxmlformats.org/officeDocument/2006/relationships" id="261" r:id="R63dd9efd23a744d3"/>
    <p:sldId xmlns:r="http://schemas.openxmlformats.org/officeDocument/2006/relationships" id="262" r:id="R6c723af7d4f54c55"/>
    <p:sldId xmlns:r="http://schemas.openxmlformats.org/officeDocument/2006/relationships" id="263" r:id="R67b71c82735e48cc"/>
    <p:sldId xmlns:r="http://schemas.openxmlformats.org/officeDocument/2006/relationships" id="264" r:id="Recb2d421d13943f6"/>
    <p:sldId xmlns:r="http://schemas.openxmlformats.org/officeDocument/2006/relationships" id="265" r:id="R0bae7fff20cc42c3"/>
    <p:sldId xmlns:r="http://schemas.openxmlformats.org/officeDocument/2006/relationships" id="266" r:id="R3a6f9487e16f4d4e"/>
    <p:sldId xmlns:r="http://schemas.openxmlformats.org/officeDocument/2006/relationships" id="267" r:id="R3bda0d56dcb745cb"/>
    <p:sldId xmlns:r="http://schemas.openxmlformats.org/officeDocument/2006/relationships" id="268" r:id="Rff4c0d991426483d"/>
    <p:sldId xmlns:r="http://schemas.openxmlformats.org/officeDocument/2006/relationships" id="269" r:id="R8feabaa9250e453e"/>
    <p:sldId xmlns:r="http://schemas.openxmlformats.org/officeDocument/2006/relationships" id="270" r:id="Raf6e9edb0e3248b9"/>
    <p:sldId xmlns:r="http://schemas.openxmlformats.org/officeDocument/2006/relationships" id="271" r:id="R92ad4102653e44e0"/>
    <p:sldId xmlns:r="http://schemas.openxmlformats.org/officeDocument/2006/relationships" id="272" r:id="Ra1f4807961af4b67"/>
    <p:sldId xmlns:r="http://schemas.openxmlformats.org/officeDocument/2006/relationships" id="273" r:id="Rcb500bdaf77e4c80"/>
    <p:sldId xmlns:r="http://schemas.openxmlformats.org/officeDocument/2006/relationships" id="274" r:id="R3ee9776b972d43ce"/>
    <p:sldId xmlns:r="http://schemas.openxmlformats.org/officeDocument/2006/relationships" id="275" r:id="Rc46e8c7600044181"/>
    <p:sldId xmlns:r="http://schemas.openxmlformats.org/officeDocument/2006/relationships" id="276" r:id="R0a3fd11d59084b17"/>
    <p:sldId xmlns:r="http://schemas.openxmlformats.org/officeDocument/2006/relationships" id="277" r:id="Redc826da42c04426"/>
    <p:sldId xmlns:r="http://schemas.openxmlformats.org/officeDocument/2006/relationships" id="278" r:id="R93623fa4d7344530"/>
    <p:sldId xmlns:r="http://schemas.openxmlformats.org/officeDocument/2006/relationships" id="279" r:id="Rb308ef2c5f264d49"/>
    <p:sldId xmlns:r="http://schemas.openxmlformats.org/officeDocument/2006/relationships" id="280" r:id="R689032daa6bb4ab5"/>
    <p:sldId xmlns:r="http://schemas.openxmlformats.org/officeDocument/2006/relationships" id="281" r:id="Rf4b2379bf20b4a93"/>
    <p:sldId xmlns:r="http://schemas.openxmlformats.org/officeDocument/2006/relationships" id="282" r:id="R98b32d1039a44602"/>
    <p:sldId xmlns:r="http://schemas.openxmlformats.org/officeDocument/2006/relationships" id="283" r:id="Rbf3b6ccf36694922"/>
    <p:sldId xmlns:r="http://schemas.openxmlformats.org/officeDocument/2006/relationships" id="284" r:id="Re574d784f43a4372"/>
    <p:sldId xmlns:r="http://schemas.openxmlformats.org/officeDocument/2006/relationships" id="285" r:id="R4aea6c3a4a474a22"/>
    <p:sldId xmlns:r="http://schemas.openxmlformats.org/officeDocument/2006/relationships" id="286" r:id="R5dbd2d3ac1ea46ca"/>
    <p:sldId xmlns:r="http://schemas.openxmlformats.org/officeDocument/2006/relationships" id="287" r:id="R064d1c0d1c9746bf"/>
    <p:sldId xmlns:r="http://schemas.openxmlformats.org/officeDocument/2006/relationships" id="288" r:id="R5c452f4d59ce40e0"/>
    <p:sldId xmlns:r="http://schemas.openxmlformats.org/officeDocument/2006/relationships" id="289" r:id="R649f21cd99fb486e"/>
    <p:sldId xmlns:r="http://schemas.openxmlformats.org/officeDocument/2006/relationships" id="290" r:id="Rc078adff384b43df"/>
    <p:sldId xmlns:r="http://schemas.openxmlformats.org/officeDocument/2006/relationships" id="291" r:id="Re77071ee8eda4b07"/>
    <p:sldId xmlns:r="http://schemas.openxmlformats.org/officeDocument/2006/relationships" id="292" r:id="Rfb0a6cdad7434a01"/>
    <p:sldId xmlns:r="http://schemas.openxmlformats.org/officeDocument/2006/relationships" id="293" r:id="Rb46e5fc631f94591"/>
    <p:sldId xmlns:r="http://schemas.openxmlformats.org/officeDocument/2006/relationships" id="294" r:id="Rd11413065ee743f9"/>
    <p:sldId xmlns:r="http://schemas.openxmlformats.org/officeDocument/2006/relationships" id="295" r:id="Rea2378aef874437d"/>
    <p:sldId xmlns:r="http://schemas.openxmlformats.org/officeDocument/2006/relationships" id="296" r:id="R3cbcebdabd924621"/>
    <p:sldId xmlns:r="http://schemas.openxmlformats.org/officeDocument/2006/relationships" id="297" r:id="R9eec93670c3d45b6"/>
    <p:sldId xmlns:r="http://schemas.openxmlformats.org/officeDocument/2006/relationships" id="298" r:id="Rf2383c73aa784ec4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a9fbf902aa42d2" /><Relationship Type="http://schemas.openxmlformats.org/officeDocument/2006/relationships/slideMaster" Target="/ppt/slideMasters/slideMaster1.xml" Id="R13f1ba6740c64f2a" /><Relationship Type="http://schemas.openxmlformats.org/officeDocument/2006/relationships/notesMaster" Target="/ppt/notesMasters/notesMaster1.xml" Id="R2c9be90ac249408c" /><Relationship Type="http://schemas.openxmlformats.org/officeDocument/2006/relationships/presProps" Target="/ppt/presProps.xml" Id="Ra9ece800d12945ec" /><Relationship Type="http://schemas.openxmlformats.org/officeDocument/2006/relationships/viewProps" Target="/ppt/viewProps.xml" Id="R100b165fbd0b4d1b" /><Relationship Type="http://schemas.openxmlformats.org/officeDocument/2006/relationships/tableStyles" Target="/ppt/tableStyles.xml" Id="R600cbd04a9654ad9" /><Relationship Type="http://schemas.openxmlformats.org/officeDocument/2006/relationships/slide" Target="/ppt/slides/slide1.xml" Id="R66ebd328176d4309" /><Relationship Type="http://schemas.openxmlformats.org/officeDocument/2006/relationships/slide" Target="/ppt/slides/slide2.xml" Id="Re476c50816f54472" /><Relationship Type="http://schemas.openxmlformats.org/officeDocument/2006/relationships/slide" Target="/ppt/slides/slide3.xml" Id="R50d91bbdf3024887" /><Relationship Type="http://schemas.openxmlformats.org/officeDocument/2006/relationships/slide" Target="/ppt/slides/slide4.xml" Id="Rb630d8a7bd774e2e" /><Relationship Type="http://schemas.openxmlformats.org/officeDocument/2006/relationships/slide" Target="/ppt/slides/slide5.xml" Id="R9b458bbf232a4c6d" /><Relationship Type="http://schemas.openxmlformats.org/officeDocument/2006/relationships/slide" Target="/ppt/slides/slide6.xml" Id="R63dd9efd23a744d3" /><Relationship Type="http://schemas.openxmlformats.org/officeDocument/2006/relationships/slide" Target="/ppt/slides/slide7.xml" Id="R6c723af7d4f54c55" /><Relationship Type="http://schemas.openxmlformats.org/officeDocument/2006/relationships/slide" Target="/ppt/slides/slide8.xml" Id="R67b71c82735e48cc" /><Relationship Type="http://schemas.openxmlformats.org/officeDocument/2006/relationships/slide" Target="/ppt/slides/slide9.xml" Id="Recb2d421d13943f6" /><Relationship Type="http://schemas.openxmlformats.org/officeDocument/2006/relationships/slide" Target="/ppt/slides/slide10.xml" Id="R0bae7fff20cc42c3" /><Relationship Type="http://schemas.openxmlformats.org/officeDocument/2006/relationships/slide" Target="/ppt/slides/slide11.xml" Id="R3a6f9487e16f4d4e" /><Relationship Type="http://schemas.openxmlformats.org/officeDocument/2006/relationships/slide" Target="/ppt/slides/slide12.xml" Id="R3bda0d56dcb745cb" /><Relationship Type="http://schemas.openxmlformats.org/officeDocument/2006/relationships/slide" Target="/ppt/slides/slide13.xml" Id="Rff4c0d991426483d" /><Relationship Type="http://schemas.openxmlformats.org/officeDocument/2006/relationships/slide" Target="/ppt/slides/slide14.xml" Id="R8feabaa9250e453e" /><Relationship Type="http://schemas.openxmlformats.org/officeDocument/2006/relationships/slide" Target="/ppt/slides/slide15.xml" Id="Raf6e9edb0e3248b9" /><Relationship Type="http://schemas.openxmlformats.org/officeDocument/2006/relationships/slide" Target="/ppt/slides/slide16.xml" Id="R92ad4102653e44e0" /><Relationship Type="http://schemas.openxmlformats.org/officeDocument/2006/relationships/slide" Target="/ppt/slides/slide17.xml" Id="Ra1f4807961af4b67" /><Relationship Type="http://schemas.openxmlformats.org/officeDocument/2006/relationships/slide" Target="/ppt/slides/slide18.xml" Id="Rcb500bdaf77e4c80" /><Relationship Type="http://schemas.openxmlformats.org/officeDocument/2006/relationships/slide" Target="/ppt/slides/slide19.xml" Id="R3ee9776b972d43ce" /><Relationship Type="http://schemas.openxmlformats.org/officeDocument/2006/relationships/slide" Target="/ppt/slides/slide20.xml" Id="Rc46e8c7600044181" /><Relationship Type="http://schemas.openxmlformats.org/officeDocument/2006/relationships/slide" Target="/ppt/slides/slide21.xml" Id="R0a3fd11d59084b17" /><Relationship Type="http://schemas.openxmlformats.org/officeDocument/2006/relationships/slide" Target="/ppt/slides/slide22.xml" Id="Redc826da42c04426" /><Relationship Type="http://schemas.openxmlformats.org/officeDocument/2006/relationships/slide" Target="/ppt/slides/slide23.xml" Id="R93623fa4d7344530" /><Relationship Type="http://schemas.openxmlformats.org/officeDocument/2006/relationships/slide" Target="/ppt/slides/slide24.xml" Id="Rb308ef2c5f264d49" /><Relationship Type="http://schemas.openxmlformats.org/officeDocument/2006/relationships/slide" Target="/ppt/slides/slide25.xml" Id="R689032daa6bb4ab5" /><Relationship Type="http://schemas.openxmlformats.org/officeDocument/2006/relationships/slide" Target="/ppt/slides/slide26.xml" Id="Rf4b2379bf20b4a93" /><Relationship Type="http://schemas.openxmlformats.org/officeDocument/2006/relationships/slide" Target="/ppt/slides/slide27.xml" Id="R98b32d1039a44602" /><Relationship Type="http://schemas.openxmlformats.org/officeDocument/2006/relationships/slide" Target="/ppt/slides/slide28.xml" Id="Rbf3b6ccf36694922" /><Relationship Type="http://schemas.openxmlformats.org/officeDocument/2006/relationships/slide" Target="/ppt/slides/slide29.xml" Id="Re574d784f43a4372" /><Relationship Type="http://schemas.openxmlformats.org/officeDocument/2006/relationships/slide" Target="/ppt/slides/slide30.xml" Id="R4aea6c3a4a474a22" /><Relationship Type="http://schemas.openxmlformats.org/officeDocument/2006/relationships/slide" Target="/ppt/slides/slide31.xml" Id="R5dbd2d3ac1ea46ca" /><Relationship Type="http://schemas.openxmlformats.org/officeDocument/2006/relationships/slide" Target="/ppt/slides/slide32.xml" Id="R064d1c0d1c9746bf" /><Relationship Type="http://schemas.openxmlformats.org/officeDocument/2006/relationships/slide" Target="/ppt/slides/slide33.xml" Id="R5c452f4d59ce40e0" /><Relationship Type="http://schemas.openxmlformats.org/officeDocument/2006/relationships/slide" Target="/ppt/slides/slide34.xml" Id="R649f21cd99fb486e" /><Relationship Type="http://schemas.openxmlformats.org/officeDocument/2006/relationships/slide" Target="/ppt/slides/slide35.xml" Id="Rc078adff384b43df" /><Relationship Type="http://schemas.openxmlformats.org/officeDocument/2006/relationships/slide" Target="/ppt/slides/slide36.xml" Id="Re77071ee8eda4b07" /><Relationship Type="http://schemas.openxmlformats.org/officeDocument/2006/relationships/slide" Target="/ppt/slides/slide37.xml" Id="Rfb0a6cdad7434a01" /><Relationship Type="http://schemas.openxmlformats.org/officeDocument/2006/relationships/slide" Target="/ppt/slides/slide38.xml" Id="Rb46e5fc631f94591" /><Relationship Type="http://schemas.openxmlformats.org/officeDocument/2006/relationships/slide" Target="/ppt/slides/slide39.xml" Id="Rd11413065ee743f9" /><Relationship Type="http://schemas.openxmlformats.org/officeDocument/2006/relationships/slide" Target="/ppt/slides/slide40.xml" Id="Rea2378aef874437d" /><Relationship Type="http://schemas.openxmlformats.org/officeDocument/2006/relationships/slide" Target="/ppt/slides/slide41.xml" Id="R3cbcebdabd924621" /><Relationship Type="http://schemas.openxmlformats.org/officeDocument/2006/relationships/slide" Target="/ppt/slides/slide42.xml" Id="R9eec93670c3d45b6" /><Relationship Type="http://schemas.openxmlformats.org/officeDocument/2006/relationships/slide" Target="/ppt/slides/slide43.xml" Id="Rf2383c73aa784e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9ecffe91d342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NTUPowerpointTemplate_Aug2010">
  <a:themeElements>
    <a:clrScheme name="NTU Corp Colors (Deep Red)">
      <a:dk1>
        <a:srgbClr val="262626"/>
      </a:dk1>
      <a:lt1>
        <a:sysClr val="window" lastClr="FFFFFF"/>
      </a:lt1>
      <a:dk2>
        <a:srgbClr val="1F497D"/>
      </a:dk2>
      <a:lt2>
        <a:srgbClr val="C7C7C7"/>
      </a:lt2>
      <a:accent1>
        <a:srgbClr val="C60C30"/>
      </a:accent1>
      <a:accent2>
        <a:srgbClr val="003478"/>
      </a:accent2>
      <a:accent3>
        <a:srgbClr val="C49000"/>
      </a:accent3>
      <a:accent4>
        <a:srgbClr val="7A071E"/>
      </a:accent4>
      <a:accent5>
        <a:srgbClr val="0055C4"/>
      </a:accent5>
      <a:accent6>
        <a:srgbClr val="786C00"/>
      </a:accent6>
      <a:hlink>
        <a:srgbClr val="FFFF00"/>
      </a:hlink>
      <a:folHlink>
        <a:srgbClr val="002060"/>
      </a:folHlink>
    </a:clrScheme>
    <a:fontScheme name="Blank Presentation">
      <a:majorFont>
        <a:latin typeface="Helvetica Neue"/>
        <a:ea typeface="ＭＳ Ｐゴシック"/>
        <a:cs typeface=""/>
      </a:majorFont>
      <a:minorFont>
        <a:latin typeface="Helvetica Neue Light"/>
        <a:ea typeface="ＭＳ Ｐゴシック"/>
        <a:cs typeface=""/>
      </a:minorFont>
    </a:fontScheme>
    <a:fmtScheme name="NTU Corp Colors (Deep Red)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739525274d438f" /><Relationship Type="http://schemas.openxmlformats.org/officeDocument/2006/relationships/notesMaster" Target="/ppt/notesMasters/notesMaster1.xml" Id="Rf152dcc193bc43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6535d2a95c4edb" /><Relationship Type="http://schemas.openxmlformats.org/officeDocument/2006/relationships/notesMaster" Target="/ppt/notesMasters/notesMaster1.xml" Id="R646727d7357d43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a4c4292ca04f92" /><Relationship Type="http://schemas.openxmlformats.org/officeDocument/2006/relationships/notesMaster" Target="/ppt/notesMasters/notesMaster1.xml" Id="Re32aea5fbb9542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fadb4631f04b51" /><Relationship Type="http://schemas.openxmlformats.org/officeDocument/2006/relationships/notesMaster" Target="/ppt/notesMasters/notesMaster1.xml" Id="R5f7ad6697a3741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c5110949b94482" /><Relationship Type="http://schemas.openxmlformats.org/officeDocument/2006/relationships/notesMaster" Target="/ppt/notesMasters/notesMaster1.xml" Id="R142bf6a03a7343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847049e7d6464e" /><Relationship Type="http://schemas.openxmlformats.org/officeDocument/2006/relationships/notesMaster" Target="/ppt/notesMasters/notesMaster1.xml" Id="R4efca66bae9d47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7bf2eef0014791" /><Relationship Type="http://schemas.openxmlformats.org/officeDocument/2006/relationships/notesMaster" Target="/ppt/notesMasters/notesMaster1.xml" Id="R7eacd4b7b88048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2342f4510d4fb9" /><Relationship Type="http://schemas.openxmlformats.org/officeDocument/2006/relationships/notesMaster" Target="/ppt/notesMasters/notesMaster1.xml" Id="Rcca5533ee1c846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2eac12b9ae4f15" /><Relationship Type="http://schemas.openxmlformats.org/officeDocument/2006/relationships/notesMaster" Target="/ppt/notesMasters/notesMaster1.xml" Id="R61aabbb494434c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a5badad7c44cb5" /><Relationship Type="http://schemas.openxmlformats.org/officeDocument/2006/relationships/notesMaster" Target="/ppt/notesMasters/notesMaster1.xml" Id="R3b0f608b96244c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3872c5733c4562" /><Relationship Type="http://schemas.openxmlformats.org/officeDocument/2006/relationships/notesMaster" Target="/ppt/notesMasters/notesMaster1.xml" Id="R1c9f7a7437d2452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f715323449c403e" /><Relationship Type="http://schemas.openxmlformats.org/officeDocument/2006/relationships/notesMaster" Target="/ppt/notesMasters/notesMaster1.xml" Id="R972947137acd49f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df5565845ca4329" /><Relationship Type="http://schemas.openxmlformats.org/officeDocument/2006/relationships/notesMaster" Target="/ppt/notesMasters/notesMaster1.xml" Id="Rc08c030b485a4e0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35bda8f450d403e" /><Relationship Type="http://schemas.openxmlformats.org/officeDocument/2006/relationships/notesMaster" Target="/ppt/notesMasters/notesMaster1.xml" Id="R893fe46149534b2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c0658e18bce4bc5" /><Relationship Type="http://schemas.openxmlformats.org/officeDocument/2006/relationships/notesMaster" Target="/ppt/notesMasters/notesMaster1.xml" Id="R6ba051b072dd447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aff30d6d4c541d2" /><Relationship Type="http://schemas.openxmlformats.org/officeDocument/2006/relationships/notesMaster" Target="/ppt/notesMasters/notesMaster1.xml" Id="Rd8b3685594404a1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b0d25d6e7a241d0" /><Relationship Type="http://schemas.openxmlformats.org/officeDocument/2006/relationships/notesMaster" Target="/ppt/notesMasters/notesMaster1.xml" Id="Rc755ee363893404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cbe8b96edd641c0" /><Relationship Type="http://schemas.openxmlformats.org/officeDocument/2006/relationships/notesMaster" Target="/ppt/notesMasters/notesMaster1.xml" Id="Rf90c6c56be724c1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6789f7e85de4326" /><Relationship Type="http://schemas.openxmlformats.org/officeDocument/2006/relationships/notesMaster" Target="/ppt/notesMasters/notesMaster1.xml" Id="Rd0f3c3067e9f471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70f08f0b9db4b65" /><Relationship Type="http://schemas.openxmlformats.org/officeDocument/2006/relationships/notesMaster" Target="/ppt/notesMasters/notesMaster1.xml" Id="R62b2465e07e2410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e981a6572d142b6" /><Relationship Type="http://schemas.openxmlformats.org/officeDocument/2006/relationships/notesMaster" Target="/ppt/notesMasters/notesMaster1.xml" Id="R0e7560752ea3441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fc34e5812264471" /><Relationship Type="http://schemas.openxmlformats.org/officeDocument/2006/relationships/notesMaster" Target="/ppt/notesMasters/notesMaster1.xml" Id="R0464a3d6b4c8402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9f7bdc0f000470e" /><Relationship Type="http://schemas.openxmlformats.org/officeDocument/2006/relationships/notesMaster" Target="/ppt/notesMasters/notesMaster1.xml" Id="R82900d4f8f5f439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d989b4c8cb043a2" /><Relationship Type="http://schemas.openxmlformats.org/officeDocument/2006/relationships/notesMaster" Target="/ppt/notesMasters/notesMaster1.xml" Id="Rcf58b87c205f48f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1901206969343f7" /><Relationship Type="http://schemas.openxmlformats.org/officeDocument/2006/relationships/notesMaster" Target="/ppt/notesMasters/notesMaster1.xml" Id="Rcefb91f032224e9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ad26d48e7b24f97" /><Relationship Type="http://schemas.openxmlformats.org/officeDocument/2006/relationships/notesMaster" Target="/ppt/notesMasters/notesMaster1.xml" Id="R8374433b02f24fc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65ce61151ae4f06" /><Relationship Type="http://schemas.openxmlformats.org/officeDocument/2006/relationships/notesMaster" Target="/ppt/notesMasters/notesMaster1.xml" Id="R6cf7e94aa54541c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1840d0eb4584590" /><Relationship Type="http://schemas.openxmlformats.org/officeDocument/2006/relationships/notesMaster" Target="/ppt/notesMasters/notesMaster1.xml" Id="R770f1211571348a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49e7e254a354f90" /><Relationship Type="http://schemas.openxmlformats.org/officeDocument/2006/relationships/notesMaster" Target="/ppt/notesMasters/notesMaster1.xml" Id="R7cf9049b7b954bd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d87672db1054ea5" /><Relationship Type="http://schemas.openxmlformats.org/officeDocument/2006/relationships/notesMaster" Target="/ppt/notesMasters/notesMaster1.xml" Id="R1d23b0bd9d864dd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4b1f46719c143f8" /><Relationship Type="http://schemas.openxmlformats.org/officeDocument/2006/relationships/notesMaster" Target="/ppt/notesMasters/notesMaster1.xml" Id="R2841d0e70f28467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c9d6ee698c04248" /><Relationship Type="http://schemas.openxmlformats.org/officeDocument/2006/relationships/notesMaster" Target="/ppt/notesMasters/notesMaster1.xml" Id="Rea9a3cd0204148d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52530e3399a41ae" /><Relationship Type="http://schemas.openxmlformats.org/officeDocument/2006/relationships/notesMaster" Target="/ppt/notesMasters/notesMaster1.xml" Id="R9d27dd156af04a1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f6a6e0b158246c7" /><Relationship Type="http://schemas.openxmlformats.org/officeDocument/2006/relationships/notesMaster" Target="/ppt/notesMasters/notesMaster1.xml" Id="R1dbbcbd3de31477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08446bc9b424d02" /><Relationship Type="http://schemas.openxmlformats.org/officeDocument/2006/relationships/notesMaster" Target="/ppt/notesMasters/notesMaster1.xml" Id="R3ba26eb31884465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b44939527f74e2f" /><Relationship Type="http://schemas.openxmlformats.org/officeDocument/2006/relationships/notesMaster" Target="/ppt/notesMasters/notesMaster1.xml" Id="R31b316338dcc4af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31a9795b987403b" /><Relationship Type="http://schemas.openxmlformats.org/officeDocument/2006/relationships/notesMaster" Target="/ppt/notesMasters/notesMaster1.xml" Id="Rd1a9067ec38b473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cbf8ef245df4aca" /><Relationship Type="http://schemas.openxmlformats.org/officeDocument/2006/relationships/notesMaster" Target="/ppt/notesMasters/notesMaster1.xml" Id="Rbe8aa378d35e49b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a0270a07f164026" /><Relationship Type="http://schemas.openxmlformats.org/officeDocument/2006/relationships/notesMaster" Target="/ppt/notesMasters/notesMaster1.xml" Id="R108fb7153c8f4ec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e72c3db1d464383" /><Relationship Type="http://schemas.openxmlformats.org/officeDocument/2006/relationships/notesMaster" Target="/ppt/notesMasters/notesMaster1.xml" Id="R7f096247e6274ed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f86133de884418c" /><Relationship Type="http://schemas.openxmlformats.org/officeDocument/2006/relationships/notesMaster" Target="/ppt/notesMasters/notesMaster1.xml" Id="R79928fb5e15a472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37301113df740f6" /><Relationship Type="http://schemas.openxmlformats.org/officeDocument/2006/relationships/notesMaster" Target="/ppt/notesMasters/notesMaster1.xml" Id="R2c72fa25626245d5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f6c3a7707e8447c" /><Relationship Type="http://schemas.openxmlformats.org/officeDocument/2006/relationships/notesMaster" Target="/ppt/notesMasters/notesMaster1.xml" Id="Rb3b2b4d2a1a943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Wk9 | slide: 1 | mapping: R1 | class: revise | sourceSlides: 2 | sourceRefs: KMB119,KMB107,DESIGN,S_B1 | reveal: normal | placeholder: false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Wk9 | slide: 2 | mapping: N2 | class: new | sourceSlides: none | sourceRefs: DESIGN,S_B1,S_CASE,I_SCRIPT,I_DISC | reveal: normal | placeholder: false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Wk9 | slide: 3 | mapping: N3 | class: new | sourceSlides: none | sourceRefs: W1,S_B1 | reveal: W1-X canonical exposure | placeholder: false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Wk9 | slide: 4 | mapping: R4 | class: revise | sourceSlides: 3,4 | sourceRefs: KMB119,S_B1,DESIGN | reveal: normal | placeholder: false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Wk9 | slide: 5 | mapping: R5 | class: revise | sourceSlides: 9,10 | sourceRefs: KMB119,S_B1 | reveal: normal | placeholder: false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Wk9 | slide: 6 | mapping: R6 | class: revise | sourceSlides: 14 | sourceRefs: KMB119,S_B1 | reveal: normal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Wk9 | slide: 7 | mapping: R7 | class: revise | sourceSlides: 25 | sourceRefs: KMB119,S_B1 | reveal: normal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Wk9 | slide: 8 | mapping: R8 | class: revise | sourceSlides: 22 | sourceRefs: KMB119,S_B1 | reveal: normal | placeholder: false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Wk9 | slide: 9 | mapping: N9 | class: new | sourceSlides: none | sourceRefs: S_B1 | reveal: normal | placeholder: false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Wk9 | slide: 10 | mapping: R10 | class: reposition | sourceSlides: 22 | sourceRefs: KMB119,S_B1 | reveal: normal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Wk9 | slide: 11 | mapping: R11 | class: reposition | sourceSlides: 21 | sourceRefs: KMB119,S_B1 | reveal: normal | placeholder: false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Wk9 | slide: 12 | mapping: N12 | class: new | sourceSlides: none | sourceRefs: S_B1 | reveal: normal | placeholder: false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Wk9 | slide: 13 | mapping: N13 | class: new | sourceSlides: none | sourceRefs: S_B1,DESIGN | reveal: normal | placeholder: false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Wk9 | slide: 14 | mapping: R14 | class: revise | sourceSlides: 26,27 | sourceRefs: KMB119,S_B1 | reveal: normal | placeholder: false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400050" marR="0" lvl="1" indent="0" algn="l" defTabSz="91440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600" b="1">
                <a:solidFill>
                  <a:srgbClr val="C00000"/>
                </a:solidFill>
              </a:rPr>
              <a:t>KMB689 Wk9 | slide: 15 | mapping: R15 | class: reposition | sourceSlides: 38 | sourceRefs: KMB119,S_B1 | reveal: normal | placeholder: false</a:t>
            </a:r>
            <a:endParaRPr sz="1600" b="1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t>KMB689 Wk9 | slide: 16 | mapping: R16 | class: revise | sourceSlides: 44,56 | sourceRefs: KMB119,S_B1 | reveal: normal | placeholder: false</a:t>
            </a:r>
            <a:endParaRPr b="1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t>KMB689 Wk9 | slide: 17 | mapping: R17 | class: revise | sourceSlides: 33,35,36 | sourceRefs: KMB119,S_B1 | reveal: normal | placeholder: false</a:t>
            </a:r>
            <a:endParaRPr b="1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KMB689 Wk9 | slide: 18 | mapping: R18 | class: reposition | sourceSlides: 37 | sourceRefs: KMB119,S_B1 | reveal: normal | placeholder: false</a:t>
            </a:r>
            <a:endParaRPr b="1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Wk9 | slide: 19 | mapping: R19 | class: revise | sourceSlides: 57,58,59 | sourceRefs: KMB119,S_B1 | reveal: normal | placeholder: false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Wk9 | slide: 20 | mapping: R20 | class: revise | sourceSlides: 60 | sourceRefs: KMB119,S_B1 | reveal: normal | placeholder: false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Wk9 | slide: 21 | mapping: N21 | class: new | sourceSlides: none | sourceRefs: S_B1,DESIGN | reveal: normal | placeholder: false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Wk9 | slide: 22 | mapping: N22 | class: new | sourceSlides: none | sourceRefs: S_B1 | reveal: normal | placeholder: false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Wk9 | slide: 23 | mapping: N23 | class: new | sourceSlides: none | sourceRefs: S_B1 | reveal: normal | placeholder: false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Wk9 | slide: 24 | mapping: N24 | class: new | sourceSlides: none | sourceRefs: S_B1 | reveal: normal | placeholder: false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Wk9 | slide: 25 | mapping: N25 | class: new | sourceSlides: none | sourceRefs: S_B1 | reveal: normal | placeholder: false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Wk9 | slide: 26 | mapping: N26 | class: new | sourceSlides: none | sourceRefs: S_B1 | reveal: normal | placeholder: false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Wk9 | slide: 27 | mapping: N27 | class: new | sourceSlides: none | sourceRefs: S_B1 | reveal: normal | placeholder: false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Wk9 | slide: 28 | mapping: N28 | class: new | sourceSlides: none | sourceRefs: S_B1 | reveal: normal | placeholder: false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Wk9 | slide: 29 | mapping: N29 | class: new | sourceSlides: none | sourceRefs: S_B1 | reveal: normal | placeholder: false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Wk9 | slide: 30 | mapping: N30 | class: new | sourceSlides: none | sourceRefs: S_B1 | reveal: normal | placeholder: false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Wk9 | slide: 31 | mapping: N31 | class: new | sourceSlides: none | sourceRefs: S_B1,DESIGN | reveal: questions only | placeholder: false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0"/>
              <a:t>KMB689 Wk9 | slide: 32 | mapping: R32 | class: reposition | sourceSlides: 62 | sourceRefs: KMB119,S_B1 | reveal: question only | placeholder: false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0"/>
              <a:t>KMB689 Wk9 | slide: 33 | mapping: R33 | class: reposition | sourceSlides: 63 | sourceRefs: KMB119,S_B1 | reveal: generic chart answer only | placeholder: false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Wk9 | slide: 34 | mapping: N34 | class: new | sourceSlides: none | sourceRefs: S_B1 | reveal: normal | placeholder: false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Wk9 | slide: 35 | mapping: N35 | class: new | sourceSlides: none | sourceRefs: DESIGN,S_B1,S_CASE | reveal: case named; no answer | placeholder: false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Wk9 | slide: 36 | mapping: N36 | class: new | sourceSlides: none | sourceRefs: S_CASE,DESIGN | reveal: surface lure; handout withheld until 2.3 | placeholder: false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Wk9 | slide: 37 | mapping: N37 | class: new | sourceSlides: none | sourceRefs: S_AI | reveal: P2 pending; body intentionally blank | placeholder: true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Wk9 | slide: 38 | mapping: N38 | class: new | sourceSlides: none | sourceRefs: S_AI | reveal: P2 pending; body intentionally blank | placeholder: true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Wk9 | slide: 39 | mapping: N39 | class: new | sourceSlides: none | sourceRefs: S_AI,I_SCRIPT | reveal: AI claim only; no answer | placeholder: false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Wk9 | slide: 40 | mapping: N40 | class: new | sourceSlides: none | sourceRefs: I_SCRIPT,S_AI | reveal: questions and stop; no answer | placeholder: false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Wk9 | slide: 41 | mapping: N41 | class: new | sourceSlides: none | sourceRefs: S_CASE,S_AI,S_WS,S_VE,I_SCRIPT | reveal: student discovery instructions; no answer | placeholder: false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Wk9 | slide: 42 | mapping: N42 | class: new | sourceSlides: none | sourceRefs: S_VE | reveal: P2 pending; body intentionally blank | placeholder: true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Wk9 | slide: 43 | mapping: N43 | class: new | sourceSlides: none | sourceRefs: S_VE,S_WS,I_AI,I_DISC | reveal: first answer reveal after student discovery slot | placeholder: false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0a184d7fbf456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a05836b63a437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2992f0d11847f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9898c38054414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c896ca8dde49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0628899591464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ad8bcedbf8412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fc1b22e846478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85d636c23e424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95439a2b6e427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f6debb5fd64ce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a8d9d6a61c42f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7325f506ae4523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e92bf9040e4f5f" /><Relationship Type="http://schemas.openxmlformats.org/officeDocument/2006/relationships/image" Target="/ppt/media/image2.png" Id="R0dc9ad9f55104c91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0EC358-5C45-4FED-88DD-4454CDE17D6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B85A18D-BA84-4208-959C-10FC084393D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AAFEF0A-5BEA-441A-8E6A-CB85C20411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9994E38A-441D-4DED-945C-3C150D308A07}" type="datetime1">
              <a:t>5/18/2025</a:t>
            </a:fld>
            <a:endParaRPr/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C51F842-8A9E-496F-90CB-EC449A46D3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67DAF10-B145-43C1-9958-A46F8D3D6F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F80D49F-B9E2-41E5-B112-DE020076C262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3919720-2F7E-4BF7-AFA5-8C90E6205A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 algn="ctr">
              <a:buNone/>
              <a:defRPr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F784B75-DE07-48BB-802E-759CBCB7BE5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Times New Roman"/>
                <a:ea typeface="Times New Roman"/>
                <a:cs typeface="Times New Roman"/>
              </a:defRPr>
            </a:lvl1pPr>
            <a:lvl2pPr>
              <a:buNone/>
              <a:defRPr>
                <a:latin typeface="Times New Roman"/>
                <a:ea typeface="Times New Roman"/>
                <a:cs typeface="Times New Roman"/>
              </a:defRPr>
            </a:lvl2pPr>
            <a:lvl3pPr>
              <a:buNone/>
              <a:defRPr>
                <a:latin typeface="Times New Roman"/>
                <a:ea typeface="Times New Roman"/>
                <a:cs typeface="Times New Roman"/>
              </a:defRPr>
            </a:lvl3pPr>
            <a:lvl4pPr>
              <a:buNone/>
              <a:defRPr>
                <a:latin typeface="Times New Roman"/>
                <a:ea typeface="Times New Roman"/>
                <a:cs typeface="Times New Roman"/>
              </a:defRPr>
            </a:lvl4pPr>
            <a:lvl5pPr>
              <a:buNone/>
              <a:defRPr>
                <a:latin typeface="Times New Roman"/>
                <a:ea typeface="Times New Roman"/>
                <a:cs typeface="Times New Roman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9AD0802-02AD-4ECE-9471-ACA50D0122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19929C47-F865-40DF-8D29-1D78E9CC3513}" type="datetime1">
              <a:t>5/18/2025</a:t>
            </a:fld>
            <a:endParaRPr/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C9920D5-88CE-4664-88A6-4658988E49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217012C-3E3A-4017-989D-D2C4C9A63C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538439-05E3-433D-90D4-ED8F2F49424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91B6A48-78B8-48E7-9562-EC78710E77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917BC2C-09E3-4ACD-B278-51B17722B5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3A1848B-CDF9-4398-BD1D-600CA07135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5AF6B742-E39F-4AE8-9CED-E0A2DD74C09D}" type="datetime1">
              <a:t>5/18/2025</a:t>
            </a:fld>
            <a:endParaRPr/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B0D30A6-AF69-4A97-AB1B-264E461C9C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A6AA1A4-EDF6-402A-9DF7-F9B98D25A9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6D1E24D-201D-4C06-93E5-DFDF815767A9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0965BA-112B-4F43-B292-45611D2B5B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07C2D6B-145B-4677-930E-8C3D11015DB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85800" y="1981200"/>
            <a:ext cx="3810000" cy="41148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60ACD17-58EE-4A7D-8953-F51FDC62B5F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981200"/>
            <a:ext cx="3810000" cy="41148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BE3970F-49C2-4A53-9F0D-3CE4990801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57BF3113-D164-4015-B29F-C3AEAEE83B93}" type="datetime1">
              <a:t>5/18/2025</a:t>
            </a:fld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0C3B65E-B880-4009-8F1B-6153552B32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6E58615-CBE4-4D76-A974-9563C2A220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A4ECCBD5-675D-42AC-AAFD-2C20384C38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E894778-D776-44BA-9C64-4901A45940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72F850B-D3CF-43B0-90C4-10A5C76E87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FFF6B84-3CFF-4CD1-A5B1-9E01BAEF307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5301E8E-396D-4C8D-A6FB-A518BE47C2B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D72A909-269E-4642-ADC1-D94A6CD8D73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5019B0B-B691-40C7-9E2B-6A0EBDF371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509A9BB0-46AE-4321-93BD-0A6B70A2EF62}" type="datetime1">
              <a:t>5/18/2025</a:t>
            </a:fld>
            <a:endParaRPr/>
          </a:p>
        </p:txBody>
      </p:sp>
      <p:sp>
        <p:nvSpPr>
          <p:cNvPr id="8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D323B9B-9906-4F08-8AA2-C32F8DC057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9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403E3A0-55F8-4FEE-8EB6-EB6326C7FE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7E64133-F073-4E1B-9731-A7DB12B51AF0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8AACE0-CAB8-4646-A89E-E5558B60DF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BAD8B5D-9494-4C88-8A01-8DFCDEE1E2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BA226955-18FE-4500-B06F-C3E7A2FEAB8C}" type="datetime1">
              <a:t>5/18/2025</a:t>
            </a:fld>
            <a:endParaRPr/>
          </a:p>
        </p:txBody>
      </p:sp>
      <p:sp>
        <p:nvSpPr>
          <p:cNvPr id="4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C8C9553-B7F1-4A9A-9AC4-496DE56703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C98E6BC-2BA6-4D22-9A63-8D08BD2E2D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53C0370-6065-4E13-BA86-F767384FEDEA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D798C0C-DC35-4C2E-9673-120354A8DDC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49EB6522-C523-4F4F-8C15-DED3DF9FBD3E}" type="datetime1">
              <a:t>5/18/2025</a:t>
            </a:fld>
            <a:endParaRPr/>
          </a:p>
        </p:txBody>
      </p:sp>
      <p:sp>
        <p:nvSpPr>
          <p:cNvPr id="3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0A7B2F4-E63C-46C5-AF33-25C009CA1F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0C36B66-2A9D-45FC-8458-24AFC3FEB9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C8ADE44-0999-487E-B9A3-3E1EB2E5AAD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093EC8E-69AB-46B2-8529-AA843BA6F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D0E00C3-1FE7-471B-B245-7283E7144A6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8834189-4919-4503-9E65-189EBACD869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A113833-DC6A-441F-80B4-B3C66FE8FB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8A1E72AC-D983-4447-994A-7520C379C305}" type="datetime1">
              <a:t>5/18/2025</a:t>
            </a:fld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F54DA02-A10A-4F44-9AE9-FB7BDD054B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5E93F49-382E-4B96-BB9E-3ACF5A8E7E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4B4F6E7-3978-4AE9-A3E5-299CD0FCDC0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15687B6-3732-4382-A4B5-1309508C3C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11C440A-0DAC-4B77-AD5B-F88BEDF19A5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icon to add picture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F1C9F62-E2B1-484B-A576-98AF97500E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C83F478-42F3-41A9-8D82-6178336400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4F9CCE3F-3D0E-4106-AE67-69A114D85790}" type="datetime1">
              <a:t>5/18/2025</a:t>
            </a:fld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990C26E-F8F6-4172-8A7C-8AA2354C8E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1050EA8-2AEC-434A-92D2-8AC0EFD927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A8F5068-B618-4ED1-8476-5C963667BEFC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5BF7511-0DCA-41AF-A3EA-5B034D90C0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1BED4B6-5551-4A43-A548-B8B49B8ABC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2D1EB16-D5B6-4629-8474-03D0CBEDC12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B1C6CC58-10C0-4E12-9F88-CFAAFE080F62}" type="datetime1">
              <a:t>5/18/2025</a:t>
            </a:fld>
            <a:endParaRPr/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32A2FC9-3796-49E1-83C0-36C932C040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CADF410-C441-4B3F-B1D5-E550D8CC8C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0E224D7-7DD9-4AAF-9B0D-DF625D33CB47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B30B8F0-19BF-4A6E-A8E6-18C4F9B103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15100" y="609600"/>
            <a:ext cx="1943100" cy="548640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79E161A-324B-4598-8349-655F0DA2FD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609600"/>
            <a:ext cx="5676900" cy="548640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A02C07B-DB85-46E8-8096-BD537FEE7BF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45726D9C-B298-44E0-A59F-D5E8DD1CBF40}" type="datetime1">
              <a:t>5/18/2025</a:t>
            </a:fld>
            <a:endParaRPr/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EE9D6C1-857A-43D5-86C4-BA8D33EC0D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9B6601A-5472-4DB6-97B2-E983FAF7D1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C33FF5-821C-492F-82D2-FA4ABB9EB021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>
  <p:cSld name="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A3A51757-37C4-42DA-B630-4A3CF234D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457200"/>
            <a:ext cx="845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  <a:endParaRPr/>
          </a:p>
        </p:txBody>
      </p:sp>
      <p:sp>
        <p:nvSpPr>
          <p:cNvPr id="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0B1A6B69-4D87-47AB-AF62-A2E263D8B38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85800" y="1078992"/>
            <a:ext cx="78486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baseline="0">
                <a:solidFill>
                  <a:srgbClr val="000000"/>
                </a:solidFill>
              </a:defRPr>
            </a:lvl1pPr>
            <a:lvl2pPr>
              <a:buNone/>
              <a:defRPr baseline="0">
                <a:solidFill>
                  <a:srgbClr val="000000"/>
                </a:solidFill>
              </a:defRPr>
            </a:lvl2pPr>
            <a:lvl3pPr>
              <a:buNone/>
              <a:defRPr baseline="0">
                <a:solidFill>
                  <a:srgbClr val="000000"/>
                </a:solidFill>
              </a:defRPr>
            </a:lvl3pPr>
            <a:lvl4pPr>
              <a:buNone/>
              <a:defRPr baseline="0">
                <a:solidFill>
                  <a:srgbClr val="000000"/>
                </a:solidFill>
              </a:defRPr>
            </a:lvl4pPr>
            <a:lvl5pPr>
              <a:buNone/>
              <a:defRPr baseline="0">
                <a:solidFill>
                  <a:srgbClr val="000000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>
  <p:cSld name="Title, Text,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1AFFA4-6972-4DCA-88DE-053F25AADD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87D48EE-3AFA-44A1-8E60-431A9F1F11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C8F79B4-2F91-4895-99C4-5DDB686D5B7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BE9C474-93F5-44B7-ACFD-9BB341B62E4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245225"/>
            <a:ext cx="2133600" cy="47625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E9160C0-C3B8-4154-9904-3143E98FF3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245225"/>
            <a:ext cx="2895600" cy="47625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2E7425B-8D8A-473D-925C-1F1806D9F6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245225"/>
            <a:ext cx="2133600" cy="47625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32073573-ADE5-401A-A5A2-FCCE564B3D6B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EDF5F4BD-9719-4945-BF5D-7779E56E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868" y="1019605"/>
            <a:ext cx="8474125" cy="537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5787B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0" name="슬라이드 번호 개체 틀 59">
            <a:extLst xmlns:a="http://schemas.openxmlformats.org/drawingml/2006/main">
              <a:ext uri="{FF2B5EF4-FFF2-40B4-BE49-F238E27FC236}">
                <a16:creationId xmlns:a16="http://schemas.microsoft.com/office/drawing/2014/main" id="{2F45F393-AEF7-48CC-B199-675177A6C6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397760" y="6455960"/>
            <a:ext cx="348480" cy="3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36000" tIns="45720" rIns="36000" bIns="45720" anchor="ctr">
            <a:noAutofit/>
          </a:bodyPr>
          <a:lstStyle xmlns:a="http://schemas.openxmlformats.org/drawingml/2006/main">
            <a:lvl1pPr algn="ctr">
              <a:buNone/>
              <a:defRPr sz="9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0AE6A2CD-382C-4130-B3D4-BD956BC7B385}" type="slidenum">
              <a:t>‹#›</a:t>
            </a:fld>
            <a:endParaRPr/>
          </a:p>
        </p:txBody>
      </p:sp>
      <p:sp>
        <p:nvSpPr>
          <p:cNvPr id="22" name="직선 연결선 21">
            <a:extLst xmlns:a="http://schemas.openxmlformats.org/drawingml/2006/main">
              <a:ext uri="{FF2B5EF4-FFF2-40B4-BE49-F238E27FC236}">
                <a16:creationId xmlns:a16="http://schemas.microsoft.com/office/drawing/2014/main" id="{6320071D-1AA8-4D01-AB88-166BB1FD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866" y="836712"/>
            <a:ext cx="4716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9525">
            <a:solidFill>
              <a:srgbClr val="75787B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" name="제목 2">
            <a:extLst xmlns:a="http://schemas.openxmlformats.org/drawingml/2006/main">
              <a:ext uri="{FF2B5EF4-FFF2-40B4-BE49-F238E27FC236}">
                <a16:creationId xmlns:a16="http://schemas.microsoft.com/office/drawing/2014/main" id="{0545EE69-AC71-4C23-86DE-265C70A0A35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47578" y="348446"/>
            <a:ext cx="4797388" cy="46606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algn="l">
              <a:buNone/>
              <a:defRPr sz="2000" baseline="0">
                <a:ln>
                  <a:solidFill>
                    <a:schemeClr val="accent1">
                      <a:alpha val="0"/>
                    </a:schemeClr>
                  </a:solidFill>
                </a:ln>
              </a:defRPr>
            </a:lvl1pPr>
          </a:lstStyle>
          <a:p xmlns:a="http://schemas.openxmlformats.org/drawingml/2006/main">
            <a:r>
              <a:t>Main Title</a:t>
            </a:r>
            <a:endParaRPr/>
          </a:p>
        </p:txBody>
      </p:sp>
      <p:pic>
        <p:nvPicPr>
          <p:cNvPr id="6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9ad9f55104c9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47156" y="6526967"/>
            <a:ext cx="862836" cy="222900"/>
          </a:xfrm>
          <a:prstGeom xmlns:a="http://schemas.openxmlformats.org/drawingml/2006/main" prst="rect">
            <a:avLst/>
          </a:prstGeom>
        </p:spPr>
      </p:pic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3EAA7DD6-2E56-49B4-B845-4371AC6C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61184" y="99388"/>
            <a:ext cx="548809" cy="158845"/>
          </a:xfrm>
          <a:prstGeom xmlns:a="http://schemas.openxmlformats.org/drawingml/2006/main" prst="rect">
            <a:avLst/>
          </a:prstGeom>
          <a:solidFill xmlns:a="http://schemas.openxmlformats.org/drawingml/2006/main">
            <a:sysClr val="window" lastClr="FFFFFF"/>
          </a:solidFill>
          <a:ln xmlns:a="http://schemas.openxmlformats.org/drawingml/2006/main" w="6350" cmpd="sng">
            <a:solidFill>
              <a:srgbClr val="FF40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solidFill>
                  <a:schemeClr val="accent1">
                    <a:alpha val="0"/>
                  </a:schemeClr>
                </a:solidFill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자유형 24">
            <a:extLst xmlns:a="http://schemas.openxmlformats.org/drawingml/2006/main">
              <a:ext uri="{FF2B5EF4-FFF2-40B4-BE49-F238E27FC236}">
                <a16:creationId xmlns:a16="http://schemas.microsoft.com/office/drawing/2014/main" id="{AA0E9789-8B6A-4A19-AADD-21901692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1642" y="146091"/>
            <a:ext cx="447892" cy="65439"/>
          </a:xfrm>
          <a:custGeom xmlns:a="http://schemas.openxmlformats.org/drawingml/2006/main">
            <a:rect l="l" t="t" r="r" b="b"/>
            <a:pathLst>
              <a:path w="1973563" h="216266">
                <a:moveTo>
                  <a:pt x="1733178" y="42100"/>
                </a:moveTo>
                <a:lnTo>
                  <a:pt x="1706360" y="132931"/>
                </a:lnTo>
                <a:lnTo>
                  <a:pt x="1760283" y="132931"/>
                </a:lnTo>
                <a:close/>
                <a:moveTo>
                  <a:pt x="880002" y="39216"/>
                </a:moveTo>
                <a:lnTo>
                  <a:pt x="880002" y="177049"/>
                </a:lnTo>
                <a:lnTo>
                  <a:pt x="908260" y="177049"/>
                </a:lnTo>
                <a:cubicBezTo>
                  <a:pt x="944593" y="177049"/>
                  <a:pt x="962759" y="153981"/>
                  <a:pt x="962759" y="107844"/>
                </a:cubicBezTo>
                <a:cubicBezTo>
                  <a:pt x="962759" y="62092"/>
                  <a:pt x="944689" y="39216"/>
                  <a:pt x="908549" y="39216"/>
                </a:cubicBezTo>
                <a:close/>
                <a:moveTo>
                  <a:pt x="263723" y="35467"/>
                </a:moveTo>
                <a:cubicBezTo>
                  <a:pt x="231427" y="35467"/>
                  <a:pt x="215279" y="59689"/>
                  <a:pt x="215279" y="108133"/>
                </a:cubicBezTo>
                <a:cubicBezTo>
                  <a:pt x="215279" y="156576"/>
                  <a:pt x="231427" y="180798"/>
                  <a:pt x="263723" y="180798"/>
                </a:cubicBezTo>
                <a:cubicBezTo>
                  <a:pt x="296019" y="180798"/>
                  <a:pt x="312166" y="156576"/>
                  <a:pt x="312166" y="108133"/>
                </a:cubicBezTo>
                <a:cubicBezTo>
                  <a:pt x="312166" y="59689"/>
                  <a:pt x="296019" y="35467"/>
                  <a:pt x="263723" y="35467"/>
                </a:cubicBezTo>
                <a:close/>
                <a:moveTo>
                  <a:pt x="1849859" y="3748"/>
                </a:moveTo>
                <a:lnTo>
                  <a:pt x="1889652" y="3748"/>
                </a:lnTo>
                <a:lnTo>
                  <a:pt x="1889652" y="176761"/>
                </a:lnTo>
                <a:lnTo>
                  <a:pt x="1973563" y="176761"/>
                </a:lnTo>
                <a:lnTo>
                  <a:pt x="1973563" y="212517"/>
                </a:lnTo>
                <a:lnTo>
                  <a:pt x="1849859" y="212517"/>
                </a:lnTo>
                <a:close/>
                <a:moveTo>
                  <a:pt x="1711839" y="3748"/>
                </a:moveTo>
                <a:lnTo>
                  <a:pt x="1755092" y="3748"/>
                </a:lnTo>
                <a:lnTo>
                  <a:pt x="1825739" y="212517"/>
                </a:lnTo>
                <a:lnTo>
                  <a:pt x="1783928" y="212517"/>
                </a:lnTo>
                <a:lnTo>
                  <a:pt x="1770375" y="167534"/>
                </a:lnTo>
                <a:lnTo>
                  <a:pt x="1695980" y="167534"/>
                </a:lnTo>
                <a:lnTo>
                  <a:pt x="1682715" y="212517"/>
                </a:lnTo>
                <a:lnTo>
                  <a:pt x="1641192" y="212517"/>
                </a:lnTo>
                <a:close/>
                <a:moveTo>
                  <a:pt x="1574210" y="3748"/>
                </a:moveTo>
                <a:lnTo>
                  <a:pt x="1614003" y="3748"/>
                </a:lnTo>
                <a:lnTo>
                  <a:pt x="1614003" y="212517"/>
                </a:lnTo>
                <a:lnTo>
                  <a:pt x="1574210" y="212517"/>
                </a:lnTo>
                <a:close/>
                <a:moveTo>
                  <a:pt x="1403356" y="3748"/>
                </a:moveTo>
                <a:lnTo>
                  <a:pt x="1495052" y="3748"/>
                </a:lnTo>
                <a:lnTo>
                  <a:pt x="1546956" y="3748"/>
                </a:lnTo>
                <a:lnTo>
                  <a:pt x="1546956" y="39504"/>
                </a:lnTo>
                <a:lnTo>
                  <a:pt x="1495052" y="39504"/>
                </a:lnTo>
                <a:lnTo>
                  <a:pt x="1495052" y="212517"/>
                </a:lnTo>
                <a:lnTo>
                  <a:pt x="1455260" y="212517"/>
                </a:lnTo>
                <a:lnTo>
                  <a:pt x="1455260" y="39504"/>
                </a:lnTo>
                <a:lnTo>
                  <a:pt x="1403356" y="39504"/>
                </a:lnTo>
                <a:close/>
                <a:moveTo>
                  <a:pt x="1211684" y="3748"/>
                </a:moveTo>
                <a:lnTo>
                  <a:pt x="1250035" y="3748"/>
                </a:lnTo>
                <a:lnTo>
                  <a:pt x="1336830" y="144754"/>
                </a:lnTo>
                <a:lnTo>
                  <a:pt x="1336830" y="3748"/>
                </a:lnTo>
                <a:lnTo>
                  <a:pt x="1376046" y="3748"/>
                </a:lnTo>
                <a:lnTo>
                  <a:pt x="1376046" y="212517"/>
                </a:lnTo>
                <a:lnTo>
                  <a:pt x="1337695" y="212517"/>
                </a:lnTo>
                <a:lnTo>
                  <a:pt x="1250900" y="70935"/>
                </a:lnTo>
                <a:lnTo>
                  <a:pt x="1250900" y="212517"/>
                </a:lnTo>
                <a:lnTo>
                  <a:pt x="1211684" y="212517"/>
                </a:lnTo>
                <a:close/>
                <a:moveTo>
                  <a:pt x="1040234" y="3748"/>
                </a:moveTo>
                <a:lnTo>
                  <a:pt x="1171723" y="3748"/>
                </a:lnTo>
                <a:lnTo>
                  <a:pt x="1171723" y="39216"/>
                </a:lnTo>
                <a:lnTo>
                  <a:pt x="1080026" y="39216"/>
                </a:lnTo>
                <a:lnTo>
                  <a:pt x="1080026" y="87948"/>
                </a:lnTo>
                <a:lnTo>
                  <a:pt x="1147502" y="87948"/>
                </a:lnTo>
                <a:lnTo>
                  <a:pt x="1147502" y="123704"/>
                </a:lnTo>
                <a:lnTo>
                  <a:pt x="1080026" y="123704"/>
                </a:lnTo>
                <a:lnTo>
                  <a:pt x="1080026" y="177049"/>
                </a:lnTo>
                <a:lnTo>
                  <a:pt x="1175760" y="177049"/>
                </a:lnTo>
                <a:lnTo>
                  <a:pt x="1175760" y="212517"/>
                </a:lnTo>
                <a:lnTo>
                  <a:pt x="1040234" y="212517"/>
                </a:lnTo>
                <a:close/>
                <a:moveTo>
                  <a:pt x="840209" y="3748"/>
                </a:moveTo>
                <a:lnTo>
                  <a:pt x="909414" y="3748"/>
                </a:lnTo>
                <a:cubicBezTo>
                  <a:pt x="940172" y="3748"/>
                  <a:pt x="963576" y="12495"/>
                  <a:pt x="979628" y="29989"/>
                </a:cubicBezTo>
                <a:cubicBezTo>
                  <a:pt x="995680" y="47482"/>
                  <a:pt x="1003706" y="73434"/>
                  <a:pt x="1003706" y="107844"/>
                </a:cubicBezTo>
                <a:cubicBezTo>
                  <a:pt x="1003706" y="142639"/>
                  <a:pt x="995680" y="168783"/>
                  <a:pt x="979628" y="186277"/>
                </a:cubicBezTo>
                <a:cubicBezTo>
                  <a:pt x="963576" y="203770"/>
                  <a:pt x="940172" y="212517"/>
                  <a:pt x="909414" y="212517"/>
                </a:cubicBezTo>
                <a:lnTo>
                  <a:pt x="840209" y="212517"/>
                </a:lnTo>
                <a:close/>
                <a:moveTo>
                  <a:pt x="755060" y="3748"/>
                </a:moveTo>
                <a:lnTo>
                  <a:pt x="794853" y="3748"/>
                </a:lnTo>
                <a:lnTo>
                  <a:pt x="794853" y="212517"/>
                </a:lnTo>
                <a:lnTo>
                  <a:pt x="755060" y="212517"/>
                </a:lnTo>
                <a:close/>
                <a:moveTo>
                  <a:pt x="602084" y="3748"/>
                </a:moveTo>
                <a:lnTo>
                  <a:pt x="731266" y="3748"/>
                </a:lnTo>
                <a:lnTo>
                  <a:pt x="731266" y="39216"/>
                </a:lnTo>
                <a:lnTo>
                  <a:pt x="641877" y="39216"/>
                </a:lnTo>
                <a:lnTo>
                  <a:pt x="641877" y="93715"/>
                </a:lnTo>
                <a:lnTo>
                  <a:pt x="714542" y="93715"/>
                </a:lnTo>
                <a:lnTo>
                  <a:pt x="714542" y="129471"/>
                </a:lnTo>
                <a:lnTo>
                  <a:pt x="641877" y="129471"/>
                </a:lnTo>
                <a:lnTo>
                  <a:pt x="641877" y="212517"/>
                </a:lnTo>
                <a:lnTo>
                  <a:pt x="602084" y="212517"/>
                </a:lnTo>
                <a:close/>
                <a:moveTo>
                  <a:pt x="392534" y="3748"/>
                </a:moveTo>
                <a:lnTo>
                  <a:pt x="430885" y="3748"/>
                </a:lnTo>
                <a:lnTo>
                  <a:pt x="517680" y="144754"/>
                </a:lnTo>
                <a:lnTo>
                  <a:pt x="517680" y="3748"/>
                </a:lnTo>
                <a:lnTo>
                  <a:pt x="556896" y="3748"/>
                </a:lnTo>
                <a:lnTo>
                  <a:pt x="556896" y="212517"/>
                </a:lnTo>
                <a:lnTo>
                  <a:pt x="518545" y="212517"/>
                </a:lnTo>
                <a:lnTo>
                  <a:pt x="431750" y="70935"/>
                </a:lnTo>
                <a:lnTo>
                  <a:pt x="431750" y="212517"/>
                </a:lnTo>
                <a:lnTo>
                  <a:pt x="392534" y="212517"/>
                </a:lnTo>
                <a:close/>
                <a:moveTo>
                  <a:pt x="263723" y="0"/>
                </a:moveTo>
                <a:cubicBezTo>
                  <a:pt x="292751" y="0"/>
                  <a:pt x="314906" y="9083"/>
                  <a:pt x="330189" y="27249"/>
                </a:cubicBezTo>
                <a:cubicBezTo>
                  <a:pt x="345471" y="45416"/>
                  <a:pt x="353113" y="72377"/>
                  <a:pt x="353113" y="108133"/>
                </a:cubicBezTo>
                <a:cubicBezTo>
                  <a:pt x="353113" y="143889"/>
                  <a:pt x="345471" y="170850"/>
                  <a:pt x="330189" y="189016"/>
                </a:cubicBezTo>
                <a:cubicBezTo>
                  <a:pt x="314906" y="207182"/>
                  <a:pt x="292751" y="216266"/>
                  <a:pt x="263723" y="216266"/>
                </a:cubicBezTo>
                <a:cubicBezTo>
                  <a:pt x="234695" y="216266"/>
                  <a:pt x="212540" y="207182"/>
                  <a:pt x="197257" y="189016"/>
                </a:cubicBezTo>
                <a:cubicBezTo>
                  <a:pt x="181974" y="170850"/>
                  <a:pt x="174333" y="143889"/>
                  <a:pt x="174333" y="108133"/>
                </a:cubicBezTo>
                <a:cubicBezTo>
                  <a:pt x="174333" y="72377"/>
                  <a:pt x="181974" y="45416"/>
                  <a:pt x="197257" y="27249"/>
                </a:cubicBezTo>
                <a:cubicBezTo>
                  <a:pt x="212540" y="9083"/>
                  <a:pt x="234695" y="0"/>
                  <a:pt x="263723" y="0"/>
                </a:cubicBezTo>
                <a:close/>
                <a:moveTo>
                  <a:pt x="95156" y="0"/>
                </a:moveTo>
                <a:cubicBezTo>
                  <a:pt x="105922" y="0"/>
                  <a:pt x="116495" y="1442"/>
                  <a:pt x="126875" y="4325"/>
                </a:cubicBezTo>
                <a:cubicBezTo>
                  <a:pt x="137256" y="7209"/>
                  <a:pt x="146195" y="11342"/>
                  <a:pt x="153692" y="16724"/>
                </a:cubicBezTo>
                <a:lnTo>
                  <a:pt x="140140" y="47002"/>
                </a:lnTo>
                <a:cubicBezTo>
                  <a:pt x="125145" y="39504"/>
                  <a:pt x="109959" y="35756"/>
                  <a:pt x="94580" y="35756"/>
                </a:cubicBezTo>
                <a:cubicBezTo>
                  <a:pt x="77471" y="35756"/>
                  <a:pt x="64255" y="42196"/>
                  <a:pt x="54931" y="55075"/>
                </a:cubicBezTo>
                <a:cubicBezTo>
                  <a:pt x="45608" y="67955"/>
                  <a:pt x="40946" y="86122"/>
                  <a:pt x="40946" y="109574"/>
                </a:cubicBezTo>
                <a:cubicBezTo>
                  <a:pt x="40946" y="156288"/>
                  <a:pt x="60073" y="179645"/>
                  <a:pt x="98328" y="179645"/>
                </a:cubicBezTo>
                <a:cubicBezTo>
                  <a:pt x="116014" y="179645"/>
                  <a:pt x="130528" y="176280"/>
                  <a:pt x="141870" y="169552"/>
                </a:cubicBezTo>
                <a:lnTo>
                  <a:pt x="155423" y="199541"/>
                </a:lnTo>
                <a:cubicBezTo>
                  <a:pt x="149079" y="204731"/>
                  <a:pt x="140716" y="208768"/>
                  <a:pt x="130336" y="211652"/>
                </a:cubicBezTo>
                <a:cubicBezTo>
                  <a:pt x="119955" y="214536"/>
                  <a:pt x="108709" y="215977"/>
                  <a:pt x="96598" y="215977"/>
                </a:cubicBezTo>
                <a:cubicBezTo>
                  <a:pt x="66033" y="215977"/>
                  <a:pt x="42292" y="206942"/>
                  <a:pt x="25375" y="188872"/>
                </a:cubicBezTo>
                <a:cubicBezTo>
                  <a:pt x="8458" y="170802"/>
                  <a:pt x="0" y="145330"/>
                  <a:pt x="0" y="112458"/>
                </a:cubicBezTo>
                <a:cubicBezTo>
                  <a:pt x="0" y="89390"/>
                  <a:pt x="3844" y="69397"/>
                  <a:pt x="11534" y="52480"/>
                </a:cubicBezTo>
                <a:cubicBezTo>
                  <a:pt x="19223" y="35563"/>
                  <a:pt x="30229" y="22588"/>
                  <a:pt x="44550" y="13552"/>
                </a:cubicBezTo>
                <a:cubicBezTo>
                  <a:pt x="58872" y="4517"/>
                  <a:pt x="75741" y="0"/>
                  <a:pt x="95156" y="0"/>
                </a:cubicBezTo>
                <a:close/>
              </a:path>
            </a:pathLst>
          </a:custGeom>
          <a:solidFill xmlns:a="http://schemas.openxmlformats.org/drawingml/2006/main">
            <a:srgbClr val="FF4040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solidFill>
                  <a:schemeClr val="accent1">
                    <a:alpha val="0"/>
                  </a:schemeClr>
                </a:solidFill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829D9629-7ACB-439C-BF93-8E4FE5FC259B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500562" y="1072752"/>
            <a:ext cx="8136000" cy="926400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>
              <a:lnSpc>
                <a:spcPct val="120000"/>
              </a:lnSpc>
              <a:buNone/>
              <a:defRPr sz="160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Headline or Subtitle</a:t>
            </a:r>
            <a:br/>
            <a:r>
              <a:t>Line 2 (If any)</a:t>
            </a:r>
            <a:endParaRPr/>
          </a:p>
        </p:txBody>
      </p:sp>
      <p:sp>
        <p:nvSpPr>
          <p:cNvPr id="28" name="직사각형 27">
            <a:extLst xmlns:a="http://schemas.openxmlformats.org/drawingml/2006/main">
              <a:ext uri="{FF2B5EF4-FFF2-40B4-BE49-F238E27FC236}">
                <a16:creationId xmlns:a16="http://schemas.microsoft.com/office/drawing/2014/main" id="{46D80D47-4271-47F7-9AEF-D4355A19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84" y="2560170"/>
            <a:ext cx="8175972" cy="2523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28600" indent="-228600">
              <a:lnSpc>
                <a:spcPct val="130000"/>
              </a:lnSpc>
              <a:buFont typeface="Arial"/>
              <a:buChar char="•"/>
            </a:pPr>
            <a:endParaRPr sz="120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29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4136FCA3-7A1F-4520-90D9-E026CB8D07F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00562" y="2105171"/>
            <a:ext cx="8140518" cy="410813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230400" indent="-230400">
              <a:buNone/>
              <a:defRPr sz="1400"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latin typeface="+mn-lt"/>
                <a:ea typeface="+mn-lt"/>
                <a:cs typeface="+mn-lt"/>
              </a:defRPr>
            </a:lvl3pPr>
            <a:lvl4pPr>
              <a:buNone/>
              <a:defRPr sz="1400">
                <a:latin typeface="+mn-lt"/>
                <a:ea typeface="+mn-lt"/>
                <a:cs typeface="+mn-lt"/>
              </a:defRPr>
            </a:lvl4pPr>
            <a:lvl5pPr>
              <a:buNone/>
              <a:defRPr sz="1400">
                <a:latin typeface="+mn-lt"/>
                <a:ea typeface="+mn-lt"/>
                <a:cs typeface="+mn-lt"/>
              </a:defRPr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03f3bb2f44ee4517" /><Relationship Type="http://schemas.openxmlformats.org/officeDocument/2006/relationships/theme" Target="/ppt/slideMasters/theme/theme2.xml" Id="R1de0704155904003" /><Relationship Type="http://schemas.openxmlformats.org/officeDocument/2006/relationships/slideLayout" Target="/ppt/slideLayouts/slideLayout1.xml" Id="R3181faab0d594518" /><Relationship Type="http://schemas.openxmlformats.org/officeDocument/2006/relationships/slideLayout" Target="/ppt/slideLayouts/slideLayout2.xml" Id="R7099f7fb41364579" /><Relationship Type="http://schemas.openxmlformats.org/officeDocument/2006/relationships/slideLayout" Target="/ppt/slideLayouts/slideLayout3.xml" Id="Rb52e9040a85f4d58" /><Relationship Type="http://schemas.openxmlformats.org/officeDocument/2006/relationships/slideLayout" Target="/ppt/slideLayouts/slideLayout4.xml" Id="Rb7e60e28f4854262" /><Relationship Type="http://schemas.openxmlformats.org/officeDocument/2006/relationships/slideLayout" Target="/ppt/slideLayouts/slideLayout5.xml" Id="Re995cdbc2643444e" /><Relationship Type="http://schemas.openxmlformats.org/officeDocument/2006/relationships/slideLayout" Target="/ppt/slideLayouts/slideLayout6.xml" Id="R960cfc2c88404449" /><Relationship Type="http://schemas.openxmlformats.org/officeDocument/2006/relationships/slideLayout" Target="/ppt/slideLayouts/slideLayout7.xml" Id="Rd33cd9994dfb4c03" /><Relationship Type="http://schemas.openxmlformats.org/officeDocument/2006/relationships/slideLayout" Target="/ppt/slideLayouts/slideLayout8.xml" Id="Rf23a762bc4494405" /><Relationship Type="http://schemas.openxmlformats.org/officeDocument/2006/relationships/slideLayout" Target="/ppt/slideLayouts/slideLayout9.xml" Id="R0f0d8620d7b94001" /><Relationship Type="http://schemas.openxmlformats.org/officeDocument/2006/relationships/slideLayout" Target="/ppt/slideLayouts/slideLayout10.xml" Id="Ra0e8d3910088456f" /><Relationship Type="http://schemas.openxmlformats.org/officeDocument/2006/relationships/slideLayout" Target="/ppt/slideLayouts/slideLayout11.xml" Id="Rdd69796a3b544c63" /><Relationship Type="http://schemas.openxmlformats.org/officeDocument/2006/relationships/slideLayout" Target="/ppt/slideLayouts/slideLayout12.xml" Id="R3637a623507e4037" /><Relationship Type="http://schemas.openxmlformats.org/officeDocument/2006/relationships/slideLayout" Target="/ppt/slideLayouts/slideLayout13.xml" Id="Rc5ee8d3585904f24" /><Relationship Type="http://schemas.openxmlformats.org/officeDocument/2006/relationships/slideLayout" Target="/ppt/slideLayouts/slideLayout14.xml" Id="R3fc96b5eb7484f02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A857A04-B51C-4A34-9209-DA2C2D07A5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609600"/>
            <a:ext cx="7772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BDF3D64-BA3A-4B66-8123-AFB61A5288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81200"/>
            <a:ext cx="7772400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28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3C6328B-4ABC-4BDD-AA6D-24FF22AFBF2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85800" y="62484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>
              <a:buNone/>
              <a:defRPr sz="1400" baseline="0">
                <a:latin typeface="Helvetica Neue Light"/>
                <a:ea typeface="Helvetica Neue Light"/>
                <a:cs typeface="Helvetica Neue Light"/>
              </a:defRPr>
            </a:lvl1pPr>
          </a:lstStyle>
          <a:p xmlns:a="http://schemas.openxmlformats.org/drawingml/2006/main">
            <a:pPr>
              <a:buNone/>
            </a:pPr>
            <a:fld id="{016C02DA-53E4-4119-9BA6-C55A23448B40}" type="datetime1">
              <a:t>5/18/2025</a:t>
            </a:fld>
            <a:endParaRPr/>
          </a:p>
        </p:txBody>
      </p:sp>
      <p:sp>
        <p:nvSpPr>
          <p:cNvPr id="1029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1959215-E987-4B37-9761-8052328F60E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2667000" y="6248400"/>
            <a:ext cx="335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ctr">
              <a:buNone/>
              <a:defRPr sz="1400" baseline="0">
                <a:latin typeface="Helvetica Neue Light"/>
                <a:ea typeface="Helvetica Neue Light"/>
                <a:cs typeface="Helvetica Neue Ligh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03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D517F44-A2A1-4C9E-A2DB-F636B720CFF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019800" y="6248400"/>
            <a:ext cx="83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r">
              <a:buNone/>
              <a:defRPr sz="1400" baseline="0">
                <a:latin typeface="Helvetica Neue Light"/>
                <a:ea typeface="Helvetica Neue Light"/>
                <a:cs typeface="Helvetica Neue Light"/>
              </a:defRPr>
            </a:lvl1pPr>
          </a:lstStyle>
          <a:p xmlns:a="http://schemas.openxmlformats.org/drawingml/2006/main">
            <a:fld id="{FF40D387-18BB-4915-B95C-3C5F0931D198}" type="slidenum">
              <a:t>‹#›</a:t>
            </a:fld>
            <a:endParaRPr/>
          </a:p>
        </p:txBody>
      </p:sp>
      <p:pic>
        <p:nvPicPr>
          <p:cNvPr id="10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3bb2f44ee451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3888" y="6189663"/>
            <a:ext cx="728662" cy="61118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81faab0d594518"/>
    <p:sldLayoutId xmlns:r="http://schemas.openxmlformats.org/officeDocument/2006/relationships" id="2147483650" r:id="R7099f7fb41364579"/>
    <p:sldLayoutId xmlns:r="http://schemas.openxmlformats.org/officeDocument/2006/relationships" id="2147483651" r:id="Rb52e9040a85f4d58"/>
    <p:sldLayoutId xmlns:r="http://schemas.openxmlformats.org/officeDocument/2006/relationships" id="2147483652" r:id="Rb7e60e28f4854262"/>
    <p:sldLayoutId xmlns:r="http://schemas.openxmlformats.org/officeDocument/2006/relationships" id="2147483653" r:id="Re995cdbc2643444e"/>
    <p:sldLayoutId xmlns:r="http://schemas.openxmlformats.org/officeDocument/2006/relationships" id="2147483654" r:id="R960cfc2c88404449"/>
    <p:sldLayoutId xmlns:r="http://schemas.openxmlformats.org/officeDocument/2006/relationships" id="2147483655" r:id="Rd33cd9994dfb4c03"/>
    <p:sldLayoutId xmlns:r="http://schemas.openxmlformats.org/officeDocument/2006/relationships" id="2147483656" r:id="Rf23a762bc4494405"/>
    <p:sldLayoutId xmlns:r="http://schemas.openxmlformats.org/officeDocument/2006/relationships" id="2147483657" r:id="R0f0d8620d7b94001"/>
    <p:sldLayoutId xmlns:r="http://schemas.openxmlformats.org/officeDocument/2006/relationships" id="2147483658" r:id="Ra0e8d3910088456f"/>
    <p:sldLayoutId xmlns:r="http://schemas.openxmlformats.org/officeDocument/2006/relationships" id="2147483659" r:id="Rdd69796a3b544c63"/>
    <p:sldLayoutId xmlns:r="http://schemas.openxmlformats.org/officeDocument/2006/relationships" id="2147483660" r:id="R3637a623507e4037"/>
    <p:sldLayoutId xmlns:r="http://schemas.openxmlformats.org/officeDocument/2006/relationships" id="2147483661" r:id="Rc5ee8d3585904f24"/>
    <p:sldLayoutId xmlns:r="http://schemas.openxmlformats.org/officeDocument/2006/relationships" id="2147483662" r:id="R3fc96b5eb7484f02"/>
  </p:sldLayoutIdLst>
  <p:hf hdr="0" ftr="0" dt="0"/>
  <p:txStyles>
    <p:titleStyle>
      <a:lvl1pPr xmlns:a="http://schemas.openxmlformats.org/drawingml/2006/main" algn="ctr">
        <a:spcBef>
          <a:spcPct val="0"/>
        </a:spcBef>
        <a:spcAft>
          <a:spcPct val="0"/>
        </a:spcAft>
        <a:buNone/>
        <a:defRPr sz="3600" b="1">
          <a:solidFill>
            <a:schemeClr val="tx2"/>
          </a:solidFill>
          <a:latin typeface="Times New Roman"/>
          <a:ea typeface="Times New Roman"/>
          <a:cs typeface="Times New Roman"/>
        </a:defRPr>
      </a:lvl1pPr>
      <a:lvl2pPr xmlns:a="http://schemas.openxmlformats.org/drawingml/2006/main" algn="ctr">
        <a:spcBef>
          <a:spcPct val="0"/>
        </a:spcBef>
        <a:spcAft>
          <a:spcPct val="0"/>
        </a:spcAft>
        <a:buNone/>
        <a:defRPr sz="3600" b="1">
          <a:solidFill>
            <a:schemeClr val="tx2"/>
          </a:solidFill>
          <a:latin typeface="Times New Roman"/>
          <a:ea typeface="Times New Roman"/>
          <a:cs typeface="Times New Roman"/>
        </a:defRPr>
      </a:lvl2pPr>
      <a:lvl3pPr xmlns:a="http://schemas.openxmlformats.org/drawingml/2006/main" algn="ctr">
        <a:spcBef>
          <a:spcPct val="0"/>
        </a:spcBef>
        <a:spcAft>
          <a:spcPct val="0"/>
        </a:spcAft>
        <a:buNone/>
        <a:defRPr sz="3600" b="1">
          <a:solidFill>
            <a:schemeClr val="tx2"/>
          </a:solidFill>
          <a:latin typeface="Times New Roman"/>
          <a:ea typeface="Times New Roman"/>
          <a:cs typeface="Times New Roman"/>
        </a:defRPr>
      </a:lvl3pPr>
      <a:lvl4pPr xmlns:a="http://schemas.openxmlformats.org/drawingml/2006/main" algn="ctr">
        <a:spcBef>
          <a:spcPct val="0"/>
        </a:spcBef>
        <a:spcAft>
          <a:spcPct val="0"/>
        </a:spcAft>
        <a:buNone/>
        <a:defRPr sz="3600" b="1">
          <a:solidFill>
            <a:schemeClr val="tx2"/>
          </a:solidFill>
          <a:latin typeface="Times New Roman"/>
          <a:ea typeface="Times New Roman"/>
          <a:cs typeface="Times New Roman"/>
        </a:defRPr>
      </a:lvl4pPr>
      <a:lvl5pPr xmlns:a="http://schemas.openxmlformats.org/drawingml/2006/main" algn="ctr">
        <a:spcBef>
          <a:spcPct val="0"/>
        </a:spcBef>
        <a:spcAft>
          <a:spcPct val="0"/>
        </a:spcAft>
        <a:buNone/>
        <a:defRPr sz="3600" b="1">
          <a:solidFill>
            <a:schemeClr val="tx2"/>
          </a:solidFill>
          <a:latin typeface="Times New Roman"/>
          <a:ea typeface="Times New Roman"/>
          <a:cs typeface="Times New Roman"/>
        </a:defRPr>
      </a:lvl5pPr>
      <a:lvl6pPr xmlns:a="http://schemas.openxmlformats.org/drawingml/2006/main" marL="457200" algn="l">
        <a:spcBef>
          <a:spcPct val="0"/>
        </a:spcBef>
        <a:spcAft>
          <a:spcPct val="0"/>
        </a:spcAft>
        <a:buNone/>
        <a:defRPr sz="3200" b="1">
          <a:solidFill>
            <a:schemeClr val="tx2"/>
          </a:solidFill>
          <a:latin typeface="Helvetica Neue"/>
          <a:ea typeface="Helvetica Neue"/>
          <a:cs typeface="Helvetica Neue"/>
        </a:defRPr>
      </a:lvl6pPr>
      <a:lvl7pPr xmlns:a="http://schemas.openxmlformats.org/drawingml/2006/main" marL="914400" algn="l">
        <a:spcBef>
          <a:spcPct val="0"/>
        </a:spcBef>
        <a:spcAft>
          <a:spcPct val="0"/>
        </a:spcAft>
        <a:buNone/>
        <a:defRPr sz="3200" b="1">
          <a:solidFill>
            <a:schemeClr val="tx2"/>
          </a:solidFill>
          <a:latin typeface="Helvetica Neue"/>
          <a:ea typeface="Helvetica Neue"/>
          <a:cs typeface="Helvetica Neue"/>
        </a:defRPr>
      </a:lvl7pPr>
      <a:lvl8pPr xmlns:a="http://schemas.openxmlformats.org/drawingml/2006/main" marL="1371600" algn="l">
        <a:spcBef>
          <a:spcPct val="0"/>
        </a:spcBef>
        <a:spcAft>
          <a:spcPct val="0"/>
        </a:spcAft>
        <a:buNone/>
        <a:defRPr sz="3200" b="1">
          <a:solidFill>
            <a:schemeClr val="tx2"/>
          </a:solidFill>
          <a:latin typeface="Helvetica Neue"/>
          <a:ea typeface="Helvetica Neue"/>
          <a:cs typeface="Helvetica Neue"/>
        </a:defRPr>
      </a:lvl8pPr>
      <a:lvl9pPr xmlns:a="http://schemas.openxmlformats.org/drawingml/2006/main" marL="1828800" algn="l">
        <a:spcBef>
          <a:spcPct val="0"/>
        </a:spcBef>
        <a:spcAft>
          <a:spcPct val="0"/>
        </a:spcAft>
        <a:buNone/>
        <a:defRPr sz="3200" b="1">
          <a:solidFill>
            <a:schemeClr val="tx2"/>
          </a:solidFill>
          <a:latin typeface="Helvetica Neue"/>
          <a:ea typeface="Helvetica Neue"/>
          <a:cs typeface="Helvetica Neue"/>
        </a:defRPr>
      </a:lvl9pPr>
    </p:titleStyle>
    <p:bodyStyle>
      <a:lvl1pPr xmlns:a="http://schemas.openxmlformats.org/drawingml/2006/main" marL="342900" indent="-342900" algn="l">
        <a:spcBef>
          <a:spcPct val="20000"/>
        </a:spcBef>
        <a:spcAft>
          <a:spcPts val="600"/>
        </a:spcAft>
        <a:buChar char="•"/>
        <a:defRPr sz="2800">
          <a:solidFill>
            <a:schemeClr val="tx1"/>
          </a:solidFill>
          <a:latin typeface="Times New Roman"/>
          <a:ea typeface="Times New Roman"/>
          <a:cs typeface="Times New Roman"/>
        </a:defRPr>
      </a:lvl1pPr>
      <a:lvl2pPr xmlns:a="http://schemas.openxmlformats.org/drawingml/2006/main" marL="742950" indent="-285750" algn="l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Times New Roman"/>
          <a:ea typeface="Times New Roman"/>
          <a:cs typeface="Times New Roman"/>
        </a:defRPr>
      </a:lvl2pPr>
      <a:lvl3pPr xmlns:a="http://schemas.openxmlformats.org/drawingml/2006/main" marL="1143000" indent="-228600" algn="l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/>
          <a:ea typeface="Times New Roman"/>
          <a:cs typeface="Times New Roman"/>
        </a:defRPr>
      </a:lvl3pPr>
      <a:lvl4pPr xmlns:a="http://schemas.openxmlformats.org/drawingml/2006/main" marL="1600200" indent="-228600" algn="l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Times New Roman"/>
          <a:ea typeface="Times New Roman"/>
          <a:cs typeface="Times New Roman"/>
        </a:defRPr>
      </a:lvl4pPr>
      <a:lvl5pPr xmlns:a="http://schemas.openxmlformats.org/drawingml/2006/main" marL="2057400" indent="-228600" algn="l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NTUPowerpointTemplate_Aug2010">
  <a:themeElements>
    <a:clrScheme name="NTU Corp Colors (Deep Red)">
      <a:dk1>
        <a:srgbClr val="262626"/>
      </a:dk1>
      <a:lt1>
        <a:sysClr val="window" lastClr="FFFFFF"/>
      </a:lt1>
      <a:dk2>
        <a:srgbClr val="1F497D"/>
      </a:dk2>
      <a:lt2>
        <a:srgbClr val="C7C7C7"/>
      </a:lt2>
      <a:accent1>
        <a:srgbClr val="C60C30"/>
      </a:accent1>
      <a:accent2>
        <a:srgbClr val="003478"/>
      </a:accent2>
      <a:accent3>
        <a:srgbClr val="C49000"/>
      </a:accent3>
      <a:accent4>
        <a:srgbClr val="7A071E"/>
      </a:accent4>
      <a:accent5>
        <a:srgbClr val="0055C4"/>
      </a:accent5>
      <a:accent6>
        <a:srgbClr val="786C00"/>
      </a:accent6>
      <a:hlink>
        <a:srgbClr val="FFFF00"/>
      </a:hlink>
      <a:folHlink>
        <a:srgbClr val="002060"/>
      </a:folHlink>
    </a:clrScheme>
    <a:fontScheme name="Blank Presentation">
      <a:majorFont>
        <a:latin typeface="Helvetica Neue"/>
        <a:ea typeface="ＭＳ Ｐゴシック"/>
        <a:cs typeface=""/>
      </a:majorFont>
      <a:minorFont>
        <a:latin typeface="Helvetica Neue Light"/>
        <a:ea typeface="ＭＳ Ｐゴシック"/>
        <a:cs typeface=""/>
      </a:minorFont>
    </a:fontScheme>
    <a:fmtScheme name="NTU Corp Colors (Deep Red)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475d9ad773343be" /><Relationship Type="http://schemas.openxmlformats.org/officeDocument/2006/relationships/notesSlide" Target="/ppt/notesSlides/notesSlide1.xml" Id="R60751c1bc0eb44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25aef492a294024" /><Relationship Type="http://schemas.openxmlformats.org/officeDocument/2006/relationships/notesSlide" Target="/ppt/notesSlides/notesSlide2.xml" Id="R2b1395984a7448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d53dbfee51a4605" /><Relationship Type="http://schemas.openxmlformats.org/officeDocument/2006/relationships/notesSlide" Target="/ppt/notesSlides/notesSlide3.xml" Id="R5946a099c1ce48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706a21db8f64bda" /><Relationship Type="http://schemas.openxmlformats.org/officeDocument/2006/relationships/notesSlide" Target="/ppt/notesSlides/notesSlide4.xml" Id="Rb2579d369f3a42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2568fa26a434820" /><Relationship Type="http://schemas.openxmlformats.org/officeDocument/2006/relationships/notesSlide" Target="/ppt/notesSlides/notesSlide5.xml" Id="R53a2980e2bdc47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aef49b808646d7" /><Relationship Type="http://schemas.openxmlformats.org/officeDocument/2006/relationships/image" Target="/ppt/media/image3.png" Id="Rf06cf59e53d9480d" /><Relationship Type="http://schemas.openxmlformats.org/officeDocument/2006/relationships/image" Target="/ppt/media/image4.png" Id="R7fe0e461bcce4653" /><Relationship Type="http://schemas.openxmlformats.org/officeDocument/2006/relationships/notesSlide" Target="/ppt/notesSlides/notesSlide6.xml" Id="R75f3911f733144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a252792274419f" /><Relationship Type="http://schemas.openxmlformats.org/officeDocument/2006/relationships/image" Target="/ppt/media/image5.png" Id="R4b3b0f35be074e2b" /><Relationship Type="http://schemas.openxmlformats.org/officeDocument/2006/relationships/notesSlide" Target="/ppt/notesSlides/notesSlide7.xml" Id="R75cfa6c8837b43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ac36634d17a4f42" /><Relationship Type="http://schemas.openxmlformats.org/officeDocument/2006/relationships/notesSlide" Target="/ppt/notesSlides/notesSlide8.xml" Id="Rcaab3cc98ed747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005259f77b940e3" /><Relationship Type="http://schemas.openxmlformats.org/officeDocument/2006/relationships/notesSlide" Target="/ppt/notesSlides/notesSlide9.xml" Id="Rc6ede8e6a12a49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8e53a254c84280" /><Relationship Type="http://schemas.openxmlformats.org/officeDocument/2006/relationships/image" Target="/ppt/media/image6.png" Id="R50b2f31c67e2426d" /><Relationship Type="http://schemas.openxmlformats.org/officeDocument/2006/relationships/image" Target="/ppt/media/image7.png" Id="Rd324922abe3846e6" /><Relationship Type="http://schemas.openxmlformats.org/officeDocument/2006/relationships/image" Target="/ppt/media/image8.png" Id="R8ad5503810fb49eb" /><Relationship Type="http://schemas.openxmlformats.org/officeDocument/2006/relationships/notesSlide" Target="/ppt/notesSlides/notesSlide10.xml" Id="R87cf19176e5f44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b2b4419a32411f" /><Relationship Type="http://schemas.openxmlformats.org/officeDocument/2006/relationships/image" Target="/ppt/media/image9.png" Id="R38aeeef1cf964291" /><Relationship Type="http://schemas.openxmlformats.org/officeDocument/2006/relationships/image" Target="/ppt/media/image10.png" Id="R81a594aea611443a" /><Relationship Type="http://schemas.openxmlformats.org/officeDocument/2006/relationships/image" Target="/ppt/media/image11.png" Id="R0104627a81e349ae" /><Relationship Type="http://schemas.openxmlformats.org/officeDocument/2006/relationships/image" Target="/ppt/media/image12.png" Id="R7e9a41af674c4eae" /><Relationship Type="http://schemas.openxmlformats.org/officeDocument/2006/relationships/notesSlide" Target="/ppt/notesSlides/notesSlide11.xml" Id="Re9b362c8364e459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46e1a4b789343e6" /><Relationship Type="http://schemas.openxmlformats.org/officeDocument/2006/relationships/notesSlide" Target="/ppt/notesSlides/notesSlide12.xml" Id="R6c19d8242b1447c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b0f436ded8144df" /><Relationship Type="http://schemas.openxmlformats.org/officeDocument/2006/relationships/notesSlide" Target="/ppt/notesSlides/notesSlide13.xml" Id="Rd77d7a5b499c4b9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08c805612fc44ff" /><Relationship Type="http://schemas.openxmlformats.org/officeDocument/2006/relationships/image" Target="/ppt/media/image13.png" Id="Rf1369eadde7f4242" /><Relationship Type="http://schemas.openxmlformats.org/officeDocument/2006/relationships/image" Target="/ppt/media/image14.png" Id="Rcc9df82f52344e6e" /><Relationship Type="http://schemas.openxmlformats.org/officeDocument/2006/relationships/notesSlide" Target="/ppt/notesSlides/notesSlide14.xml" Id="R724d339d3ecc45d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6a2da18cb2d8434b" /><Relationship Type="http://schemas.openxmlformats.org/officeDocument/2006/relationships/image" Target="/ppt/media/image15.png" Id="Rfe36285c6ac449f4" /><Relationship Type="http://schemas.openxmlformats.org/officeDocument/2006/relationships/image" Target="/ppt/media/image16.png" Id="R70b5c6cd089749aa" /><Relationship Type="http://schemas.openxmlformats.org/officeDocument/2006/relationships/image" Target="/ppt/media/image17.png" Id="R376373a15feb47f3" /><Relationship Type="http://schemas.openxmlformats.org/officeDocument/2006/relationships/notesSlide" Target="/ppt/notesSlides/notesSlide15.xml" Id="R4c75d8eefb7d4a8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edf9d28164c7478b" /><Relationship Type="http://schemas.openxmlformats.org/officeDocument/2006/relationships/image" Target="/ppt/media/image18.png" Id="Ra0529e552c9b4ad5" /><Relationship Type="http://schemas.openxmlformats.org/officeDocument/2006/relationships/notesSlide" Target="/ppt/notesSlides/notesSlide16.xml" Id="R1193d1d9ae2e481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404266b8b49742e9" /><Relationship Type="http://schemas.openxmlformats.org/officeDocument/2006/relationships/image" Target="/ppt/media/image19.png" Id="Rdd6dd0946f4b4f6e" /><Relationship Type="http://schemas.openxmlformats.org/officeDocument/2006/relationships/image" Target="/ppt/media/image20.png" Id="Ra2dc1ad857714e5a" /><Relationship Type="http://schemas.openxmlformats.org/officeDocument/2006/relationships/notesSlide" Target="/ppt/notesSlides/notesSlide17.xml" Id="Rc417984a16354b1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96a908a536404b1f" /><Relationship Type="http://schemas.openxmlformats.org/officeDocument/2006/relationships/image" Target="/ppt/media/image21.png" Id="Rba3bb78f03854feb" /><Relationship Type="http://schemas.openxmlformats.org/officeDocument/2006/relationships/image" Target="/ppt/media/image22.png" Id="Rce0c785d7d5749a1" /><Relationship Type="http://schemas.openxmlformats.org/officeDocument/2006/relationships/notesSlide" Target="/ppt/notesSlides/notesSlide18.xml" Id="R47548842cf604da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15c4d7342504fda" /><Relationship Type="http://schemas.openxmlformats.org/officeDocument/2006/relationships/notesSlide" Target="/ppt/notesSlides/notesSlide19.xml" Id="Rb74bdc2b2a91488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d7a71a7c8824437" /><Relationship Type="http://schemas.openxmlformats.org/officeDocument/2006/relationships/notesSlide" Target="/ppt/notesSlides/notesSlide20.xml" Id="R4dbec546f78b472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b8e504fd55e4cd4" /><Relationship Type="http://schemas.openxmlformats.org/officeDocument/2006/relationships/notesSlide" Target="/ppt/notesSlides/notesSlide21.xml" Id="R10a2788ac03c4dc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71ceb8613f2496c" /><Relationship Type="http://schemas.openxmlformats.org/officeDocument/2006/relationships/notesSlide" Target="/ppt/notesSlides/notesSlide22.xml" Id="R4cb942f4baf1483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72a325181d0493c" /><Relationship Type="http://schemas.openxmlformats.org/officeDocument/2006/relationships/notesSlide" Target="/ppt/notesSlides/notesSlide23.xml" Id="R87eee384b4fd490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c14c7c0264c40b3" /><Relationship Type="http://schemas.openxmlformats.org/officeDocument/2006/relationships/notesSlide" Target="/ppt/notesSlides/notesSlide24.xml" Id="R0cda8bc78ef945d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887388754f74896" /><Relationship Type="http://schemas.openxmlformats.org/officeDocument/2006/relationships/notesSlide" Target="/ppt/notesSlides/notesSlide25.xml" Id="R7bb94afdb5ca443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f58e61527864941" /><Relationship Type="http://schemas.openxmlformats.org/officeDocument/2006/relationships/notesSlide" Target="/ppt/notesSlides/notesSlide26.xml" Id="Re1c7b682e26d431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c191db9e4d34a5b" /><Relationship Type="http://schemas.openxmlformats.org/officeDocument/2006/relationships/notesSlide" Target="/ppt/notesSlides/notesSlide27.xml" Id="R060f7f13c5874b0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f5e966090ba445e" /><Relationship Type="http://schemas.openxmlformats.org/officeDocument/2006/relationships/notesSlide" Target="/ppt/notesSlides/notesSlide28.xml" Id="R93a002d98321475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674db03da22402d" /><Relationship Type="http://schemas.openxmlformats.org/officeDocument/2006/relationships/notesSlide" Target="/ppt/notesSlides/notesSlide29.xml" Id="R4b41684bb2674c2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bb75e7762d44fa0" /><Relationship Type="http://schemas.openxmlformats.org/officeDocument/2006/relationships/notesSlide" Target="/ppt/notesSlides/notesSlide30.xml" Id="Rb42f72dd54844dc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e275d4263054d8a" /><Relationship Type="http://schemas.openxmlformats.org/officeDocument/2006/relationships/notesSlide" Target="/ppt/notesSlides/notesSlide31.xml" Id="R9103b08427c5459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9a61e43e55ef462b" /><Relationship Type="http://schemas.openxmlformats.org/officeDocument/2006/relationships/image" Target="/ppt/media/image23.png" Id="R090636e0e8f34dbb" /><Relationship Type="http://schemas.openxmlformats.org/officeDocument/2006/relationships/notesSlide" Target="/ppt/notesSlides/notesSlide32.xml" Id="R8444bb4db34e490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7757e3a0a401413c" /><Relationship Type="http://schemas.openxmlformats.org/officeDocument/2006/relationships/image" Target="/ppt/media/image23.png" Id="R13852e149ced4296" /><Relationship Type="http://schemas.openxmlformats.org/officeDocument/2006/relationships/image" Target="/ppt/media/image24.png" Id="Rb4c8b2e7a7914c75" /><Relationship Type="http://schemas.openxmlformats.org/officeDocument/2006/relationships/notesSlide" Target="/ppt/notesSlides/notesSlide33.xml" Id="R13e987bbeff54f8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0a29b592cb0480c" /><Relationship Type="http://schemas.openxmlformats.org/officeDocument/2006/relationships/notesSlide" Target="/ppt/notesSlides/notesSlide34.xml" Id="Rd1039e8905714f4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5f62855cf854ee6" /><Relationship Type="http://schemas.openxmlformats.org/officeDocument/2006/relationships/notesSlide" Target="/ppt/notesSlides/notesSlide35.xml" Id="R7c81454dc96a4b3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40d6941d56b4de8" /><Relationship Type="http://schemas.openxmlformats.org/officeDocument/2006/relationships/notesSlide" Target="/ppt/notesSlides/notesSlide36.xml" Id="Rb69b9972c487465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159d8c479114c9c" /><Relationship Type="http://schemas.openxmlformats.org/officeDocument/2006/relationships/notesSlide" Target="/ppt/notesSlides/notesSlide37.xml" Id="R7b779e1bbd9a49a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5da6b3b878547a5" /><Relationship Type="http://schemas.openxmlformats.org/officeDocument/2006/relationships/notesSlide" Target="/ppt/notesSlides/notesSlide38.xml" Id="R210fac98c369419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0dbc80b3421468e" /><Relationship Type="http://schemas.openxmlformats.org/officeDocument/2006/relationships/notesSlide" Target="/ppt/notesSlides/notesSlide39.xml" Id="Rcb2ea5105f684ac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a4b9b457ee04425" /><Relationship Type="http://schemas.openxmlformats.org/officeDocument/2006/relationships/notesSlide" Target="/ppt/notesSlides/notesSlide40.xml" Id="Rc97b86c1f9b64fa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594d31fb3dd4f4f" /><Relationship Type="http://schemas.openxmlformats.org/officeDocument/2006/relationships/notesSlide" Target="/ppt/notesSlides/notesSlide41.xml" Id="R011e3dce4fb443a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1fcd661f2794ca3" /><Relationship Type="http://schemas.openxmlformats.org/officeDocument/2006/relationships/notesSlide" Target="/ppt/notesSlides/notesSlide42.xml" Id="R63bda1619ae5441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fe405cc45a54dd3" /><Relationship Type="http://schemas.openxmlformats.org/officeDocument/2006/relationships/notesSlide" Target="/ppt/notesSlides/notesSlide43.xml" Id="R82be0949c95340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1">
            <a:extLst xmlns:a="http://schemas.openxmlformats.org/drawingml/2006/main">
              <a:ext uri="{FF2B5EF4-FFF2-40B4-BE49-F238E27FC236}">
                <a16:creationId xmlns:a16="http://schemas.microsoft.com/office/drawing/2014/main" id="{ABEBD904-63CA-42B3-AA73-6ED40AAF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KMB689 · SEMINAR 9</a:t>
            </a:r>
          </a:p>
        </p:txBody>
      </p:sp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CE975776-2FFA-4B10-AF80-A1A5DD84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데이터 시각화와 측정 타당성</a:t>
            </a:r>
          </a:p>
        </p:txBody>
      </p:sp>
      <p:sp>
        <p:nvSpPr>
          <p:cNvPr id="3" name="number-1">
            <a:extLst xmlns:a="http://schemas.openxmlformats.org/drawingml/2006/main">
              <a:ext uri="{FF2B5EF4-FFF2-40B4-BE49-F238E27FC236}">
                <a16:creationId xmlns:a16="http://schemas.microsoft.com/office/drawing/2014/main" id="{8A448A7D-3CC4-4BA1-B259-34C030DC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" name="cover">
            <a:extLst xmlns:a="http://schemas.openxmlformats.org/drawingml/2006/main">
              <a:ext uri="{FF2B5EF4-FFF2-40B4-BE49-F238E27FC236}">
                <a16:creationId xmlns:a16="http://schemas.microsoft.com/office/drawing/2014/main" id="{597E8A14-AA89-4CA4-98C9-6F956D24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Seminar 9 Data Visualization</a:t>
            </a:r>
          </a:p>
        </p:txBody>
      </p:sp>
      <p:sp>
        <p:nvSpPr>
          <p:cNvPr id="5" name="cover-detail">
            <a:extLst xmlns:a="http://schemas.openxmlformats.org/drawingml/2006/main">
              <a:ext uri="{FF2B5EF4-FFF2-40B4-BE49-F238E27FC236}">
                <a16:creationId xmlns:a16="http://schemas.microsoft.com/office/drawing/2014/main" id="{BDAFC09D-604D-4708-B6BC-95F7C8FD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KMB689: Big Data for Business Applications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Korea University Business School</a:t>
            </a:r>
          </a:p>
        </p:txBody>
      </p:sp>
    </p:spTree>
    <p:extLst>
      <p:ext uri="{BB962C8B-B14F-4D97-AF65-F5344CB8AC3E}">
        <p14:creationId xmlns:p14="http://schemas.microsoft.com/office/powerpoint/2010/main" val="30322045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2">
            <a:extLst xmlns:a="http://schemas.openxmlformats.org/drawingml/2006/main">
              <a:ext uri="{FF2B5EF4-FFF2-40B4-BE49-F238E27FC236}">
                <a16:creationId xmlns:a16="http://schemas.microsoft.com/office/drawing/2014/main" id="{DFD74215-E090-4773-86DF-B3D8DE3F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1.1 · OVERVIEW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25CA9174-1A38-4079-BE66-8F2ABD94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오늘의 두 블록</a:t>
            </a:r>
          </a:p>
        </p:txBody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E4F56803-F547-4842-B58E-838B43E1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62000" y="1714500"/>
          <a:ext xmlns:a="http://schemas.openxmlformats.org/drawingml/2006/main" cx="76200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3810000"/>
              </a:tblGrid>
              <a:tr h="15240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1블록 · 75분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2블록 · 약 70분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15240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차트 선택과 정직한 인코딩</a:t>
                      </a:r>
                    </a:p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오도 차트 체크리스트</a:t>
                      </a:r>
                    </a:p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측정 타당성·검증 5문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AttentionDisplacement 사례</a:t>
                      </a:r>
                    </a:p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AI 대시보드 검증</a:t>
                      </a:r>
                    </a:p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학생 발견과 정책 결정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lack">
            <a:extLst xmlns:a="http://schemas.openxmlformats.org/drawingml/2006/main">
              <a:ext uri="{FF2B5EF4-FFF2-40B4-BE49-F238E27FC236}">
                <a16:creationId xmlns:a16="http://schemas.microsoft.com/office/drawing/2014/main" id="{8BFB53D9-7651-4CC8-B7F5-222C840F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4350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rPr>
              <a:t>자료에 지정되지 않은 5분은 운영 여유로 남긴다.</a:t>
            </a:r>
          </a:p>
        </p:txBody>
      </p:sp>
    </p:spTree>
    <p:extLst>
      <p:ext uri="{BB962C8B-B14F-4D97-AF65-F5344CB8AC3E}">
        <p14:creationId xmlns:p14="http://schemas.microsoft.com/office/powerpoint/2010/main" val="30322045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3">
            <a:extLst xmlns:a="http://schemas.openxmlformats.org/drawingml/2006/main">
              <a:ext uri="{FF2B5EF4-FFF2-40B4-BE49-F238E27FC236}">
                <a16:creationId xmlns:a16="http://schemas.microsoft.com/office/drawing/2014/main" id="{420AE9B8-7B5A-4D2A-B71C-C2811A4F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1.1 · SUPERVISION CREED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C5F794F3-D05F-46F9-81D6-B78093CA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감독 신조 recap</a:t>
            </a:r>
          </a:p>
        </p:txBody>
      </p:sp>
      <p:sp>
        <p:nvSpPr>
          <p:cNvPr id="3" name="number-3">
            <a:extLst xmlns:a="http://schemas.openxmlformats.org/drawingml/2006/main">
              <a:ext uri="{FF2B5EF4-FFF2-40B4-BE49-F238E27FC236}">
                <a16:creationId xmlns:a16="http://schemas.microsoft.com/office/drawing/2014/main" id="{6AB813E6-6F1C-4374-8B3D-62B795D2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4" name="creed">
            <a:extLst xmlns:a="http://schemas.openxmlformats.org/drawingml/2006/main">
              <a:ext uri="{FF2B5EF4-FFF2-40B4-BE49-F238E27FC236}">
                <a16:creationId xmlns:a16="http://schemas.microsoft.com/office/drawing/2014/main" id="{A2E9C10A-018F-4FAE-8DC5-40A08BD1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기준을 세운다 → AI에게 시킨다 → 검증한다 → 결정한다.</a:t>
            </a:r>
          </a:p>
        </p:txBody>
      </p:sp>
      <p:sp>
        <p:nvSpPr>
          <p:cNvPr id="5" name="creed-detail">
            <a:extLst xmlns:a="http://schemas.openxmlformats.org/drawingml/2006/main">
              <a:ext uri="{FF2B5EF4-FFF2-40B4-BE49-F238E27FC236}">
                <a16:creationId xmlns:a16="http://schemas.microsoft.com/office/drawing/2014/main" id="{2EA112B7-F91A-45AC-906B-6F9B798B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분석을 직접 하지 말고, 결과를 읽고 검증한 뒤 결정한다.</a:t>
            </a:r>
          </a:p>
        </p:txBody>
      </p:sp>
    </p:spTree>
    <p:extLst>
      <p:ext uri="{BB962C8B-B14F-4D97-AF65-F5344CB8AC3E}">
        <p14:creationId xmlns:p14="http://schemas.microsoft.com/office/powerpoint/2010/main" val="30322045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-4">
            <a:extLst xmlns:a="http://schemas.openxmlformats.org/drawingml/2006/main">
              <a:ext uri="{FF2B5EF4-FFF2-40B4-BE49-F238E27FC236}">
                <a16:creationId xmlns:a16="http://schemas.microsoft.com/office/drawing/2014/main" id="{A1DCC9BA-8D0C-4589-9D66-0791C341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1.1 · OBJECTIVES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39ACDA88-B9AC-47CB-A289-B11B5031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수업 목표</a:t>
            </a:r>
          </a:p>
        </p:txBody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1B23C96F-FA61-4E9B-A60E-071E2285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" name="objectives">
            <a:extLst xmlns:a="http://schemas.openxmlformats.org/drawingml/2006/main">
              <a:ext uri="{FF2B5EF4-FFF2-40B4-BE49-F238E27FC236}">
                <a16:creationId xmlns:a16="http://schemas.microsoft.com/office/drawing/2014/main" id="{B636D67F-825E-4E18-B975-43F96230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76375"/>
            <a:ext cx="7143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500"/>
              </a:spcAft>
              <a:buNone/>
              <a:def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데이터 시각화의 중요성 이해</a:t>
            </a:r>
          </a:p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500"/>
              </a:spcAft>
              <a:buNone/>
              <a:def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데이터 시각화의 핵심 요구사항 파악</a:t>
            </a:r>
          </a:p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500"/>
              </a:spcAft>
              <a:buNone/>
              <a:def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질문에 맞는 차트 유형과 정직한 인코딩을 읽는다.</a:t>
            </a:r>
          </a:p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500"/>
              </a:spcAft>
              <a:buNone/>
              <a:def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측정 타당성을 점검하고 AI 대시보드를 비판한다.</a:t>
            </a:r>
          </a:p>
        </p:txBody>
      </p:sp>
    </p:spTree>
    <p:extLst>
      <p:ext uri="{BB962C8B-B14F-4D97-AF65-F5344CB8AC3E}">
        <p14:creationId xmlns:p14="http://schemas.microsoft.com/office/powerpoint/2010/main" val="30322045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5">
            <a:extLst xmlns:a="http://schemas.openxmlformats.org/drawingml/2006/main">
              <a:ext uri="{FF2B5EF4-FFF2-40B4-BE49-F238E27FC236}">
                <a16:creationId xmlns:a16="http://schemas.microsoft.com/office/drawing/2014/main" id="{C0E80E6B-556F-41BD-B4EB-3141E158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1.2 · READING CHARTS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FE9C9E91-CD0F-4AC2-928F-E10A07C6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데이터 시각화란?</a:t>
            </a:r>
          </a:p>
        </p:txBody>
      </p:sp>
      <p:sp>
        <p:nvSpPr>
          <p:cNvPr id="3" name="number-5">
            <a:extLst xmlns:a="http://schemas.openxmlformats.org/drawingml/2006/main">
              <a:ext uri="{FF2B5EF4-FFF2-40B4-BE49-F238E27FC236}">
                <a16:creationId xmlns:a16="http://schemas.microsoft.com/office/drawing/2014/main" id="{3F9C2C8C-C1A5-4915-A731-2BA16F15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1809750"/>
          <a:ext xmlns:a="http://schemas.openxmlformats.org/drawingml/2006/main" cx="74295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714750"/>
              </a:tblGrid>
              <a:tr h="12382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목적성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정확성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12382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전달하려는 질문과 메시지가 분명한가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객관적인 값·축·단위·출처를 읽을 수 있는가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definition">
            <a:extLst xmlns:a="http://schemas.openxmlformats.org/drawingml/2006/main">
              <a:ext uri="{FF2B5EF4-FFF2-40B4-BE49-F238E27FC236}">
                <a16:creationId xmlns:a16="http://schemas.microsoft.com/office/drawing/2014/main" id="{31AAF5F6-22BE-43EE-9610-0F29F6E9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62500"/>
            <a:ext cx="676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rPr>
              <a:t>데이터 분석 결과를 쉽게 이해할 수 있도록 시각적으로 표현하고 전달되는 과정</a:t>
            </a:r>
          </a:p>
        </p:txBody>
      </p:sp>
    </p:spTree>
    <p:extLst>
      <p:ext uri="{BB962C8B-B14F-4D97-AF65-F5344CB8AC3E}">
        <p14:creationId xmlns:p14="http://schemas.microsoft.com/office/powerpoint/2010/main" val="303220455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CD0744FE-B7AB-4E54-BCAA-025E598A6C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9552" y="186680"/>
            <a:ext cx="77724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데이터 시각화의 필요성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00BE6BC1-AE1D-4449-9B34-E223CC1BDC5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5536" y="1248310"/>
            <a:ext cx="7916416" cy="47525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00"/>
              <a:t>시각적 분석의 필요 </a:t>
            </a:r>
            <a:endParaRPr sz="2000"/>
          </a:p>
          <a:p xmlns:a="http://schemas.openxmlformats.org/drawingml/2006/main">
            <a:pPr lvl="1">
              <a:buNone/>
            </a:pPr>
            <a:r>
              <a:rPr sz="1600"/>
              <a:t>동일한 요약 통계 정보를 갖고 있으나</a:t>
            </a:r>
            <a:r>
              <a:rPr sz="1600"/>
              <a:t>, </a:t>
            </a:r>
            <a:r>
              <a:rPr sz="1600"/>
              <a:t>시각화했을 때 시각적으로 뚜렷하게 구분되는 </a:t>
            </a:r>
            <a:r>
              <a:rPr sz="1600"/>
              <a:t>12</a:t>
            </a:r>
            <a:r>
              <a:rPr sz="1600"/>
              <a:t>개의 </a:t>
            </a:r>
            <a:r>
              <a:rPr sz="1600"/>
              <a:t>데이터셋의</a:t>
            </a:r>
            <a:r>
              <a:rPr sz="1600"/>
              <a:t> 개발 결과를 발표 </a:t>
            </a:r>
            <a:r>
              <a:rPr sz="1600"/>
              <a:t>(Autodesk</a:t>
            </a:r>
            <a:r>
              <a:rPr sz="1600"/>
              <a:t> </a:t>
            </a:r>
            <a:r>
              <a:rPr sz="1600"/>
              <a:t>Research)</a:t>
            </a:r>
            <a:endParaRPr sz="3200" b="1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endParaRPr b="1">
              <a:solidFill>
                <a:srgbClr val="FF0000"/>
              </a:solidFill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endParaRPr b="1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endParaRPr b="1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endParaRPr b="1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endParaRPr/>
          </a:p>
          <a:p xmlns:a="http://schemas.openxmlformats.org/drawingml/2006/main">
            <a:endParaRPr/>
          </a:p>
        </p:txBody>
      </p:sp>
      <p:sp>
        <p:nvSpPr>
          <p:cNvPr id="4" name="슬라이드 번호 개체 틀 3">
            <a:extLst xmlns:a="http://schemas.openxmlformats.org/drawingml/2006/main">
              <a:ext uri="{FF2B5EF4-FFF2-40B4-BE49-F238E27FC236}">
                <a16:creationId xmlns:a16="http://schemas.microsoft.com/office/drawing/2014/main" id="{AB89333F-0638-4E52-B35B-335869A754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1538439-05E3-433D-90D4-ED8F2F494244}" type="slidenum">
              <a:t>14</a:t>
            </a:fld>
            <a:endParaRPr/>
          </a:p>
        </p:txBody>
      </p:sp>
      <p:pic>
        <p:nvPicPr>
          <p:cNvPr id="12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6cf59e53d948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1600" y="6000838"/>
            <a:ext cx="3257143" cy="704762"/>
          </a:xfrm>
          <a:prstGeom xmlns:a="http://schemas.openxmlformats.org/drawingml/2006/main" prst="rect">
            <a:avLst/>
          </a:prstGeom>
        </p:spPr>
      </p:pic>
      <p:pic>
        <p:nvPicPr>
          <p:cNvPr id="13" name="그림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0e461bcce46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9934" y="2276872"/>
            <a:ext cx="6647619" cy="3600400"/>
          </a:xfrm>
          <a:prstGeom xmlns:a="http://schemas.openxmlformats.org/drawingml/2006/main" prst="rect">
            <a:avLst/>
          </a:prstGeom>
        </p:spPr>
      </p:pic>
      <p:sp>
        <p:nvSpPr>
          <p:cNvPr id="7" name="section-6">
            <a:extLst xmlns:a="http://schemas.openxmlformats.org/drawingml/2006/main">
              <a:ext uri="{FF2B5EF4-FFF2-40B4-BE49-F238E27FC236}">
                <a16:creationId xmlns:a16="http://schemas.microsoft.com/office/drawing/2014/main" id="{E02E6F6B-586C-443D-9438-AAD4381F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41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1.2 · SAME SUMMARY, DIFFERENT SHAPE</a:t>
            </a:r>
          </a:p>
        </p:txBody>
      </p:sp>
      <p:sp>
        <p:nvSpPr>
          <p:cNvPr id="8" name="footer-6">
            <a:extLst xmlns:a="http://schemas.openxmlformats.org/drawingml/2006/main">
              <a:ext uri="{FF2B5EF4-FFF2-40B4-BE49-F238E27FC236}">
                <a16:creationId xmlns:a16="http://schemas.microsoft.com/office/drawing/2014/main" id="{02F4E9F5-730F-474C-86D6-86985F01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같은 요약 통계가 같은 분포를 뜻하지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8353772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슬라이드 번호 개체 틀 3">
            <a:extLst xmlns:a="http://schemas.openxmlformats.org/drawingml/2006/main">
              <a:ext uri="{FF2B5EF4-FFF2-40B4-BE49-F238E27FC236}">
                <a16:creationId xmlns:a16="http://schemas.microsoft.com/office/drawing/2014/main" id="{708D518B-BBAF-454B-9FEE-2D7BFEFF3D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1538439-05E3-433D-90D4-ED8F2F494244}" type="slidenum">
              <a:t>25</a:t>
            </a:fld>
            <a:endParaRPr/>
          </a:p>
        </p:txBody>
      </p:sp>
      <p:pic>
        <p:nvPicPr>
          <p:cNvPr id="12" name="그림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3b0f35be074e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721" y="1196752"/>
            <a:ext cx="7776864" cy="4824536"/>
          </a:xfrm>
          <a:prstGeom xmlns:a="http://schemas.openxmlformats.org/drawingml/2006/main" prst="rect">
            <a:avLst/>
          </a:prstGeom>
        </p:spPr>
      </p:pic>
      <p:sp>
        <p:nvSpPr>
          <p:cNvPr id="7" name="제목 1">
            <a:extLst xmlns:a="http://schemas.openxmlformats.org/drawingml/2006/main">
              <a:ext uri="{FF2B5EF4-FFF2-40B4-BE49-F238E27FC236}">
                <a16:creationId xmlns:a16="http://schemas.microsoft.com/office/drawing/2014/main" id="{29265AD0-AC6B-463D-9117-A5F85B9513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721" y="292732"/>
            <a:ext cx="7772400" cy="119205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목적에 따라 적적한  </a:t>
            </a:r>
            <a:r>
              <a:t>그래프</a:t>
            </a:r>
            <a:r>
              <a:t> </a:t>
            </a:r>
            <a:r>
              <a:t>선택</a:t>
            </a:r>
            <a:br/>
            <a:endParaRPr/>
          </a:p>
        </p:txBody>
      </p:sp>
      <p:sp>
        <p:nvSpPr>
          <p:cNvPr id="9" name="section-7">
            <a:extLst xmlns:a="http://schemas.openxmlformats.org/drawingml/2006/main">
              <a:ext uri="{FF2B5EF4-FFF2-40B4-BE49-F238E27FC236}">
                <a16:creationId xmlns:a16="http://schemas.microsoft.com/office/drawing/2014/main" id="{C748947A-BDAF-4F5C-A0D8-C8EB8C76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41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1.2 · FOUR WORKER CHARTS</a:t>
            </a:r>
          </a:p>
        </p:txBody>
      </p:sp>
      <p:sp>
        <p:nvSpPr>
          <p:cNvPr id="10" name="footer-7">
            <a:extLst xmlns:a="http://schemas.openxmlformats.org/drawingml/2006/main">
              <a:ext uri="{FF2B5EF4-FFF2-40B4-BE49-F238E27FC236}">
                <a16:creationId xmlns:a16="http://schemas.microsoft.com/office/drawing/2014/main" id="{FCB5D737-974A-4365-B7F9-98DD710F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질문이 달라지면 차트도 달라진다.</a:t>
            </a:r>
          </a:p>
        </p:txBody>
      </p:sp>
    </p:spTree>
    <p:extLst>
      <p:ext uri="{BB962C8B-B14F-4D97-AF65-F5344CB8AC3E}">
        <p14:creationId xmlns:p14="http://schemas.microsoft.com/office/powerpoint/2010/main" val="19538318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8">
            <a:extLst xmlns:a="http://schemas.openxmlformats.org/drawingml/2006/main">
              <a:ext uri="{FF2B5EF4-FFF2-40B4-BE49-F238E27FC236}">
                <a16:creationId xmlns:a16="http://schemas.microsoft.com/office/drawing/2014/main" id="{76275BB3-B409-4F74-9681-CC3A9D29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1.2 · DISTRIBUTION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CCF94042-CF92-40D7-B5BA-6F4EB523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분포 질문과 히스토그램</a:t>
            </a:r>
          </a:p>
        </p:txBody>
      </p:sp>
      <p:sp>
        <p:nvSpPr>
          <p:cNvPr id="3" name="number-8">
            <a:extLst xmlns:a="http://schemas.openxmlformats.org/drawingml/2006/main">
              <a:ext uri="{FF2B5EF4-FFF2-40B4-BE49-F238E27FC236}">
                <a16:creationId xmlns:a16="http://schemas.microsoft.com/office/drawing/2014/main" id="{48E8E4A2-DEEF-4CDB-98A4-B90955F6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6E4DFB3D-232B-47A0-A35B-566AB29C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값들이 어떻게 퍼져 있나</a:t>
            </a:r>
          </a:p>
        </p:txBody>
      </p:sp>
      <p:sp>
        <p:nvSpPr>
          <p:cNvPr id="5" name="question-detail">
            <a:extLst xmlns:a="http://schemas.openxmlformats.org/drawingml/2006/main">
              <a:ext uri="{FF2B5EF4-FFF2-40B4-BE49-F238E27FC236}">
                <a16:creationId xmlns:a16="http://schemas.microsoft.com/office/drawing/2014/main" id="{122BB86A-8FB0-40AF-8D2B-E3687C6D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연속변수: 히스토그램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불연속변수: 막대그래프</a:t>
            </a:r>
          </a:p>
        </p:txBody>
      </p:sp>
    </p:spTree>
    <p:extLst>
      <p:ext uri="{BB962C8B-B14F-4D97-AF65-F5344CB8AC3E}">
        <p14:creationId xmlns:p14="http://schemas.microsoft.com/office/powerpoint/2010/main" val="30322045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9">
            <a:extLst xmlns:a="http://schemas.openxmlformats.org/drawingml/2006/main">
              <a:ext uri="{FF2B5EF4-FFF2-40B4-BE49-F238E27FC236}">
                <a16:creationId xmlns:a16="http://schemas.microsoft.com/office/drawing/2014/main" id="{CBC1C6BD-21EC-40D2-A4D5-2EEA0E57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1.2 · RELATIONSHIP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03AA5F68-EC81-4088-8FCF-71247C90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관계 질문과 산점도</a:t>
            </a:r>
          </a:p>
        </p:txBody>
      </p:sp>
      <p:sp>
        <p:nvSpPr>
          <p:cNvPr id="3" name="number-9">
            <a:extLst xmlns:a="http://schemas.openxmlformats.org/drawingml/2006/main">
              <a:ext uri="{FF2B5EF4-FFF2-40B4-BE49-F238E27FC236}">
                <a16:creationId xmlns:a16="http://schemas.microsoft.com/office/drawing/2014/main" id="{BFAE4FF8-E463-4D4A-B34C-546C657E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0DA274C8-13D0-4488-97FB-A7B6FCE6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x가 커지면 y도 커지나</a:t>
            </a:r>
          </a:p>
        </p:txBody>
      </p:sp>
      <p:sp>
        <p:nvSpPr>
          <p:cNvPr id="5" name="question-detail">
            <a:extLst xmlns:a="http://schemas.openxmlformats.org/drawingml/2006/main">
              <a:ext uri="{FF2B5EF4-FFF2-40B4-BE49-F238E27FC236}">
                <a16:creationId xmlns:a16="http://schemas.microsoft.com/office/drawing/2014/main" id="{73EB93F9-2184-4F1E-9E72-0ADF1F55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rPr>
              <a:t>두 변수의 값이 함께 움직이는 모양을 읽는다. 모양만으로 인과관계를 단정하지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303220455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D2D46B9F-CE21-4F4C-9092-66FB3B0A01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560" y="23922"/>
            <a:ext cx="77724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막대 그래프 </a:t>
            </a:r>
            <a:r>
              <a:t>(Bar Chart)</a:t>
            </a:r>
            <a:endParaRPr/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9BD63BE9-2450-4211-8020-D82CCD4C470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300" y="1052736"/>
            <a:ext cx="8280920" cy="4114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00"/>
              <a:t>사물의 </a:t>
            </a:r>
            <a:r>
              <a:rPr sz="2000">
                <a:solidFill>
                  <a:srgbClr val="C00000"/>
                </a:solidFill>
              </a:rPr>
              <a:t>양</a:t>
            </a:r>
            <a:r>
              <a:rPr sz="2000"/>
              <a:t>을 막대 모양의 길이로 나타냄 </a:t>
            </a:r>
            <a:endParaRPr sz="2000"/>
          </a:p>
          <a:p xmlns:a="http://schemas.openxmlformats.org/drawingml/2006/main">
            <a:r>
              <a:rPr sz="2000"/>
              <a:t>값의 크고 작음을 한 눈에 이해할 수 있음 </a:t>
            </a:r>
            <a:endParaRPr sz="2000"/>
          </a:p>
          <a:p xmlns:a="http://schemas.openxmlformats.org/drawingml/2006/main">
            <a:r>
              <a:rPr sz="2000"/>
              <a:t>비교 대상이 있을 경우</a:t>
            </a:r>
            <a:r>
              <a:rPr sz="2000"/>
              <a:t>, </a:t>
            </a:r>
            <a:r>
              <a:rPr sz="2000"/>
              <a:t>혹은 어떤 것을 강조하고자 하는 경우에 사용</a:t>
            </a:r>
          </a:p>
          <a:p xmlns:a="http://schemas.openxmlformats.org/drawingml/2006/main">
            <a:pPr lvl="1">
              <a:buNone/>
            </a:pPr>
            <a:r>
              <a:rPr sz="1800">
                <a:solidFill>
                  <a:srgbClr val="C00000"/>
                </a:solidFill>
              </a:rPr>
              <a:t>연속변수</a:t>
            </a:r>
            <a:r>
              <a:rPr sz="1800"/>
              <a:t>: </a:t>
            </a:r>
            <a:r>
              <a:rPr sz="1800"/>
              <a:t>히스토그램</a:t>
            </a:r>
            <a:endParaRPr sz="1800"/>
          </a:p>
          <a:p xmlns:a="http://schemas.openxmlformats.org/drawingml/2006/main">
            <a:pPr lvl="1">
              <a:buNone/>
            </a:pPr>
            <a:r>
              <a:rPr sz="1800">
                <a:solidFill>
                  <a:srgbClr val="C00000"/>
                </a:solidFill>
              </a:rPr>
              <a:t>불연속변수</a:t>
            </a:r>
            <a:r>
              <a:rPr sz="1800"/>
              <a:t>: </a:t>
            </a:r>
            <a:r>
              <a:rPr sz="1800"/>
              <a:t>막대그래프</a:t>
            </a:r>
            <a:endParaRPr sz="1800"/>
          </a:p>
          <a:p xmlns:a="http://schemas.openxmlformats.org/drawingml/2006/main">
            <a:r>
              <a:rPr sz="2000"/>
              <a:t>가독성</a:t>
            </a:r>
            <a:r>
              <a:rPr sz="2000"/>
              <a:t> 면에선 항목이 적을수록 가로가 좋고 항목이 많을수록 세로가 좋다</a:t>
            </a:r>
            <a:r>
              <a:rPr sz="2000"/>
              <a:t>.</a:t>
            </a:r>
            <a:endParaRPr sz="2000"/>
          </a:p>
        </p:txBody>
      </p:sp>
      <p:sp>
        <p:nvSpPr>
          <p:cNvPr id="4" name="슬라이드 번호 개체 틀 3">
            <a:extLst xmlns:a="http://schemas.openxmlformats.org/drawingml/2006/main">
              <a:ext uri="{FF2B5EF4-FFF2-40B4-BE49-F238E27FC236}">
                <a16:creationId xmlns:a16="http://schemas.microsoft.com/office/drawing/2014/main" id="{CAC2B59B-7C5C-484B-9131-D0ED79A569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1538439-05E3-433D-90D4-ED8F2F494244}" type="slidenum">
              <a:t>22</a:t>
            </a:fld>
            <a:endParaRPr/>
          </a:p>
        </p:txBody>
      </p:sp>
      <p:pic>
        <p:nvPicPr>
          <p:cNvPr id="12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b2f31c67e242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3020" y="4005064"/>
            <a:ext cx="8295238" cy="2028056"/>
          </a:xfrm>
          <a:prstGeom xmlns:a="http://schemas.openxmlformats.org/drawingml/2006/main" prst="rect">
            <a:avLst/>
          </a:prstGeom>
        </p:spPr>
      </p:pic>
      <p:pic>
        <p:nvPicPr>
          <p:cNvPr id="13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24922abe3846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04377" y="3993232"/>
            <a:ext cx="2811959" cy="2028056"/>
          </a:xfrm>
          <a:prstGeom xmlns:a="http://schemas.openxmlformats.org/drawingml/2006/main" prst="rect">
            <a:avLst/>
          </a:prstGeom>
        </p:spPr>
      </p:pic>
      <p:pic>
        <p:nvPicPr>
          <p:cNvPr id="14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d5503810fb49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19800" y="4007708"/>
            <a:ext cx="2943225" cy="2028056"/>
          </a:xfrm>
          <a:prstGeom xmlns:a="http://schemas.openxmlformats.org/drawingml/2006/main" prst="rect">
            <a:avLst/>
          </a:prstGeom>
        </p:spPr>
      </p:pic>
      <p:sp>
        <p:nvSpPr>
          <p:cNvPr id="8" name="section-10">
            <a:extLst xmlns:a="http://schemas.openxmlformats.org/drawingml/2006/main">
              <a:ext uri="{FF2B5EF4-FFF2-40B4-BE49-F238E27FC236}">
                <a16:creationId xmlns:a16="http://schemas.microsoft.com/office/drawing/2014/main" id="{DA2397E1-E8BA-488E-B882-52DF243E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41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1.2 · COMPARISON</a:t>
            </a:r>
          </a:p>
        </p:txBody>
      </p:sp>
    </p:spTree>
    <p:extLst>
      <p:ext uri="{BB962C8B-B14F-4D97-AF65-F5344CB8AC3E}">
        <p14:creationId xmlns:p14="http://schemas.microsoft.com/office/powerpoint/2010/main" val="325915457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EDCA1D8E-8D0E-4F63-97EF-D2A18591E3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721" y="292732"/>
            <a:ext cx="7772400" cy="1019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선 그래프</a:t>
            </a:r>
            <a:r>
              <a:t>(Line Chart)</a:t>
            </a:r>
            <a:br/>
            <a:endParaRPr/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5D8FB6AB-5245-46AA-8B2C-6DF65B4C972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67544" y="1052736"/>
            <a:ext cx="8280920" cy="252028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00"/>
              <a:t>수량을 점으로 표시하고 그 점들을 선분으로 이어 그린 그래프</a:t>
            </a:r>
            <a:endParaRPr sz="2000"/>
          </a:p>
          <a:p xmlns:a="http://schemas.openxmlformats.org/drawingml/2006/main">
            <a:r>
              <a:rPr sz="2000"/>
              <a:t>시간에 따라 뭔가가 지속적으로 </a:t>
            </a:r>
            <a:r>
              <a:rPr sz="2000">
                <a:solidFill>
                  <a:srgbClr val="C00000"/>
                </a:solidFill>
              </a:rPr>
              <a:t>변화</a:t>
            </a:r>
            <a:r>
              <a:rPr sz="2000"/>
              <a:t>하는 것을 기록할 때 사용</a:t>
            </a:r>
            <a:endParaRPr sz="2000"/>
          </a:p>
          <a:p xmlns:a="http://schemas.openxmlformats.org/drawingml/2006/main">
            <a:pPr lvl="1">
              <a:buNone/>
            </a:pPr>
            <a:r>
              <a:rPr sz="1600"/>
              <a:t>숫자로만 적으면 지속적으로 변화하는 것의 흐름을 정확히 파악하기가 어려움</a:t>
            </a:r>
            <a:endParaRPr sz="1600"/>
          </a:p>
          <a:p xmlns:a="http://schemas.openxmlformats.org/drawingml/2006/main">
            <a:pPr lvl="1">
              <a:buNone/>
            </a:pPr>
            <a:r>
              <a:rPr sz="1600"/>
              <a:t>조사하지 않은 중간의 값도 대략 예측 가능</a:t>
            </a:r>
            <a:endParaRPr sz="1600"/>
          </a:p>
          <a:p xmlns:a="http://schemas.openxmlformats.org/drawingml/2006/main">
            <a:pPr lvl="2">
              <a:buNone/>
            </a:pPr>
            <a:r>
              <a:rPr sz="1400"/>
              <a:t>막대 그래프</a:t>
            </a:r>
            <a:r>
              <a:rPr sz="1400"/>
              <a:t>: </a:t>
            </a:r>
            <a:r>
              <a:rPr sz="1400"/>
              <a:t>동일한 시점에 다른 값을 비교</a:t>
            </a:r>
            <a:endParaRPr sz="1400"/>
          </a:p>
          <a:p xmlns:a="http://schemas.openxmlformats.org/drawingml/2006/main">
            <a:pPr lvl="2">
              <a:buNone/>
            </a:pPr>
            <a:r>
              <a:rPr sz="1400"/>
              <a:t>선 그래프</a:t>
            </a:r>
            <a:r>
              <a:rPr sz="1400"/>
              <a:t>: </a:t>
            </a:r>
            <a:r>
              <a:rPr sz="1400"/>
              <a:t>시간에 따른 동일한 대상의  값 변화 비교</a:t>
            </a:r>
            <a:endParaRPr sz="1400"/>
          </a:p>
          <a:p xmlns:a="http://schemas.openxmlformats.org/drawingml/2006/main">
            <a:pPr marL="914400" lvl="2" indent="0">
              <a:buNone/>
            </a:pPr>
            <a:endParaRPr sz="1400"/>
          </a:p>
          <a:p xmlns:a="http://schemas.openxmlformats.org/drawingml/2006/main">
            <a:r>
              <a:rPr sz="2000"/>
              <a:t>두 종류 이상의 데이터를 기입할 때는 점선 또는 파선 </a:t>
            </a:r>
            <a:r>
              <a:rPr sz="2000"/>
              <a:t>(</a:t>
            </a:r>
            <a:r>
              <a:rPr sz="2000"/>
              <a:t>다른 색상</a:t>
            </a:r>
            <a:r>
              <a:rPr sz="2000"/>
              <a:t>) </a:t>
            </a:r>
            <a:r>
              <a:rPr sz="2000"/>
              <a:t>등을 이용하여 구분 을 쉽게 해주며 범례를 표시</a:t>
            </a:r>
          </a:p>
        </p:txBody>
      </p:sp>
      <p:sp>
        <p:nvSpPr>
          <p:cNvPr id="4" name="슬라이드 번호 개체 틀 3">
            <a:extLst xmlns:a="http://schemas.openxmlformats.org/drawingml/2006/main">
              <a:ext uri="{FF2B5EF4-FFF2-40B4-BE49-F238E27FC236}">
                <a16:creationId xmlns:a16="http://schemas.microsoft.com/office/drawing/2014/main" id="{28E81DDF-81A5-4ADC-A582-16545195B0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1538439-05E3-433D-90D4-ED8F2F494244}" type="slidenum">
              <a:t>21</a:t>
            </a:fld>
            <a:endParaRPr/>
          </a:p>
        </p:txBody>
      </p:sp>
      <p:pic>
        <p:nvPicPr>
          <p:cNvPr id="14" name="그림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aeeef1cf9642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5536" y="4317760"/>
            <a:ext cx="2088232" cy="1456643"/>
          </a:xfrm>
          <a:prstGeom xmlns:a="http://schemas.openxmlformats.org/drawingml/2006/main" prst="rect">
            <a:avLst/>
          </a:prstGeom>
        </p:spPr>
      </p:pic>
      <p:sp>
        <p:nvSpPr>
          <p:cNvPr id="5" name="AutoShape 2">
            <a:extLst xmlns:a="http://schemas.openxmlformats.org/drawingml/2006/main">
              <a:ext uri="{FF2B5EF4-FFF2-40B4-BE49-F238E27FC236}">
                <a16:creationId xmlns:a16="http://schemas.microsoft.com/office/drawing/2014/main" id="{289019A5-E9E7-4C5F-8E34-9CEB1483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766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6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a594aea61144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08176" y="4348831"/>
            <a:ext cx="2016224" cy="1425572"/>
          </a:xfrm>
          <a:prstGeom xmlns:a="http://schemas.openxmlformats.org/drawingml/2006/main" prst="rect">
            <a:avLst/>
          </a:prstGeom>
        </p:spPr>
      </p:pic>
      <p:pic>
        <p:nvPicPr>
          <p:cNvPr id="17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4627a81e349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4424" y="4317760"/>
            <a:ext cx="2088232" cy="1533605"/>
          </a:xfrm>
          <a:prstGeom xmlns:a="http://schemas.openxmlformats.org/drawingml/2006/main" prst="rect">
            <a:avLst/>
          </a:prstGeom>
        </p:spPr>
      </p:pic>
      <p:pic>
        <p:nvPicPr>
          <p:cNvPr id="18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9a41af674c4e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96237" y="4333021"/>
            <a:ext cx="1398662" cy="1441382"/>
          </a:xfrm>
          <a:prstGeom xmlns:a="http://schemas.openxmlformats.org/drawingml/2006/main" prst="rect">
            <a:avLst/>
          </a:prstGeom>
        </p:spPr>
      </p:pic>
      <p:sp>
        <p:nvSpPr>
          <p:cNvPr id="10" name="section-11">
            <a:extLst xmlns:a="http://schemas.openxmlformats.org/drawingml/2006/main">
              <a:ext uri="{FF2B5EF4-FFF2-40B4-BE49-F238E27FC236}">
                <a16:creationId xmlns:a16="http://schemas.microsoft.com/office/drawing/2014/main" id="{BE51C36F-F7A8-4EFC-999D-DFD3EAAB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41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1.2 · TREND</a:t>
            </a:r>
          </a:p>
        </p:txBody>
      </p:sp>
    </p:spTree>
    <p:extLst>
      <p:ext uri="{BB962C8B-B14F-4D97-AF65-F5344CB8AC3E}">
        <p14:creationId xmlns:p14="http://schemas.microsoft.com/office/powerpoint/2010/main" val="6818898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-12">
            <a:extLst xmlns:a="http://schemas.openxmlformats.org/drawingml/2006/main">
              <a:ext uri="{FF2B5EF4-FFF2-40B4-BE49-F238E27FC236}">
                <a16:creationId xmlns:a16="http://schemas.microsoft.com/office/drawing/2014/main" id="{0F60E457-3C0C-47C2-A410-647F720B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1.2 · ENCODING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6963573A-9EF7-40D1-BBD3-872B7EA4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정직한 인코딩</a:t>
            </a:r>
          </a:p>
        </p:txBody>
      </p:sp>
      <p:sp>
        <p:nvSpPr>
          <p:cNvPr id="3" name="number-12">
            <a:extLst xmlns:a="http://schemas.openxmlformats.org/drawingml/2006/main">
              <a:ext uri="{FF2B5EF4-FFF2-40B4-BE49-F238E27FC236}">
                <a16:creationId xmlns:a16="http://schemas.microsoft.com/office/drawing/2014/main" id="{695E4A17-AB3E-41F3-A3A4-F1DFC223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09625" y="1381125"/>
          <a:ext xmlns:a="http://schemas.openxmlformats.org/drawingml/2006/main" cx="752475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143500"/>
              </a:tblGrid>
              <a:tr h="976313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읽을 요소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확인 질문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976313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x축·y축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시간·범주·값 가운데 무엇이 매핑됐는가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76313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색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색이 집단·강조·순서를 무엇으로 구분하는가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  <a:tr h="976313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단위·범례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값의 단위와 계열의 뜻을 재현할 수 있는가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22045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13">
            <a:extLst xmlns:a="http://schemas.openxmlformats.org/drawingml/2006/main">
              <a:ext uri="{FF2B5EF4-FFF2-40B4-BE49-F238E27FC236}">
                <a16:creationId xmlns:a16="http://schemas.microsoft.com/office/drawing/2014/main" id="{37DCD0B5-1F88-484F-AA25-173D614C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1.2 · GRAMMAR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2419B81D-EAAC-439B-A608-1ABEAF34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차트의 문법</a:t>
            </a:r>
          </a:p>
        </p:txBody>
      </p:sp>
      <p:sp>
        <p:nvSpPr>
          <p:cNvPr id="3" name="number-13">
            <a:extLst xmlns:a="http://schemas.openxmlformats.org/drawingml/2006/main">
              <a:ext uri="{FF2B5EF4-FFF2-40B4-BE49-F238E27FC236}">
                <a16:creationId xmlns:a16="http://schemas.microsoft.com/office/drawing/2014/main" id="{09634DDA-C3E2-493B-8025-5A3677FE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4" name="grammar">
            <a:extLst xmlns:a="http://schemas.openxmlformats.org/drawingml/2006/main">
              <a:ext uri="{FF2B5EF4-FFF2-40B4-BE49-F238E27FC236}">
                <a16:creationId xmlns:a16="http://schemas.microsoft.com/office/drawing/2014/main" id="{DA4B7157-6A57-46F6-A3B5-E26967AE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6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데이터 + 축·색 매핑 + 도형</a:t>
            </a:r>
          </a:p>
        </p:txBody>
      </p:sp>
      <p:sp>
        <p:nvSpPr>
          <p:cNvPr id="5" name="grammar-detail">
            <a:extLst xmlns:a="http://schemas.openxmlformats.org/drawingml/2006/main">
              <a:ext uri="{FF2B5EF4-FFF2-40B4-BE49-F238E27FC236}">
                <a16:creationId xmlns:a16="http://schemas.microsoft.com/office/drawing/2014/main" id="{F748F36B-9CB5-4B9E-90C0-D5BE3D98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관리자는 조합이 질문에 맞는지 읽는다. 차트를 직접 만드는 수업은 아니다.</a:t>
            </a:r>
          </a:p>
        </p:txBody>
      </p:sp>
    </p:spTree>
    <p:extLst>
      <p:ext uri="{BB962C8B-B14F-4D97-AF65-F5344CB8AC3E}">
        <p14:creationId xmlns:p14="http://schemas.microsoft.com/office/powerpoint/2010/main" val="303220455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제목 2">
            <a:extLst xmlns:a="http://schemas.openxmlformats.org/drawingml/2006/main">
              <a:ext uri="{FF2B5EF4-FFF2-40B4-BE49-F238E27FC236}">
                <a16:creationId xmlns:a16="http://schemas.microsoft.com/office/drawing/2014/main" id="{EE26F7CF-E40B-4B62-B8EA-05EC38FAE5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>
                <a:latin typeface="+mj-ea"/>
                <a:ea typeface="+mj-ea"/>
                <a:cs typeface="+mj-ea"/>
              </a:rPr>
              <a:t>데이터 시각화와 유의사항</a:t>
            </a:r>
            <a:endParaRPr>
              <a:latin typeface="+mj-ea"/>
              <a:ea typeface="+mj-ea"/>
              <a:cs typeface="+mj-ea"/>
            </a:endParaRPr>
          </a:p>
        </p:txBody>
      </p:sp>
      <p:sp>
        <p:nvSpPr>
          <p:cNvPr id="7" name="텍스트 개체 틀 6">
            <a:extLst xmlns:a="http://schemas.openxmlformats.org/drawingml/2006/main">
              <a:ext uri="{FF2B5EF4-FFF2-40B4-BE49-F238E27FC236}">
                <a16:creationId xmlns:a16="http://schemas.microsoft.com/office/drawing/2014/main" id="{6B7DDFD2-4BBF-4D6A-8BAC-4F6144DA056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1800"/>
              <a:t>다음 그래프의 문제점은</a:t>
            </a:r>
            <a:r>
              <a:rPr sz="1800"/>
              <a:t>?</a:t>
            </a:r>
          </a:p>
        </p:txBody>
      </p:sp>
      <p:pic>
        <p:nvPicPr>
          <p:cNvPr id="17" name="그림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369eadde7f42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71801" y="2014772"/>
            <a:ext cx="2957143" cy="321428"/>
          </a:xfrm>
          <a:prstGeom xmlns:a="http://schemas.openxmlformats.org/drawingml/2006/main" prst="rect">
            <a:avLst/>
          </a:prstGeom>
        </p:spPr>
      </p:pic>
      <p:pic>
        <p:nvPicPr>
          <p:cNvPr id="18" name="그림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df82f52344e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5576" y="2301523"/>
            <a:ext cx="7776864" cy="3221960"/>
          </a:xfrm>
          <a:prstGeom xmlns:a="http://schemas.openxmlformats.org/drawingml/2006/main" prst="rect">
            <a:avLst/>
          </a:prstGeom>
        </p:spPr>
      </p:pic>
      <p:sp>
        <p:nvSpPr>
          <p:cNvPr id="10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1CDDC007-7B17-4DBB-9653-B9509C6DAE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876257" y="5733257"/>
            <a:ext cx="1872735" cy="2433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1586AD-4A7E-0849-8093-EAD90D5A9F23}" type="slidenum">
              <a:t>27</a:t>
            </a:fld>
            <a:endParaRPr/>
          </a:p>
        </p:txBody>
      </p:sp>
      <p:sp>
        <p:nvSpPr>
          <p:cNvPr id="13" name="section-14">
            <a:extLst xmlns:a="http://schemas.openxmlformats.org/drawingml/2006/main">
              <a:ext uri="{FF2B5EF4-FFF2-40B4-BE49-F238E27FC236}">
                <a16:creationId xmlns:a16="http://schemas.microsoft.com/office/drawing/2014/main" id="{936F045D-A704-42CD-B204-21BB7961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41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1.3 · MISLEADING CHARTS</a:t>
            </a:r>
          </a:p>
        </p:txBody>
      </p:sp>
      <p:sp>
        <p:nvSpPr>
          <p:cNvPr id="14" name="footer-14">
            <a:extLst xmlns:a="http://schemas.openxmlformats.org/drawingml/2006/main">
              <a:ext uri="{FF2B5EF4-FFF2-40B4-BE49-F238E27FC236}">
                <a16:creationId xmlns:a16="http://schemas.microsoft.com/office/drawing/2014/main" id="{8AACD100-EA9F-49A9-8EFF-79D275AA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답을 먼저 붙이지 말고, 무엇이 문제인지 묻는다.</a:t>
            </a:r>
          </a:p>
        </p:txBody>
      </p:sp>
    </p:spTree>
    <p:extLst>
      <p:ext uri="{BB962C8B-B14F-4D97-AF65-F5344CB8AC3E}">
        <p14:creationId xmlns:p14="http://schemas.microsoft.com/office/powerpoint/2010/main" val="330640881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4F38DE6A-E2B1-46F8-8A1B-2BF099252D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23528" y="116632"/>
            <a:ext cx="8229600" cy="7920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800"/>
              <a:t>데이터시각화와 왜곡된 정보 </a:t>
            </a:r>
            <a:r>
              <a:rPr sz="2800"/>
              <a:t>(</a:t>
            </a:r>
            <a:r>
              <a:rPr sz="2800">
                <a:solidFill>
                  <a:srgbClr val="C00000"/>
                </a:solidFill>
              </a:rPr>
              <a:t>막대 </a:t>
            </a:r>
            <a:r>
              <a:rPr sz="2800">
                <a:solidFill>
                  <a:srgbClr val="C00000"/>
                </a:solidFill>
              </a:rPr>
              <a:t>그래프</a:t>
            </a:r>
            <a:r>
              <a:rPr sz="2800"/>
              <a:t>)</a:t>
            </a:r>
            <a:endParaRPr sz="2800"/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AC812939-5B4C-4156-BA66-75549E20A3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38336" y="973073"/>
            <a:ext cx="7571184" cy="42640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Font typeface="Arial"/>
              <a:buChar char="•"/>
            </a:pPr>
            <a:r>
              <a:rPr sz="2000" b="1">
                <a:solidFill>
                  <a:srgbClr val="C00000"/>
                </a:solidFill>
              </a:rPr>
              <a:t>그래프의 밑 부분을 잘라내기</a:t>
            </a:r>
            <a:endParaRPr sz="2000" b="1">
              <a:solidFill>
                <a:srgbClr val="C00000"/>
              </a:solidFill>
            </a:endParaRPr>
          </a:p>
          <a:p xmlns:a="http://schemas.openxmlformats.org/drawingml/2006/main">
            <a:pPr marL="400050" lvl="1" indent="0">
              <a:buNone/>
            </a:pPr>
            <a:endParaRPr sz="1400" b="1">
              <a:solidFill>
                <a:srgbClr val="C00000"/>
              </a:solidFill>
            </a:endParaRPr>
          </a:p>
          <a:p xmlns:a="http://schemas.openxmlformats.org/drawingml/2006/main">
            <a:pPr marL="400050" lvl="1" indent="0">
              <a:buNone/>
            </a:pPr>
            <a:endParaRPr sz="1600" b="1">
              <a:solidFill>
                <a:srgbClr val="C00000"/>
              </a:solidFill>
            </a:endParaRPr>
          </a:p>
        </p:txBody>
      </p:sp>
      <p:sp>
        <p:nvSpPr>
          <p:cNvPr id="5" name="슬라이드 번호 개체 틀 4">
            <a:extLst xmlns:a="http://schemas.openxmlformats.org/drawingml/2006/main">
              <a:ext uri="{FF2B5EF4-FFF2-40B4-BE49-F238E27FC236}">
                <a16:creationId xmlns:a16="http://schemas.microsoft.com/office/drawing/2014/main" id="{AD67755F-ADAB-4A7A-A44B-364D8FCE90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073573-ADE5-401A-A5A2-FCCE564B3D6B}" type="slidenum">
              <a:t>38</a:t>
            </a:fld>
            <a:endParaRPr/>
          </a:p>
        </p:txBody>
      </p:sp>
      <p:pic>
        <p:nvPicPr>
          <p:cNvPr id="13" name="그림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36285c6ac449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7544" y="1769038"/>
            <a:ext cx="1800200" cy="3244138"/>
          </a:xfrm>
          <a:prstGeom xmlns:a="http://schemas.openxmlformats.org/drawingml/2006/main" prst="rect">
            <a:avLst/>
          </a:prstGeom>
        </p:spPr>
      </p:pic>
      <p:pic>
        <p:nvPicPr>
          <p:cNvPr id="14" name="그림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b5c6cd089749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99793" y="1769038"/>
            <a:ext cx="2376264" cy="3373758"/>
          </a:xfrm>
          <a:prstGeom xmlns:a="http://schemas.openxmlformats.org/drawingml/2006/main" prst="rect">
            <a:avLst/>
          </a:prstGeom>
        </p:spPr>
      </p:pic>
      <p:pic>
        <p:nvPicPr>
          <p:cNvPr id="15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6373a15feb47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58396" y="1745827"/>
            <a:ext cx="2376264" cy="3373758"/>
          </a:xfrm>
          <a:prstGeom xmlns:a="http://schemas.openxmlformats.org/drawingml/2006/main" prst="rect">
            <a:avLst/>
          </a:prstGeom>
        </p:spPr>
      </p:pic>
      <p:sp>
        <p:nvSpPr>
          <p:cNvPr id="9" name="section-15">
            <a:extLst xmlns:a="http://schemas.openxmlformats.org/drawingml/2006/main">
              <a:ext uri="{FF2B5EF4-FFF2-40B4-BE49-F238E27FC236}">
                <a16:creationId xmlns:a16="http://schemas.microsoft.com/office/drawing/2014/main" id="{E4A3679E-4CCB-4614-95DC-66A76306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41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1.3 · TRUNCATED AXIS</a:t>
            </a:r>
          </a:p>
        </p:txBody>
      </p:sp>
    </p:spTree>
    <p:extLst>
      <p:ext uri="{BB962C8B-B14F-4D97-AF65-F5344CB8AC3E}">
        <p14:creationId xmlns:p14="http://schemas.microsoft.com/office/powerpoint/2010/main" val="108786664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53CB2E7B-2E86-4A93-AB99-31C71FBD79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7544" y="876195"/>
            <a:ext cx="7571184" cy="68059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400050" lvl="1" indent="0">
              <a:buNone/>
            </a:pPr>
            <a:endParaRPr sz="1400" b="1">
              <a:solidFill>
                <a:srgbClr val="C00000"/>
              </a:solidFill>
            </a:endParaRPr>
          </a:p>
          <a:p xmlns:a="http://schemas.openxmlformats.org/drawingml/2006/main">
            <a:pPr marL="557213" lvl="1" indent="-257175">
              <a:buFont typeface="Arial"/>
              <a:buChar char="•"/>
            </a:pPr>
            <a:r>
              <a:rPr sz="2000" b="1">
                <a:solidFill>
                  <a:srgbClr val="C00000"/>
                </a:solidFill>
              </a:rPr>
              <a:t>잘못된 그래프 사용 및 시계열 무시</a:t>
            </a:r>
            <a:endParaRPr sz="1800" b="1">
              <a:solidFill>
                <a:srgbClr val="C00000"/>
              </a:solidFill>
            </a:endParaRPr>
          </a:p>
        </p:txBody>
      </p:sp>
      <p:sp>
        <p:nvSpPr>
          <p:cNvPr id="5" name="슬라이드 번호 개체 틀 4">
            <a:extLst xmlns:a="http://schemas.openxmlformats.org/drawingml/2006/main">
              <a:ext uri="{FF2B5EF4-FFF2-40B4-BE49-F238E27FC236}">
                <a16:creationId xmlns:a16="http://schemas.microsoft.com/office/drawing/2014/main" id="{8BB26AD1-FE39-475D-8071-E5FAD36FDB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073573-ADE5-401A-A5A2-FCCE564B3D6B}" type="slidenum">
              <a:t>44</a:t>
            </a:fld>
            <a:endParaRPr/>
          </a:p>
        </p:txBody>
      </p:sp>
      <p:sp>
        <p:nvSpPr>
          <p:cNvPr id="8" name="제목 1">
            <a:extLst xmlns:a="http://schemas.openxmlformats.org/drawingml/2006/main">
              <a:ext uri="{FF2B5EF4-FFF2-40B4-BE49-F238E27FC236}">
                <a16:creationId xmlns:a16="http://schemas.microsoft.com/office/drawing/2014/main" id="{EA555D1E-BBB5-4312-ACC0-88A50A63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3865" y="151557"/>
            <a:ext cx="8229600" cy="792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ctr">
              <a:spcBef>
                <a:spcPct val="0"/>
              </a:spcBef>
              <a:spcAft>
                <a:spcPct val="0"/>
              </a:spcAft>
              <a:buNone/>
              <a:defRPr sz="3600" b="1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spcBef>
                <a:spcPct val="0"/>
              </a:spcBef>
              <a:spcAft>
                <a:spcPct val="0"/>
              </a:spcAft>
              <a:buNone/>
              <a:defRPr sz="3600" b="1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spcBef>
                <a:spcPct val="0"/>
              </a:spcBef>
              <a:spcAft>
                <a:spcPct val="0"/>
              </a:spcAft>
              <a:buNone/>
              <a:defRPr sz="3600" b="1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spcBef>
                <a:spcPct val="0"/>
              </a:spcBef>
              <a:spcAft>
                <a:spcPct val="0"/>
              </a:spcAft>
              <a:buNone/>
              <a:defRPr sz="3600" b="1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spcBef>
                <a:spcPct val="0"/>
              </a:spcBef>
              <a:spcAft>
                <a:spcPct val="0"/>
              </a:spcAft>
              <a:buNone/>
              <a:defRPr sz="3600" b="1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5pPr>
            <a:lvl6pPr marL="457200" algn="l"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lvl6pPr>
            <a:lvl7pPr marL="914400" algn="l"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lvl7pPr>
            <a:lvl8pPr marL="1371600" algn="l"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lvl8pPr>
            <a:lvl9pPr marL="1828800" algn="l"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r>
              <a:rPr sz="2800"/>
              <a:t>데이터시각화와 왜곡된 정보 </a:t>
            </a:r>
            <a:r>
              <a:rPr sz="2800"/>
              <a:t>(</a:t>
            </a:r>
            <a:r>
              <a:rPr sz="2800">
                <a:solidFill>
                  <a:srgbClr val="C00000"/>
                </a:solidFill>
              </a:rPr>
              <a:t>막대 그래프</a:t>
            </a:r>
            <a:r>
              <a:rPr sz="2800"/>
              <a:t>)</a:t>
            </a:r>
            <a:endParaRPr sz="2800" kern="0" baseline="0"/>
          </a:p>
        </p:txBody>
      </p:sp>
      <p:pic>
        <p:nvPicPr>
          <p:cNvPr id="15" name="그림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529e552c9b4a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760" y="2708920"/>
            <a:ext cx="3483218" cy="1917207"/>
          </a:xfrm>
          <a:prstGeom xmlns:a="http://schemas.openxmlformats.org/drawingml/2006/main" prst="rect">
            <a:avLst/>
          </a:prstGeom>
        </p:spPr>
      </p:pic>
      <p:sp>
        <p:nvSpPr>
          <p:cNvPr id="4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7385BD6E-D12F-EB6B-B9C8-37229CF0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3688" y="4905563"/>
            <a:ext cx="3759362" cy="2308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350"/>
              <a:t>2019</a:t>
            </a:r>
            <a:r>
              <a:rPr sz="1350"/>
              <a:t>년 </a:t>
            </a:r>
            <a:r>
              <a:rPr sz="1350"/>
              <a:t>5</a:t>
            </a:r>
            <a:r>
              <a:rPr sz="1350"/>
              <a:t>월 </a:t>
            </a:r>
            <a:r>
              <a:rPr sz="1350"/>
              <a:t>23</a:t>
            </a:r>
            <a:r>
              <a:rPr sz="1350"/>
              <a:t>일자 한국경제</a:t>
            </a:r>
            <a:r>
              <a:rPr sz="1350"/>
              <a:t>: "</a:t>
            </a:r>
            <a:r>
              <a:rPr sz="1350"/>
              <a:t>최저임금</a:t>
            </a:r>
            <a:r>
              <a:rPr sz="1350"/>
              <a:t>=1</a:t>
            </a:r>
            <a:r>
              <a:rPr sz="1350"/>
              <a:t>만원 목표 신축적으로 가야</a:t>
            </a:r>
            <a:r>
              <a:rPr sz="1350"/>
              <a:t>"</a:t>
            </a:r>
            <a:endParaRPr sz="1350"/>
          </a:p>
        </p:txBody>
      </p:sp>
      <p:sp>
        <p:nvSpPr>
          <p:cNvPr id="10" name="section-16">
            <a:extLst xmlns:a="http://schemas.openxmlformats.org/drawingml/2006/main">
              <a:ext uri="{FF2B5EF4-FFF2-40B4-BE49-F238E27FC236}">
                <a16:creationId xmlns:a16="http://schemas.microsoft.com/office/drawing/2014/main" id="{6D069E43-2325-476A-A674-DB534EF7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41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1.3 · WRONG CHART AND ORDER</a:t>
            </a:r>
          </a:p>
        </p:txBody>
      </p:sp>
      <p:sp>
        <p:nvSpPr>
          <p:cNvPr id="11" name="footer-16">
            <a:extLst xmlns:a="http://schemas.openxmlformats.org/drawingml/2006/main">
              <a:ext uri="{FF2B5EF4-FFF2-40B4-BE49-F238E27FC236}">
                <a16:creationId xmlns:a16="http://schemas.microsoft.com/office/drawing/2014/main" id="{31FF0EB5-3D41-4B07-BD57-997047F8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데이터에 적절하지 않은 그래프 사용</a:t>
            </a:r>
          </a:p>
        </p:txBody>
      </p:sp>
    </p:spTree>
    <p:extLst>
      <p:ext uri="{BB962C8B-B14F-4D97-AF65-F5344CB8AC3E}">
        <p14:creationId xmlns:p14="http://schemas.microsoft.com/office/powerpoint/2010/main" val="356204112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6460ABF6-270F-42A4-B08A-EEBAC083C4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4736" y="795988"/>
            <a:ext cx="7571184" cy="792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400050" lvl="1" indent="0">
              <a:buNone/>
            </a:pPr>
            <a:endParaRPr sz="1400" b="1">
              <a:solidFill>
                <a:srgbClr val="C00000"/>
              </a:solidFill>
            </a:endParaRPr>
          </a:p>
          <a:p xmlns:a="http://schemas.openxmlformats.org/drawingml/2006/main">
            <a:pPr marL="685800" lvl="1">
              <a:buFont typeface="Arial"/>
              <a:buChar char="•"/>
            </a:pPr>
            <a:r>
              <a:rPr sz="1800" b="1">
                <a:solidFill>
                  <a:srgbClr val="C00000"/>
                </a:solidFill>
              </a:rPr>
              <a:t> </a:t>
            </a:r>
            <a:r>
              <a:rPr sz="2000" b="1">
                <a:solidFill>
                  <a:srgbClr val="C00000"/>
                </a:solidFill>
              </a:rPr>
              <a:t>세로축 범위 </a:t>
            </a:r>
            <a:r>
              <a:rPr sz="2000" b="1">
                <a:solidFill>
                  <a:srgbClr val="C00000"/>
                </a:solidFill>
              </a:rPr>
              <a:t>(</a:t>
            </a:r>
            <a:r>
              <a:rPr sz="2000" b="1">
                <a:solidFill>
                  <a:srgbClr val="C00000"/>
                </a:solidFill>
              </a:rPr>
              <a:t>눈금</a:t>
            </a:r>
            <a:r>
              <a:rPr sz="2000" b="1">
                <a:solidFill>
                  <a:srgbClr val="C00000"/>
                </a:solidFill>
              </a:rPr>
              <a:t>)</a:t>
            </a:r>
            <a:r>
              <a:rPr sz="2000" b="1">
                <a:solidFill>
                  <a:srgbClr val="C00000"/>
                </a:solidFill>
              </a:rPr>
              <a:t> 바꾸기</a:t>
            </a:r>
            <a:endParaRPr sz="2000" b="1">
              <a:solidFill>
                <a:srgbClr val="C00000"/>
              </a:solidFill>
            </a:endParaRPr>
          </a:p>
        </p:txBody>
      </p:sp>
      <p:sp>
        <p:nvSpPr>
          <p:cNvPr id="5" name="슬라이드 번호 개체 틀 4">
            <a:extLst xmlns:a="http://schemas.openxmlformats.org/drawingml/2006/main">
              <a:ext uri="{FF2B5EF4-FFF2-40B4-BE49-F238E27FC236}">
                <a16:creationId xmlns:a16="http://schemas.microsoft.com/office/drawing/2014/main" id="{751BF503-C3F7-415B-B74E-4E90D9F638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073573-ADE5-401A-A5A2-FCCE564B3D6B}" type="slidenum">
              <a:t>33</a:t>
            </a:fld>
            <a:endParaRPr/>
          </a:p>
        </p:txBody>
      </p:sp>
      <p:pic>
        <p:nvPicPr>
          <p:cNvPr id="19" name="그림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6dd0946f4b4f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29575" y="1668282"/>
            <a:ext cx="4608512" cy="1872208"/>
          </a:xfrm>
          <a:prstGeom xmlns:a="http://schemas.openxmlformats.org/drawingml/2006/main" prst="rect">
            <a:avLst/>
          </a:prstGeom>
        </p:spPr>
      </p:pic>
      <p:pic>
        <p:nvPicPr>
          <p:cNvPr id="20" name="그림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dc1ad857714e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994" y="3569049"/>
            <a:ext cx="8666667" cy="2676176"/>
          </a:xfrm>
          <a:prstGeom xmlns:a="http://schemas.openxmlformats.org/drawingml/2006/main" prst="rect">
            <a:avLst/>
          </a:prstGeom>
        </p:spPr>
      </p:pic>
      <p:sp>
        <p:nvSpPr>
          <p:cNvPr id="12" name="제목 1">
            <a:extLst xmlns:a="http://schemas.openxmlformats.org/drawingml/2006/main">
              <a:ext uri="{FF2B5EF4-FFF2-40B4-BE49-F238E27FC236}">
                <a16:creationId xmlns:a16="http://schemas.microsoft.com/office/drawing/2014/main" id="{BD8AD649-2F56-4141-852B-CAD11682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116632"/>
            <a:ext cx="8229600" cy="792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ctr">
              <a:spcBef>
                <a:spcPct val="0"/>
              </a:spcBef>
              <a:spcAft>
                <a:spcPct val="0"/>
              </a:spcAft>
              <a:buNone/>
              <a:defRPr sz="3600" b="1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spcBef>
                <a:spcPct val="0"/>
              </a:spcBef>
              <a:spcAft>
                <a:spcPct val="0"/>
              </a:spcAft>
              <a:buNone/>
              <a:defRPr sz="3600" b="1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spcBef>
                <a:spcPct val="0"/>
              </a:spcBef>
              <a:spcAft>
                <a:spcPct val="0"/>
              </a:spcAft>
              <a:buNone/>
              <a:defRPr sz="3600" b="1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spcBef>
                <a:spcPct val="0"/>
              </a:spcBef>
              <a:spcAft>
                <a:spcPct val="0"/>
              </a:spcAft>
              <a:buNone/>
              <a:defRPr sz="3600" b="1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spcBef>
                <a:spcPct val="0"/>
              </a:spcBef>
              <a:spcAft>
                <a:spcPct val="0"/>
              </a:spcAft>
              <a:buNone/>
              <a:defRPr sz="3600" b="1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5pPr>
            <a:lvl6pPr marL="457200" algn="l"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lvl6pPr>
            <a:lvl7pPr marL="914400" algn="l"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lvl7pPr>
            <a:lvl8pPr marL="1371600" algn="l"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lvl8pPr>
            <a:lvl9pPr marL="1828800" algn="l"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r>
              <a:rPr sz="2800"/>
              <a:t>데이터시각화와 왜곡된 정보 </a:t>
            </a:r>
            <a:r>
              <a:rPr sz="2800"/>
              <a:t>(</a:t>
            </a:r>
            <a:r>
              <a:rPr sz="2800">
                <a:solidFill>
                  <a:srgbClr val="C00000"/>
                </a:solidFill>
              </a:rPr>
              <a:t>선 그래프</a:t>
            </a:r>
            <a:r>
              <a:rPr sz="2800"/>
              <a:t>)</a:t>
            </a:r>
            <a:endParaRPr sz="2800" kern="0" baseline="0"/>
          </a:p>
        </p:txBody>
      </p:sp>
      <p:sp>
        <p:nvSpPr>
          <p:cNvPr id="15" name="section-17">
            <a:extLst xmlns:a="http://schemas.openxmlformats.org/drawingml/2006/main">
              <a:ext uri="{FF2B5EF4-FFF2-40B4-BE49-F238E27FC236}">
                <a16:creationId xmlns:a16="http://schemas.microsoft.com/office/drawing/2014/main" id="{9190EB2C-8825-4F7A-8646-283083C1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41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1.3 · SCALE, RANGE AND TIME</a:t>
            </a:r>
          </a:p>
        </p:txBody>
      </p:sp>
      <p:sp>
        <p:nvSpPr>
          <p:cNvPr id="16" name="footer-17">
            <a:extLst xmlns:a="http://schemas.openxmlformats.org/drawingml/2006/main">
              <a:ext uri="{FF2B5EF4-FFF2-40B4-BE49-F238E27FC236}">
                <a16:creationId xmlns:a16="http://schemas.microsoft.com/office/drawing/2014/main" id="{B3800437-5FCA-435F-9293-A336FC56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752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값의 차이를 과대/축소 시킴 · 잘못된 시계열 표기</a:t>
            </a:r>
          </a:p>
        </p:txBody>
      </p:sp>
    </p:spTree>
    <p:extLst>
      <p:ext uri="{BB962C8B-B14F-4D97-AF65-F5344CB8AC3E}">
        <p14:creationId xmlns:p14="http://schemas.microsoft.com/office/powerpoint/2010/main" val="323295517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725D1B68-61F6-4DDF-987C-8032F9217C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35044" y="876194"/>
            <a:ext cx="7571184" cy="584528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C00000"/>
                </a:solidFill>
              </a:rPr>
              <a:t>이중 축 </a:t>
            </a:r>
            <a:r>
              <a:rPr sz="2000" b="1">
                <a:solidFill>
                  <a:srgbClr val="C00000"/>
                </a:solidFill>
              </a:rPr>
              <a:t>(dual axes) </a:t>
            </a:r>
            <a:r>
              <a:rPr sz="2000" b="1">
                <a:solidFill>
                  <a:srgbClr val="C00000"/>
                </a:solidFill>
              </a:rPr>
              <a:t>그래프를 통한 상관없는 사건들 표기 </a:t>
            </a:r>
            <a:endParaRPr b="1">
              <a:solidFill>
                <a:srgbClr val="C00000"/>
              </a:solidFill>
            </a:endParaRPr>
          </a:p>
        </p:txBody>
      </p:sp>
      <p:sp>
        <p:nvSpPr>
          <p:cNvPr id="5" name="슬라이드 번호 개체 틀 4">
            <a:extLst xmlns:a="http://schemas.openxmlformats.org/drawingml/2006/main">
              <a:ext uri="{FF2B5EF4-FFF2-40B4-BE49-F238E27FC236}">
                <a16:creationId xmlns:a16="http://schemas.microsoft.com/office/drawing/2014/main" id="{DA249E74-8C05-4FFB-91B6-633DD925E0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073573-ADE5-401A-A5A2-FCCE564B3D6B}" type="slidenum">
              <a:t>37</a:t>
            </a:fld>
            <a:endParaRPr/>
          </a:p>
        </p:txBody>
      </p:sp>
      <p:pic>
        <p:nvPicPr>
          <p:cNvPr id="13" name="그림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3bb78f03854f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7984" y="2060848"/>
            <a:ext cx="4444008" cy="3661685"/>
          </a:xfrm>
          <a:prstGeom xmlns:a="http://schemas.openxmlformats.org/drawingml/2006/main" prst="rect">
            <a:avLst/>
          </a:prstGeom>
        </p:spPr>
      </p:pic>
      <p:sp>
        <p:nvSpPr>
          <p:cNvPr id="7" name="제목 1">
            <a:extLst xmlns:a="http://schemas.openxmlformats.org/drawingml/2006/main">
              <a:ext uri="{FF2B5EF4-FFF2-40B4-BE49-F238E27FC236}">
                <a16:creationId xmlns:a16="http://schemas.microsoft.com/office/drawing/2014/main" id="{3E8546BD-99FF-417F-8DCE-01540AF1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872" y="167614"/>
            <a:ext cx="8229600" cy="792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ctr">
              <a:spcBef>
                <a:spcPct val="0"/>
              </a:spcBef>
              <a:spcAft>
                <a:spcPct val="0"/>
              </a:spcAft>
              <a:buNone/>
              <a:defRPr sz="3600" b="1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spcBef>
                <a:spcPct val="0"/>
              </a:spcBef>
              <a:spcAft>
                <a:spcPct val="0"/>
              </a:spcAft>
              <a:buNone/>
              <a:defRPr sz="3600" b="1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spcBef>
                <a:spcPct val="0"/>
              </a:spcBef>
              <a:spcAft>
                <a:spcPct val="0"/>
              </a:spcAft>
              <a:buNone/>
              <a:defRPr sz="3600" b="1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spcBef>
                <a:spcPct val="0"/>
              </a:spcBef>
              <a:spcAft>
                <a:spcPct val="0"/>
              </a:spcAft>
              <a:buNone/>
              <a:defRPr sz="3600" b="1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spcBef>
                <a:spcPct val="0"/>
              </a:spcBef>
              <a:spcAft>
                <a:spcPct val="0"/>
              </a:spcAft>
              <a:buNone/>
              <a:defRPr sz="3600" b="1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5pPr>
            <a:lvl6pPr marL="457200" algn="l"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lvl6pPr>
            <a:lvl7pPr marL="914400" algn="l"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lvl7pPr>
            <a:lvl8pPr marL="1371600" algn="l"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lvl8pPr>
            <a:lvl9pPr marL="1828800" algn="l"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r>
              <a:rPr sz="2800"/>
              <a:t>데이터시각화와 왜곡된 정보 </a:t>
            </a:r>
            <a:r>
              <a:rPr sz="2800"/>
              <a:t>(</a:t>
            </a:r>
            <a:r>
              <a:rPr sz="2800">
                <a:solidFill>
                  <a:srgbClr val="C00000"/>
                </a:solidFill>
              </a:rPr>
              <a:t>선 그래프</a:t>
            </a:r>
            <a:r>
              <a:rPr sz="2800"/>
              <a:t>)</a:t>
            </a:r>
            <a:endParaRPr sz="2800" kern="0" baseline="0"/>
          </a:p>
        </p:txBody>
      </p:sp>
      <p:pic>
        <p:nvPicPr>
          <p:cNvPr id="15" name="그림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0c785d7d5749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8569" y="2394072"/>
            <a:ext cx="3960440" cy="2809524"/>
          </a:xfrm>
          <a:prstGeom xmlns:a="http://schemas.openxmlformats.org/drawingml/2006/main" prst="rect">
            <a:avLst/>
          </a:prstGeom>
        </p:spPr>
      </p:pic>
      <p:sp>
        <p:nvSpPr>
          <p:cNvPr id="10" name="section-18">
            <a:extLst xmlns:a="http://schemas.openxmlformats.org/drawingml/2006/main">
              <a:ext uri="{FF2B5EF4-FFF2-40B4-BE49-F238E27FC236}">
                <a16:creationId xmlns:a16="http://schemas.microsoft.com/office/drawing/2014/main" id="{C1B5CEBD-C9A5-44C6-8A93-A10DE627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41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1.3 · DUAL AXES</a:t>
            </a:r>
          </a:p>
        </p:txBody>
      </p:sp>
    </p:spTree>
    <p:extLst>
      <p:ext uri="{BB962C8B-B14F-4D97-AF65-F5344CB8AC3E}">
        <p14:creationId xmlns:p14="http://schemas.microsoft.com/office/powerpoint/2010/main" val="219633465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-19">
            <a:extLst xmlns:a="http://schemas.openxmlformats.org/drawingml/2006/main">
              <a:ext uri="{FF2B5EF4-FFF2-40B4-BE49-F238E27FC236}">
                <a16:creationId xmlns:a16="http://schemas.microsoft.com/office/drawing/2014/main" id="{B937B0A8-4765-4FC3-8463-BC40534B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1.3 · MISSING CONTEXT</a:t>
            </a:r>
          </a:p>
        </p:txBody>
      </p:sp>
      <p:sp>
        <p:nvSpPr>
          <p:cNvPr id="2" name="title-19">
            <a:extLst xmlns:a="http://schemas.openxmlformats.org/drawingml/2006/main">
              <a:ext uri="{FF2B5EF4-FFF2-40B4-BE49-F238E27FC236}">
                <a16:creationId xmlns:a16="http://schemas.microsoft.com/office/drawing/2014/main" id="{160852B8-5685-4402-BBB1-5A6D6DB5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맥락 누락</a:t>
            </a:r>
          </a:p>
        </p:txBody>
      </p:sp>
      <p:sp>
        <p:nvSpPr>
          <p:cNvPr id="3" name="number-19">
            <a:extLst xmlns:a="http://schemas.openxmlformats.org/drawingml/2006/main">
              <a:ext uri="{FF2B5EF4-FFF2-40B4-BE49-F238E27FC236}">
                <a16:creationId xmlns:a16="http://schemas.microsoft.com/office/drawing/2014/main" id="{E4A7C601-45DC-4D1C-BB00-9B8807BC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4" name="context">
            <a:extLst xmlns:a="http://schemas.openxmlformats.org/drawingml/2006/main">
              <a:ext uri="{FF2B5EF4-FFF2-40B4-BE49-F238E27FC236}">
                <a16:creationId xmlns:a16="http://schemas.microsoft.com/office/drawing/2014/main" id="{005FD25C-5EDA-4AE0-A5DF-50FC3C39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71625"/>
            <a:ext cx="7048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600"/>
              </a:spcAft>
              <a:buNone/>
              <a:def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그래프에 자료가 빠짐</a:t>
            </a:r>
          </a:p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600"/>
              </a:spcAft>
              <a:buNone/>
              <a:def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그래프해석에 대한 설명이 필요함</a:t>
            </a:r>
          </a:p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600"/>
              </a:spcAft>
              <a:buNone/>
              <a:def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정렬순서 미흡, 제목과의 불일치</a:t>
            </a:r>
          </a:p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600"/>
              </a:spcAft>
              <a:buNone/>
              <a:def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축 이름·단위·출처가 없으면 읽을 수 없다.</a:t>
            </a:r>
          </a:p>
        </p:txBody>
      </p:sp>
    </p:spTree>
    <p:extLst>
      <p:ext uri="{BB962C8B-B14F-4D97-AF65-F5344CB8AC3E}">
        <p14:creationId xmlns:p14="http://schemas.microsoft.com/office/powerpoint/2010/main" val="303220455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20">
            <a:extLst xmlns:a="http://schemas.openxmlformats.org/drawingml/2006/main">
              <a:ext uri="{FF2B5EF4-FFF2-40B4-BE49-F238E27FC236}">
                <a16:creationId xmlns:a16="http://schemas.microsoft.com/office/drawing/2014/main" id="{0ED72994-4F91-4856-871D-D033865D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1.3 · CHECKLIST</a:t>
            </a:r>
          </a:p>
        </p:txBody>
      </p:sp>
      <p:sp>
        <p:nvSpPr>
          <p:cNvPr id="2" name="title-20">
            <a:extLst xmlns:a="http://schemas.openxmlformats.org/drawingml/2006/main">
              <a:ext uri="{FF2B5EF4-FFF2-40B4-BE49-F238E27FC236}">
                <a16:creationId xmlns:a16="http://schemas.microsoft.com/office/drawing/2014/main" id="{8C304C66-6CF7-4D45-BE05-12E04A5D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오도하는 차트를 잡는 다섯 기준</a:t>
            </a:r>
          </a:p>
        </p:txBody>
      </p:sp>
      <p:sp>
        <p:nvSpPr>
          <p:cNvPr id="3" name="number-20">
            <a:extLst xmlns:a="http://schemas.openxmlformats.org/drawingml/2006/main">
              <a:ext uri="{FF2B5EF4-FFF2-40B4-BE49-F238E27FC236}">
                <a16:creationId xmlns:a16="http://schemas.microsoft.com/office/drawing/2014/main" id="{F5F3FEA4-47EB-4D3F-AE3F-18CB6874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1952625" y="1285875"/>
          <a:ext xmlns:a="http://schemas.openxmlformats.org/drawingml/2006/main" cx="52387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4381500"/>
              </a:tblGrid>
              <a:tr h="8382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잘린 축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8382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잘못된 차트 유형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체리픽된 척도·범위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  <a:tr h="8382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이중축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맥락 누락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5" name="source-rule">
            <a:extLst xmlns:a="http://schemas.openxmlformats.org/drawingml/2006/main">
              <a:ext uri="{FF2B5EF4-FFF2-40B4-BE49-F238E27FC236}">
                <a16:creationId xmlns:a16="http://schemas.microsoft.com/office/drawing/2014/main" id="{11FD91AF-D819-461A-A20B-C1AD9225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6197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rPr>
              <a:t>변수이름, 변수의 단위, 자료의 출처와 범례를 확인한다.</a:t>
            </a:r>
          </a:p>
        </p:txBody>
      </p:sp>
    </p:spTree>
    <p:extLst>
      <p:ext uri="{BB962C8B-B14F-4D97-AF65-F5344CB8AC3E}">
        <p14:creationId xmlns:p14="http://schemas.microsoft.com/office/powerpoint/2010/main" val="303220455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21">
            <a:extLst xmlns:a="http://schemas.openxmlformats.org/drawingml/2006/main">
              <a:ext uri="{FF2B5EF4-FFF2-40B4-BE49-F238E27FC236}">
                <a16:creationId xmlns:a16="http://schemas.microsoft.com/office/drawing/2014/main" id="{15609E71-2862-42E9-844B-876EFF9F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1.4 · MEASUREMENT VALIDITY</a:t>
            </a:r>
          </a:p>
        </p:txBody>
      </p:sp>
      <p:sp>
        <p:nvSpPr>
          <p:cNvPr id="2" name="title-21">
            <a:extLst xmlns:a="http://schemas.openxmlformats.org/drawingml/2006/main">
              <a:ext uri="{FF2B5EF4-FFF2-40B4-BE49-F238E27FC236}">
                <a16:creationId xmlns:a16="http://schemas.microsoft.com/office/drawing/2014/main" id="{A087C5CE-E02F-4BCA-B530-97807707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측정 타당성</a:t>
            </a:r>
          </a:p>
        </p:txBody>
      </p:sp>
      <p:sp>
        <p:nvSpPr>
          <p:cNvPr id="3" name="number-21">
            <a:extLst xmlns:a="http://schemas.openxmlformats.org/drawingml/2006/main">
              <a:ext uri="{FF2B5EF4-FFF2-40B4-BE49-F238E27FC236}">
                <a16:creationId xmlns:a16="http://schemas.microsoft.com/office/drawing/2014/main" id="{57D530E9-2E83-4C9E-98B8-4F1FDDDB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4" name="pivot">
            <a:extLst xmlns:a="http://schemas.openxmlformats.org/drawingml/2006/main">
              <a:ext uri="{FF2B5EF4-FFF2-40B4-BE49-F238E27FC236}">
                <a16:creationId xmlns:a16="http://schemas.microsoft.com/office/drawing/2014/main" id="{DB32DFAB-B7CE-49F0-B772-32BAAA68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이 축은 무엇을 세는가</a:t>
            </a:r>
          </a:p>
        </p:txBody>
      </p:sp>
      <p:sp>
        <p:nvSpPr>
          <p:cNvPr id="5" name="pivot-detail">
            <a:extLst xmlns:a="http://schemas.openxmlformats.org/drawingml/2006/main">
              <a:ext uri="{FF2B5EF4-FFF2-40B4-BE49-F238E27FC236}">
                <a16:creationId xmlns:a16="http://schemas.microsoft.com/office/drawing/2014/main" id="{E39DE708-17E2-43B0-AE1D-3A89DBB3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rPr>
              <a:t>정직하게 그린 차트도 숫자가 잘못된 대상을 재면 잘못된 결론으로 이어진다.</a:t>
            </a:r>
          </a:p>
        </p:txBody>
      </p:sp>
    </p:spTree>
    <p:extLst>
      <p:ext uri="{BB962C8B-B14F-4D97-AF65-F5344CB8AC3E}">
        <p14:creationId xmlns:p14="http://schemas.microsoft.com/office/powerpoint/2010/main" val="303220455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-22">
            <a:extLst xmlns:a="http://schemas.openxmlformats.org/drawingml/2006/main">
              <a:ext uri="{FF2B5EF4-FFF2-40B4-BE49-F238E27FC236}">
                <a16:creationId xmlns:a16="http://schemas.microsoft.com/office/drawing/2014/main" id="{9793A2F1-3E0E-4290-BF07-77FE8771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1.4 · PROXY AND CONSTRUCT</a:t>
            </a:r>
          </a:p>
        </p:txBody>
      </p:sp>
      <p:sp>
        <p:nvSpPr>
          <p:cNvPr id="2" name="title-22">
            <a:extLst xmlns:a="http://schemas.openxmlformats.org/drawingml/2006/main">
              <a:ext uri="{FF2B5EF4-FFF2-40B4-BE49-F238E27FC236}">
                <a16:creationId xmlns:a16="http://schemas.microsoft.com/office/drawing/2014/main" id="{003F7676-B801-4F70-A2F3-F9F5701F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대리지표와 실체</a:t>
            </a:r>
          </a:p>
        </p:txBody>
      </p:sp>
      <p:sp>
        <p:nvSpPr>
          <p:cNvPr id="3" name="number-22">
            <a:extLst xmlns:a="http://schemas.openxmlformats.org/drawingml/2006/main">
              <a:ext uri="{FF2B5EF4-FFF2-40B4-BE49-F238E27FC236}">
                <a16:creationId xmlns:a16="http://schemas.microsoft.com/office/drawing/2014/main" id="{F32C5F81-6CB3-4737-9989-7DC3C880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7810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4667250"/>
              </a:tblGrid>
              <a:tr h="10477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실체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대리지표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10477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직접 알고 싶은 행동·이용·소비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직접 재기 어려워 대신 관측한 검색·클릭·신호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판정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대리지표가 실체를 언제 잘 대리하고 언제 어긋나는지 묻는다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220455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23">
            <a:extLst xmlns:a="http://schemas.openxmlformats.org/drawingml/2006/main">
              <a:ext uri="{FF2B5EF4-FFF2-40B4-BE49-F238E27FC236}">
                <a16:creationId xmlns:a16="http://schemas.microsoft.com/office/drawing/2014/main" id="{408ADD7D-10B0-4977-87D0-CC2990D8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1.4 · PROXY QUESTION</a:t>
            </a:r>
          </a:p>
        </p:txBody>
      </p:sp>
      <p:sp>
        <p:nvSpPr>
          <p:cNvPr id="2" name="title-23">
            <a:extLst xmlns:a="http://schemas.openxmlformats.org/drawingml/2006/main">
              <a:ext uri="{FF2B5EF4-FFF2-40B4-BE49-F238E27FC236}">
                <a16:creationId xmlns:a16="http://schemas.microsoft.com/office/drawing/2014/main" id="{E975E201-31F4-48F6-AD37-C528810C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대리지표 검증 질문</a:t>
            </a:r>
          </a:p>
        </p:txBody>
      </p:sp>
      <p:sp>
        <p:nvSpPr>
          <p:cNvPr id="3" name="number-23">
            <a:extLst xmlns:a="http://schemas.openxmlformats.org/drawingml/2006/main">
              <a:ext uri="{FF2B5EF4-FFF2-40B4-BE49-F238E27FC236}">
                <a16:creationId xmlns:a16="http://schemas.microsoft.com/office/drawing/2014/main" id="{EDDE9AFC-DCC2-49BD-B6A1-B608B860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4" name="proxy-q">
            <a:extLst xmlns:a="http://schemas.openxmlformats.org/drawingml/2006/main">
              <a:ext uri="{FF2B5EF4-FFF2-40B4-BE49-F238E27FC236}">
                <a16:creationId xmlns:a16="http://schemas.microsoft.com/office/drawing/2014/main" id="{C2F7DD6F-3757-448E-8D97-40CC7A01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관측한 신호가 줄었을 때, 우리가 알고 싶은 행동도 줄었다고 말할 수 있는가</a:t>
            </a:r>
          </a:p>
        </p:txBody>
      </p:sp>
      <p:sp>
        <p:nvSpPr>
          <p:cNvPr id="5" name="proxy-q-detail">
            <a:extLst xmlns:a="http://schemas.openxmlformats.org/drawingml/2006/main">
              <a:ext uri="{FF2B5EF4-FFF2-40B4-BE49-F238E27FC236}">
                <a16:creationId xmlns:a16="http://schemas.microsoft.com/office/drawing/2014/main" id="{1C34FDB1-6D1F-4B42-B701-C1729A7E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대체 경로·측정 공백·다른 설명을 먼저 찾는다.</a:t>
            </a:r>
          </a:p>
        </p:txBody>
      </p:sp>
    </p:spTree>
    <p:extLst>
      <p:ext uri="{BB962C8B-B14F-4D97-AF65-F5344CB8AC3E}">
        <p14:creationId xmlns:p14="http://schemas.microsoft.com/office/powerpoint/2010/main" val="303220455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-24">
            <a:extLst xmlns:a="http://schemas.openxmlformats.org/drawingml/2006/main">
              <a:ext uri="{FF2B5EF4-FFF2-40B4-BE49-F238E27FC236}">
                <a16:creationId xmlns:a16="http://schemas.microsoft.com/office/drawing/2014/main" id="{34663004-8C09-4077-A5C3-48AD71D5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1.4 · RELATIVE AND ABSOLUTE</a:t>
            </a:r>
          </a:p>
        </p:txBody>
      </p:sp>
      <p:sp>
        <p:nvSpPr>
          <p:cNvPr id="2" name="title-24">
            <a:extLst xmlns:a="http://schemas.openxmlformats.org/drawingml/2006/main">
              <a:ext uri="{FF2B5EF4-FFF2-40B4-BE49-F238E27FC236}">
                <a16:creationId xmlns:a16="http://schemas.microsoft.com/office/drawing/2014/main" id="{0A71DF77-C10E-40DE-BBA2-6746E6FF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상대값과 절대값</a:t>
            </a:r>
          </a:p>
        </p:txBody>
      </p:sp>
      <p:sp>
        <p:nvSpPr>
          <p:cNvPr id="3" name="number-24">
            <a:extLst xmlns:a="http://schemas.openxmlformats.org/drawingml/2006/main">
              <a:ext uri="{FF2B5EF4-FFF2-40B4-BE49-F238E27FC236}">
                <a16:creationId xmlns:a16="http://schemas.microsoft.com/office/drawing/2014/main" id="{3B2E69EB-C2BA-4A71-90BA-9AB8BA82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62000" y="1714500"/>
          <a:ext xmlns:a="http://schemas.openxmlformats.org/drawingml/2006/main" cx="7620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3810000"/>
              </a:tblGrid>
              <a:tr h="9525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상대값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절대값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9525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기준점에 대한 비율·지수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건수·명·원처럼 단위가 있는 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확인: 기준점과 척도 정의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확인: 단위와 분모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220455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25">
            <a:extLst xmlns:a="http://schemas.openxmlformats.org/drawingml/2006/main">
              <a:ext uri="{FF2B5EF4-FFF2-40B4-BE49-F238E27FC236}">
                <a16:creationId xmlns:a16="http://schemas.microsoft.com/office/drawing/2014/main" id="{50F7DEA6-9DE2-4D2B-BB98-B4BEDB7F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1.4 · RELATIVE INDEX</a:t>
            </a:r>
          </a:p>
        </p:txBody>
      </p:sp>
      <p:sp>
        <p:nvSpPr>
          <p:cNvPr id="2" name="title-25">
            <a:extLst xmlns:a="http://schemas.openxmlformats.org/drawingml/2006/main">
              <a:ext uri="{FF2B5EF4-FFF2-40B4-BE49-F238E27FC236}">
                <a16:creationId xmlns:a16="http://schemas.microsoft.com/office/drawing/2014/main" id="{08731764-18E8-4104-B1E3-6A5B2057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Google Trends 지수 0–100</a:t>
            </a:r>
          </a:p>
        </p:txBody>
      </p:sp>
      <p:sp>
        <p:nvSpPr>
          <p:cNvPr id="3" name="number-25">
            <a:extLst xmlns:a="http://schemas.openxmlformats.org/drawingml/2006/main">
              <a:ext uri="{FF2B5EF4-FFF2-40B4-BE49-F238E27FC236}">
                <a16:creationId xmlns:a16="http://schemas.microsoft.com/office/drawing/2014/main" id="{6F2C222A-9A51-4140-870B-F05BED10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4" name="definition">
            <a:extLst xmlns:a="http://schemas.openxmlformats.org/drawingml/2006/main">
              <a:ext uri="{FF2B5EF4-FFF2-40B4-BE49-F238E27FC236}">
                <a16:creationId xmlns:a16="http://schemas.microsoft.com/office/drawing/2014/main" id="{456A42FF-CA70-47EB-A67E-C65ADBAB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7620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해당 기간·지역에서 검색 관심이 가장 높았던 시점을 100으로 놓고, 나머지 시점을 그에 대한 상대 비율로 환산한 값</a:t>
            </a:r>
          </a:p>
        </p:txBody>
      </p:sp>
      <p:sp>
        <p:nvSpPr>
          <p:cNvPr id="5" name="definition-detail">
            <a:extLst xmlns:a="http://schemas.openxmlformats.org/drawingml/2006/main">
              <a:ext uri="{FF2B5EF4-FFF2-40B4-BE49-F238E27FC236}">
                <a16:creationId xmlns:a16="http://schemas.microsoft.com/office/drawing/2014/main" id="{37C99C78-D525-4929-92DC-0048A8D0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685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차원이 없는 상대 지표이며 검색 건수·방문자 수·사람 수가 아니다.</a:t>
            </a:r>
          </a:p>
        </p:txBody>
      </p:sp>
    </p:spTree>
    <p:extLst>
      <p:ext uri="{BB962C8B-B14F-4D97-AF65-F5344CB8AC3E}">
        <p14:creationId xmlns:p14="http://schemas.microsoft.com/office/powerpoint/2010/main" val="303220455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26">
            <a:extLst xmlns:a="http://schemas.openxmlformats.org/drawingml/2006/main">
              <a:ext uri="{FF2B5EF4-FFF2-40B4-BE49-F238E27FC236}">
                <a16:creationId xmlns:a16="http://schemas.microsoft.com/office/drawing/2014/main" id="{35E8E8F7-B0C9-435F-929B-55D1F445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1.4 · CONFOUNDING</a:t>
            </a:r>
          </a:p>
        </p:txBody>
      </p:sp>
      <p:sp>
        <p:nvSpPr>
          <p:cNvPr id="2" name="title-26">
            <a:extLst xmlns:a="http://schemas.openxmlformats.org/drawingml/2006/main">
              <a:ext uri="{FF2B5EF4-FFF2-40B4-BE49-F238E27FC236}">
                <a16:creationId xmlns:a16="http://schemas.microsoft.com/office/drawing/2014/main" id="{5DDDDC4F-D4CD-4412-B211-FF56CF6A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교란된 비교</a:t>
            </a:r>
          </a:p>
        </p:txBody>
      </p:sp>
      <p:sp>
        <p:nvSpPr>
          <p:cNvPr id="3" name="number-26">
            <a:extLst xmlns:a="http://schemas.openxmlformats.org/drawingml/2006/main">
              <a:ext uri="{FF2B5EF4-FFF2-40B4-BE49-F238E27FC236}">
                <a16:creationId xmlns:a16="http://schemas.microsoft.com/office/drawing/2014/main" id="{A5567781-FAF2-4B9C-AAF7-D73D9034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  <p:sp>
        <p:nvSpPr>
          <p:cNvPr id="4" name="confounding">
            <a:extLst xmlns:a="http://schemas.openxmlformats.org/drawingml/2006/main">
              <a:ext uri="{FF2B5EF4-FFF2-40B4-BE49-F238E27FC236}">
                <a16:creationId xmlns:a16="http://schemas.microsoft.com/office/drawing/2014/main" id="{F0B1EA9C-DE74-4394-A329-13603988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두 집단이 여러 면에서 동시에 다르면, 보이는 격차를 한 원인의 효과로 분리할 수 없다</a:t>
            </a:r>
          </a:p>
        </p:txBody>
      </p:sp>
      <p:sp>
        <p:nvSpPr>
          <p:cNvPr id="5" name="confounding-detail">
            <a:extLst xmlns:a="http://schemas.openxmlformats.org/drawingml/2006/main">
              <a:ext uri="{FF2B5EF4-FFF2-40B4-BE49-F238E27FC236}">
                <a16:creationId xmlns:a16="http://schemas.microsoft.com/office/drawing/2014/main" id="{428DE64D-B7B8-4C2D-92D8-1BB8C728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rPr>
              <a:t>인구·기저 관심·시점·미디어 보도가 함께 달라질 수 있다.</a:t>
            </a:r>
          </a:p>
        </p:txBody>
      </p:sp>
    </p:spTree>
    <p:extLst>
      <p:ext uri="{BB962C8B-B14F-4D97-AF65-F5344CB8AC3E}">
        <p14:creationId xmlns:p14="http://schemas.microsoft.com/office/powerpoint/2010/main" val="303220455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27">
            <a:extLst xmlns:a="http://schemas.openxmlformats.org/drawingml/2006/main">
              <a:ext uri="{FF2B5EF4-FFF2-40B4-BE49-F238E27FC236}">
                <a16:creationId xmlns:a16="http://schemas.microsoft.com/office/drawing/2014/main" id="{88CB43F8-A857-4241-A381-59EBAF36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1.4 · WITHIN-POPULATION CONTRAST</a:t>
            </a:r>
          </a:p>
        </p:txBody>
      </p:sp>
      <p:sp>
        <p:nvSpPr>
          <p:cNvPr id="2" name="title-27">
            <a:extLst xmlns:a="http://schemas.openxmlformats.org/drawingml/2006/main">
              <a:ext uri="{FF2B5EF4-FFF2-40B4-BE49-F238E27FC236}">
                <a16:creationId xmlns:a16="http://schemas.microsoft.com/office/drawing/2014/main" id="{B091FB6F-E1FB-4C89-A08D-AAF1F7AA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같은 모집단 안의 대조</a:t>
            </a:r>
          </a:p>
        </p:txBody>
      </p:sp>
      <p:sp>
        <p:nvSpPr>
          <p:cNvPr id="3" name="number-27">
            <a:extLst xmlns:a="http://schemas.openxmlformats.org/drawingml/2006/main">
              <a:ext uri="{FF2B5EF4-FFF2-40B4-BE49-F238E27FC236}">
                <a16:creationId xmlns:a16="http://schemas.microsoft.com/office/drawing/2014/main" id="{E1963EE9-4209-4917-B369-A11F1705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  <p:sp>
        <p:nvSpPr>
          <p:cNvPr id="4" name="within">
            <a:extLst xmlns:a="http://schemas.openxmlformats.org/drawingml/2006/main">
              <a:ext uri="{FF2B5EF4-FFF2-40B4-BE49-F238E27FC236}">
                <a16:creationId xmlns:a16="http://schemas.microsoft.com/office/drawing/2014/main" id="{F7A8339C-8C4C-40D7-B61D-DEF75547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7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같은 집단 안에서 접속 변화 여부만 다른 사건을 비교한다</a:t>
            </a:r>
          </a:p>
        </p:txBody>
      </p:sp>
      <p:sp>
        <p:nvSpPr>
          <p:cNvPr id="5" name="within-detail">
            <a:extLst xmlns:a="http://schemas.openxmlformats.org/drawingml/2006/main">
              <a:ext uri="{FF2B5EF4-FFF2-40B4-BE49-F238E27FC236}">
                <a16:creationId xmlns:a16="http://schemas.microsoft.com/office/drawing/2014/main" id="{80024FE5-6A3A-4732-83CF-D2BE24D2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관할 간 격차보다 비교 가능한 조건을 먼저 찾는다.</a:t>
            </a:r>
          </a:p>
        </p:txBody>
      </p:sp>
    </p:spTree>
    <p:extLst>
      <p:ext uri="{BB962C8B-B14F-4D97-AF65-F5344CB8AC3E}">
        <p14:creationId xmlns:p14="http://schemas.microsoft.com/office/powerpoint/2010/main" val="303220455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28">
            <a:extLst xmlns:a="http://schemas.openxmlformats.org/drawingml/2006/main">
              <a:ext uri="{FF2B5EF4-FFF2-40B4-BE49-F238E27FC236}">
                <a16:creationId xmlns:a16="http://schemas.microsoft.com/office/drawing/2014/main" id="{C1EFC530-5B24-4975-90C5-54CADCC5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1.4 · OBSERVABILITY</a:t>
            </a:r>
          </a:p>
        </p:txBody>
      </p:sp>
      <p:sp>
        <p:nvSpPr>
          <p:cNvPr id="2" name="title-28">
            <a:extLst xmlns:a="http://schemas.openxmlformats.org/drawingml/2006/main">
              <a:ext uri="{FF2B5EF4-FFF2-40B4-BE49-F238E27FC236}">
                <a16:creationId xmlns:a16="http://schemas.microsoft.com/office/drawing/2014/main" id="{DBB274A6-B97C-4193-B178-0B050B0D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관측되지 않은 대체 경로</a:t>
            </a:r>
          </a:p>
        </p:txBody>
      </p:sp>
      <p:sp>
        <p:nvSpPr>
          <p:cNvPr id="3" name="number-28">
            <a:extLst xmlns:a="http://schemas.openxmlformats.org/drawingml/2006/main">
              <a:ext uri="{FF2B5EF4-FFF2-40B4-BE49-F238E27FC236}">
                <a16:creationId xmlns:a16="http://schemas.microsoft.com/office/drawing/2014/main" id="{D104FEEA-B9DE-430C-B811-431331B5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  <p:sp>
        <p:nvSpPr>
          <p:cNvPr id="4" name="missing">
            <a:extLst xmlns:a="http://schemas.openxmlformats.org/drawingml/2006/main">
              <a:ext uri="{FF2B5EF4-FFF2-40B4-BE49-F238E27FC236}">
                <a16:creationId xmlns:a16="http://schemas.microsoft.com/office/drawing/2014/main" id="{6473E2A9-18B1-4E60-8487-DFA372D8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7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보이는 지표가 줄었을 때, 무엇이 다른 경로로 옮겨갔는가</a:t>
            </a:r>
          </a:p>
        </p:txBody>
      </p:sp>
      <p:sp>
        <p:nvSpPr>
          <p:cNvPr id="5" name="missing-detail">
            <a:extLst xmlns:a="http://schemas.openxmlformats.org/drawingml/2006/main">
              <a:ext uri="{FF2B5EF4-FFF2-40B4-BE49-F238E27FC236}">
                <a16:creationId xmlns:a16="http://schemas.microsoft.com/office/drawing/2014/main" id="{B83A16E2-0EE2-4B62-8751-17047498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rPr>
              <a:t>개입이 데이터에 남는 흔적 자체를 바꿀 수 있다.</a:t>
            </a:r>
          </a:p>
        </p:txBody>
      </p:sp>
    </p:spTree>
    <p:extLst>
      <p:ext uri="{BB962C8B-B14F-4D97-AF65-F5344CB8AC3E}">
        <p14:creationId xmlns:p14="http://schemas.microsoft.com/office/powerpoint/2010/main" val="303220455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-29">
            <a:extLst xmlns:a="http://schemas.openxmlformats.org/drawingml/2006/main">
              <a:ext uri="{FF2B5EF4-FFF2-40B4-BE49-F238E27FC236}">
                <a16:creationId xmlns:a16="http://schemas.microsoft.com/office/drawing/2014/main" id="{C248F852-8D7D-4AA2-B291-99285ED9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1.5 · FIVE QUESTIONS</a:t>
            </a:r>
          </a:p>
        </p:txBody>
      </p:sp>
      <p:sp>
        <p:nvSpPr>
          <p:cNvPr id="2" name="title-29">
            <a:extLst xmlns:a="http://schemas.openxmlformats.org/drawingml/2006/main">
              <a:ext uri="{FF2B5EF4-FFF2-40B4-BE49-F238E27FC236}">
                <a16:creationId xmlns:a16="http://schemas.microsoft.com/office/drawing/2014/main" id="{20E4F10F-CEB6-43A6-A2C0-3F37BA5C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관리자의 시각화 검증 5문</a:t>
            </a:r>
          </a:p>
        </p:txBody>
      </p:sp>
      <p:sp>
        <p:nvSpPr>
          <p:cNvPr id="3" name="number-29">
            <a:extLst xmlns:a="http://schemas.openxmlformats.org/drawingml/2006/main">
              <a:ext uri="{FF2B5EF4-FFF2-40B4-BE49-F238E27FC236}">
                <a16:creationId xmlns:a16="http://schemas.microsoft.com/office/drawing/2014/main" id="{92687509-B4F1-4BD2-B3D4-DF46DEC7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29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1571625" y="1285875"/>
          <a:ext xmlns:a="http://schemas.openxmlformats.org/drawingml/2006/main" cx="600075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5143500"/>
              </a:tblGrid>
              <a:tr h="8572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올바른 차트인가?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8572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축이 정직한가?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 숫자는 무엇을 세나?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  <a:tr h="8572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비교가 공정한가?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무엇이 빠졌나?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220455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-30">
            <a:extLst xmlns:a="http://schemas.openxmlformats.org/drawingml/2006/main">
              <a:ext uri="{FF2B5EF4-FFF2-40B4-BE49-F238E27FC236}">
                <a16:creationId xmlns:a16="http://schemas.microsoft.com/office/drawing/2014/main" id="{586E142C-23C5-4CE7-B0DD-C0FD6390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1.5 · QUESTIONS 1–3</a:t>
            </a:r>
          </a:p>
        </p:txBody>
      </p:sp>
      <p:sp>
        <p:nvSpPr>
          <p:cNvPr id="2" name="title-30">
            <a:extLst xmlns:a="http://schemas.openxmlformats.org/drawingml/2006/main">
              <a:ext uri="{FF2B5EF4-FFF2-40B4-BE49-F238E27FC236}">
                <a16:creationId xmlns:a16="http://schemas.microsoft.com/office/drawing/2014/main" id="{D2B5CAF4-2DE5-4424-A739-70103D14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검증 5문 ①–③</a:t>
            </a:r>
          </a:p>
        </p:txBody>
      </p:sp>
      <p:sp>
        <p:nvSpPr>
          <p:cNvPr id="3" name="number-30">
            <a:extLst xmlns:a="http://schemas.openxmlformats.org/drawingml/2006/main">
              <a:ext uri="{FF2B5EF4-FFF2-40B4-BE49-F238E27FC236}">
                <a16:creationId xmlns:a16="http://schemas.microsoft.com/office/drawing/2014/main" id="{08131C71-1BE2-45D4-BBAA-A5DA6369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  <p:sp>
        <p:nvSpPr>
          <p:cNvPr id="4" name="q123">
            <a:extLst xmlns:a="http://schemas.openxmlformats.org/drawingml/2006/main">
              <a:ext uri="{FF2B5EF4-FFF2-40B4-BE49-F238E27FC236}">
                <a16:creationId xmlns:a16="http://schemas.microsoft.com/office/drawing/2014/main" id="{5AB42FF0-BD6E-4CCB-9044-C79174FD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7524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800"/>
              </a:spcAft>
              <a:buNone/>
              <a:def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① 올바른 차트인가? 질문에 맞는 유형인가?</a:t>
            </a:r>
          </a:p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800"/>
              </a:spcAft>
              <a:buNone/>
              <a:def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② 축이 정직한가? 막대는 0부터 시작하며 척도와 범위를 밝혔는가?</a:t>
            </a:r>
          </a:p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800"/>
              </a:spcAft>
              <a:buNone/>
              <a:def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③ 이 숫자는 무엇을 세나? 대리지표인가 실체인가, 상대값인가 절대값인가?</a:t>
            </a:r>
          </a:p>
        </p:txBody>
      </p:sp>
    </p:spTree>
    <p:extLst>
      <p:ext uri="{BB962C8B-B14F-4D97-AF65-F5344CB8AC3E}">
        <p14:creationId xmlns:p14="http://schemas.microsoft.com/office/powerpoint/2010/main" val="303220455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31">
            <a:extLst xmlns:a="http://schemas.openxmlformats.org/drawingml/2006/main">
              <a:ext uri="{FF2B5EF4-FFF2-40B4-BE49-F238E27FC236}">
                <a16:creationId xmlns:a16="http://schemas.microsoft.com/office/drawing/2014/main" id="{A6A85209-B13C-4ABF-A61A-867B1F60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1.5 · QUESTIONS 4–5</a:t>
            </a:r>
          </a:p>
        </p:txBody>
      </p:sp>
      <p:sp>
        <p:nvSpPr>
          <p:cNvPr id="2" name="title-31">
            <a:extLst xmlns:a="http://schemas.openxmlformats.org/drawingml/2006/main">
              <a:ext uri="{FF2B5EF4-FFF2-40B4-BE49-F238E27FC236}">
                <a16:creationId xmlns:a16="http://schemas.microsoft.com/office/drawing/2014/main" id="{93A3C063-ACEE-49E7-942D-2825CD05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검증 5문 ④–⑤</a:t>
            </a:r>
          </a:p>
        </p:txBody>
      </p:sp>
      <p:sp>
        <p:nvSpPr>
          <p:cNvPr id="3" name="number-31">
            <a:extLst xmlns:a="http://schemas.openxmlformats.org/drawingml/2006/main">
              <a:ext uri="{FF2B5EF4-FFF2-40B4-BE49-F238E27FC236}">
                <a16:creationId xmlns:a16="http://schemas.microsoft.com/office/drawing/2014/main" id="{2B7633D1-7EF5-40FC-A244-5A926489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31</a:t>
            </a:r>
          </a:p>
        </p:txBody>
      </p:sp>
      <p:sp>
        <p:nvSpPr>
          <p:cNvPr id="4" name="q45">
            <a:extLst xmlns:a="http://schemas.openxmlformats.org/drawingml/2006/main">
              <a:ext uri="{FF2B5EF4-FFF2-40B4-BE49-F238E27FC236}">
                <a16:creationId xmlns:a16="http://schemas.microsoft.com/office/drawing/2014/main" id="{6E3BD9AA-2D0C-4BB5-9DBD-8B0E6E24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239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2200"/>
              </a:spcAft>
              <a:buNone/>
              <a:defRPr sz="19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④ 비교가 공정한가? 동시에 다른 조건이 결론을 흐리는가?</a:t>
            </a:r>
          </a:p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2200"/>
              </a:spcAft>
              <a:buNone/>
              <a:defRPr sz="19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⑤ 무엇이 빠졌나? 대체·우회 계열과 영효과 사건을 함께 봤는가?</a:t>
            </a:r>
          </a:p>
        </p:txBody>
      </p:sp>
      <p:sp>
        <p:nvSpPr>
          <p:cNvPr id="5" name="boundary">
            <a:extLst xmlns:a="http://schemas.openxmlformats.org/drawingml/2006/main">
              <a:ext uri="{FF2B5EF4-FFF2-40B4-BE49-F238E27FC236}">
                <a16:creationId xmlns:a16="http://schemas.microsoft.com/office/drawing/2014/main" id="{295E1964-45E2-47AB-8FC7-BA3C2E1B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704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1블록에서는 질문하는 도구만 익힌다. 사례의 정답은 2블록에서 학생이 찾는다.</a:t>
            </a:r>
          </a:p>
        </p:txBody>
      </p:sp>
    </p:spTree>
    <p:extLst>
      <p:ext uri="{BB962C8B-B14F-4D97-AF65-F5344CB8AC3E}">
        <p14:creationId xmlns:p14="http://schemas.microsoft.com/office/powerpoint/2010/main" val="3032204558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5C83BA4B-B43A-48F9-8F4D-17D2C99202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11760" y="5805264"/>
            <a:ext cx="3501752" cy="32698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spcBef>
                <a:spcPct val="20000"/>
              </a:spcBef>
              <a:spcAft>
                <a:spcPts val="600"/>
              </a:spcAft>
              <a:buNone/>
            </a:pPr>
            <a:r>
              <a:rPr sz="2000">
                <a:solidFill>
                  <a:srgbClr val="C00000"/>
                </a:solidFill>
              </a:rPr>
              <a:t>매일경제</a:t>
            </a:r>
            <a:r>
              <a:rPr sz="2000">
                <a:solidFill>
                  <a:srgbClr val="C00000"/>
                </a:solidFill>
              </a:rPr>
              <a:t> </a:t>
            </a:r>
            <a:r>
              <a:rPr sz="2000">
                <a:solidFill>
                  <a:srgbClr val="C00000"/>
                </a:solidFill>
              </a:rPr>
              <a:t>(2010</a:t>
            </a:r>
            <a:r>
              <a:rPr sz="2000">
                <a:solidFill>
                  <a:srgbClr val="C00000"/>
                </a:solidFill>
              </a:rPr>
              <a:t>년  </a:t>
            </a:r>
            <a:r>
              <a:rPr sz="2000">
                <a:solidFill>
                  <a:srgbClr val="C00000"/>
                </a:solidFill>
              </a:rPr>
              <a:t>6</a:t>
            </a:r>
            <a:r>
              <a:rPr sz="2000">
                <a:solidFill>
                  <a:srgbClr val="C00000"/>
                </a:solidFill>
              </a:rPr>
              <a:t>월 </a:t>
            </a:r>
            <a:r>
              <a:rPr sz="2000">
                <a:solidFill>
                  <a:srgbClr val="C00000"/>
                </a:solidFill>
              </a:rPr>
              <a:t>3</a:t>
            </a:r>
            <a:r>
              <a:rPr sz="2000">
                <a:solidFill>
                  <a:srgbClr val="C00000"/>
                </a:solidFill>
              </a:rPr>
              <a:t>일</a:t>
            </a:r>
            <a:r>
              <a:rPr sz="2000">
                <a:solidFill>
                  <a:srgbClr val="C00000"/>
                </a:solidFill>
              </a:rPr>
              <a:t>)</a:t>
            </a:r>
            <a:endParaRPr sz="2000">
              <a:solidFill>
                <a:srgbClr val="C00000"/>
              </a:solidFill>
            </a:endParaRPr>
          </a:p>
        </p:txBody>
      </p:sp>
      <p:sp>
        <p:nvSpPr>
          <p:cNvPr id="5" name="슬라이드 번호 개체 틀 4">
            <a:extLst xmlns:a="http://schemas.openxmlformats.org/drawingml/2006/main">
              <a:ext uri="{FF2B5EF4-FFF2-40B4-BE49-F238E27FC236}">
                <a16:creationId xmlns:a16="http://schemas.microsoft.com/office/drawing/2014/main" id="{365F2703-EE35-4E28-A442-3A569CCD63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073573-ADE5-401A-A5A2-FCCE564B3D6B}" type="slidenum">
              <a:t>62</a:t>
            </a:fld>
            <a:endParaRPr/>
          </a:p>
        </p:txBody>
      </p:sp>
      <p:pic>
        <p:nvPicPr>
          <p:cNvPr id="13" name="그림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0636e0e8f34d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61910" y="1112757"/>
            <a:ext cx="4752836" cy="4407942"/>
          </a:xfrm>
          <a:prstGeom xmlns:a="http://schemas.openxmlformats.org/drawingml/2006/main" prst="rect">
            <a:avLst/>
          </a:prstGeom>
        </p:spPr>
      </p:pic>
      <p:sp>
        <p:nvSpPr>
          <p:cNvPr id="8" name="제목 1">
            <a:extLst xmlns:a="http://schemas.openxmlformats.org/drawingml/2006/main">
              <a:ext uri="{FF2B5EF4-FFF2-40B4-BE49-F238E27FC236}">
                <a16:creationId xmlns:a16="http://schemas.microsoft.com/office/drawing/2014/main" id="{D83AB4DD-30BD-4BC3-B39F-9DC3A11B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180120"/>
            <a:ext cx="8229600" cy="792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ctr">
              <a:spcBef>
                <a:spcPct val="0"/>
              </a:spcBef>
              <a:spcAft>
                <a:spcPct val="0"/>
              </a:spcAft>
              <a:buNone/>
              <a:defRPr sz="3600" b="1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spcBef>
                <a:spcPct val="0"/>
              </a:spcBef>
              <a:spcAft>
                <a:spcPct val="0"/>
              </a:spcAft>
              <a:buNone/>
              <a:defRPr sz="3600" b="1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spcBef>
                <a:spcPct val="0"/>
              </a:spcBef>
              <a:spcAft>
                <a:spcPct val="0"/>
              </a:spcAft>
              <a:buNone/>
              <a:defRPr sz="3600" b="1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spcBef>
                <a:spcPct val="0"/>
              </a:spcBef>
              <a:spcAft>
                <a:spcPct val="0"/>
              </a:spcAft>
              <a:buNone/>
              <a:defRPr sz="3600" b="1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spcBef>
                <a:spcPct val="0"/>
              </a:spcBef>
              <a:spcAft>
                <a:spcPct val="0"/>
              </a:spcAft>
              <a:buNone/>
              <a:defRPr sz="3600" b="1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5pPr>
            <a:lvl6pPr marL="457200" algn="l"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lvl6pPr>
            <a:lvl7pPr marL="914400" algn="l"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lvl7pPr>
            <a:lvl8pPr marL="1371600" algn="l"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lvl8pPr>
            <a:lvl9pPr marL="1828800" algn="l"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</a:pPr>
            <a:r>
              <a:rPr sz="2800">
                <a:solidFill>
                  <a:srgbClr val="C00000"/>
                </a:solidFill>
              </a:rPr>
              <a:t>Q1.</a:t>
            </a:r>
            <a:r>
              <a:rPr sz="2800"/>
              <a:t> </a:t>
            </a:r>
            <a:r>
              <a:rPr sz="2800"/>
              <a:t>다음 그래프의 문제점은 </a:t>
            </a:r>
            <a:r>
              <a:rPr sz="2800"/>
              <a:t>?</a:t>
            </a:r>
            <a:endParaRPr sz="2800" kern="0" baseline="0"/>
          </a:p>
        </p:txBody>
      </p:sp>
      <p:sp>
        <p:nvSpPr>
          <p:cNvPr id="10" name="section-32">
            <a:extLst xmlns:a="http://schemas.openxmlformats.org/drawingml/2006/main">
              <a:ext uri="{FF2B5EF4-FFF2-40B4-BE49-F238E27FC236}">
                <a16:creationId xmlns:a16="http://schemas.microsoft.com/office/drawing/2014/main" id="{01C5EEE2-E19D-4D5D-A378-ADF1F939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41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1.5 · WORKED CHECK · QUESTION</a:t>
            </a:r>
          </a:p>
        </p:txBody>
      </p:sp>
    </p:spTree>
    <p:extLst>
      <p:ext uri="{BB962C8B-B14F-4D97-AF65-F5344CB8AC3E}">
        <p14:creationId xmlns:p14="http://schemas.microsoft.com/office/powerpoint/2010/main" val="3275481379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슬라이드 번호 개체 틀 4">
            <a:extLst xmlns:a="http://schemas.openxmlformats.org/drawingml/2006/main">
              <a:ext uri="{FF2B5EF4-FFF2-40B4-BE49-F238E27FC236}">
                <a16:creationId xmlns:a16="http://schemas.microsoft.com/office/drawing/2014/main" id="{6C0F570C-1A69-4275-A06A-B5900688EF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073573-ADE5-401A-A5A2-FCCE564B3D6B}" type="slidenum">
              <a:t>63</a:t>
            </a:fld>
            <a:endParaRPr/>
          </a:p>
        </p:txBody>
      </p:sp>
      <p:sp>
        <p:nvSpPr>
          <p:cNvPr id="8" name="제목 1">
            <a:extLst xmlns:a="http://schemas.openxmlformats.org/drawingml/2006/main">
              <a:ext uri="{FF2B5EF4-FFF2-40B4-BE49-F238E27FC236}">
                <a16:creationId xmlns:a16="http://schemas.microsoft.com/office/drawing/2014/main" id="{C3A2AFC4-6BCE-4899-99A7-2E25EDEB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180120"/>
            <a:ext cx="8229600" cy="792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ctr">
              <a:spcBef>
                <a:spcPct val="0"/>
              </a:spcBef>
              <a:spcAft>
                <a:spcPct val="0"/>
              </a:spcAft>
              <a:buNone/>
              <a:defRPr sz="3600" b="1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spcBef>
                <a:spcPct val="0"/>
              </a:spcBef>
              <a:spcAft>
                <a:spcPct val="0"/>
              </a:spcAft>
              <a:buNone/>
              <a:defRPr sz="3600" b="1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spcBef>
                <a:spcPct val="0"/>
              </a:spcBef>
              <a:spcAft>
                <a:spcPct val="0"/>
              </a:spcAft>
              <a:buNone/>
              <a:defRPr sz="3600" b="1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spcBef>
                <a:spcPct val="0"/>
              </a:spcBef>
              <a:spcAft>
                <a:spcPct val="0"/>
              </a:spcAft>
              <a:buNone/>
              <a:defRPr sz="3600" b="1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spcBef>
                <a:spcPct val="0"/>
              </a:spcBef>
              <a:spcAft>
                <a:spcPct val="0"/>
              </a:spcAft>
              <a:buNone/>
              <a:defRPr sz="3600" b="1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5pPr>
            <a:lvl6pPr marL="457200" algn="l"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lvl6pPr>
            <a:lvl7pPr marL="914400" algn="l"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lvl7pPr>
            <a:lvl8pPr marL="1371600" algn="l"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lvl8pPr>
            <a:lvl9pPr marL="1828800" algn="l"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</a:pPr>
            <a:r>
              <a:rPr sz="2800">
                <a:solidFill>
                  <a:srgbClr val="C00000"/>
                </a:solidFill>
              </a:rPr>
              <a:t>Q1.</a:t>
            </a:r>
            <a:r>
              <a:rPr sz="2800"/>
              <a:t> </a:t>
            </a:r>
            <a:r>
              <a:rPr sz="2800"/>
              <a:t>다음 그래프의 문제점은 </a:t>
            </a:r>
            <a:r>
              <a:rPr sz="2800"/>
              <a:t>?</a:t>
            </a:r>
            <a:endParaRPr sz="2800" kern="0" baseline="0"/>
          </a:p>
        </p:txBody>
      </p:sp>
      <p:sp>
        <p:nvSpPr>
          <p:cNvPr id="7" name="제목 1">
            <a:extLst xmlns:a="http://schemas.openxmlformats.org/drawingml/2006/main">
              <a:ext uri="{FF2B5EF4-FFF2-40B4-BE49-F238E27FC236}">
                <a16:creationId xmlns:a16="http://schemas.microsoft.com/office/drawing/2014/main" id="{C65B0417-F5FB-D552-3698-94DBFAF0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429" y="5739891"/>
            <a:ext cx="2626314" cy="2452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82500" lnSpcReduction="20000"/>
          </a:bodyPr>
          <a:lstStyle xmlns:a="http://schemas.openxmlformats.org/drawingml/2006/main">
            <a:lvl1pPr algn="l" defTabSz="914400">
              <a:spcBef>
                <a:spcPct val="0"/>
              </a:spcBef>
              <a:buNone/>
              <a:defRPr sz="2000" kern="120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spcBef>
                <a:spcPct val="20000"/>
              </a:spcBef>
              <a:spcAft>
                <a:spcPts val="450"/>
              </a:spcAft>
              <a:buNone/>
            </a:pPr>
            <a:r>
              <a:rPr sz="1500">
                <a:solidFill>
                  <a:srgbClr val="C00000"/>
                </a:solidFill>
              </a:rPr>
              <a:t>매일경제 </a:t>
            </a:r>
            <a:r>
              <a:rPr sz="1500">
                <a:solidFill>
                  <a:srgbClr val="C00000"/>
                </a:solidFill>
              </a:rPr>
              <a:t>(2010</a:t>
            </a:r>
            <a:r>
              <a:rPr sz="1500">
                <a:solidFill>
                  <a:srgbClr val="C00000"/>
                </a:solidFill>
              </a:rPr>
              <a:t>년  </a:t>
            </a:r>
            <a:r>
              <a:rPr sz="1500">
                <a:solidFill>
                  <a:srgbClr val="C00000"/>
                </a:solidFill>
              </a:rPr>
              <a:t>6</a:t>
            </a:r>
            <a:r>
              <a:rPr sz="1500">
                <a:solidFill>
                  <a:srgbClr val="C00000"/>
                </a:solidFill>
              </a:rPr>
              <a:t>월 </a:t>
            </a:r>
            <a:r>
              <a:rPr sz="1500">
                <a:solidFill>
                  <a:srgbClr val="C00000"/>
                </a:solidFill>
              </a:rPr>
              <a:t>3</a:t>
            </a:r>
            <a:r>
              <a:rPr sz="1500">
                <a:solidFill>
                  <a:srgbClr val="C00000"/>
                </a:solidFill>
              </a:rPr>
              <a:t>일</a:t>
            </a:r>
            <a:r>
              <a:rPr sz="1500">
                <a:solidFill>
                  <a:srgbClr val="C00000"/>
                </a:solidFill>
              </a:rPr>
              <a:t>)</a:t>
            </a:r>
            <a:endParaRPr sz="1500">
              <a:solidFill>
                <a:srgbClr val="C00000"/>
              </a:solidFill>
            </a:endParaRPr>
          </a:p>
        </p:txBody>
      </p:sp>
      <p:pic>
        <p:nvPicPr>
          <p:cNvPr id="15" name="그림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852e149ced42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08148" y="2238390"/>
            <a:ext cx="1744169" cy="3305957"/>
          </a:xfrm>
          <a:prstGeom xmlns:a="http://schemas.openxmlformats.org/drawingml/2006/main" prst="rect">
            <a:avLst/>
          </a:prstGeom>
        </p:spPr>
      </p:pic>
      <p:pic>
        <p:nvPicPr>
          <p:cNvPr id="16" name="그림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c8b2e7a7914c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4008" y="2204864"/>
            <a:ext cx="3316703" cy="3373009"/>
          </a:xfrm>
          <a:prstGeom xmlns:a="http://schemas.openxmlformats.org/drawingml/2006/main" prst="rect">
            <a:avLst/>
          </a:prstGeom>
        </p:spPr>
      </p:pic>
      <p:sp>
        <p:nvSpPr>
          <p:cNvPr id="11" name="section-33">
            <a:extLst xmlns:a="http://schemas.openxmlformats.org/drawingml/2006/main">
              <a:ext uri="{FF2B5EF4-FFF2-40B4-BE49-F238E27FC236}">
                <a16:creationId xmlns:a16="http://schemas.microsoft.com/office/drawing/2014/main" id="{AF2C1B71-ED59-4237-B7FA-FC59BB54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41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1.5 · WORKED CHECK · REVEAL</a:t>
            </a:r>
          </a:p>
        </p:txBody>
      </p:sp>
    </p:spTree>
    <p:extLst>
      <p:ext uri="{BB962C8B-B14F-4D97-AF65-F5344CB8AC3E}">
        <p14:creationId xmlns:p14="http://schemas.microsoft.com/office/powerpoint/2010/main" val="374067616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-34">
            <a:extLst xmlns:a="http://schemas.openxmlformats.org/drawingml/2006/main">
              <a:ext uri="{FF2B5EF4-FFF2-40B4-BE49-F238E27FC236}">
                <a16:creationId xmlns:a16="http://schemas.microsoft.com/office/drawing/2014/main" id="{FE2B8CAB-83E8-4BE9-BCC2-16D5180C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1.5 · READY CHECK</a:t>
            </a:r>
          </a:p>
        </p:txBody>
      </p:sp>
      <p:sp>
        <p:nvSpPr>
          <p:cNvPr id="2" name="title-34">
            <a:extLst xmlns:a="http://schemas.openxmlformats.org/drawingml/2006/main">
              <a:ext uri="{FF2B5EF4-FFF2-40B4-BE49-F238E27FC236}">
                <a16:creationId xmlns:a16="http://schemas.microsoft.com/office/drawing/2014/main" id="{F76A244A-7801-436B-B1EF-8E3B2F18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사례 전 준비 점검</a:t>
            </a:r>
          </a:p>
        </p:txBody>
      </p:sp>
      <p:sp>
        <p:nvSpPr>
          <p:cNvPr id="3" name="number-34">
            <a:extLst xmlns:a="http://schemas.openxmlformats.org/drawingml/2006/main">
              <a:ext uri="{FF2B5EF4-FFF2-40B4-BE49-F238E27FC236}">
                <a16:creationId xmlns:a16="http://schemas.microsoft.com/office/drawing/2014/main" id="{EC53D326-AE69-44CC-A68A-A7A0EFAB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34</a:t>
            </a:r>
          </a:p>
        </p:txBody>
      </p:sp>
      <p:sp>
        <p:nvSpPr>
          <p:cNvPr id="4" name="ready">
            <a:extLst xmlns:a="http://schemas.openxmlformats.org/drawingml/2006/main">
              <a:ext uri="{FF2B5EF4-FFF2-40B4-BE49-F238E27FC236}">
                <a16:creationId xmlns:a16="http://schemas.microsoft.com/office/drawing/2014/main" id="{320297D9-2FE6-4F72-9B7F-D03BB3E9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71625"/>
            <a:ext cx="7048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600"/>
              </a:spcAft>
              <a:buNone/>
              <a:def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차트 유형과 질문이 맞는지 읽는다.</a:t>
            </a:r>
          </a:p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600"/>
              </a:spcAft>
              <a:buNone/>
              <a:def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축·범위·단위·출처를 확인한다.</a:t>
            </a:r>
          </a:p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600"/>
              </a:spcAft>
              <a:buNone/>
              <a:def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지표가 무엇을 재는지 묻는다.</a:t>
            </a:r>
          </a:p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600"/>
              </a:spcAft>
              <a:buNone/>
              <a:def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비교와 누락된 계열을 찾는다.</a:t>
            </a:r>
          </a:p>
        </p:txBody>
      </p:sp>
    </p:spTree>
    <p:extLst>
      <p:ext uri="{BB962C8B-B14F-4D97-AF65-F5344CB8AC3E}">
        <p14:creationId xmlns:p14="http://schemas.microsoft.com/office/powerpoint/2010/main" val="303220455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35">
            <a:extLst xmlns:a="http://schemas.openxmlformats.org/drawingml/2006/main">
              <a:ext uri="{FF2B5EF4-FFF2-40B4-BE49-F238E27FC236}">
                <a16:creationId xmlns:a16="http://schemas.microsoft.com/office/drawing/2014/main" id="{C31EBD8C-D1DD-40A4-ABC0-F18FECB6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1.5 · BRIDGE TO CASE</a:t>
            </a:r>
          </a:p>
        </p:txBody>
      </p:sp>
      <p:sp>
        <p:nvSpPr>
          <p:cNvPr id="2" name="title-35">
            <a:extLst xmlns:a="http://schemas.openxmlformats.org/drawingml/2006/main">
              <a:ext uri="{FF2B5EF4-FFF2-40B4-BE49-F238E27FC236}">
                <a16:creationId xmlns:a16="http://schemas.microsoft.com/office/drawing/2014/main" id="{6D69589A-5FDB-4582-9B48-EFBFBAAB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이 대시보드는 정직한가?</a:t>
            </a:r>
          </a:p>
        </p:txBody>
      </p:sp>
      <p:sp>
        <p:nvSpPr>
          <p:cNvPr id="3" name="number-35">
            <a:extLst xmlns:a="http://schemas.openxmlformats.org/drawingml/2006/main">
              <a:ext uri="{FF2B5EF4-FFF2-40B4-BE49-F238E27FC236}">
                <a16:creationId xmlns:a16="http://schemas.microsoft.com/office/drawing/2014/main" id="{64FFA971-790B-4B75-B912-B369715D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35</a:t>
            </a:r>
          </a:p>
        </p:txBody>
      </p:sp>
      <p:sp>
        <p:nvSpPr>
          <p:cNvPr id="4" name="bridge">
            <a:extLst xmlns:a="http://schemas.openxmlformats.org/drawingml/2006/main">
              <a:ext uri="{FF2B5EF4-FFF2-40B4-BE49-F238E27FC236}">
                <a16:creationId xmlns:a16="http://schemas.microsoft.com/office/drawing/2014/main" id="{5863EB09-5565-4D6D-874E-5C703E82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같은 다섯 질문으로 AI의 정책 대시보드를 검증한다</a:t>
            </a:r>
          </a:p>
        </p:txBody>
      </p:sp>
      <p:sp>
        <p:nvSpPr>
          <p:cNvPr id="5" name="bridge-detail">
            <a:extLst xmlns:a="http://schemas.openxmlformats.org/drawingml/2006/main">
              <a:ext uri="{FF2B5EF4-FFF2-40B4-BE49-F238E27FC236}">
                <a16:creationId xmlns:a16="http://schemas.microsoft.com/office/drawing/2014/main" id="{57170FA0-2A23-41ED-9317-ABE7392F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답은 2블록의 자료에서 학생이 직접 찾는다.</a:t>
            </a:r>
          </a:p>
        </p:txBody>
      </p:sp>
    </p:spTree>
    <p:extLst>
      <p:ext uri="{BB962C8B-B14F-4D97-AF65-F5344CB8AC3E}">
        <p14:creationId xmlns:p14="http://schemas.microsoft.com/office/powerpoint/2010/main" val="303220455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36">
            <a:extLst xmlns:a="http://schemas.openxmlformats.org/drawingml/2006/main">
              <a:ext uri="{FF2B5EF4-FFF2-40B4-BE49-F238E27FC236}">
                <a16:creationId xmlns:a16="http://schemas.microsoft.com/office/drawing/2014/main" id="{9E8440FE-E657-40B9-98CF-1C75D9DC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2.1 · CASE · 15 MIN</a:t>
            </a:r>
          </a:p>
        </p:txBody>
      </p:sp>
      <p:sp>
        <p:nvSpPr>
          <p:cNvPr id="2" name="title-36">
            <a:extLst xmlns:a="http://schemas.openxmlformats.org/drawingml/2006/main">
              <a:ext uri="{FF2B5EF4-FFF2-40B4-BE49-F238E27FC236}">
                <a16:creationId xmlns:a16="http://schemas.microsoft.com/office/drawing/2014/main" id="{94650ECF-C7AE-497A-A9BF-32AA7DF5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AttentionDisplacement 사례</a:t>
            </a:r>
          </a:p>
        </p:txBody>
      </p:sp>
      <p:sp>
        <p:nvSpPr>
          <p:cNvPr id="3" name="number-36">
            <a:extLst xmlns:a="http://schemas.openxmlformats.org/drawingml/2006/main">
              <a:ext uri="{FF2B5EF4-FFF2-40B4-BE49-F238E27FC236}">
                <a16:creationId xmlns:a16="http://schemas.microsoft.com/office/drawing/2014/main" id="{29273F1D-B34F-47E4-92C6-6A2C2612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36</a:t>
            </a:r>
          </a:p>
        </p:txBody>
      </p:sp>
      <p:sp>
        <p:nvSpPr>
          <p:cNvPr id="4" name="case">
            <a:extLst xmlns:a="http://schemas.openxmlformats.org/drawingml/2006/main">
              <a:ext uri="{FF2B5EF4-FFF2-40B4-BE49-F238E27FC236}">
                <a16:creationId xmlns:a16="http://schemas.microsoft.com/office/drawing/2014/main" id="{CFFFB44F-2162-4CE1-8CE7-63FD1188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7715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한 주에서 연령확인법이 시행되자 대형 플랫폼의 검색 관심이 약 70% 하락했다</a:t>
            </a:r>
          </a:p>
        </p:txBody>
      </p:sp>
      <p:sp>
        <p:nvSpPr>
          <p:cNvPr id="5" name="case-detail">
            <a:extLst xmlns:a="http://schemas.openxmlformats.org/drawingml/2006/main">
              <a:ext uri="{FF2B5EF4-FFF2-40B4-BE49-F238E27FC236}">
                <a16:creationId xmlns:a16="http://schemas.microsoft.com/office/drawing/2014/main" id="{B0F43A00-051C-4F93-A0C0-8E94246D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14750"/>
            <a:ext cx="714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rPr>
              <a:t>정책 분석가는 이 수치가 법의 효과를 보여 주는지 판단해야 한다. 모든 논의는 검색 주의 수준에 한정한다.</a:t>
            </a:r>
          </a:p>
        </p:txBody>
      </p:sp>
      <p:sp>
        <p:nvSpPr>
          <p:cNvPr id="6" name="distribution">
            <a:extLst xmlns:a="http://schemas.openxmlformats.org/drawingml/2006/main">
              <a:ext uri="{FF2B5EF4-FFF2-40B4-BE49-F238E27FC236}">
                <a16:creationId xmlns:a16="http://schemas.microsoft.com/office/drawing/2014/main" id="{FEBEB5BF-B41D-492A-A6E1-4CA4D01B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8162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Case Handout은 학생 발견 구간 2.3에서 배포한다.</a:t>
            </a:r>
          </a:p>
        </p:txBody>
      </p:sp>
    </p:spTree>
    <p:extLst>
      <p:ext uri="{BB962C8B-B14F-4D97-AF65-F5344CB8AC3E}">
        <p14:creationId xmlns:p14="http://schemas.microsoft.com/office/powerpoint/2010/main" val="303220455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ection-37">
            <a:extLst xmlns:a="http://schemas.openxmlformats.org/drawingml/2006/main">
              <a:ext uri="{FF2B5EF4-FFF2-40B4-BE49-F238E27FC236}">
                <a16:creationId xmlns:a16="http://schemas.microsoft.com/office/drawing/2014/main" id="{9511043D-95F7-4FC0-BEB1-D99EE4A8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2.1 · FIGURE PLACEHOLDER</a:t>
            </a:r>
          </a:p>
        </p:txBody>
      </p:sp>
      <p:sp>
        <p:nvSpPr>
          <p:cNvPr id="2" name="title-37">
            <a:extLst xmlns:a="http://schemas.openxmlformats.org/drawingml/2006/main">
              <a:ext uri="{FF2B5EF4-FFF2-40B4-BE49-F238E27FC236}">
                <a16:creationId xmlns:a16="http://schemas.microsoft.com/office/drawing/2014/main" id="{C08694DA-4CFF-4615-82D1-D4CC3832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그림 1 · 법 시행 전후 검색 관심도</a:t>
            </a:r>
          </a:p>
        </p:txBody>
      </p:sp>
      <p:sp>
        <p:nvSpPr>
          <p:cNvPr id="3" name="number-37">
            <a:extLst xmlns:a="http://schemas.openxmlformats.org/drawingml/2006/main">
              <a:ext uri="{FF2B5EF4-FFF2-40B4-BE49-F238E27FC236}">
                <a16:creationId xmlns:a16="http://schemas.microsoft.com/office/drawing/2014/main" id="{52239F1C-59D9-40A8-B855-FB041B79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303220455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ection-38">
            <a:extLst xmlns:a="http://schemas.openxmlformats.org/drawingml/2006/main">
              <a:ext uri="{FF2B5EF4-FFF2-40B4-BE49-F238E27FC236}">
                <a16:creationId xmlns:a16="http://schemas.microsoft.com/office/drawing/2014/main" id="{FB636469-C635-44E3-A4D8-39A66789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2.1 · FIGURE PLACEHOLDER</a:t>
            </a:r>
          </a:p>
        </p:txBody>
      </p:sp>
      <p:sp>
        <p:nvSpPr>
          <p:cNvPr id="2" name="title-38">
            <a:extLst xmlns:a="http://schemas.openxmlformats.org/drawingml/2006/main">
              <a:ext uri="{FF2B5EF4-FFF2-40B4-BE49-F238E27FC236}">
                <a16:creationId xmlns:a16="http://schemas.microsoft.com/office/drawing/2014/main" id="{6AB009E8-36CC-46D3-BEE4-3A4D0ED9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그림 2–3 · 관할 비교와 검색 관심도 추이</a:t>
            </a:r>
          </a:p>
        </p:txBody>
      </p:sp>
      <p:sp>
        <p:nvSpPr>
          <p:cNvPr id="3" name="number-38">
            <a:extLst xmlns:a="http://schemas.openxmlformats.org/drawingml/2006/main">
              <a:ext uri="{FF2B5EF4-FFF2-40B4-BE49-F238E27FC236}">
                <a16:creationId xmlns:a16="http://schemas.microsoft.com/office/drawing/2014/main" id="{4365AEEC-ADC8-4448-BA43-186A254E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303220455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39">
            <a:extLst xmlns:a="http://schemas.openxmlformats.org/drawingml/2006/main">
              <a:ext uri="{FF2B5EF4-FFF2-40B4-BE49-F238E27FC236}">
                <a16:creationId xmlns:a16="http://schemas.microsoft.com/office/drawing/2014/main" id="{F713B394-CEA9-4BDF-8877-36990C64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2.2 · VERIFICATION TARGET</a:t>
            </a:r>
          </a:p>
        </p:txBody>
      </p:sp>
      <p:sp>
        <p:nvSpPr>
          <p:cNvPr id="2" name="title-39">
            <a:extLst xmlns:a="http://schemas.openxmlformats.org/drawingml/2006/main">
              <a:ext uri="{FF2B5EF4-FFF2-40B4-BE49-F238E27FC236}">
                <a16:creationId xmlns:a16="http://schemas.microsoft.com/office/drawing/2014/main" id="{3807B9BD-D704-491C-9E14-F8EE3A7B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AI의 정책 제언</a:t>
            </a:r>
          </a:p>
        </p:txBody>
      </p:sp>
      <p:sp>
        <p:nvSpPr>
          <p:cNvPr id="3" name="number-39">
            <a:extLst xmlns:a="http://schemas.openxmlformats.org/drawingml/2006/main">
              <a:ext uri="{FF2B5EF4-FFF2-40B4-BE49-F238E27FC236}">
                <a16:creationId xmlns:a16="http://schemas.microsoft.com/office/drawing/2014/main" id="{28696A20-69A6-4DC8-9892-89609F8C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39</a:t>
            </a:r>
          </a:p>
        </p:txBody>
      </p:sp>
      <p:sp>
        <p:nvSpPr>
          <p:cNvPr id="4" name="ai-claim">
            <a:extLst xmlns:a="http://schemas.openxmlformats.org/drawingml/2006/main">
              <a:ext uri="{FF2B5EF4-FFF2-40B4-BE49-F238E27FC236}">
                <a16:creationId xmlns:a16="http://schemas.microsoft.com/office/drawing/2014/main" id="{AC334FE9-BCF6-4DB4-867D-8489875C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7620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연령확인법은 플랫폼 이용을 약 70% 줄이는 효과적인 정책입니다</a:t>
            </a:r>
          </a:p>
        </p:txBody>
      </p:sp>
      <p:sp>
        <p:nvSpPr>
          <p:cNvPr id="5" name="ai-claim-detail">
            <a:extLst xmlns:a="http://schemas.openxmlformats.org/drawingml/2006/main">
              <a:ext uri="{FF2B5EF4-FFF2-40B4-BE49-F238E27FC236}">
                <a16:creationId xmlns:a16="http://schemas.microsoft.com/office/drawing/2014/main" id="{383E3C99-93E5-4800-B9C9-108AD552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76625"/>
            <a:ext cx="714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rPr>
              <a:t>AI는 ‘법 시행으로 이용자 대폭 감소, 정책 성공’으로 보고하고 강한 집행 모델의 확산을 제안했다. 아직 채택하거나 반박하지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303220455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40">
            <a:extLst xmlns:a="http://schemas.openxmlformats.org/drawingml/2006/main">
              <a:ext uri="{FF2B5EF4-FFF2-40B4-BE49-F238E27FC236}">
                <a16:creationId xmlns:a16="http://schemas.microsoft.com/office/drawing/2014/main" id="{0C249092-EECB-47E2-B4D2-A5F8EF25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2.2 · INSTRUCTOR DEMO · ABOUT 20 MIN</a:t>
            </a:r>
          </a:p>
        </p:txBody>
      </p:sp>
      <p:sp>
        <p:nvSpPr>
          <p:cNvPr id="2" name="title-40">
            <a:extLst xmlns:a="http://schemas.openxmlformats.org/drawingml/2006/main">
              <a:ext uri="{FF2B5EF4-FFF2-40B4-BE49-F238E27FC236}">
                <a16:creationId xmlns:a16="http://schemas.microsoft.com/office/drawing/2014/main" id="{8B25F8BB-0E0E-414D-81A5-4C1ECA47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질문에서 멈춘다</a:t>
            </a:r>
          </a:p>
        </p:txBody>
      </p:sp>
      <p:sp>
        <p:nvSpPr>
          <p:cNvPr id="3" name="number-40">
            <a:extLst xmlns:a="http://schemas.openxmlformats.org/drawingml/2006/main">
              <a:ext uri="{FF2B5EF4-FFF2-40B4-BE49-F238E27FC236}">
                <a16:creationId xmlns:a16="http://schemas.microsoft.com/office/drawing/2014/main" id="{29264066-0157-4880-9DC9-0FA3CE7D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40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23875" y="1381125"/>
          <a:ext xmlns:a="http://schemas.openxmlformats.org/drawingml/2006/main" cx="809625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5667375"/>
              </a:tblGrid>
              <a:tr h="928688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검증 질문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강사가 묻고 멈추는 지점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928688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 숫자는 무엇을 세나?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 관심은 행동과 같은가? 상대 지수에 사람 수 단위가 있는가?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비교가 공정한가?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관할들이 여러 조건에서 동시에 다르지 않은가?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  <a:tr h="928688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무엇이 빠졌나?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대체·우회 계열과 같은 관할 안 대조가 보이는가?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top-rule">
            <a:extLst xmlns:a="http://schemas.openxmlformats.org/drawingml/2006/main">
              <a:ext uri="{FF2B5EF4-FFF2-40B4-BE49-F238E27FC236}">
                <a16:creationId xmlns:a16="http://schemas.microsoft.com/office/drawing/2014/main" id="{4AC2A669-9580-43BB-B31B-020DEF2B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81625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여기서 멈춘다. 강사는 정답·V1/V2·최종 정책 판정을 말하지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303220455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41">
            <a:extLst xmlns:a="http://schemas.openxmlformats.org/drawingml/2006/main">
              <a:ext uri="{FF2B5EF4-FFF2-40B4-BE49-F238E27FC236}">
                <a16:creationId xmlns:a16="http://schemas.microsoft.com/office/drawing/2014/main" id="{1F5725FF-4E2A-40A9-80B6-7A053C66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2.3 · GUIDED VERIFY · ABOUT 20 MIN</a:t>
            </a:r>
          </a:p>
        </p:txBody>
      </p:sp>
      <p:sp>
        <p:nvSpPr>
          <p:cNvPr id="2" name="title-41">
            <a:extLst xmlns:a="http://schemas.openxmlformats.org/drawingml/2006/main">
              <a:ext uri="{FF2B5EF4-FFF2-40B4-BE49-F238E27FC236}">
                <a16:creationId xmlns:a16="http://schemas.microsoft.com/office/drawing/2014/main" id="{F4ED28D0-4A09-4C40-84BD-325B0415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학생 검증</a:t>
            </a:r>
          </a:p>
        </p:txBody>
      </p:sp>
      <p:sp>
        <p:nvSpPr>
          <p:cNvPr id="3" name="number-41">
            <a:extLst xmlns:a="http://schemas.openxmlformats.org/drawingml/2006/main">
              <a:ext uri="{FF2B5EF4-FFF2-40B4-BE49-F238E27FC236}">
                <a16:creationId xmlns:a16="http://schemas.microsoft.com/office/drawing/2014/main" id="{5D019899-A999-4978-B7AA-4E0FC2B1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41</a:t>
            </a:r>
          </a:p>
        </p:txBody>
      </p:sp>
      <p:sp>
        <p:nvSpPr>
          <p:cNvPr id="4" name="steps">
            <a:extLst xmlns:a="http://schemas.openxmlformats.org/drawingml/2006/main">
              <a:ext uri="{FF2B5EF4-FFF2-40B4-BE49-F238E27FC236}">
                <a16:creationId xmlns:a16="http://schemas.microsoft.com/office/drawing/2014/main" id="{C05FFE1E-89BD-4ACD-B0EC-51F5A01A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7524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500"/>
              </a:spcAft>
              <a:buNone/>
              <a:defRPr sz="172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Case Handout·AI Dashboard·Verification Worksheet를 이 구간에서 배포한다.</a:t>
            </a:r>
          </a:p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500"/>
              </a:spcAft>
              <a:buNone/>
              <a:defRPr sz="172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검증 5문으로 AI의 주장과 차트를 대조한다.</a:t>
            </a:r>
          </a:p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500"/>
              </a:spcAft>
              <a:buNone/>
              <a:defRPr sz="172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Verification Exhibit V1·V2에서 빠진 비교와 계열을 찾는다.</a:t>
            </a:r>
          </a:p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500"/>
              </a:spcAft>
              <a:buNone/>
              <a:defRPr sz="172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보고 문구와 다음 측정 설계 권고를 한 문장으로 적는다.</a:t>
            </a:r>
          </a:p>
        </p:txBody>
      </p:sp>
      <p:sp>
        <p:nvSpPr>
          <p:cNvPr id="5" name="screen-boundary">
            <a:extLst xmlns:a="http://schemas.openxmlformats.org/drawingml/2006/main">
              <a:ext uri="{FF2B5EF4-FFF2-40B4-BE49-F238E27FC236}">
                <a16:creationId xmlns:a16="http://schemas.microsoft.com/office/drawing/2014/main" id="{74D1C69D-EF28-4FD2-A133-0B23DAB4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33400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화면에는 정답을 띄우지 않는다. 배포물과 도판에서 학생이 직접 찾는다.</a:t>
            </a:r>
          </a:p>
        </p:txBody>
      </p:sp>
    </p:spTree>
    <p:extLst>
      <p:ext uri="{BB962C8B-B14F-4D97-AF65-F5344CB8AC3E}">
        <p14:creationId xmlns:p14="http://schemas.microsoft.com/office/powerpoint/2010/main" val="303220455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ection-42">
            <a:extLst xmlns:a="http://schemas.openxmlformats.org/drawingml/2006/main">
              <a:ext uri="{FF2B5EF4-FFF2-40B4-BE49-F238E27FC236}">
                <a16:creationId xmlns:a16="http://schemas.microsoft.com/office/drawing/2014/main" id="{2B0E326B-7635-4416-9D05-F0841032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2.3 · FIGURE PLACEHOLDER</a:t>
            </a:r>
          </a:p>
        </p:txBody>
      </p:sp>
      <p:sp>
        <p:nvSpPr>
          <p:cNvPr id="2" name="title-42">
            <a:extLst xmlns:a="http://schemas.openxmlformats.org/drawingml/2006/main">
              <a:ext uri="{FF2B5EF4-FFF2-40B4-BE49-F238E27FC236}">
                <a16:creationId xmlns:a16="http://schemas.microsoft.com/office/drawing/2014/main" id="{9AB77D85-23FE-40BE-ABDF-C1385CDA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Exhibit V-1·V-2 · 대시보드가 보여 주지 않은 그림</a:t>
            </a:r>
          </a:p>
        </p:txBody>
      </p:sp>
      <p:sp>
        <p:nvSpPr>
          <p:cNvPr id="3" name="number-42">
            <a:extLst xmlns:a="http://schemas.openxmlformats.org/drawingml/2006/main">
              <a:ext uri="{FF2B5EF4-FFF2-40B4-BE49-F238E27FC236}">
                <a16:creationId xmlns:a16="http://schemas.microsoft.com/office/drawing/2014/main" id="{1FBA81F3-4A5D-4F14-8D5A-86A446A7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303220455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43">
            <a:extLst xmlns:a="http://schemas.openxmlformats.org/drawingml/2006/main">
              <a:ext uri="{FF2B5EF4-FFF2-40B4-BE49-F238E27FC236}">
                <a16:creationId xmlns:a16="http://schemas.microsoft.com/office/drawing/2014/main" id="{F94C9FB6-744C-4C13-93A6-A6374039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2.4 · DEBRIEF · ABOUT 15 MIN</a:t>
            </a:r>
          </a:p>
        </p:txBody>
      </p:sp>
      <p:sp>
        <p:nvSpPr>
          <p:cNvPr id="2" name="title-43">
            <a:extLst xmlns:a="http://schemas.openxmlformats.org/drawingml/2006/main">
              <a:ext uri="{FF2B5EF4-FFF2-40B4-BE49-F238E27FC236}">
                <a16:creationId xmlns:a16="http://schemas.microsoft.com/office/drawing/2014/main" id="{46AC1630-FC72-470B-9959-205EB258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측정 타당성 판정과 정책 결정</a:t>
            </a:r>
          </a:p>
        </p:txBody>
      </p:sp>
      <p:sp>
        <p:nvSpPr>
          <p:cNvPr id="3" name="number-43">
            <a:extLst xmlns:a="http://schemas.openxmlformats.org/drawingml/2006/main">
              <a:ext uri="{FF2B5EF4-FFF2-40B4-BE49-F238E27FC236}">
                <a16:creationId xmlns:a16="http://schemas.microsoft.com/office/drawing/2014/main" id="{8C4C2401-17F0-4E59-8464-3C3F9358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43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28625" y="1190625"/>
          <a:ext xmlns:a="http://schemas.openxmlformats.org/drawingml/2006/main" cx="828675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6191250"/>
              </a:tblGrid>
              <a:tr h="8763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검증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학생 발견 뒤 회수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8763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88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주의와 행동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88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핵심 플랫폼 검색 주의는 감소했지만, 실제 이용 감소로 단정할 수 없다.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88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상대와 절대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88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0–100 지수는 사람 수가 아니다.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  <a:tr h="8763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88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88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접속을 바꾼 사건은 −70%, 접속을 바꾸지 않은 사건은 약 +9%. 같은 관할 안 대조가 필요하다.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88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누락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88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우회수단 검색 주의와 영효과 사건을 대시보드에 함께 넣는다.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5" name="close">
            <a:extLst xmlns:a="http://schemas.openxmlformats.org/drawingml/2006/main">
              <a:ext uri="{FF2B5EF4-FFF2-40B4-BE49-F238E27FC236}">
                <a16:creationId xmlns:a16="http://schemas.microsoft.com/office/drawing/2014/main" id="{3B3DD96C-DD53-437D-A531-FF5F3C61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깔끔한 헤드라인 숫자는 검증의 시작이지 끝이 아니다.</a:t>
            </a:r>
          </a:p>
        </p:txBody>
      </p:sp>
    </p:spTree>
    <p:extLst>
      <p:ext uri="{BB962C8B-B14F-4D97-AF65-F5344CB8AC3E}">
        <p14:creationId xmlns:p14="http://schemas.microsoft.com/office/powerpoint/2010/main" val="3032204558"/>
      </p:ext>
    </p:extLst>
  </p:cSld>
</p:sld>
</file>

<file path=ppt/theme/theme1.xml><?xml version="1.0" encoding="utf-8"?>
<a:theme xmlns:a="http://schemas.openxmlformats.org/drawingml/2006/main" name="NTUPowerpointTemplate_Aug2010">
  <a:themeElements>
    <a:clrScheme name="NTU Corp Colors (Deep Red)">
      <a:dk1>
        <a:srgbClr val="262626"/>
      </a:dk1>
      <a:lt1>
        <a:sysClr val="window" lastClr="FFFFFF"/>
      </a:lt1>
      <a:dk2>
        <a:srgbClr val="1F497D"/>
      </a:dk2>
      <a:lt2>
        <a:srgbClr val="C7C7C7"/>
      </a:lt2>
      <a:accent1>
        <a:srgbClr val="C60C30"/>
      </a:accent1>
      <a:accent2>
        <a:srgbClr val="003478"/>
      </a:accent2>
      <a:accent3>
        <a:srgbClr val="C49000"/>
      </a:accent3>
      <a:accent4>
        <a:srgbClr val="7A071E"/>
      </a:accent4>
      <a:accent5>
        <a:srgbClr val="0055C4"/>
      </a:accent5>
      <a:accent6>
        <a:srgbClr val="786C00"/>
      </a:accent6>
      <a:hlink>
        <a:srgbClr val="FFFF00"/>
      </a:hlink>
      <a:folHlink>
        <a:srgbClr val="002060"/>
      </a:folHlink>
    </a:clrScheme>
    <a:fontScheme name="Blank Presentation">
      <a:majorFont>
        <a:latin typeface="Helvetica Neue"/>
        <a:ea typeface="ＭＳ Ｐゴシック"/>
        <a:cs typeface=""/>
      </a:majorFont>
      <a:minorFont>
        <a:latin typeface="Helvetica Neue Light"/>
        <a:ea typeface="ＭＳ Ｐゴシック"/>
        <a:cs typeface=""/>
      </a:minorFont>
    </a:fontScheme>
    <a:fmtScheme name="NTU Corp Colors (Deep Red)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2026-09-11T08:25:40.2930000Z</dcterms:created>
  <dcterms:modified xsi:type="dcterms:W3CDTF">2026-09-11T08:25:40.2930000Z</dcterms:modified>
</coreProperties>
</file>